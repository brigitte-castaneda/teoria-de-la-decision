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5408" r:id="rId3"/>
    <p:sldId id="337" r:id="rId4"/>
    <p:sldId id="5409" r:id="rId5"/>
    <p:sldId id="5378" r:id="rId6"/>
    <p:sldId id="5416" r:id="rId7"/>
    <p:sldId id="257" r:id="rId8"/>
    <p:sldId id="307" r:id="rId9"/>
    <p:sldId id="5398" r:id="rId10"/>
    <p:sldId id="5397" r:id="rId11"/>
    <p:sldId id="5410" r:id="rId12"/>
    <p:sldId id="314" r:id="rId13"/>
    <p:sldId id="315" r:id="rId14"/>
    <p:sldId id="5394" r:id="rId15"/>
    <p:sldId id="5395" r:id="rId16"/>
    <p:sldId id="274" r:id="rId17"/>
    <p:sldId id="322" r:id="rId18"/>
    <p:sldId id="5399" r:id="rId19"/>
    <p:sldId id="5400" r:id="rId20"/>
    <p:sldId id="272" r:id="rId21"/>
    <p:sldId id="268" r:id="rId22"/>
    <p:sldId id="328" r:id="rId23"/>
    <p:sldId id="5411" r:id="rId24"/>
    <p:sldId id="5396" r:id="rId25"/>
    <p:sldId id="324" r:id="rId26"/>
    <p:sldId id="321" r:id="rId27"/>
    <p:sldId id="318" r:id="rId28"/>
    <p:sldId id="5418" r:id="rId29"/>
    <p:sldId id="326" r:id="rId30"/>
    <p:sldId id="271" r:id="rId31"/>
    <p:sldId id="266" r:id="rId32"/>
    <p:sldId id="267" r:id="rId33"/>
    <p:sldId id="277" r:id="rId34"/>
    <p:sldId id="5412" r:id="rId35"/>
    <p:sldId id="5402" r:id="rId36"/>
    <p:sldId id="5377" r:id="rId37"/>
    <p:sldId id="5379" r:id="rId38"/>
    <p:sldId id="5417" r:id="rId39"/>
    <p:sldId id="5407" r:id="rId40"/>
    <p:sldId id="5380" r:id="rId41"/>
    <p:sldId id="5413" r:id="rId42"/>
    <p:sldId id="5403" r:id="rId43"/>
    <p:sldId id="5406" r:id="rId44"/>
    <p:sldId id="329" r:id="rId45"/>
    <p:sldId id="310" r:id="rId46"/>
    <p:sldId id="335" r:id="rId47"/>
    <p:sldId id="336" r:id="rId48"/>
    <p:sldId id="330" r:id="rId49"/>
    <p:sldId id="331" r:id="rId50"/>
    <p:sldId id="332" r:id="rId51"/>
    <p:sldId id="334" r:id="rId52"/>
    <p:sldId id="5414" r:id="rId53"/>
    <p:sldId id="5415" r:id="rId54"/>
    <p:sldId id="308" r:id="rId55"/>
  </p:sldIdLst>
  <p:sldSz cx="12192000" cy="6858000"/>
  <p:notesSz cx="6858000" cy="9144000"/>
  <p:defaultTextStyle>
    <a:defPPr>
      <a:defRPr lang="en-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575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19"/>
    <p:restoredTop sz="81537"/>
  </p:normalViewPr>
  <p:slideViewPr>
    <p:cSldViewPr snapToGrid="0">
      <p:cViewPr varScale="1">
        <p:scale>
          <a:sx n="75" d="100"/>
          <a:sy n="75" d="100"/>
        </p:scale>
        <p:origin x="160" y="10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Participación</c:v>
                </c:pt>
              </c:strCache>
            </c:strRef>
          </c:tx>
          <c:dPt>
            <c:idx val="0"/>
            <c:bubble3D val="0"/>
            <c:spPr>
              <a:solidFill>
                <a:srgbClr val="F5C342"/>
              </a:solidFill>
              <a:ln>
                <a:solidFill>
                  <a:srgbClr val="FFFFFF"/>
                </a:solidFill>
              </a:ln>
            </c:spPr>
            <c:extLst>
              <c:ext xmlns:c16="http://schemas.microsoft.com/office/drawing/2014/chart" uri="{C3380CC4-5D6E-409C-BE32-E72D297353CC}">
                <c16:uniqueId val="{00000001-0B71-944B-969D-6731B87943C3}"/>
              </c:ext>
            </c:extLst>
          </c:dPt>
          <c:dPt>
            <c:idx val="1"/>
            <c:bubble3D val="0"/>
            <c:spPr>
              <a:solidFill>
                <a:srgbClr val="66BB6A"/>
              </a:solidFill>
              <a:ln>
                <a:solidFill>
                  <a:srgbClr val="FFFFFF"/>
                </a:solidFill>
              </a:ln>
            </c:spPr>
            <c:extLst>
              <c:ext xmlns:c16="http://schemas.microsoft.com/office/drawing/2014/chart" uri="{C3380CC4-5D6E-409C-BE32-E72D297353CC}">
                <c16:uniqueId val="{00000003-0B71-944B-969D-6731B87943C3}"/>
              </c:ext>
            </c:extLst>
          </c:dPt>
          <c:dPt>
            <c:idx val="2"/>
            <c:bubble3D val="0"/>
            <c:spPr>
              <a:solidFill>
                <a:srgbClr val="E8703A"/>
              </a:solidFill>
              <a:ln>
                <a:solidFill>
                  <a:srgbClr val="FFFFFF"/>
                </a:solidFill>
              </a:ln>
            </c:spPr>
            <c:extLst>
              <c:ext xmlns:c16="http://schemas.microsoft.com/office/drawing/2014/chart" uri="{C3380CC4-5D6E-409C-BE32-E72D297353CC}">
                <c16:uniqueId val="{00000005-0B71-944B-969D-6731B87943C3}"/>
              </c:ext>
            </c:extLst>
          </c:dPt>
          <c:dPt>
            <c:idx val="3"/>
            <c:bubble3D val="0"/>
            <c:spPr>
              <a:solidFill>
                <a:srgbClr val="7D2AE8"/>
              </a:solidFill>
              <a:ln>
                <a:solidFill>
                  <a:srgbClr val="FFFFFF"/>
                </a:solidFill>
              </a:ln>
            </c:spPr>
            <c:extLst>
              <c:ext xmlns:c16="http://schemas.microsoft.com/office/drawing/2014/chart" uri="{C3380CC4-5D6E-409C-BE32-E72D297353CC}">
                <c16:uniqueId val="{00000007-0B71-944B-969D-6731B87943C3}"/>
              </c:ext>
            </c:extLst>
          </c:dPt>
          <c:dPt>
            <c:idx val="4"/>
            <c:bubble3D val="0"/>
            <c:spPr>
              <a:solidFill>
                <a:srgbClr val="4A7FE5"/>
              </a:solidFill>
              <a:ln>
                <a:solidFill>
                  <a:srgbClr val="FFFFFF"/>
                </a:solidFill>
              </a:ln>
            </c:spPr>
            <c:extLst>
              <c:ext xmlns:c16="http://schemas.microsoft.com/office/drawing/2014/chart" uri="{C3380CC4-5D6E-409C-BE32-E72D297353CC}">
                <c16:uniqueId val="{00000009-0B71-944B-969D-6731B87943C3}"/>
              </c:ext>
            </c:extLst>
          </c:dPt>
          <c:cat>
            <c:strRef>
              <c:f>Sheet1!$A$2:$A$6</c:f>
              <c:strCache>
                <c:ptCount val="5"/>
                <c:pt idx="0">
                  <c:v>Energía</c:v>
                </c:pt>
                <c:pt idx="1">
                  <c:v>LULUCF</c:v>
                </c:pt>
                <c:pt idx="2">
                  <c:v>Agricultura</c:v>
                </c:pt>
                <c:pt idx="3">
                  <c:v>Residuos</c:v>
                </c:pt>
                <c:pt idx="4">
                  <c:v>IPPU</c:v>
                </c:pt>
              </c:strCache>
            </c:strRef>
          </c:cat>
          <c:val>
            <c:numRef>
              <c:f>Sheet1!$B$2:$B$6</c:f>
              <c:numCache>
                <c:formatCode>0.0%</c:formatCode>
                <c:ptCount val="5"/>
                <c:pt idx="0">
                  <c:v>0.38100000000000001</c:v>
                </c:pt>
                <c:pt idx="1">
                  <c:v>0.27399999999999997</c:v>
                </c:pt>
                <c:pt idx="2">
                  <c:v>0.21</c:v>
                </c:pt>
                <c:pt idx="3">
                  <c:v>9.4E-2</c:v>
                </c:pt>
                <c:pt idx="4">
                  <c:v>4.2000000000000003E-2</c:v>
                </c:pt>
              </c:numCache>
            </c:numRef>
          </c:val>
          <c:extLst>
            <c:ext xmlns:c16="http://schemas.microsoft.com/office/drawing/2014/chart" uri="{C3380CC4-5D6E-409C-BE32-E72D297353CC}">
              <c16:uniqueId val="{0000000A-0B71-944B-969D-6731B87943C3}"/>
            </c:ext>
          </c:extLst>
        </c:ser>
        <c:dLbls>
          <c:showLegendKey val="0"/>
          <c:showVal val="0"/>
          <c:showCatName val="0"/>
          <c:showSerName val="0"/>
          <c:showPercent val="0"/>
          <c:showBubbleSize val="0"/>
          <c:showLeaderLines val="1"/>
        </c:dLbls>
        <c:firstSliceAng val="0"/>
        <c:holeSize val="60"/>
      </c:doughnutChart>
    </c:plotArea>
    <c:plotVisOnly val="1"/>
    <c:dispBlanksAs val="gap"/>
    <c:showDLblsOverMax val="0"/>
  </c:chart>
  <c:txPr>
    <a:bodyPr/>
    <a:lstStyle/>
    <a:p>
      <a:pPr>
        <a:defRPr sz="1800"/>
      </a:pPr>
      <a:endParaRPr lang="en-CO"/>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1C804-1A55-8041-B23E-B98B84AD2FFF}" type="datetimeFigureOut">
              <a:rPr lang="es-ES_tradnl" smtClean="0"/>
              <a:t>27/10/26</a:t>
            </a:fld>
            <a:endParaRPr lang="es-ES_trad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FE7A9-1943-A94F-9412-CB4584B52B98}" type="slidenum">
              <a:rPr lang="es-ES_tradnl" smtClean="0"/>
              <a:t>‹#›</a:t>
            </a:fld>
            <a:endParaRPr lang="es-ES_tradnl"/>
          </a:p>
        </p:txBody>
      </p:sp>
    </p:spTree>
    <p:extLst>
      <p:ext uri="{BB962C8B-B14F-4D97-AF65-F5344CB8AC3E}">
        <p14:creationId xmlns:p14="http://schemas.microsoft.com/office/powerpoint/2010/main" val="382082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 de 150 minutos con 25 de discusión al final. Si el tiempo aprieta, recortar en la parte 3 (gráficas de precios y volúmenes).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Impuesto</a:t>
            </a:r>
            <a:r>
              <a:rPr dirty="0"/>
              <a:t> </a:t>
            </a:r>
            <a:r>
              <a:rPr dirty="0" err="1"/>
              <a:t>pigouviano</a:t>
            </a:r>
            <a:r>
              <a:rPr dirty="0"/>
              <a:t>: </a:t>
            </a:r>
            <a:r>
              <a:rPr dirty="0" err="1"/>
              <a:t>precio</a:t>
            </a:r>
            <a:r>
              <a:rPr dirty="0"/>
              <a:t> </a:t>
            </a:r>
            <a:r>
              <a:rPr dirty="0" err="1"/>
              <a:t>fijo</a:t>
            </a:r>
            <a:r>
              <a:rPr dirty="0"/>
              <a:t>, </a:t>
            </a:r>
            <a:r>
              <a:rPr dirty="0" err="1"/>
              <a:t>cantidad</a:t>
            </a:r>
            <a:r>
              <a:rPr dirty="0"/>
              <a:t> </a:t>
            </a:r>
            <a:r>
              <a:rPr dirty="0" err="1"/>
              <a:t>incierta</a:t>
            </a:r>
            <a:r>
              <a:rPr dirty="0"/>
              <a:t>. Cap and trade: </a:t>
            </a:r>
            <a:r>
              <a:rPr dirty="0" err="1"/>
              <a:t>cantidad</a:t>
            </a:r>
            <a:r>
              <a:rPr dirty="0"/>
              <a:t> </a:t>
            </a:r>
            <a:r>
              <a:rPr dirty="0" err="1"/>
              <a:t>fija</a:t>
            </a:r>
            <a:r>
              <a:rPr dirty="0"/>
              <a:t>, </a:t>
            </a:r>
            <a:r>
              <a:rPr dirty="0" err="1"/>
              <a:t>precio</a:t>
            </a:r>
            <a:r>
              <a:rPr dirty="0"/>
              <a:t> </a:t>
            </a:r>
            <a:r>
              <a:rPr dirty="0" err="1"/>
              <a:t>incierto</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tabla resume Weitzman (1974): el impuesto da certeza de costos y el tope certeza ambiental. Con la columna de choques: el cap and trade estabiliza emisiones y deja que el precio absorba el ciclo; el impuesto hace lo contrario. Por eso muchos sistemas combinan ambos con pisos y techos de precio (en Colombia, el impuesto es el piso de la subasta del PNCTE).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en-CO" b="1" dirty="0"/>
              <a:t>Compensación (offset).</a:t>
            </a:r>
            <a:r>
              <a:rPr lang="en-CO" dirty="0"/>
              <a:t> Se basa en </a:t>
            </a:r>
            <a:r>
              <a:rPr lang="en-CO" b="1" dirty="0"/>
              <a:t>créditos medidos contra una línea base</a:t>
            </a:r>
            <a:r>
              <a:rPr lang="en-CO" dirty="0"/>
              <a:t>. No hay tope: quien reduce frente a lo que habría emitido de todas formas genera un crédito. Quien emite lo compra si le sale más barato que reducir por su cuenta.</a:t>
            </a:r>
          </a:p>
          <a:p>
            <a:pPr rtl="0"/>
            <a:r>
              <a:rPr lang="en-CO" dirty="0"/>
              <a:t>Problema central: la </a:t>
            </a:r>
            <a:r>
              <a:rPr lang="en-CO" b="1" dirty="0"/>
              <a:t>adicionalidad</a:t>
            </a:r>
            <a:r>
              <a:rPr lang="en-CO" dirty="0"/>
              <a:t>. El regulador no conoce la línea base real, porque la información es asimétrica.</a:t>
            </a:r>
            <a:br>
              <a:rPr lang="en-CO" dirty="0"/>
            </a:br>
            <a:br>
              <a:rPr lang="en-CO" dirty="0"/>
            </a:br>
            <a:r>
              <a:rPr lang="en-CO" b="1" dirty="0"/>
              <a:t>Cap and trade (tope y comercio).</a:t>
            </a:r>
            <a:r>
              <a:rPr lang="en-CO" dirty="0"/>
              <a:t> Se basa en </a:t>
            </a:r>
            <a:r>
              <a:rPr lang="en-CO" b="1" dirty="0"/>
              <a:t>Coase y Dales</a:t>
            </a:r>
            <a:r>
              <a:rPr lang="en-CO" dirty="0"/>
              <a:t>: si se crean </a:t>
            </a:r>
            <a:r>
              <a:rPr lang="en-CO" b="1" dirty="0"/>
              <a:t>derechos de propiedad</a:t>
            </a:r>
            <a:r>
              <a:rPr lang="en-CO" dirty="0"/>
              <a:t> sobre la capacidad de la atmósfera y se dejan comerciar, el mercado asigna la reducción de forma eficiente.</a:t>
            </a:r>
          </a:p>
          <a:p>
            <a:pPr lvl="0" rtl="0"/>
            <a:r>
              <a:rPr lang="en-CO" dirty="0"/>
              <a:t>El Estado fija la </a:t>
            </a:r>
            <a:r>
              <a:rPr lang="en-CO" b="1" dirty="0"/>
              <a:t>cantidad</a:t>
            </a:r>
            <a:r>
              <a:rPr lang="en-CO" dirty="0"/>
              <a:t> y el </a:t>
            </a:r>
            <a:r>
              <a:rPr lang="en-CO" b="1" dirty="0"/>
              <a:t>precio</a:t>
            </a:r>
            <a:r>
              <a:rPr lang="en-CO" dirty="0"/>
              <a:t> sale del mercado.</a:t>
            </a:r>
          </a:p>
          <a:p>
            <a:pPr lvl="0" rtl="0"/>
            <a:r>
              <a:rPr lang="en-CO" dirty="0"/>
              <a:t>Es lo inverso del impuesto pigouviano, que fija el precio y deja la cantidad incierta</a:t>
            </a:r>
          </a:p>
          <a:p>
            <a:pPr lvl="0" rtl="0"/>
            <a:endParaRPr lang="en-CO" dirty="0"/>
          </a:p>
          <a:p>
            <a:br>
              <a:rPr lang="es-419" dirty="0"/>
            </a:br>
            <a:br>
              <a:rPr lang="es-419" dirty="0"/>
            </a:br>
            <a:r>
              <a:rPr dirty="0" err="1"/>
              <a:t>Aterrizar</a:t>
            </a:r>
            <a:r>
              <a:rPr dirty="0"/>
              <a:t> </a:t>
            </a:r>
            <a:r>
              <a:rPr dirty="0" err="1"/>
              <a:t>cada</a:t>
            </a:r>
            <a:r>
              <a:rPr dirty="0"/>
              <a:t> </a:t>
            </a:r>
            <a:r>
              <a:rPr dirty="0" err="1"/>
              <a:t>esquema</a:t>
            </a:r>
            <a:r>
              <a:rPr dirty="0"/>
              <a:t> con un </a:t>
            </a:r>
            <a:r>
              <a:rPr dirty="0" err="1"/>
              <a:t>ejemplo</a:t>
            </a:r>
            <a:r>
              <a:rPr dirty="0"/>
              <a:t> </a:t>
            </a:r>
            <a:r>
              <a:rPr dirty="0" err="1"/>
              <a:t>colombiano</a:t>
            </a:r>
            <a:r>
              <a:rPr dirty="0"/>
              <a:t>. Offset: la no </a:t>
            </a:r>
            <a:r>
              <a:rPr dirty="0" err="1"/>
              <a:t>causación</a:t>
            </a:r>
            <a:r>
              <a:rPr dirty="0"/>
              <a:t> del </a:t>
            </a:r>
            <a:r>
              <a:rPr dirty="0" err="1"/>
              <a:t>impuesto</a:t>
            </a:r>
            <a:r>
              <a:rPr dirty="0"/>
              <a:t> al </a:t>
            </a:r>
            <a:r>
              <a:rPr dirty="0" err="1"/>
              <a:t>carbono</a:t>
            </a:r>
            <a:r>
              <a:rPr dirty="0"/>
              <a:t> (</a:t>
            </a:r>
            <a:r>
              <a:rPr dirty="0" err="1"/>
              <a:t>Decreto</a:t>
            </a:r>
            <a:r>
              <a:rPr dirty="0"/>
              <a:t> 926 de 2017) </a:t>
            </a:r>
            <a:r>
              <a:rPr dirty="0" err="1"/>
              <a:t>crea</a:t>
            </a:r>
            <a:r>
              <a:rPr dirty="0"/>
              <a:t> </a:t>
            </a:r>
            <a:r>
              <a:rPr dirty="0" err="1"/>
              <a:t>demanda</a:t>
            </a:r>
            <a:r>
              <a:rPr dirty="0"/>
              <a:t> de </a:t>
            </a:r>
            <a:r>
              <a:rPr dirty="0" err="1"/>
              <a:t>créditos</a:t>
            </a:r>
            <a:r>
              <a:rPr dirty="0"/>
              <a:t>; Ecopetrol </a:t>
            </a:r>
            <a:r>
              <a:rPr dirty="0" err="1"/>
              <a:t>vendió</a:t>
            </a:r>
            <a:r>
              <a:rPr dirty="0"/>
              <a:t> </a:t>
            </a:r>
            <a:r>
              <a:rPr dirty="0" err="1"/>
              <a:t>en</a:t>
            </a:r>
            <a:r>
              <a:rPr dirty="0"/>
              <a:t> 2021 un </a:t>
            </a:r>
            <a:r>
              <a:rPr dirty="0" err="1"/>
              <a:t>cargamento</a:t>
            </a:r>
            <a:r>
              <a:rPr dirty="0"/>
              <a:t> de Castilla Blend con sus </a:t>
            </a:r>
            <a:r>
              <a:rPr dirty="0" err="1"/>
              <a:t>emisiones</a:t>
            </a:r>
            <a:r>
              <a:rPr dirty="0"/>
              <a:t> </a:t>
            </a:r>
            <a:r>
              <a:rPr dirty="0" err="1"/>
              <a:t>compensadas</a:t>
            </a:r>
            <a:r>
              <a:rPr dirty="0"/>
              <a:t>. Tasa de </a:t>
            </a:r>
            <a:r>
              <a:rPr dirty="0" err="1"/>
              <a:t>emisión</a:t>
            </a:r>
            <a:r>
              <a:rPr dirty="0"/>
              <a:t>: Colombia no </a:t>
            </a:r>
            <a:r>
              <a:rPr dirty="0" err="1"/>
              <a:t>tiene</a:t>
            </a:r>
            <a:r>
              <a:rPr dirty="0"/>
              <a:t> un </a:t>
            </a:r>
            <a:r>
              <a:rPr dirty="0" err="1"/>
              <a:t>esquema</a:t>
            </a:r>
            <a:r>
              <a:rPr dirty="0"/>
              <a:t> </a:t>
            </a:r>
            <a:r>
              <a:rPr dirty="0" err="1"/>
              <a:t>propio</a:t>
            </a:r>
            <a:r>
              <a:rPr dirty="0"/>
              <a:t>; </a:t>
            </a:r>
            <a:r>
              <a:rPr dirty="0" err="1"/>
              <a:t>ejemplos</a:t>
            </a:r>
            <a:r>
              <a:rPr dirty="0"/>
              <a:t> </a:t>
            </a:r>
            <a:r>
              <a:rPr dirty="0" err="1"/>
              <a:t>internacionales</a:t>
            </a:r>
            <a:r>
              <a:rPr dirty="0"/>
              <a:t> son </a:t>
            </a:r>
            <a:r>
              <a:rPr dirty="0" err="1"/>
              <a:t>los</a:t>
            </a:r>
            <a:r>
              <a:rPr dirty="0"/>
              <a:t> </a:t>
            </a:r>
            <a:r>
              <a:rPr dirty="0" err="1"/>
              <a:t>estándares</a:t>
            </a:r>
            <a:r>
              <a:rPr dirty="0"/>
              <a:t> de </a:t>
            </a:r>
            <a:r>
              <a:rPr dirty="0" err="1"/>
              <a:t>intensidad</a:t>
            </a:r>
            <a:r>
              <a:rPr dirty="0"/>
              <a:t> (p. </a:t>
            </a:r>
            <a:r>
              <a:rPr dirty="0" err="1"/>
              <a:t>ej</a:t>
            </a:r>
            <a:r>
              <a:rPr dirty="0"/>
              <a:t>., combustibles </a:t>
            </a:r>
            <a:r>
              <a:rPr dirty="0" err="1"/>
              <a:t>bajos</a:t>
            </a:r>
            <a:r>
              <a:rPr dirty="0"/>
              <a:t> </a:t>
            </a:r>
            <a:r>
              <a:rPr dirty="0" err="1"/>
              <a:t>en</a:t>
            </a:r>
            <a:r>
              <a:rPr dirty="0"/>
              <a:t> </a:t>
            </a:r>
            <a:r>
              <a:rPr dirty="0" err="1"/>
              <a:t>carbono</a:t>
            </a:r>
            <a:r>
              <a:rPr dirty="0"/>
              <a:t> de California, </a:t>
            </a:r>
            <a:r>
              <a:rPr dirty="0" err="1"/>
              <a:t>sistema</a:t>
            </a:r>
            <a:r>
              <a:rPr dirty="0"/>
              <a:t> para </a:t>
            </a:r>
            <a:r>
              <a:rPr dirty="0" err="1"/>
              <a:t>grandes</a:t>
            </a:r>
            <a:r>
              <a:rPr dirty="0"/>
              <a:t> </a:t>
            </a:r>
            <a:r>
              <a:rPr dirty="0" err="1"/>
              <a:t>emisores</a:t>
            </a:r>
            <a:r>
              <a:rPr dirty="0"/>
              <a:t> de </a:t>
            </a:r>
            <a:r>
              <a:rPr dirty="0" err="1"/>
              <a:t>Canadá</a:t>
            </a:r>
            <a:r>
              <a:rPr dirty="0"/>
              <a:t>). Cap and trade: PNCTE, </a:t>
            </a:r>
            <a:r>
              <a:rPr dirty="0" err="1"/>
              <a:t>Decreto</a:t>
            </a:r>
            <a:r>
              <a:rPr dirty="0"/>
              <a:t> 969 de 2026.</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dirty="0"/>
              <a:t>Dales (1968) propone los mercados de </a:t>
            </a:r>
            <a:r>
              <a:rPr dirty="0" err="1"/>
              <a:t>permisos</a:t>
            </a:r>
            <a:r>
              <a:rPr dirty="0"/>
              <a:t> </a:t>
            </a:r>
            <a:r>
              <a:rPr dirty="0" err="1"/>
              <a:t>negociables</a:t>
            </a:r>
            <a:r>
              <a:rPr dirty="0"/>
              <a:t>; </a:t>
            </a:r>
            <a:r>
              <a:rPr dirty="0" err="1"/>
              <a:t>en</a:t>
            </a:r>
            <a:r>
              <a:rPr dirty="0"/>
              <a:t> los 90 EE. UU. </a:t>
            </a:r>
            <a:r>
              <a:rPr dirty="0" err="1"/>
              <a:t>crea</a:t>
            </a:r>
            <a:r>
              <a:rPr dirty="0"/>
              <a:t> el mercado de SO₂; </a:t>
            </a:r>
            <a:r>
              <a:rPr dirty="0" err="1"/>
              <a:t>Kioto</a:t>
            </a:r>
            <a:r>
              <a:rPr dirty="0"/>
              <a:t> (1997) lo </a:t>
            </a:r>
            <a:r>
              <a:rPr dirty="0" err="1"/>
              <a:t>vuelve</a:t>
            </a:r>
            <a:r>
              <a:rPr dirty="0"/>
              <a:t> </a:t>
            </a:r>
            <a:r>
              <a:rPr dirty="0" err="1"/>
              <a:t>herramienta</a:t>
            </a:r>
            <a:r>
              <a:rPr dirty="0"/>
              <a:t> climática global; la UE </a:t>
            </a:r>
            <a:r>
              <a:rPr dirty="0" err="1"/>
              <a:t>lanza</a:t>
            </a:r>
            <a:r>
              <a:rPr dirty="0"/>
              <a:t> el EU ETS (2005), el primero y </a:t>
            </a:r>
            <a:r>
              <a:rPr dirty="0" err="1"/>
              <a:t>más</a:t>
            </a:r>
            <a:r>
              <a:rPr dirty="0"/>
              <a:t> grande regional; el </a:t>
            </a:r>
            <a:r>
              <a:rPr dirty="0" err="1"/>
              <a:t>artículo</a:t>
            </a:r>
            <a:r>
              <a:rPr dirty="0"/>
              <a:t> 6 de París (2015) </a:t>
            </a:r>
            <a:r>
              <a:rPr dirty="0" err="1"/>
              <a:t>sienta</a:t>
            </a:r>
            <a:r>
              <a:rPr dirty="0"/>
              <a:t> las bases de la </a:t>
            </a:r>
            <a:r>
              <a:rPr dirty="0" err="1"/>
              <a:t>nueva</a:t>
            </a:r>
            <a:r>
              <a:rPr dirty="0"/>
              <a:t> </a:t>
            </a:r>
            <a:r>
              <a:rPr dirty="0" err="1"/>
              <a:t>generación</a:t>
            </a:r>
            <a:r>
              <a:rPr dirty="0"/>
              <a:t> (6.2 y 6.4).</a:t>
            </a:r>
            <a:br>
              <a:rPr lang="es-419" dirty="0"/>
            </a:br>
            <a:br>
              <a:rPr lang="es-419" dirty="0"/>
            </a:br>
            <a:r>
              <a:rPr lang="en-CO" b="1" dirty="0"/>
              <a:t>Ronald Coase (1960), “The Problem of Social Cost”</a:t>
            </a:r>
            <a:endParaRPr lang="en-CO" dirty="0"/>
          </a:p>
          <a:p>
            <a:pPr lvl="0" rtl="0"/>
            <a:r>
              <a:rPr lang="en-CO" b="1" dirty="0"/>
              <a:t>Planteó</a:t>
            </a:r>
            <a:r>
              <a:rPr lang="en-CO" dirty="0"/>
              <a:t> que una externalidad, como la contaminación, es en el fondo un </a:t>
            </a:r>
            <a:r>
              <a:rPr lang="en-CO" b="1" dirty="0"/>
              <a:t>problema de derechos de propiedad mal definidos</a:t>
            </a:r>
            <a:r>
              <a:rPr lang="en-CO" dirty="0"/>
              <a:t>.</a:t>
            </a:r>
          </a:p>
          <a:p>
            <a:pPr lvl="0" rtl="0"/>
            <a:r>
              <a:rPr lang="en-CO" b="1" dirty="0"/>
              <a:t>Su resultado, el teorema de Coase:</a:t>
            </a:r>
            <a:r>
              <a:rPr lang="en-CO" dirty="0"/>
              <a:t> si los derechos están bien definidos y los costos de transacción son bajos, las partes </a:t>
            </a:r>
            <a:r>
              <a:rPr lang="en-CO" b="1" dirty="0"/>
              <a:t>negocian entre ellas y llegan a la solución eficiente</a:t>
            </a:r>
            <a:r>
              <a:rPr lang="en-CO" dirty="0"/>
              <a:t>. Da igual a quién se le asigne inicialmente el derecho, si al que contamina o al afectado. Esa asignación solo cambia quién le paga a quién, es decir, la distribución.</a:t>
            </a:r>
          </a:p>
          <a:p>
            <a:pPr lvl="0" rtl="0"/>
            <a:r>
              <a:rPr lang="en-CO" b="1" dirty="0"/>
              <a:t>Su aporte frente a Pigou:</a:t>
            </a:r>
            <a:r>
              <a:rPr lang="en-CO" dirty="0"/>
              <a:t> no siempre hace falta que el Estado fije un impuesto. Basta con definir derechos y dejar que se negocien.</a:t>
            </a:r>
          </a:p>
          <a:p>
            <a:pPr lvl="0" rtl="0"/>
            <a:r>
              <a:rPr lang="en-CO" b="1" dirty="0"/>
              <a:t>Su límite:</a:t>
            </a:r>
            <a:r>
              <a:rPr lang="en-CO" dirty="0"/>
              <a:t> con muchos afectados, como ocurre con el clima, los costos de transacción son enormes y la negociación directa no funciona.</a:t>
            </a:r>
          </a:p>
          <a:p>
            <a:pPr lvl="0" rtl="0"/>
            <a:r>
              <a:rPr lang="en-CO" dirty="0"/>
              <a:t>Coase recibió el Nobel de Economía en 1991.</a:t>
            </a:r>
          </a:p>
          <a:p>
            <a:pPr rtl="0"/>
            <a:r>
              <a:rPr lang="en-CO" b="1" dirty="0"/>
              <a:t>John H. Dales (1968), </a:t>
            </a:r>
            <a:r>
              <a:rPr lang="en-CO" b="1" i="1" dirty="0"/>
              <a:t>Pollution, Property and Prices</a:t>
            </a:r>
            <a:endParaRPr lang="en-CO" dirty="0"/>
          </a:p>
          <a:p>
            <a:pPr lvl="0" rtl="0"/>
            <a:r>
              <a:rPr lang="en-CO" b="1" dirty="0"/>
              <a:t>Llevó la idea de Coase a la práctica:</a:t>
            </a:r>
            <a:r>
              <a:rPr lang="en-CO" dirty="0"/>
              <a:t> si negociar uno a uno es imposible, que el </a:t>
            </a:r>
            <a:r>
              <a:rPr lang="en-CO" b="1" dirty="0"/>
              <a:t>Estado cree los derechos</a:t>
            </a:r>
            <a:r>
              <a:rPr lang="en-CO" dirty="0"/>
              <a:t>. Fija cuánto se puede contaminar en total, divide esa cantidad en </a:t>
            </a:r>
            <a:r>
              <a:rPr lang="en-CO" b="1" dirty="0"/>
              <a:t>permisos transferibles</a:t>
            </a:r>
            <a:r>
              <a:rPr lang="en-CO" dirty="0"/>
              <a:t> y deja que se compren y vendan en un </a:t>
            </a:r>
            <a:r>
              <a:rPr lang="en-CO" b="1" dirty="0"/>
              <a:t>mercado</a:t>
            </a:r>
            <a:r>
              <a:rPr lang="en-CO" dirty="0"/>
              <a:t>.</a:t>
            </a:r>
          </a:p>
          <a:p>
            <a:pPr lvl="0" rtl="0"/>
            <a:r>
              <a:rPr lang="en-CO" dirty="0"/>
              <a:t>Lo escribió pensando en la contaminación del agua en Canadá.</a:t>
            </a:r>
          </a:p>
          <a:p>
            <a:pPr lvl="0" rtl="0"/>
            <a:r>
              <a:rPr lang="en-CO" b="1" dirty="0"/>
              <a:t>Es el origen intelectual del cap and trade.</a:t>
            </a:r>
            <a:r>
              <a:rPr lang="en-CO" dirty="0"/>
              <a:t> Se aplicó primero al SO₂ en Estados Unidos (1990) y luego al carbono: Kioto en 1997 y el mercado europeo de emisiones (EU ETS) en 2005.</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Sujetos</a:t>
            </a:r>
            <a:r>
              <a:rPr lang="en-US" dirty="0"/>
              <a:t> que </a:t>
            </a:r>
            <a:r>
              <a:rPr lang="en-US" dirty="0" err="1"/>
              <a:t>conforman</a:t>
            </a:r>
            <a:r>
              <a:rPr lang="en-US" dirty="0"/>
              <a:t> </a:t>
            </a:r>
            <a:r>
              <a:rPr lang="en-US" dirty="0" err="1"/>
              <a:t>el</a:t>
            </a:r>
            <a:r>
              <a:rPr lang="en-US" dirty="0"/>
              <a:t> mercado. Estado actual del mercado a </a:t>
            </a:r>
            <a:r>
              <a:rPr lang="en-US" dirty="0" err="1"/>
              <a:t>nivel</a:t>
            </a:r>
            <a:r>
              <a:rPr lang="en-US" dirty="0"/>
              <a:t> mundial y a </a:t>
            </a:r>
            <a:r>
              <a:rPr lang="en-US" dirty="0" err="1"/>
              <a:t>nivel</a:t>
            </a:r>
            <a:r>
              <a:rPr lang="en-US" dirty="0"/>
              <a:t> </a:t>
            </a:r>
            <a:r>
              <a:rPr lang="en-US" dirty="0" err="1"/>
              <a:t>nacional</a:t>
            </a:r>
            <a:r>
              <a:rPr lang="en-US" dirty="0"/>
              <a:t>. Lo que se </a:t>
            </a:r>
            <a:r>
              <a:rPr lang="en-US" dirty="0" err="1"/>
              <a:t>acordó</a:t>
            </a:r>
            <a:r>
              <a:rPr lang="en-US" dirty="0"/>
              <a:t> </a:t>
            </a:r>
            <a:r>
              <a:rPr lang="en-US" dirty="0" err="1"/>
              <a:t>en</a:t>
            </a:r>
            <a:r>
              <a:rPr lang="en-US" dirty="0"/>
              <a:t> la COP 28 y </a:t>
            </a:r>
            <a:r>
              <a:rPr lang="en-US" dirty="0" err="1"/>
              <a:t>hacia</a:t>
            </a:r>
            <a:r>
              <a:rPr lang="en-US" dirty="0"/>
              <a:t> </a:t>
            </a:r>
            <a:r>
              <a:rPr lang="en-US" dirty="0" err="1"/>
              <a:t>donde</a:t>
            </a:r>
            <a:r>
              <a:rPr lang="en-US" dirty="0"/>
              <a:t> </a:t>
            </a:r>
            <a:r>
              <a:rPr lang="en-US" dirty="0" err="1"/>
              <a:t>va</a:t>
            </a:r>
            <a:r>
              <a:rPr lang="en-US" dirty="0"/>
              <a:t> la </a:t>
            </a:r>
            <a:r>
              <a:rPr lang="en-US" dirty="0" err="1"/>
              <a:t>regulación</a:t>
            </a:r>
            <a:r>
              <a:rPr lang="en-US" dirty="0"/>
              <a:t> del mercado bajo </a:t>
            </a:r>
            <a:r>
              <a:rPr lang="en-US" dirty="0" err="1"/>
              <a:t>el</a:t>
            </a:r>
            <a:r>
              <a:rPr lang="en-US" dirty="0"/>
              <a:t> </a:t>
            </a:r>
            <a:r>
              <a:rPr lang="en-US" dirty="0" err="1"/>
              <a:t>artículo</a:t>
            </a:r>
            <a:r>
              <a:rPr lang="en-US" dirty="0"/>
              <a:t> 6 de </a:t>
            </a:r>
            <a:r>
              <a:rPr lang="en-US" dirty="0" err="1"/>
              <a:t>paris</a:t>
            </a:r>
            <a:r>
              <a:rPr lang="en-US" dirty="0"/>
              <a:t>.</a:t>
            </a:r>
            <a:endParaRPr lang="en-CO" dirty="0"/>
          </a:p>
          <a:p>
            <a:endParaRPr lang="es-ES_tradnl" dirty="0"/>
          </a:p>
        </p:txBody>
      </p:sp>
      <p:sp>
        <p:nvSpPr>
          <p:cNvPr id="4" name="Slide Number Placeholder 3"/>
          <p:cNvSpPr>
            <a:spLocks noGrp="1"/>
          </p:cNvSpPr>
          <p:nvPr>
            <p:ph type="sldNum" sz="quarter" idx="5"/>
          </p:nvPr>
        </p:nvSpPr>
        <p:spPr/>
        <p:txBody>
          <a:bodyPr/>
          <a:lstStyle/>
          <a:p>
            <a:fld id="{875D257C-EB0D-FA4C-BA70-9F5CACC3ADD9}" type="slidenum">
              <a:rPr lang="es-ES_tradnl" smtClean="0"/>
              <a:t>13</a:t>
            </a:fld>
            <a:endParaRPr lang="es-ES_tradnl"/>
          </a:p>
        </p:txBody>
      </p:sp>
    </p:spTree>
    <p:extLst>
      <p:ext uri="{BB962C8B-B14F-4D97-AF65-F5344CB8AC3E}">
        <p14:creationId xmlns:p14="http://schemas.microsoft.com/office/powerpoint/2010/main" val="3942281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Comercio internacional de emisiones (límites y comercio): el gobierno fija un límite y emite derechos de emisión, subastados o regalados, que se comercializan entre países y empresas; 1 t CO₂ = derecho de emisión. MDL (créditos sobre líneas de base): países desarrollados compran créditos de proyectos en países en desarrollo; 1 t CO₂ = CER. Implementación Conjunta: países desarrollados compran créditos de otros países desarrollados; 1 t CO₂ = ERU.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El </a:t>
            </a:r>
            <a:r>
              <a:rPr dirty="0" err="1"/>
              <a:t>país</a:t>
            </a:r>
            <a:r>
              <a:rPr dirty="0"/>
              <a:t> </a:t>
            </a:r>
            <a:r>
              <a:rPr dirty="0" err="1"/>
              <a:t>en</a:t>
            </a:r>
            <a:r>
              <a:rPr dirty="0"/>
              <a:t> </a:t>
            </a:r>
            <a:r>
              <a:rPr dirty="0" err="1"/>
              <a:t>desarrollo</a:t>
            </a:r>
            <a:r>
              <a:rPr dirty="0"/>
              <a:t> </a:t>
            </a:r>
            <a:r>
              <a:rPr dirty="0" err="1"/>
              <a:t>aloja</a:t>
            </a:r>
            <a:r>
              <a:rPr dirty="0"/>
              <a:t> el </a:t>
            </a:r>
            <a:r>
              <a:rPr dirty="0" err="1"/>
              <a:t>proyecto</a:t>
            </a:r>
            <a:r>
              <a:rPr dirty="0"/>
              <a:t> y genera </a:t>
            </a:r>
            <a:r>
              <a:rPr dirty="0" err="1"/>
              <a:t>reducciones</a:t>
            </a:r>
            <a:r>
              <a:rPr dirty="0"/>
              <a:t> </a:t>
            </a:r>
            <a:r>
              <a:rPr dirty="0" err="1"/>
              <a:t>certificadas</a:t>
            </a:r>
            <a:r>
              <a:rPr dirty="0"/>
              <a:t>; el </a:t>
            </a:r>
            <a:r>
              <a:rPr dirty="0" err="1"/>
              <a:t>industrializado</a:t>
            </a:r>
            <a:r>
              <a:rPr dirty="0"/>
              <a:t> las </a:t>
            </a:r>
            <a:r>
              <a:rPr dirty="0" err="1"/>
              <a:t>compra</a:t>
            </a:r>
            <a:r>
              <a:rPr dirty="0"/>
              <a:t> para </a:t>
            </a:r>
            <a:r>
              <a:rPr dirty="0" err="1"/>
              <a:t>cumplir</a:t>
            </a:r>
            <a:r>
              <a:rPr dirty="0"/>
              <a:t> sus </a:t>
            </a:r>
            <a:r>
              <a:rPr dirty="0" err="1"/>
              <a:t>metas</a:t>
            </a:r>
            <a:r>
              <a:rPr dirty="0"/>
              <a:t> y a </a:t>
            </a:r>
            <a:r>
              <a:rPr dirty="0" err="1"/>
              <a:t>cambio</a:t>
            </a:r>
            <a:r>
              <a:rPr dirty="0"/>
              <a:t> </a:t>
            </a:r>
            <a:r>
              <a:rPr dirty="0" err="1"/>
              <a:t>aporta</a:t>
            </a:r>
            <a:r>
              <a:rPr dirty="0"/>
              <a:t> </a:t>
            </a:r>
            <a:r>
              <a:rPr dirty="0" err="1"/>
              <a:t>financiación</a:t>
            </a:r>
            <a:r>
              <a:rPr dirty="0"/>
              <a:t>, </a:t>
            </a:r>
            <a:r>
              <a:rPr dirty="0" err="1"/>
              <a:t>tecnología</a:t>
            </a:r>
            <a:r>
              <a:rPr dirty="0"/>
              <a:t> y </a:t>
            </a:r>
            <a:r>
              <a:rPr dirty="0" err="1"/>
              <a:t>capacidades</a:t>
            </a:r>
            <a:r>
              <a:rPr dirty="0"/>
              <a:t>.</a:t>
            </a:r>
            <a:r>
              <a:rPr lang="en-US" dirty="0"/>
              <a:t> </a:t>
            </a:r>
            <a:r>
              <a:rPr lang="en-CO" dirty="0"/>
              <a:t>El MDL tuvo un problema de confianza: un estudio para la Comisión Europea encontró que el 85 % de sus proyectos tenía baja probabilidad de ser realmente adicional. El nuevo mecanismo de París corrige eso con líneas base más exigentes, periodos más cortos, ajustes para no contar dos veces y una parte de los créditos que se cancela a favor del clima. Por eso hoy un crédito vale más, pero es mucho más difícil de obtener.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6.2: </a:t>
            </a:r>
            <a:r>
              <a:rPr dirty="0" err="1"/>
              <a:t>cooperación</a:t>
            </a:r>
            <a:r>
              <a:rPr dirty="0"/>
              <a:t> bilateral </a:t>
            </a:r>
            <a:r>
              <a:rPr dirty="0" err="1"/>
              <a:t>vía</a:t>
            </a:r>
            <a:r>
              <a:rPr dirty="0"/>
              <a:t> ITMOs con </a:t>
            </a:r>
            <a:r>
              <a:rPr dirty="0" err="1"/>
              <a:t>ajuste</a:t>
            </a:r>
            <a:r>
              <a:rPr dirty="0"/>
              <a:t> </a:t>
            </a:r>
            <a:r>
              <a:rPr dirty="0" err="1"/>
              <a:t>correspondiente</a:t>
            </a:r>
            <a:r>
              <a:rPr dirty="0"/>
              <a:t>; </a:t>
            </a:r>
            <a:r>
              <a:rPr dirty="0" err="1"/>
              <a:t>descentralizado</a:t>
            </a:r>
            <a:r>
              <a:rPr dirty="0"/>
              <a:t>. 6.4: nuevo </a:t>
            </a:r>
            <a:r>
              <a:rPr dirty="0" err="1"/>
              <a:t>mecanismo</a:t>
            </a:r>
            <a:r>
              <a:rPr dirty="0"/>
              <a:t> multilateral, </a:t>
            </a:r>
            <a:r>
              <a:rPr dirty="0" err="1"/>
              <a:t>reemplazo</a:t>
            </a:r>
            <a:r>
              <a:rPr dirty="0"/>
              <a:t> del MDL, </a:t>
            </a:r>
            <a:r>
              <a:rPr dirty="0" err="1"/>
              <a:t>supervisado</a:t>
            </a:r>
            <a:r>
              <a:rPr dirty="0"/>
              <a:t> por el </a:t>
            </a:r>
            <a:r>
              <a:rPr dirty="0" err="1"/>
              <a:t>Órgano</a:t>
            </a:r>
            <a:r>
              <a:rPr dirty="0"/>
              <a:t> de </a:t>
            </a:r>
            <a:r>
              <a:rPr dirty="0" err="1"/>
              <a:t>Supervisión</a:t>
            </a:r>
            <a:r>
              <a:rPr dirty="0"/>
              <a:t>; </a:t>
            </a:r>
            <a:r>
              <a:rPr dirty="0" err="1"/>
              <a:t>compran</a:t>
            </a:r>
            <a:r>
              <a:rPr dirty="0"/>
              <a:t> </a:t>
            </a:r>
            <a:r>
              <a:rPr dirty="0" err="1"/>
              <a:t>países</a:t>
            </a:r>
            <a:r>
              <a:rPr dirty="0"/>
              <a:t>, </a:t>
            </a:r>
            <a:r>
              <a:rPr dirty="0" err="1"/>
              <a:t>empresas</a:t>
            </a:r>
            <a:r>
              <a:rPr dirty="0"/>
              <a:t> y personas; 5 % al Fondo de Adaptación. 6.8: mecanismos no de mercado: </a:t>
            </a:r>
            <a:r>
              <a:rPr dirty="0" err="1"/>
              <a:t>transferencia</a:t>
            </a:r>
            <a:r>
              <a:rPr dirty="0"/>
              <a:t> </a:t>
            </a:r>
            <a:r>
              <a:rPr dirty="0" err="1"/>
              <a:t>tecnológica</a:t>
            </a:r>
            <a:r>
              <a:rPr dirty="0"/>
              <a:t>, </a:t>
            </a:r>
            <a:r>
              <a:rPr dirty="0" err="1"/>
              <a:t>capacidades</a:t>
            </a:r>
            <a:r>
              <a:rPr dirty="0"/>
              <a:t>, </a:t>
            </a:r>
            <a:r>
              <a:rPr dirty="0" err="1"/>
              <a:t>esquemas</a:t>
            </a:r>
            <a:r>
              <a:rPr dirty="0"/>
              <a:t> </a:t>
            </a:r>
            <a:r>
              <a:rPr dirty="0" err="1"/>
              <a:t>tributarios</a:t>
            </a:r>
            <a:r>
              <a:rPr dirty="0"/>
              <a:t> y de </a:t>
            </a:r>
            <a:r>
              <a:rPr dirty="0" err="1"/>
              <a:t>política</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6.2: el </a:t>
            </a:r>
            <a:r>
              <a:rPr dirty="0" err="1"/>
              <a:t>país</a:t>
            </a:r>
            <a:r>
              <a:rPr dirty="0"/>
              <a:t> A </a:t>
            </a:r>
            <a:r>
              <a:rPr dirty="0" err="1"/>
              <a:t>acuerda</a:t>
            </a:r>
            <a:r>
              <a:rPr dirty="0"/>
              <a:t> vender al </a:t>
            </a:r>
            <a:r>
              <a:rPr dirty="0" err="1"/>
              <a:t>país</a:t>
            </a:r>
            <a:r>
              <a:rPr dirty="0"/>
              <a:t> B; </a:t>
            </a:r>
            <a:r>
              <a:rPr dirty="0" err="1"/>
              <a:t>puede</a:t>
            </a:r>
            <a:r>
              <a:rPr dirty="0"/>
              <a:t> </a:t>
            </a:r>
            <a:r>
              <a:rPr dirty="0" err="1"/>
              <a:t>agregar</a:t>
            </a:r>
            <a:r>
              <a:rPr dirty="0"/>
              <a:t> </a:t>
            </a:r>
            <a:r>
              <a:rPr dirty="0" err="1"/>
              <a:t>proyectos</a:t>
            </a:r>
            <a:r>
              <a:rPr dirty="0"/>
              <a:t> o usar </a:t>
            </a:r>
            <a:r>
              <a:rPr dirty="0" err="1"/>
              <a:t>políticas</a:t>
            </a:r>
            <a:r>
              <a:rPr dirty="0"/>
              <a:t> para </a:t>
            </a:r>
            <a:r>
              <a:rPr dirty="0" err="1"/>
              <a:t>generar</a:t>
            </a:r>
            <a:r>
              <a:rPr dirty="0"/>
              <a:t> </a:t>
            </a:r>
            <a:r>
              <a:rPr dirty="0" err="1"/>
              <a:t>reducciones</a:t>
            </a:r>
            <a:r>
              <a:rPr dirty="0"/>
              <a:t>. 6.4: el </a:t>
            </a:r>
            <a:r>
              <a:rPr dirty="0" err="1"/>
              <a:t>desarrollador</a:t>
            </a:r>
            <a:r>
              <a:rPr dirty="0"/>
              <a:t> </a:t>
            </a:r>
            <a:r>
              <a:rPr dirty="0" err="1"/>
              <a:t>obtiene</a:t>
            </a:r>
            <a:r>
              <a:rPr dirty="0"/>
              <a:t> la </a:t>
            </a:r>
            <a:r>
              <a:rPr dirty="0" err="1"/>
              <a:t>aprobación</a:t>
            </a:r>
            <a:r>
              <a:rPr dirty="0"/>
              <a:t> del </a:t>
            </a:r>
            <a:r>
              <a:rPr dirty="0" err="1"/>
              <a:t>país</a:t>
            </a:r>
            <a:r>
              <a:rPr dirty="0"/>
              <a:t> </a:t>
            </a:r>
            <a:r>
              <a:rPr dirty="0" err="1"/>
              <a:t>anfitrión</a:t>
            </a:r>
            <a:r>
              <a:rPr dirty="0"/>
              <a:t>, </a:t>
            </a:r>
            <a:r>
              <a:rPr dirty="0" err="1"/>
              <a:t>usa</a:t>
            </a:r>
            <a:r>
              <a:rPr dirty="0"/>
              <a:t> </a:t>
            </a:r>
            <a:r>
              <a:rPr dirty="0" err="1"/>
              <a:t>metodologías</a:t>
            </a:r>
            <a:r>
              <a:rPr dirty="0"/>
              <a:t> </a:t>
            </a:r>
            <a:r>
              <a:rPr dirty="0" err="1"/>
              <a:t>aprobadas</a:t>
            </a:r>
            <a:r>
              <a:rPr dirty="0"/>
              <a:t> por el </a:t>
            </a:r>
            <a:r>
              <a:rPr dirty="0" err="1"/>
              <a:t>Órgano</a:t>
            </a:r>
            <a:r>
              <a:rPr dirty="0"/>
              <a:t> de </a:t>
            </a:r>
            <a:r>
              <a:rPr dirty="0" err="1"/>
              <a:t>Supervisión</a:t>
            </a:r>
            <a:r>
              <a:rPr dirty="0"/>
              <a:t>, </a:t>
            </a:r>
            <a:r>
              <a:rPr dirty="0" err="1"/>
              <a:t>que</a:t>
            </a:r>
            <a:r>
              <a:rPr dirty="0"/>
              <a:t> </a:t>
            </a:r>
            <a:r>
              <a:rPr dirty="0" err="1"/>
              <a:t>aprueba</a:t>
            </a:r>
            <a:r>
              <a:rPr dirty="0"/>
              <a:t> la </a:t>
            </a:r>
            <a:r>
              <a:rPr dirty="0" err="1"/>
              <a:t>emisión</a:t>
            </a:r>
            <a:r>
              <a:rPr dirty="0"/>
              <a:t>, y </a:t>
            </a:r>
            <a:r>
              <a:rPr dirty="0" err="1"/>
              <a:t>puede</a:t>
            </a:r>
            <a:r>
              <a:rPr dirty="0"/>
              <a:t> vender a </a:t>
            </a:r>
            <a:r>
              <a:rPr dirty="0" err="1"/>
              <a:t>compradores</a:t>
            </a:r>
            <a:r>
              <a:rPr dirty="0"/>
              <a:t> de </a:t>
            </a:r>
            <a:r>
              <a:rPr dirty="0" err="1"/>
              <a:t>países</a:t>
            </a:r>
            <a:r>
              <a:rPr dirty="0"/>
              <a:t> </a:t>
            </a:r>
            <a:r>
              <a:rPr dirty="0" err="1"/>
              <a:t>que</a:t>
            </a:r>
            <a:r>
              <a:rPr dirty="0"/>
              <a:t> </a:t>
            </a:r>
            <a:r>
              <a:rPr dirty="0" err="1"/>
              <a:t>permiten</a:t>
            </a:r>
            <a:r>
              <a:rPr dirty="0"/>
              <a:t> </a:t>
            </a:r>
            <a:r>
              <a:rPr dirty="0" err="1"/>
              <a:t>compensaciones</a:t>
            </a:r>
            <a:r>
              <a:rPr dirty="0"/>
              <a:t> </a:t>
            </a:r>
            <a:r>
              <a:rPr dirty="0" err="1"/>
              <a:t>internacionales</a:t>
            </a:r>
            <a:r>
              <a:rPr dirty="0"/>
              <a:t>. 6.8: la "</a:t>
            </a:r>
            <a:r>
              <a:rPr dirty="0" err="1"/>
              <a:t>zanahoria</a:t>
            </a:r>
            <a:r>
              <a:rPr dirty="0"/>
              <a:t>", </a:t>
            </a:r>
            <a:r>
              <a:rPr dirty="0" err="1"/>
              <a:t>incentivos</a:t>
            </a:r>
            <a:r>
              <a:rPr dirty="0"/>
              <a:t> no de mercado.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17:notes"/>
          <p:cNvSpPr>
            <a:spLocks noGrp="1" noRot="1" noChangeAspect="1"/>
          </p:cNvSpPr>
          <p:nvPr>
            <p:ph type="sldImg" idx="2"/>
          </p:nvPr>
        </p:nvSpPr>
        <p:spPr>
          <a:xfrm>
            <a:off x="703263" y="1154113"/>
            <a:ext cx="5543550"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3" name="Google Shape;483;p17:notes"/>
          <p:cNvSpPr txBox="1">
            <a:spLocks noGrp="1"/>
          </p:cNvSpPr>
          <p:nvPr>
            <p:ph type="body" idx="1"/>
          </p:nvPr>
        </p:nvSpPr>
        <p:spPr>
          <a:xfrm>
            <a:off x="695008" y="4444861"/>
            <a:ext cx="5560060" cy="3636705"/>
          </a:xfrm>
          <a:prstGeom prst="rect">
            <a:avLst/>
          </a:prstGeom>
          <a:noFill/>
          <a:ln>
            <a:noFill/>
          </a:ln>
        </p:spPr>
        <p:txBody>
          <a:bodyPr spcFirstLastPara="1" wrap="square" lIns="92475" tIns="46225" rIns="92475" bIns="46225" anchor="t" anchorCtr="0">
            <a:noAutofit/>
          </a:bodyPr>
          <a:lstStyle/>
          <a:p>
            <a:pPr marL="0" lvl="0" indent="0" algn="l" rtl="0">
              <a:spcBef>
                <a:spcPts val="0"/>
              </a:spcBef>
              <a:spcAft>
                <a:spcPts val="0"/>
              </a:spcAft>
              <a:buNone/>
            </a:pPr>
            <a:r>
              <a:rPr lang="en-US"/>
              <a:t>The corresponding adjustments are an accounting mechanism to avoid double counting of emission reductions. Here country A sells some of their emissions reductions (ITMOs) to country B, and each country adjusts their reported emissions accordingly.</a:t>
            </a:r>
            <a:endParaRPr/>
          </a:p>
          <a:p>
            <a:pPr marL="0" lvl="0" indent="0" algn="l" rtl="0">
              <a:spcBef>
                <a:spcPts val="0"/>
              </a:spcBef>
              <a:spcAft>
                <a:spcPts val="0"/>
              </a:spcAft>
              <a:buNone/>
            </a:pPr>
            <a:endParaRPr/>
          </a:p>
          <a:p>
            <a:pPr marL="0" lvl="0" indent="0" algn="l" rtl="0">
              <a:spcBef>
                <a:spcPts val="0"/>
              </a:spcBef>
              <a:spcAft>
                <a:spcPts val="0"/>
              </a:spcAft>
              <a:buNone/>
            </a:pPr>
            <a:r>
              <a:rPr lang="en-US"/>
              <a:t>Los ajustes correspondientes son un mecanismo contable para evitar la doble contabilización de las reducciones de emisiones. Aquí el país A vende algunas de sus reducciones de emisiones (ITMO) al país B, y cada país ajusta sus emisiones reportadas en consecuencia.</a:t>
            </a:r>
            <a:endParaRPr/>
          </a:p>
        </p:txBody>
      </p:sp>
      <p:sp>
        <p:nvSpPr>
          <p:cNvPr id="484" name="Google Shape;484;p17:notes"/>
          <p:cNvSpPr txBox="1">
            <a:spLocks noGrp="1"/>
          </p:cNvSpPr>
          <p:nvPr>
            <p:ph type="sldNum" idx="12"/>
          </p:nvPr>
        </p:nvSpPr>
        <p:spPr>
          <a:xfrm>
            <a:off x="3936768" y="8772669"/>
            <a:ext cx="3011699" cy="463407"/>
          </a:xfrm>
          <a:prstGeom prst="rect">
            <a:avLst/>
          </a:prstGeom>
          <a:noFill/>
          <a:ln>
            <a:noFill/>
          </a:ln>
        </p:spPr>
        <p:txBody>
          <a:bodyPr spcFirstLastPara="1" wrap="square" lIns="92475" tIns="46225" rIns="92475" bIns="462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El número de países que planean cooperar en virtud del Artículo 6.2 continúa creciendo. Aunque todavía se están desarrollando más orientaciones para el Artículo 6.2 a nivel internacional, los países están avanzando en su implementación. En 2022, muchos países que buscaban cooperar en virtud del Artículo 6.2 alcanzaron acuerdos bilaterales (ver Figura 15). El año pasado también se firmaron memorandos de entendimiento entre la empresa Blue </a:t>
            </a:r>
            <a:r>
              <a:rPr lang="es-ES_tradnl" dirty="0" err="1"/>
              <a:t>Carbon</a:t>
            </a:r>
            <a:r>
              <a:rPr lang="es-ES_tradnl" dirty="0"/>
              <a:t>, con sede en los Emiratos Árabes Unidos, y los gobiernos de Liberia, Tanzania y Zambia,149 mientras que la República de Corea se encuentra actualmente en negociaciones con varios países para establecer acuerdos de cooperación. 150,xl En la COP27, Ghana y Vanuatu, en asociación con Suiza y el Programa de las Naciones Unidas para el Desarrollo, presentaron los primeros proyectos para generar reducciones de emisiones autorizadas en virtud del Artículo 6.2,151 y en febrero de 2023, Tailandia y Suiza autorizaron el primer programa del Artículo 6 en Asia.152 Singapur también ha firmado una serie de </a:t>
            </a:r>
            <a:r>
              <a:rPr lang="es-ES_tradnl" dirty="0" err="1"/>
              <a:t>MoU</a:t>
            </a:r>
            <a:r>
              <a:rPr lang="es-ES_tradnl" dirty="0"/>
              <a:t> con mecanismos de crédito en el contexto de proporcionar créditos para su impuesto al carbono.153 El creciente número de acuerdos refleja el hecho de que cada vez más gobiernos consideran el Artículo 6 una herramienta importante para alcanzar sus objetivos de NDC. A medida que estos acuerdos se conviertan en enfoques totalmente cooperativos conforme al Artículo 6.2, quedará más claro cómo los países están utilizando el Artículo 6 para permitir una mayor ambición de las NDC, al mismo tiempo que abordan el posible incentivo perverso para reducir la ambición futura con el fin de maximizar el potencial para generar créditos.154</a:t>
            </a:r>
          </a:p>
        </p:txBody>
      </p:sp>
      <p:sp>
        <p:nvSpPr>
          <p:cNvPr id="4" name="Slide Number Placeholder 3"/>
          <p:cNvSpPr>
            <a:spLocks noGrp="1"/>
          </p:cNvSpPr>
          <p:nvPr>
            <p:ph type="sldNum" sz="quarter" idx="5"/>
          </p:nvPr>
        </p:nvSpPr>
        <p:spPr/>
        <p:txBody>
          <a:bodyPr/>
          <a:lstStyle/>
          <a:p>
            <a:fld id="{875D257C-EB0D-FA4C-BA70-9F5CACC3ADD9}" type="slidenum">
              <a:rPr lang="es-ES_tradnl" smtClean="0"/>
              <a:t>21</a:t>
            </a:fld>
            <a:endParaRPr lang="es-ES_tradnl"/>
          </a:p>
        </p:txBody>
      </p:sp>
    </p:spTree>
    <p:extLst>
      <p:ext uri="{BB962C8B-B14F-4D97-AF65-F5344CB8AC3E}">
        <p14:creationId xmlns:p14="http://schemas.microsoft.com/office/powerpoint/2010/main" val="2721570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Pag 48 </a:t>
            </a:r>
            <a:r>
              <a:rPr lang="es-ES_tradnl" dirty="0" err="1"/>
              <a:t>vcm</a:t>
            </a:r>
            <a:r>
              <a:rPr lang="es-ES_tradnl" dirty="0"/>
              <a:t>…</a:t>
            </a:r>
          </a:p>
          <a:p>
            <a:endParaRPr lang="es-ES_tradn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Aún</a:t>
            </a:r>
            <a:r>
              <a:rPr lang="en-US" dirty="0"/>
              <a:t> </a:t>
            </a:r>
            <a:r>
              <a:rPr lang="en-US" dirty="0" err="1"/>
              <a:t>está</a:t>
            </a:r>
            <a:r>
              <a:rPr lang="en-US" dirty="0"/>
              <a:t> por verse </a:t>
            </a:r>
            <a:r>
              <a:rPr lang="en-US" dirty="0" err="1"/>
              <a:t>cómo</a:t>
            </a:r>
            <a:r>
              <a:rPr lang="en-US" dirty="0"/>
              <a:t> se </a:t>
            </a:r>
            <a:r>
              <a:rPr lang="en-US" dirty="0" err="1"/>
              <a:t>desarrollará</a:t>
            </a:r>
            <a:r>
              <a:rPr lang="en-US" dirty="0"/>
              <a:t> la </a:t>
            </a:r>
            <a:r>
              <a:rPr lang="en-US" dirty="0" err="1"/>
              <a:t>interacción</a:t>
            </a:r>
            <a:r>
              <a:rPr lang="en-US" dirty="0"/>
              <a:t> entre la VCM y </a:t>
            </a:r>
            <a:r>
              <a:rPr lang="en-US" dirty="0" err="1"/>
              <a:t>el</a:t>
            </a:r>
            <a:r>
              <a:rPr lang="en-US" dirty="0"/>
              <a:t> </a:t>
            </a:r>
            <a:r>
              <a:rPr lang="en-US" dirty="0" err="1"/>
              <a:t>Artículo</a:t>
            </a:r>
            <a:r>
              <a:rPr lang="en-US" dirty="0"/>
              <a:t> 6. La </a:t>
            </a:r>
            <a:r>
              <a:rPr lang="en-US" dirty="0" err="1"/>
              <a:t>situación</a:t>
            </a:r>
            <a:r>
              <a:rPr lang="en-US" dirty="0"/>
              <a:t> actual </a:t>
            </a:r>
            <a:r>
              <a:rPr lang="en-US" dirty="0" err="1"/>
              <a:t>permite</a:t>
            </a:r>
            <a:r>
              <a:rPr lang="en-US" dirty="0"/>
              <a:t> </a:t>
            </a:r>
            <a:r>
              <a:rPr lang="en-US" dirty="0" err="1"/>
              <a:t>flexibilidad</a:t>
            </a:r>
            <a:r>
              <a:rPr lang="en-US" dirty="0"/>
              <a:t>: los VCM </a:t>
            </a:r>
            <a:r>
              <a:rPr lang="en-US" dirty="0" err="1"/>
              <a:t>pueden</a:t>
            </a:r>
            <a:r>
              <a:rPr lang="en-US" dirty="0"/>
              <a:t> </a:t>
            </a:r>
            <a:r>
              <a:rPr lang="en-US" dirty="0" err="1"/>
              <a:t>contar</a:t>
            </a:r>
            <a:r>
              <a:rPr lang="en-US" dirty="0"/>
              <a:t> para los </a:t>
            </a:r>
            <a:r>
              <a:rPr lang="en-US" dirty="0" err="1"/>
              <a:t>compromisos</a:t>
            </a:r>
            <a:r>
              <a:rPr lang="en-US" dirty="0"/>
              <a:t> de NDC o </a:t>
            </a:r>
            <a:r>
              <a:rPr lang="en-US" dirty="0" err="1"/>
              <a:t>incluso</a:t>
            </a:r>
            <a:r>
              <a:rPr lang="en-US" dirty="0"/>
              <a:t> </a:t>
            </a:r>
            <a:r>
              <a:rPr lang="en-US" dirty="0" err="1"/>
              <a:t>convertirse</a:t>
            </a:r>
            <a:r>
              <a:rPr lang="en-US" dirty="0"/>
              <a:t> </a:t>
            </a:r>
            <a:r>
              <a:rPr lang="en-US" dirty="0" err="1"/>
              <a:t>en</a:t>
            </a:r>
            <a:r>
              <a:rPr lang="en-US" dirty="0"/>
              <a:t> ITMO </a:t>
            </a:r>
            <a:r>
              <a:rPr lang="en-US" dirty="0" err="1"/>
              <a:t>si</a:t>
            </a:r>
            <a:r>
              <a:rPr lang="en-US" dirty="0"/>
              <a:t> </a:t>
            </a:r>
            <a:r>
              <a:rPr lang="en-US" dirty="0" err="1"/>
              <a:t>obtienen</a:t>
            </a:r>
            <a:r>
              <a:rPr lang="en-US" dirty="0"/>
              <a:t> </a:t>
            </a:r>
            <a:r>
              <a:rPr lang="en-US" dirty="0" err="1"/>
              <a:t>autorización</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s-ES_tradnl" dirty="0"/>
              <a:t>TRANSICIÓN DEL MECANISMO DE DESARROLLO LIMPIO AL ARTÍCULO 6.4 Establecido en 1997 mediante el Protocolo de Kioto, el MDL ha desempeñado un papel fundamental en el desarrollo de los mercados de créditos de carbono. Es el mecanismo de acreditación de carbono más grande del mundo, con alrededor de 8.000 proyectos registrados y más de 2.300 millones de reducciones certificadas de emisiones (CER) emitidas. </a:t>
            </a:r>
          </a:p>
          <a:p>
            <a:r>
              <a:rPr lang="es-ES_tradnl" dirty="0"/>
              <a:t>En la COP21, los países acordaron establecer un nuevo mecanismo en virtud del artículo 6.4 del Acuerdo de París. Entre las cuestiones más apremiantes estaba la de determinar la relación entre las actividades del MDL y el nuevo mecanismo. </a:t>
            </a:r>
            <a:r>
              <a:rPr lang="es-ES_tradnl" dirty="0">
                <a:highlight>
                  <a:srgbClr val="FFFF00"/>
                </a:highlight>
              </a:rPr>
              <a:t>En la COP26, los países acordaron que las reducciones de emisiones logradas después de 2020 a partir de proyectos del ****MDL no podrían emitirse como CER, pero los proyectos del MDL serían elegibles para solicitar la transición al nuevo mecanismo del Artículo 6.4, </a:t>
            </a:r>
            <a:r>
              <a:rPr lang="es-ES_tradnl" dirty="0"/>
              <a:t>una vez que los procesos pertinentes estuvieran en marcha.****</a:t>
            </a:r>
          </a:p>
          <a:p>
            <a:r>
              <a:rPr lang="es-ES_tradnl" dirty="0"/>
              <a:t>El resultado de la COP26 creó una brecha de oferta para las reducciones de emisiones posteriores a 2020 a partir de los mecanismos internacionales de acreditación. Cuanto más rápido entre en funcionamiento el mecanismo del Artículo 6.4, más corta será la duración de la brecha. </a:t>
            </a:r>
          </a:p>
          <a:p>
            <a:r>
              <a:rPr lang="es-ES_tradnl" dirty="0"/>
              <a:t>***Los gobiernos están comenzando a implementar marcos nacionales y establecer estructuras institucionales para apoyar su participación en el Artículo 6. Para muchos países, participar en el Artículo 6 implicará mucha más preparación que la que requería el Protocolo de </a:t>
            </a:r>
            <a:r>
              <a:rPr lang="es-ES_tradnl" dirty="0" err="1"/>
              <a:t>Kyoto</a:t>
            </a:r>
            <a:r>
              <a:rPr lang="es-ES_tradnl" dirty="0"/>
              <a:t>, donde las responsabilidades del país anfitrión eran limitadas. Según el Artículo 6, la participación puede implicar la adopción de legislación nacional, el establecimiento de acuerdos institucionales, el desarrollo de infraestructura para registrar y gestionar información sobre las ITMO y el cumplimiento de nuevas obligaciones de presentación de informes.155 Algunos gobiernos han comenzado a diseñar sus políticas y marcos institucionales previstos. Estos pueden abordar cuestiones como la identificación de tipos de actividades prioritarias, el diseño de enfoques nacionales de MRV y el establecimiento de procesos para autorizar y transferir ITMO.</a:t>
            </a:r>
          </a:p>
        </p:txBody>
      </p:sp>
      <p:sp>
        <p:nvSpPr>
          <p:cNvPr id="4" name="Slide Number Placeholder 3"/>
          <p:cNvSpPr>
            <a:spLocks noGrp="1"/>
          </p:cNvSpPr>
          <p:nvPr>
            <p:ph type="sldNum" sz="quarter" idx="5"/>
          </p:nvPr>
        </p:nvSpPr>
        <p:spPr/>
        <p:txBody>
          <a:bodyPr/>
          <a:lstStyle/>
          <a:p>
            <a:fld id="{875D257C-EB0D-FA4C-BA70-9F5CACC3ADD9}" type="slidenum">
              <a:rPr lang="es-ES_tradnl" smtClean="0"/>
              <a:t>22</a:t>
            </a:fld>
            <a:endParaRPr lang="es-ES_tradnl"/>
          </a:p>
        </p:txBody>
      </p:sp>
    </p:spTree>
    <p:extLst>
      <p:ext uri="{BB962C8B-B14F-4D97-AF65-F5344CB8AC3E}">
        <p14:creationId xmlns:p14="http://schemas.microsoft.com/office/powerpoint/2010/main" val="1611919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Cumplimiento</a:t>
            </a:r>
            <a:r>
              <a:rPr dirty="0"/>
              <a:t>: la </a:t>
            </a:r>
            <a:r>
              <a:rPr dirty="0" err="1"/>
              <a:t>empresa</a:t>
            </a:r>
            <a:r>
              <a:rPr dirty="0"/>
              <a:t> A </a:t>
            </a:r>
            <a:r>
              <a:rPr dirty="0" err="1"/>
              <a:t>emite</a:t>
            </a:r>
            <a:r>
              <a:rPr dirty="0"/>
              <a:t> </a:t>
            </a:r>
            <a:r>
              <a:rPr dirty="0" err="1"/>
              <a:t>más</a:t>
            </a:r>
            <a:r>
              <a:rPr dirty="0"/>
              <a:t> </a:t>
            </a:r>
            <a:r>
              <a:rPr dirty="0" err="1"/>
              <a:t>que</a:t>
            </a:r>
            <a:r>
              <a:rPr dirty="0"/>
              <a:t> el </a:t>
            </a:r>
            <a:r>
              <a:rPr dirty="0" err="1"/>
              <a:t>límite</a:t>
            </a:r>
            <a:r>
              <a:rPr dirty="0"/>
              <a:t> y </a:t>
            </a:r>
            <a:r>
              <a:rPr dirty="0" err="1"/>
              <a:t>compra</a:t>
            </a:r>
            <a:r>
              <a:rPr dirty="0"/>
              <a:t> </a:t>
            </a:r>
            <a:r>
              <a:rPr dirty="0" err="1"/>
              <a:t>créditos</a:t>
            </a:r>
            <a:r>
              <a:rPr dirty="0"/>
              <a:t>; la </a:t>
            </a:r>
            <a:r>
              <a:rPr dirty="0" err="1"/>
              <a:t>empresa</a:t>
            </a:r>
            <a:r>
              <a:rPr dirty="0"/>
              <a:t> B reduce por </a:t>
            </a:r>
            <a:r>
              <a:rPr dirty="0" err="1"/>
              <a:t>debajo</a:t>
            </a:r>
            <a:r>
              <a:rPr dirty="0"/>
              <a:t> del </a:t>
            </a:r>
            <a:r>
              <a:rPr dirty="0" err="1"/>
              <a:t>límite</a:t>
            </a:r>
            <a:r>
              <a:rPr dirty="0"/>
              <a:t> y </a:t>
            </a:r>
            <a:r>
              <a:rPr dirty="0" err="1"/>
              <a:t>vende</a:t>
            </a:r>
            <a:r>
              <a:rPr dirty="0"/>
              <a:t> el </a:t>
            </a:r>
            <a:r>
              <a:rPr dirty="0" err="1"/>
              <a:t>excedente</a:t>
            </a:r>
            <a:r>
              <a:rPr dirty="0"/>
              <a:t>. </a:t>
            </a:r>
            <a:r>
              <a:rPr dirty="0" err="1"/>
              <a:t>Voluntario</a:t>
            </a:r>
            <a:r>
              <a:rPr dirty="0"/>
              <a:t>: la </a:t>
            </a:r>
            <a:r>
              <a:rPr dirty="0" err="1"/>
              <a:t>empresa</a:t>
            </a:r>
            <a:r>
              <a:rPr dirty="0"/>
              <a:t> A no </a:t>
            </a:r>
            <a:r>
              <a:rPr dirty="0" err="1"/>
              <a:t>tiene</a:t>
            </a:r>
            <a:r>
              <a:rPr dirty="0"/>
              <a:t> </a:t>
            </a:r>
            <a:r>
              <a:rPr dirty="0" err="1"/>
              <a:t>límite</a:t>
            </a:r>
            <a:r>
              <a:rPr dirty="0"/>
              <a:t>, </a:t>
            </a:r>
            <a:r>
              <a:rPr dirty="0" err="1"/>
              <a:t>pero</a:t>
            </a:r>
            <a:r>
              <a:rPr dirty="0"/>
              <a:t> </a:t>
            </a:r>
            <a:r>
              <a:rPr dirty="0" err="1"/>
              <a:t>compra</a:t>
            </a:r>
            <a:r>
              <a:rPr dirty="0"/>
              <a:t> </a:t>
            </a:r>
            <a:r>
              <a:rPr dirty="0" err="1"/>
              <a:t>créditos</a:t>
            </a:r>
            <a:r>
              <a:rPr dirty="0"/>
              <a:t> de un </a:t>
            </a:r>
            <a:r>
              <a:rPr dirty="0" err="1"/>
              <a:t>proyecto</a:t>
            </a:r>
            <a:r>
              <a:rPr dirty="0"/>
              <a:t> </a:t>
            </a:r>
            <a:r>
              <a:rPr dirty="0" err="1"/>
              <a:t>que</a:t>
            </a:r>
            <a:r>
              <a:rPr dirty="0"/>
              <a:t>, de no </a:t>
            </a:r>
            <a:r>
              <a:rPr dirty="0" err="1"/>
              <a:t>existir</a:t>
            </a:r>
            <a:r>
              <a:rPr dirty="0"/>
              <a:t>, </a:t>
            </a:r>
            <a:r>
              <a:rPr dirty="0" err="1"/>
              <a:t>habría</a:t>
            </a:r>
            <a:r>
              <a:rPr dirty="0"/>
              <a:t> </a:t>
            </a:r>
            <a:r>
              <a:rPr dirty="0" err="1"/>
              <a:t>generado</a:t>
            </a:r>
            <a:r>
              <a:rPr dirty="0"/>
              <a:t> </a:t>
            </a:r>
            <a:r>
              <a:rPr dirty="0" err="1"/>
              <a:t>más</a:t>
            </a:r>
            <a:r>
              <a:rPr dirty="0"/>
              <a:t> </a:t>
            </a:r>
            <a:r>
              <a:rPr dirty="0" err="1"/>
              <a:t>emisiones</a:t>
            </a:r>
            <a:r>
              <a:rPr dirty="0"/>
              <a:t> (</a:t>
            </a:r>
            <a:r>
              <a:rPr dirty="0" err="1"/>
              <a:t>línea</a:t>
            </a:r>
            <a:r>
              <a:rPr dirty="0"/>
              <a:t> base </a:t>
            </a:r>
            <a:r>
              <a:rPr dirty="0" err="1"/>
              <a:t>menos</a:t>
            </a:r>
            <a:r>
              <a:rPr dirty="0"/>
              <a:t> </a:t>
            </a:r>
            <a:r>
              <a:rPr dirty="0" err="1"/>
              <a:t>emisiones</a:t>
            </a:r>
            <a:r>
              <a:rPr dirty="0"/>
              <a:t> reales) y </a:t>
            </a:r>
            <a:r>
              <a:rPr dirty="0" err="1"/>
              <a:t>así</a:t>
            </a:r>
            <a:r>
              <a:rPr dirty="0"/>
              <a:t> </a:t>
            </a:r>
            <a:r>
              <a:rPr dirty="0" err="1"/>
              <a:t>declara</a:t>
            </a:r>
            <a:r>
              <a:rPr dirty="0"/>
              <a:t> cero </a:t>
            </a:r>
            <a:r>
              <a:rPr dirty="0" err="1"/>
              <a:t>emisiones</a:t>
            </a:r>
            <a:r>
              <a:rPr dirty="0"/>
              <a:t> </a:t>
            </a:r>
            <a:r>
              <a:rPr dirty="0" err="1"/>
              <a:t>netas</a:t>
            </a:r>
            <a:r>
              <a:rPr dirty="0"/>
              <a:t>.</a:t>
            </a:r>
            <a:endParaRPr lang="en-US" dirty="0"/>
          </a:p>
          <a:p>
            <a:r>
              <a:rPr lang="en-CO" dirty="0"/>
              <a:t>Piensen en un límite de velocidad. En el mercado regulado, la ley pone el límite y hay multa si lo pasas. En el voluntario no hay límite legal: reduces porque tus clientes o tus accionistas te lo exigen.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In 2017, Joseph Stiglitz and Nicholas Stern led a </a:t>
            </a:r>
            <a:r>
              <a:rPr lang="es-ES_tradnl" dirty="0" err="1"/>
              <a:t>report</a:t>
            </a:r>
            <a:r>
              <a:rPr lang="es-ES_tradnl" dirty="0"/>
              <a:t> </a:t>
            </a:r>
            <a:r>
              <a:rPr lang="es-ES_tradnl" dirty="0" err="1"/>
              <a:t>of</a:t>
            </a:r>
            <a:r>
              <a:rPr lang="es-ES_tradnl" dirty="0"/>
              <a:t> </a:t>
            </a:r>
            <a:r>
              <a:rPr lang="es-ES_tradnl" dirty="0" err="1"/>
              <a:t>the</a:t>
            </a:r>
            <a:r>
              <a:rPr lang="es-ES_tradnl" dirty="0"/>
              <a:t> High-</a:t>
            </a:r>
            <a:r>
              <a:rPr lang="es-ES_tradnl" dirty="0" err="1"/>
              <a:t>Level</a:t>
            </a:r>
            <a:r>
              <a:rPr lang="es-ES_tradnl" dirty="0"/>
              <a:t> </a:t>
            </a:r>
            <a:r>
              <a:rPr lang="es-ES_tradnl" dirty="0" err="1"/>
              <a:t>Commission</a:t>
            </a:r>
            <a:r>
              <a:rPr lang="es-ES_tradnl" dirty="0"/>
              <a:t> </a:t>
            </a:r>
            <a:r>
              <a:rPr lang="es-ES_tradnl" dirty="0" err="1"/>
              <a:t>on</a:t>
            </a:r>
            <a:r>
              <a:rPr lang="es-ES_tradnl" dirty="0"/>
              <a:t> </a:t>
            </a:r>
            <a:r>
              <a:rPr lang="es-ES_tradnl" dirty="0" err="1"/>
              <a:t>Carbon</a:t>
            </a:r>
            <a:r>
              <a:rPr lang="es-ES_tradnl" dirty="0"/>
              <a:t> </a:t>
            </a:r>
            <a:r>
              <a:rPr lang="es-ES_tradnl" dirty="0" err="1"/>
              <a:t>Prices</a:t>
            </a:r>
            <a:r>
              <a:rPr lang="es-ES_tradnl" dirty="0"/>
              <a:t>. </a:t>
            </a:r>
            <a:r>
              <a:rPr lang="es-ES_tradnl" dirty="0" err="1"/>
              <a:t>This</a:t>
            </a:r>
            <a:r>
              <a:rPr lang="es-ES_tradnl" dirty="0"/>
              <a:t> </a:t>
            </a:r>
            <a:r>
              <a:rPr lang="es-ES_tradnl" dirty="0" err="1"/>
              <a:t>report</a:t>
            </a:r>
            <a:r>
              <a:rPr lang="es-ES_tradnl" dirty="0"/>
              <a:t> </a:t>
            </a:r>
            <a:r>
              <a:rPr lang="es-ES_tradnl" dirty="0" err="1"/>
              <a:t>recommended</a:t>
            </a:r>
            <a:r>
              <a:rPr lang="es-ES_tradnl" dirty="0"/>
              <a:t> </a:t>
            </a:r>
            <a:r>
              <a:rPr lang="es-ES_tradnl" dirty="0" err="1"/>
              <a:t>that</a:t>
            </a:r>
            <a:r>
              <a:rPr lang="es-ES_tradnl" dirty="0"/>
              <a:t> </a:t>
            </a:r>
            <a:r>
              <a:rPr lang="es-ES_tradnl" dirty="0" err="1"/>
              <a:t>direct</a:t>
            </a:r>
            <a:r>
              <a:rPr lang="es-ES_tradnl" dirty="0"/>
              <a:t> </a:t>
            </a:r>
            <a:r>
              <a:rPr lang="es-ES_tradnl" dirty="0" err="1"/>
              <a:t>carbon</a:t>
            </a:r>
            <a:r>
              <a:rPr lang="es-ES_tradnl" dirty="0"/>
              <a:t> </a:t>
            </a:r>
            <a:r>
              <a:rPr lang="es-ES_tradnl" dirty="0" err="1"/>
              <a:t>price</a:t>
            </a:r>
            <a:r>
              <a:rPr lang="es-ES_tradnl" dirty="0"/>
              <a:t> </a:t>
            </a:r>
            <a:r>
              <a:rPr lang="es-ES_tradnl" dirty="0" err="1"/>
              <a:t>levels</a:t>
            </a:r>
            <a:r>
              <a:rPr lang="es-ES_tradnl" dirty="0"/>
              <a:t> </a:t>
            </a:r>
            <a:r>
              <a:rPr lang="es-ES_tradnl" dirty="0" err="1"/>
              <a:t>must</a:t>
            </a:r>
            <a:r>
              <a:rPr lang="es-ES_tradnl" dirty="0"/>
              <a:t> </a:t>
            </a:r>
            <a:r>
              <a:rPr lang="es-ES_tradnl" dirty="0" err="1"/>
              <a:t>reach</a:t>
            </a:r>
            <a:r>
              <a:rPr lang="es-ES_tradnl" dirty="0"/>
              <a:t> at </a:t>
            </a:r>
            <a:r>
              <a:rPr lang="es-ES_tradnl" dirty="0" err="1"/>
              <a:t>least</a:t>
            </a:r>
            <a:r>
              <a:rPr lang="es-ES_tradnl" dirty="0"/>
              <a:t> USD 40 </a:t>
            </a:r>
            <a:r>
              <a:rPr lang="es-ES_tradnl" dirty="0" err="1"/>
              <a:t>to</a:t>
            </a:r>
            <a:r>
              <a:rPr lang="es-ES_tradnl" dirty="0"/>
              <a:t> USD 80/</a:t>
            </a:r>
            <a:r>
              <a:rPr lang="es-ES_tradnl" dirty="0" err="1"/>
              <a:t>metric</a:t>
            </a:r>
            <a:r>
              <a:rPr lang="es-ES_tradnl" dirty="0"/>
              <a:t> ton </a:t>
            </a:r>
            <a:r>
              <a:rPr lang="es-ES_tradnl" dirty="0" err="1"/>
              <a:t>of</a:t>
            </a:r>
            <a:r>
              <a:rPr lang="es-ES_tradnl" dirty="0"/>
              <a:t> </a:t>
            </a:r>
            <a:r>
              <a:rPr lang="es-ES_tradnl" dirty="0" err="1"/>
              <a:t>carbon</a:t>
            </a:r>
            <a:r>
              <a:rPr lang="es-ES_tradnl" dirty="0"/>
              <a:t> </a:t>
            </a:r>
            <a:r>
              <a:rPr lang="es-ES_tradnl" dirty="0" err="1"/>
              <a:t>dioxide</a:t>
            </a:r>
            <a:r>
              <a:rPr lang="es-ES_tradnl" dirty="0"/>
              <a:t> </a:t>
            </a:r>
            <a:r>
              <a:rPr lang="es-ES_tradnl" dirty="0" err="1"/>
              <a:t>equivalent</a:t>
            </a:r>
            <a:r>
              <a:rPr lang="es-ES_tradnl" dirty="0"/>
              <a:t> (tCO2e) in 2020 and USD 50 </a:t>
            </a:r>
            <a:r>
              <a:rPr lang="es-ES_tradnl" dirty="0" err="1"/>
              <a:t>to</a:t>
            </a:r>
            <a:r>
              <a:rPr lang="es-ES_tradnl" dirty="0"/>
              <a:t> USD 100/tCO2e in real </a:t>
            </a:r>
            <a:r>
              <a:rPr lang="es-ES_tradnl" dirty="0" err="1"/>
              <a:t>terms</a:t>
            </a:r>
            <a:r>
              <a:rPr lang="es-ES_tradnl" dirty="0"/>
              <a:t> (in 2017 USD) </a:t>
            </a:r>
            <a:r>
              <a:rPr lang="es-ES_tradnl" dirty="0" err="1"/>
              <a:t>by</a:t>
            </a:r>
            <a:r>
              <a:rPr lang="es-ES_tradnl" dirty="0"/>
              <a:t> 2030 (</a:t>
            </a:r>
            <a:r>
              <a:rPr lang="es-ES_tradnl" dirty="0" err="1"/>
              <a:t>or</a:t>
            </a:r>
            <a:r>
              <a:rPr lang="es-ES_tradnl" dirty="0"/>
              <a:t> USD 61–122 </a:t>
            </a:r>
            <a:r>
              <a:rPr lang="es-ES_tradnl" dirty="0" err="1"/>
              <a:t>by</a:t>
            </a:r>
            <a:r>
              <a:rPr lang="es-ES_tradnl" dirty="0"/>
              <a:t> 2030 in 2023 </a:t>
            </a:r>
            <a:r>
              <a:rPr lang="es-ES_tradnl" dirty="0" err="1"/>
              <a:t>terms</a:t>
            </a:r>
            <a:r>
              <a:rPr lang="es-ES_tradnl" dirty="0"/>
              <a:t>) </a:t>
            </a:r>
            <a:r>
              <a:rPr lang="es-ES_tradnl" dirty="0" err="1"/>
              <a:t>to</a:t>
            </a:r>
            <a:r>
              <a:rPr lang="es-ES_tradnl" dirty="0"/>
              <a:t> </a:t>
            </a:r>
            <a:r>
              <a:rPr lang="es-ES_tradnl" dirty="0" err="1"/>
              <a:t>limit</a:t>
            </a:r>
            <a:r>
              <a:rPr lang="es-ES_tradnl" dirty="0"/>
              <a:t> global </a:t>
            </a:r>
            <a:r>
              <a:rPr lang="es-ES_tradnl" dirty="0" err="1"/>
              <a:t>warming</a:t>
            </a:r>
            <a:r>
              <a:rPr lang="es-ES_tradnl" dirty="0"/>
              <a:t> </a:t>
            </a:r>
            <a:r>
              <a:rPr lang="es-ES_tradnl" dirty="0" err="1"/>
              <a:t>to</a:t>
            </a:r>
            <a:r>
              <a:rPr lang="es-ES_tradnl" dirty="0"/>
              <a:t> </a:t>
            </a:r>
            <a:r>
              <a:rPr lang="es-ES_tradnl" dirty="0" err="1"/>
              <a:t>below</a:t>
            </a:r>
            <a:r>
              <a:rPr lang="es-ES_tradnl" dirty="0"/>
              <a:t> 2°C, </a:t>
            </a:r>
            <a:r>
              <a:rPr lang="es-ES_tradnl" dirty="0" err="1"/>
              <a:t>provided</a:t>
            </a:r>
            <a:r>
              <a:rPr lang="es-ES_tradnl" dirty="0"/>
              <a:t> a </a:t>
            </a:r>
            <a:r>
              <a:rPr lang="es-ES_tradnl" dirty="0" err="1"/>
              <a:t>supportive</a:t>
            </a:r>
            <a:r>
              <a:rPr lang="es-ES_tradnl" dirty="0"/>
              <a:t> </a:t>
            </a:r>
            <a:r>
              <a:rPr lang="es-ES_tradnl" dirty="0" err="1"/>
              <a:t>policy</a:t>
            </a:r>
            <a:r>
              <a:rPr lang="es-ES_tradnl" dirty="0"/>
              <a:t> </a:t>
            </a:r>
            <a:r>
              <a:rPr lang="es-ES_tradnl" dirty="0" err="1"/>
              <a:t>environment</a:t>
            </a:r>
            <a:r>
              <a:rPr lang="es-ES_tradnl" dirty="0"/>
              <a:t> </a:t>
            </a:r>
            <a:r>
              <a:rPr lang="es-ES_tradnl" dirty="0" err="1"/>
              <a:t>is</a:t>
            </a:r>
            <a:r>
              <a:rPr lang="es-ES_tradnl" dirty="0"/>
              <a:t> in place.</a:t>
            </a:r>
          </a:p>
        </p:txBody>
      </p:sp>
      <p:sp>
        <p:nvSpPr>
          <p:cNvPr id="4" name="Slide Number Placeholder 3"/>
          <p:cNvSpPr>
            <a:spLocks noGrp="1"/>
          </p:cNvSpPr>
          <p:nvPr>
            <p:ph type="sldNum" sz="quarter" idx="5"/>
          </p:nvPr>
        </p:nvSpPr>
        <p:spPr/>
        <p:txBody>
          <a:bodyPr/>
          <a:lstStyle/>
          <a:p>
            <a:fld id="{875D257C-EB0D-FA4C-BA70-9F5CACC3ADD9}" type="slidenum">
              <a:rPr lang="es-ES_tradnl" smtClean="0"/>
              <a:t>27</a:t>
            </a:fld>
            <a:endParaRPr lang="es-ES_tradnl"/>
          </a:p>
        </p:txBody>
      </p:sp>
    </p:spTree>
    <p:extLst>
      <p:ext uri="{BB962C8B-B14F-4D97-AF65-F5344CB8AC3E}">
        <p14:creationId xmlns:p14="http://schemas.microsoft.com/office/powerpoint/2010/main" val="10004759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Algunas organizaciones usan voluntariamente precios internos del carbono (ICP) para gestionar riesgos climáticos y prepararse para la transición. El precio sombra asigna un precio teórico por tonelada que entra en la toma de decisiones; la tarifa interna cobra a las unidades de negocio y usa el recaudo para financiar reducciones. De las empresas que reportan un ICP, cerca del 52 % ya está sujeta a un impuesto al carbono o ETS y otro 15 % espera estarlo en tres años. Los ICP van de USD 0,01 a USD 3.556/tCO₂, pero casi todos están por debajo de USD 130; 146 empresas (13 %) reportan más de USD 100. Respuestas esperadas a la pregunta: anticipar regulación futura, evitar activos varados, señal a inversionistas. Fuente: Banco Mundial, State and Trends of Carbon Pricing 2023.</a:t>
            </a:r>
          </a:p>
        </p:txBody>
      </p:sp>
      <p:sp>
        <p:nvSpPr>
          <p:cNvPr id="4" name="Slide Number Placeholder 3"/>
          <p:cNvSpPr>
            <a:spLocks noGrp="1"/>
          </p:cNvSpPr>
          <p:nvPr>
            <p:ph type="sldNum" sz="quarter" idx="5"/>
          </p:nvPr>
        </p:nvSpPr>
        <p:spPr/>
        <p:txBody>
          <a:bodyPr/>
          <a:lstStyle/>
          <a:p>
            <a:fld id="{875D257C-EB0D-FA4C-BA70-9F5CACC3ADD9}" type="slidenum">
              <a:rPr lang="es-ES_tradnl" smtClean="0"/>
              <a:t>28</a:t>
            </a:fld>
            <a:endParaRPr lang="es-ES_tradnl"/>
          </a:p>
        </p:txBody>
      </p:sp>
    </p:spTree>
    <p:extLst>
      <p:ext uri="{BB962C8B-B14F-4D97-AF65-F5344CB8AC3E}">
        <p14:creationId xmlns:p14="http://schemas.microsoft.com/office/powerpoint/2010/main" val="3606811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El Mercado </a:t>
            </a:r>
            <a:r>
              <a:rPr lang="en-US" dirty="0" err="1"/>
              <a:t>Voluntario</a:t>
            </a:r>
            <a:r>
              <a:rPr lang="en-US" dirty="0"/>
              <a:t> de Carbono </a:t>
            </a:r>
            <a:r>
              <a:rPr lang="en-US" dirty="0" err="1"/>
              <a:t>comenzó</a:t>
            </a:r>
            <a:r>
              <a:rPr lang="en-US" dirty="0"/>
              <a:t> </a:t>
            </a:r>
            <a:r>
              <a:rPr lang="en-US" dirty="0" err="1"/>
              <a:t>en</a:t>
            </a:r>
            <a:r>
              <a:rPr lang="en-US" dirty="0"/>
              <a:t> la </a:t>
            </a:r>
            <a:r>
              <a:rPr lang="en-US" dirty="0" err="1"/>
              <a:t>década</a:t>
            </a:r>
            <a:r>
              <a:rPr lang="en-US" dirty="0"/>
              <a:t> de 1990 con </a:t>
            </a:r>
            <a:r>
              <a:rPr lang="en-US" dirty="0" err="1"/>
              <a:t>empresas</a:t>
            </a:r>
            <a:r>
              <a:rPr lang="en-US" dirty="0"/>
              <a:t> </a:t>
            </a:r>
            <a:r>
              <a:rPr lang="en-US" dirty="0" err="1"/>
              <a:t>privadas</a:t>
            </a:r>
            <a:r>
              <a:rPr lang="en-US" dirty="0"/>
              <a:t> que </a:t>
            </a:r>
            <a:r>
              <a:rPr lang="en-US" dirty="0" err="1"/>
              <a:t>buscaban</a:t>
            </a:r>
            <a:r>
              <a:rPr lang="en-US" dirty="0"/>
              <a:t> </a:t>
            </a:r>
            <a:r>
              <a:rPr lang="en-US" dirty="0" err="1"/>
              <a:t>compensar</a:t>
            </a:r>
            <a:r>
              <a:rPr lang="en-US" dirty="0"/>
              <a:t> sus </a:t>
            </a:r>
            <a:r>
              <a:rPr lang="en-US" dirty="0" err="1"/>
              <a:t>emisiones</a:t>
            </a:r>
            <a:r>
              <a:rPr lang="en-US" dirty="0"/>
              <a:t> (“cero </a:t>
            </a:r>
            <a:r>
              <a:rPr lang="en-US" dirty="0" err="1"/>
              <a:t>neto</a:t>
            </a:r>
            <a:r>
              <a:rPr lang="en-US" dirty="0"/>
              <a:t>”). Hay cuatro </a:t>
            </a:r>
            <a:r>
              <a:rPr lang="en-US" dirty="0" err="1"/>
              <a:t>estándares</a:t>
            </a:r>
            <a:r>
              <a:rPr lang="en-US" dirty="0"/>
              <a:t> </a:t>
            </a:r>
            <a:r>
              <a:rPr lang="en-US" dirty="0" err="1"/>
              <a:t>principales</a:t>
            </a:r>
            <a:r>
              <a:rPr lang="en-US" dirty="0"/>
              <a:t> para los </a:t>
            </a:r>
            <a:r>
              <a:rPr lang="en-US" dirty="0" err="1"/>
              <a:t>créditos</a:t>
            </a:r>
            <a:r>
              <a:rPr lang="en-US" dirty="0"/>
              <a:t> de carbono., </a:t>
            </a:r>
            <a:r>
              <a:rPr lang="en-US" dirty="0" err="1"/>
              <a:t>siendo</a:t>
            </a:r>
            <a:r>
              <a:rPr lang="en-US" dirty="0"/>
              <a:t> Verra </a:t>
            </a:r>
            <a:r>
              <a:rPr lang="en-US" dirty="0" err="1"/>
              <a:t>el</a:t>
            </a:r>
            <a:r>
              <a:rPr lang="en-US" dirty="0"/>
              <a:t> </a:t>
            </a:r>
            <a:r>
              <a:rPr lang="en-US" dirty="0" err="1"/>
              <a:t>más</a:t>
            </a:r>
            <a:r>
              <a:rPr lang="en-US" dirty="0"/>
              <a:t> </a:t>
            </a:r>
            <a:r>
              <a:rPr lang="en-US" dirty="0" err="1"/>
              <a:t>grande</a:t>
            </a:r>
            <a:r>
              <a:rPr lang="en-US" dirty="0"/>
              <a:t>. El mercado </a:t>
            </a:r>
            <a:r>
              <a:rPr lang="en-US" dirty="0" err="1"/>
              <a:t>surgió</a:t>
            </a:r>
            <a:r>
              <a:rPr lang="en-US" dirty="0"/>
              <a:t> para </a:t>
            </a:r>
            <a:r>
              <a:rPr lang="en-US" dirty="0" err="1"/>
              <a:t>llenar</a:t>
            </a:r>
            <a:r>
              <a:rPr lang="en-US" dirty="0"/>
              <a:t> los </a:t>
            </a:r>
            <a:r>
              <a:rPr lang="en-US" dirty="0" err="1"/>
              <a:t>vacíos</a:t>
            </a:r>
            <a:r>
              <a:rPr lang="en-US" dirty="0"/>
              <a:t> </a:t>
            </a:r>
            <a:r>
              <a:rPr lang="en-US" dirty="0" err="1"/>
              <a:t>creados</a:t>
            </a:r>
            <a:r>
              <a:rPr lang="en-US" dirty="0"/>
              <a:t> por los </a:t>
            </a:r>
            <a:r>
              <a:rPr lang="en-US" dirty="0" err="1"/>
              <a:t>sistemas</a:t>
            </a:r>
            <a:r>
              <a:rPr lang="en-US" dirty="0"/>
              <a:t> </a:t>
            </a:r>
            <a:r>
              <a:rPr lang="en-US" dirty="0" err="1"/>
              <a:t>formales</a:t>
            </a:r>
            <a:r>
              <a:rPr lang="en-US" dirty="0"/>
              <a:t>, por </a:t>
            </a:r>
            <a:r>
              <a:rPr lang="en-US" dirty="0" err="1"/>
              <a:t>ejemplo</a:t>
            </a:r>
            <a:r>
              <a:rPr lang="en-US" dirty="0"/>
              <a:t>, </a:t>
            </a:r>
            <a:r>
              <a:rPr lang="en-US" dirty="0" err="1"/>
              <a:t>el</a:t>
            </a:r>
            <a:r>
              <a:rPr lang="en-US" dirty="0"/>
              <a:t> MDL, y </a:t>
            </a:r>
            <a:r>
              <a:rPr lang="en-US" dirty="0" err="1"/>
              <a:t>ahora</a:t>
            </a:r>
            <a:r>
              <a:rPr lang="en-US" dirty="0"/>
              <a:t> se </a:t>
            </a:r>
            <a:r>
              <a:rPr lang="en-US" dirty="0" err="1"/>
              <a:t>está</a:t>
            </a:r>
            <a:r>
              <a:rPr lang="en-US" dirty="0"/>
              <a:t> </a:t>
            </a:r>
            <a:r>
              <a:rPr lang="en-US" dirty="0" err="1"/>
              <a:t>expandiendo</a:t>
            </a:r>
            <a:r>
              <a:rPr lang="en-US" dirty="0"/>
              <a:t> </a:t>
            </a:r>
            <a:r>
              <a:rPr lang="en-US" dirty="0" err="1"/>
              <a:t>dramáticamente</a:t>
            </a:r>
            <a:r>
              <a:rPr lang="en-US" dirty="0"/>
              <a:t> a </a:t>
            </a:r>
            <a:r>
              <a:rPr lang="en-US" dirty="0" err="1"/>
              <a:t>medida</a:t>
            </a:r>
            <a:r>
              <a:rPr lang="en-US" dirty="0"/>
              <a:t> que </a:t>
            </a:r>
            <a:r>
              <a:rPr lang="en-US" dirty="0" err="1"/>
              <a:t>empresas</a:t>
            </a:r>
            <a:r>
              <a:rPr lang="en-US" dirty="0"/>
              <a:t>, </a:t>
            </a:r>
            <a:r>
              <a:rPr lang="en-US" dirty="0" err="1"/>
              <a:t>organizaciones</a:t>
            </a:r>
            <a:r>
              <a:rPr lang="en-US" dirty="0"/>
              <a:t> e </a:t>
            </a:r>
            <a:r>
              <a:rPr lang="en-US" dirty="0" err="1"/>
              <a:t>individuos</a:t>
            </a:r>
            <a:r>
              <a:rPr lang="en-US" dirty="0"/>
              <a:t> </a:t>
            </a:r>
            <a:r>
              <a:rPr lang="en-US" dirty="0" err="1"/>
              <a:t>buscan</a:t>
            </a:r>
            <a:r>
              <a:rPr lang="en-US" dirty="0"/>
              <a:t> </a:t>
            </a:r>
            <a:r>
              <a:rPr lang="en-US" dirty="0" err="1"/>
              <a:t>reducir</a:t>
            </a:r>
            <a:r>
              <a:rPr lang="en-US" dirty="0"/>
              <a:t> </a:t>
            </a:r>
            <a:r>
              <a:rPr lang="en-US" dirty="0" err="1"/>
              <a:t>su</a:t>
            </a:r>
            <a:r>
              <a:rPr lang="en-US" dirty="0"/>
              <a:t> </a:t>
            </a:r>
            <a:r>
              <a:rPr lang="en-US" dirty="0" err="1"/>
              <a:t>huella</a:t>
            </a:r>
            <a:r>
              <a:rPr lang="en-US" dirty="0"/>
              <a:t> de carbono a </a:t>
            </a:r>
            <a:r>
              <a:rPr lang="en-US" dirty="0" err="1"/>
              <a:t>través</a:t>
            </a:r>
            <a:r>
              <a:rPr lang="en-US" dirty="0"/>
              <a:t> de </a:t>
            </a:r>
            <a:r>
              <a:rPr lang="en-US" dirty="0" err="1"/>
              <a:t>compensaciones</a:t>
            </a:r>
            <a:r>
              <a:rPr lang="en-US" dirty="0"/>
              <a:t>.</a:t>
            </a:r>
          </a:p>
          <a:p>
            <a:endParaRPr lang="es-ES_tradnl" dirty="0"/>
          </a:p>
        </p:txBody>
      </p:sp>
      <p:sp>
        <p:nvSpPr>
          <p:cNvPr id="4" name="Slide Number Placeholder 3"/>
          <p:cNvSpPr>
            <a:spLocks noGrp="1"/>
          </p:cNvSpPr>
          <p:nvPr>
            <p:ph type="sldNum" sz="quarter" idx="5"/>
          </p:nvPr>
        </p:nvSpPr>
        <p:spPr/>
        <p:txBody>
          <a:bodyPr/>
          <a:lstStyle/>
          <a:p>
            <a:fld id="{875D257C-EB0D-FA4C-BA70-9F5CACC3ADD9}" type="slidenum">
              <a:rPr lang="es-ES_tradnl" smtClean="0"/>
              <a:t>30</a:t>
            </a:fld>
            <a:endParaRPr lang="es-ES_tradnl"/>
          </a:p>
        </p:txBody>
      </p:sp>
    </p:spTree>
    <p:extLst>
      <p:ext uri="{BB962C8B-B14F-4D97-AF65-F5344CB8AC3E}">
        <p14:creationId xmlns:p14="http://schemas.microsoft.com/office/powerpoint/2010/main" val="29254546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4851-4FED-F33B-4872-E971A073B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C9B61-9286-B4E9-B2CC-9BFF1F124F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E3374-BDDA-F82A-A477-2512C6DD3ACF}"/>
              </a:ext>
            </a:extLst>
          </p:cNvPr>
          <p:cNvSpPr>
            <a:spLocks noGrp="1"/>
          </p:cNvSpPr>
          <p:nvPr>
            <p:ph type="body" idx="1"/>
          </p:nvPr>
        </p:nvSpPr>
        <p:spPr/>
        <p:txBody>
          <a:bodyPr/>
          <a:lstStyle/>
          <a:p>
            <a:r>
              <a:rPr lang="es-ES_tradnl" dirty="0"/>
              <a:t>La oferta de créditos de carbono está representada por emisiones de mecanismos de crédito de carbono (ver Anexo A), incluidos mecanismos de crédito internacionales establecidos bajo tratados internacionales, como el Protocolo de </a:t>
            </a:r>
            <a:r>
              <a:rPr lang="es-ES_tradnl" dirty="0" err="1"/>
              <a:t>Kyoto</a:t>
            </a:r>
            <a:r>
              <a:rPr lang="es-ES_tradnl" dirty="0"/>
              <a:t> y el Acuerdo de </a:t>
            </a:r>
            <a:r>
              <a:rPr lang="es-ES_tradnl" dirty="0" err="1"/>
              <a:t>París;xxv</a:t>
            </a:r>
            <a:r>
              <a:rPr lang="es-ES_tradnl" dirty="0"/>
              <a:t> mecanismos de crédito nacionales establecidos por gobiernos regionales, nacionales o subnacionales. como el Programa de Compensación de Cumplimiento de California; y mecanismos de acreditación independientes (o estándares independientes), que incluyen estándares y mecanismos de acreditación administrados por entidades no gubernamentales independientes, por ejemplo, </a:t>
            </a:r>
            <a:r>
              <a:rPr lang="es-ES_tradnl" dirty="0" err="1"/>
              <a:t>Verified</a:t>
            </a:r>
            <a:r>
              <a:rPr lang="es-ES_tradnl" dirty="0"/>
              <a:t> </a:t>
            </a:r>
            <a:r>
              <a:rPr lang="es-ES_tradnl" dirty="0" err="1"/>
              <a:t>Carbon</a:t>
            </a:r>
            <a:r>
              <a:rPr lang="es-ES_tradnl" dirty="0"/>
              <a:t> Standard (VCS) y Gold Standard de Verra. La demanda de créditos de carbono proviene de diversas fuentes. La demanda voluntaria consiste en entidades (en su mayoría privadas) que compran créditos de carbono para cumplir objetivos voluntarios o afirmaciones verdes. La demanda de cumplimiento internacional incluye países que buscan créditos que representen reducciones de emisiones en otros países para ayudar a cumplir sus propios compromisos de reducción de emisiones, como los establecidos bajo el Acuerdo de París, y aerolíneas que compran créditos elegibles para cumplir con sus obligaciones establecidas bajo el Esquema de Reducción y Compensación de Carbono para Internacionales. Aviación (CORSIA). La demanda de cumplimiento interno proviene de empresas que buscan créditos para cumplir con sus obligaciones bajo una ley nacional, generalmente un sistema de comercio de emisiones (ETS) o un impuesto al carbono. En estos casos, existen interacciones entre las señales de precios y los incentivos de reducción de emisiones proporcionados a través del impuesto al carbono o la política ETS y los créditos de carbono. La demanda también puede provenir del financiamiento climático basado en resultados, donde los gobiernos u organizaciones internacionales incentivan la acción climática mediante la compra de créditos de carbono. Este enfoque difiere de la gran mayoría de la financiación pública para el clima, que se proporciona por adelantado. Las reducciones de emisiones logradas ayudan a los países receptores a cumplir sus objetivos de contribución determinada a nivel nacional (NDC) y no son reclamadas ni contabilizadas por los gobiernos u organizaciones que proporcionan la financiación.</a:t>
            </a:r>
          </a:p>
        </p:txBody>
      </p:sp>
      <p:sp>
        <p:nvSpPr>
          <p:cNvPr id="4" name="Slide Number Placeholder 3">
            <a:extLst>
              <a:ext uri="{FF2B5EF4-FFF2-40B4-BE49-F238E27FC236}">
                <a16:creationId xmlns:a16="http://schemas.microsoft.com/office/drawing/2014/main" id="{ADF7FF23-C09C-579B-3D6E-5FC08E867278}"/>
              </a:ext>
            </a:extLst>
          </p:cNvPr>
          <p:cNvSpPr>
            <a:spLocks noGrp="1"/>
          </p:cNvSpPr>
          <p:nvPr>
            <p:ph type="sldNum" sz="quarter" idx="5"/>
          </p:nvPr>
        </p:nvSpPr>
        <p:spPr/>
        <p:txBody>
          <a:bodyPr/>
          <a:lstStyle/>
          <a:p>
            <a:fld id="{875D257C-EB0D-FA4C-BA70-9F5CACC3ADD9}" type="slidenum">
              <a:rPr lang="es-ES_tradnl" smtClean="0"/>
              <a:t>33</a:t>
            </a:fld>
            <a:endParaRPr lang="es-ES_tradnl"/>
          </a:p>
        </p:txBody>
      </p:sp>
    </p:spTree>
    <p:extLst>
      <p:ext uri="{BB962C8B-B14F-4D97-AF65-F5344CB8AC3E}">
        <p14:creationId xmlns:p14="http://schemas.microsoft.com/office/powerpoint/2010/main" val="29567238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 2024 </a:t>
            </a:r>
            <a:r>
              <a:rPr dirty="0" err="1"/>
              <a:t>energía</a:t>
            </a:r>
            <a:r>
              <a:rPr dirty="0"/>
              <a:t> </a:t>
            </a:r>
            <a:r>
              <a:rPr dirty="0" err="1"/>
              <a:t>aportó</a:t>
            </a:r>
            <a:r>
              <a:rPr dirty="0"/>
              <a:t> el 38,1 % de las </a:t>
            </a:r>
            <a:r>
              <a:rPr dirty="0" err="1"/>
              <a:t>emisiones</a:t>
            </a:r>
            <a:r>
              <a:rPr dirty="0"/>
              <a:t> </a:t>
            </a:r>
            <a:r>
              <a:rPr dirty="0" err="1"/>
              <a:t>netas</a:t>
            </a:r>
            <a:r>
              <a:rPr dirty="0"/>
              <a:t> de Colombia, </a:t>
            </a:r>
            <a:r>
              <a:rPr dirty="0" err="1"/>
              <a:t>seguida</a:t>
            </a:r>
            <a:r>
              <a:rPr dirty="0"/>
              <a:t> de LULUCF (27,4 %), </a:t>
            </a:r>
            <a:r>
              <a:rPr dirty="0" err="1"/>
              <a:t>agricultura</a:t>
            </a:r>
            <a:r>
              <a:rPr dirty="0"/>
              <a:t> (21,0 %), </a:t>
            </a:r>
            <a:r>
              <a:rPr dirty="0" err="1"/>
              <a:t>residuos</a:t>
            </a:r>
            <a:r>
              <a:rPr dirty="0"/>
              <a:t> (9,4 %) e IPPU (4,2 %). En la </a:t>
            </a:r>
            <a:r>
              <a:rPr dirty="0" err="1"/>
              <a:t>evolución</a:t>
            </a:r>
            <a:r>
              <a:rPr dirty="0"/>
              <a:t>, las barras </a:t>
            </a:r>
            <a:r>
              <a:rPr dirty="0" err="1"/>
              <a:t>amarillas</a:t>
            </a:r>
            <a:r>
              <a:rPr dirty="0"/>
              <a:t> de </a:t>
            </a:r>
            <a:r>
              <a:rPr dirty="0" err="1"/>
              <a:t>energía</a:t>
            </a:r>
            <a:r>
              <a:rPr dirty="0"/>
              <a:t> </a:t>
            </a:r>
            <a:r>
              <a:rPr dirty="0" err="1"/>
              <a:t>pasan</a:t>
            </a:r>
            <a:r>
              <a:rPr dirty="0"/>
              <a:t> de </a:t>
            </a:r>
            <a:r>
              <a:rPr dirty="0" err="1"/>
              <a:t>cerca</a:t>
            </a:r>
            <a:r>
              <a:rPr dirty="0"/>
              <a:t> de 50 mil a </a:t>
            </a:r>
            <a:r>
              <a:rPr dirty="0" err="1"/>
              <a:t>más</a:t>
            </a:r>
            <a:r>
              <a:rPr dirty="0"/>
              <a:t> de 100 mil kt </a:t>
            </a:r>
            <a:r>
              <a:rPr dirty="0" err="1"/>
              <a:t>CO₂eq</a:t>
            </a:r>
            <a:r>
              <a:rPr dirty="0"/>
              <a:t> entre 1990 y 2024: es el sector </a:t>
            </a:r>
            <a:r>
              <a:rPr dirty="0" err="1"/>
              <a:t>que</a:t>
            </a:r>
            <a:r>
              <a:rPr dirty="0"/>
              <a:t> </a:t>
            </a:r>
            <a:r>
              <a:rPr dirty="0" err="1"/>
              <a:t>más</a:t>
            </a:r>
            <a:r>
              <a:rPr dirty="0"/>
              <a:t> </a:t>
            </a:r>
            <a:r>
              <a:rPr dirty="0" err="1"/>
              <a:t>crece</a:t>
            </a:r>
            <a:r>
              <a:rPr dirty="0"/>
              <a:t>. Energía </a:t>
            </a:r>
            <a:r>
              <a:rPr dirty="0" err="1"/>
              <a:t>incluye</a:t>
            </a:r>
            <a:r>
              <a:rPr dirty="0"/>
              <a:t> la </a:t>
            </a:r>
            <a:r>
              <a:rPr dirty="0" err="1"/>
              <a:t>quema</a:t>
            </a:r>
            <a:r>
              <a:rPr dirty="0"/>
              <a:t> de combustibles </a:t>
            </a:r>
            <a:r>
              <a:rPr dirty="0" err="1"/>
              <a:t>en</a:t>
            </a:r>
            <a:r>
              <a:rPr dirty="0"/>
              <a:t> </a:t>
            </a:r>
            <a:r>
              <a:rPr dirty="0" err="1"/>
              <a:t>hornos</a:t>
            </a:r>
            <a:r>
              <a:rPr dirty="0"/>
              <a:t>, calderas y teas de las </a:t>
            </a:r>
            <a:r>
              <a:rPr dirty="0" err="1"/>
              <a:t>refinerías</a:t>
            </a:r>
            <a:r>
              <a:rPr dirty="0"/>
              <a:t>. Puente: por </a:t>
            </a:r>
            <a:r>
              <a:rPr dirty="0" err="1"/>
              <a:t>eso</a:t>
            </a:r>
            <a:r>
              <a:rPr dirty="0"/>
              <a:t> los </a:t>
            </a:r>
            <a:r>
              <a:rPr dirty="0" err="1"/>
              <a:t>instrumentos</a:t>
            </a:r>
            <a:r>
              <a:rPr dirty="0"/>
              <a:t> de </a:t>
            </a:r>
            <a:r>
              <a:rPr dirty="0" err="1"/>
              <a:t>precio</a:t>
            </a:r>
            <a:r>
              <a:rPr dirty="0"/>
              <a:t> </a:t>
            </a:r>
            <a:r>
              <a:rPr dirty="0" err="1"/>
              <a:t>que</a:t>
            </a:r>
            <a:r>
              <a:rPr dirty="0"/>
              <a:t> </a:t>
            </a:r>
            <a:r>
              <a:rPr dirty="0" err="1"/>
              <a:t>vienen</a:t>
            </a:r>
            <a:r>
              <a:rPr dirty="0"/>
              <a:t> </a:t>
            </a:r>
            <a:r>
              <a:rPr dirty="0" err="1"/>
              <a:t>apuntan</a:t>
            </a:r>
            <a:r>
              <a:rPr dirty="0"/>
              <a:t> a los combustibles </a:t>
            </a:r>
            <a:r>
              <a:rPr dirty="0" err="1"/>
              <a:t>fósiles</a:t>
            </a:r>
            <a:r>
              <a:rPr dirty="0"/>
              <a:t>. A la </a:t>
            </a:r>
            <a:r>
              <a:rPr dirty="0" err="1"/>
              <a:t>derecha</a:t>
            </a:r>
            <a:r>
              <a:rPr dirty="0"/>
              <a:t>, </a:t>
            </a:r>
            <a:r>
              <a:rPr dirty="0" err="1"/>
              <a:t>tres</a:t>
            </a:r>
            <a:r>
              <a:rPr dirty="0"/>
              <a:t> </a:t>
            </a:r>
            <a:r>
              <a:rPr dirty="0" err="1"/>
              <a:t>mensajes</a:t>
            </a:r>
            <a:r>
              <a:rPr dirty="0"/>
              <a:t> </a:t>
            </a:r>
            <a:r>
              <a:rPr dirty="0" err="1"/>
              <a:t>que</a:t>
            </a:r>
            <a:r>
              <a:rPr dirty="0"/>
              <a:t> </a:t>
            </a:r>
            <a:r>
              <a:rPr dirty="0" err="1"/>
              <a:t>llevan</a:t>
            </a:r>
            <a:r>
              <a:rPr dirty="0"/>
              <a:t> al resto del </a:t>
            </a:r>
            <a:r>
              <a:rPr dirty="0" err="1"/>
              <a:t>bloque</a:t>
            </a:r>
            <a:r>
              <a:rPr dirty="0"/>
              <a:t>: </a:t>
            </a:r>
          </a:p>
          <a:p>
            <a:r>
              <a:rPr dirty="0"/>
              <a:t>Energía </a:t>
            </a:r>
            <a:r>
              <a:rPr dirty="0" err="1"/>
              <a:t>incluye</a:t>
            </a:r>
            <a:r>
              <a:rPr dirty="0"/>
              <a:t> la </a:t>
            </a:r>
            <a:r>
              <a:rPr dirty="0" err="1"/>
              <a:t>refinación</a:t>
            </a:r>
            <a:r>
              <a:rPr dirty="0"/>
              <a:t>.</a:t>
            </a:r>
          </a:p>
          <a:p>
            <a:r>
              <a:rPr dirty="0"/>
              <a:t>Es el sector </a:t>
            </a:r>
            <a:r>
              <a:rPr dirty="0" err="1"/>
              <a:t>que</a:t>
            </a:r>
            <a:r>
              <a:rPr dirty="0"/>
              <a:t> </a:t>
            </a:r>
            <a:r>
              <a:rPr dirty="0" err="1"/>
              <a:t>más</a:t>
            </a:r>
            <a:r>
              <a:rPr dirty="0"/>
              <a:t> </a:t>
            </a:r>
            <a:r>
              <a:rPr dirty="0" err="1"/>
              <a:t>crece</a:t>
            </a:r>
            <a:r>
              <a:rPr dirty="0"/>
              <a:t>.</a:t>
            </a:r>
          </a:p>
          <a:p>
            <a:r>
              <a:rPr dirty="0"/>
              <a:t>Por </a:t>
            </a:r>
            <a:r>
              <a:rPr dirty="0" err="1"/>
              <a:t>eso</a:t>
            </a:r>
            <a:r>
              <a:rPr dirty="0"/>
              <a:t> los </a:t>
            </a:r>
            <a:r>
              <a:rPr dirty="0" err="1"/>
              <a:t>instrumentos</a:t>
            </a:r>
            <a:r>
              <a:rPr dirty="0"/>
              <a:t> de </a:t>
            </a:r>
            <a:r>
              <a:rPr dirty="0" err="1"/>
              <a:t>precio</a:t>
            </a:r>
            <a:r>
              <a:rPr dirty="0"/>
              <a:t> </a:t>
            </a:r>
            <a:r>
              <a:rPr dirty="0" err="1"/>
              <a:t>apuntan</a:t>
            </a:r>
            <a:r>
              <a:rPr dirty="0"/>
              <a:t> a los combustibles </a:t>
            </a:r>
            <a:r>
              <a:rPr dirty="0" err="1"/>
              <a:t>fósiles</a:t>
            </a:r>
            <a:r>
              <a:rPr dirty="0"/>
              <a:t>.</a:t>
            </a:r>
          </a:p>
          <a:p>
            <a:r>
              <a:rPr dirty="0"/>
              <a:t>El dato de </a:t>
            </a:r>
            <a:r>
              <a:rPr dirty="0" err="1"/>
              <a:t>que</a:t>
            </a:r>
            <a:r>
              <a:rPr dirty="0"/>
              <a:t> las </a:t>
            </a:r>
            <a:r>
              <a:rPr dirty="0" err="1"/>
              <a:t>emisiones</a:t>
            </a:r>
            <a:r>
              <a:rPr dirty="0"/>
              <a:t> de </a:t>
            </a:r>
            <a:r>
              <a:rPr dirty="0" err="1"/>
              <a:t>energía</a:t>
            </a:r>
            <a:r>
              <a:rPr dirty="0"/>
              <a:t> se </a:t>
            </a:r>
            <a:r>
              <a:rPr dirty="0" err="1"/>
              <a:t>duplicaron</a:t>
            </a:r>
            <a:r>
              <a:rPr dirty="0"/>
              <a:t> (de </a:t>
            </a:r>
            <a:r>
              <a:rPr dirty="0" err="1"/>
              <a:t>cerca</a:t>
            </a:r>
            <a:r>
              <a:rPr dirty="0"/>
              <a:t> de 50 a </a:t>
            </a:r>
            <a:r>
              <a:rPr dirty="0" err="1"/>
              <a:t>cerca</a:t>
            </a:r>
            <a:r>
              <a:rPr dirty="0"/>
              <a:t> de 105 </a:t>
            </a:r>
            <a:r>
              <a:rPr dirty="0" err="1"/>
              <a:t>MtCO₂e</a:t>
            </a:r>
            <a:r>
              <a:rPr dirty="0"/>
              <a:t> entre 1990 y 2024) lo </a:t>
            </a:r>
            <a:r>
              <a:rPr dirty="0" err="1"/>
              <a:t>leí</a:t>
            </a:r>
            <a:r>
              <a:rPr dirty="0"/>
              <a:t> a </a:t>
            </a:r>
            <a:r>
              <a:rPr dirty="0" err="1"/>
              <a:t>ojo</a:t>
            </a:r>
            <a:r>
              <a:rPr dirty="0"/>
              <a:t> del </a:t>
            </a:r>
            <a:r>
              <a:rPr dirty="0" err="1"/>
              <a:t>gráfico</a:t>
            </a:r>
            <a:r>
              <a:rPr dirty="0"/>
              <a:t> de barras de </a:t>
            </a:r>
            <a:r>
              <a:rPr dirty="0" err="1"/>
              <a:t>tu</a:t>
            </a:r>
            <a:r>
              <a:rPr dirty="0"/>
              <a:t> imagen. Por </a:t>
            </a:r>
            <a:r>
              <a:rPr dirty="0" err="1"/>
              <a:t>eso</a:t>
            </a:r>
            <a:r>
              <a:rPr dirty="0"/>
              <a:t> </a:t>
            </a:r>
            <a:r>
              <a:rPr dirty="0" err="1"/>
              <a:t>lleva</a:t>
            </a:r>
            <a:r>
              <a:rPr dirty="0"/>
              <a:t> el signo “≈”. Si </a:t>
            </a:r>
            <a:r>
              <a:rPr dirty="0" err="1"/>
              <a:t>tienes</a:t>
            </a:r>
            <a:r>
              <a:rPr dirty="0"/>
              <a:t> la </a:t>
            </a:r>
            <a:r>
              <a:rPr dirty="0" err="1"/>
              <a:t>tabla</a:t>
            </a:r>
            <a:r>
              <a:rPr dirty="0"/>
              <a:t> del </a:t>
            </a:r>
            <a:r>
              <a:rPr dirty="0" err="1"/>
              <a:t>informe</a:t>
            </a:r>
            <a:r>
              <a:rPr dirty="0"/>
              <a:t> con las </a:t>
            </a:r>
            <a:r>
              <a:rPr dirty="0" err="1"/>
              <a:t>cifras</a:t>
            </a:r>
            <a:r>
              <a:rPr dirty="0"/>
              <a:t> exactas, lo </a:t>
            </a:r>
            <a:r>
              <a:rPr dirty="0" err="1"/>
              <a:t>ajusto</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Colombia emitió 276,7 MtCO₂e netas en 2024 (BTR2). La NDC 2.0 fija un máximo de 169,44 Mt en 2030 (51 % menos que el escenario tendencial de 345,8 Mt) y la NDC 3.0 un rango de 155–161 Mt en 2035. Pregunta para la clase: con costos marginales de abatimiento heterogéneos e inciertos, ¿impuesto, cupos o ambos?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Cada m³ de gas </a:t>
            </a:r>
            <a:r>
              <a:rPr dirty="0" err="1"/>
              <a:t>que</a:t>
            </a:r>
            <a:r>
              <a:rPr dirty="0"/>
              <a:t> no se </a:t>
            </a:r>
            <a:r>
              <a:rPr dirty="0" err="1"/>
              <a:t>quema</a:t>
            </a:r>
            <a:r>
              <a:rPr dirty="0"/>
              <a:t> </a:t>
            </a:r>
            <a:r>
              <a:rPr dirty="0" err="1"/>
              <a:t>en</a:t>
            </a:r>
            <a:r>
              <a:rPr dirty="0"/>
              <a:t> </a:t>
            </a:r>
            <a:r>
              <a:rPr dirty="0" err="1"/>
              <a:t>hornos</a:t>
            </a:r>
            <a:r>
              <a:rPr dirty="0"/>
              <a:t>, calderas o teas es </a:t>
            </a:r>
            <a:r>
              <a:rPr dirty="0" err="1"/>
              <a:t>impuesto</a:t>
            </a:r>
            <a:r>
              <a:rPr dirty="0"/>
              <a:t> </a:t>
            </a:r>
            <a:r>
              <a:rPr dirty="0" err="1"/>
              <a:t>evitado</a:t>
            </a:r>
            <a:r>
              <a:rPr dirty="0"/>
              <a:t>. </a:t>
            </a:r>
            <a:r>
              <a:rPr dirty="0" err="1"/>
              <a:t>Presentar</a:t>
            </a:r>
            <a:r>
              <a:rPr dirty="0"/>
              <a:t> el PNCTE </a:t>
            </a:r>
            <a:r>
              <a:rPr dirty="0" err="1"/>
              <a:t>como</a:t>
            </a:r>
            <a:r>
              <a:rPr dirty="0"/>
              <a:t> "</a:t>
            </a:r>
            <a:r>
              <a:rPr dirty="0" err="1"/>
              <a:t>diseño</a:t>
            </a:r>
            <a:r>
              <a:rPr dirty="0"/>
              <a:t> </a:t>
            </a:r>
            <a:r>
              <a:rPr dirty="0" err="1"/>
              <a:t>aprobado</a:t>
            </a:r>
            <a:r>
              <a:rPr dirty="0"/>
              <a:t>, </a:t>
            </a:r>
            <a:r>
              <a:rPr dirty="0" err="1"/>
              <a:t>reglas</a:t>
            </a:r>
            <a:r>
              <a:rPr dirty="0"/>
              <a:t> </a:t>
            </a:r>
            <a:r>
              <a:rPr dirty="0" err="1"/>
              <a:t>operativas</a:t>
            </a:r>
            <a:r>
              <a:rPr dirty="0"/>
              <a:t> </a:t>
            </a:r>
            <a:r>
              <a:rPr dirty="0" err="1"/>
              <a:t>pendientes</a:t>
            </a:r>
            <a:r>
              <a:rPr dirty="0"/>
              <a:t>". La </a:t>
            </a:r>
            <a:r>
              <a:rPr dirty="0" err="1"/>
              <a:t>refinería</a:t>
            </a:r>
            <a:r>
              <a:rPr dirty="0"/>
              <a:t> </a:t>
            </a:r>
            <a:r>
              <a:rPr dirty="0" err="1"/>
              <a:t>sería</a:t>
            </a:r>
            <a:r>
              <a:rPr dirty="0"/>
              <a:t> probable </a:t>
            </a:r>
            <a:r>
              <a:rPr dirty="0" err="1"/>
              <a:t>agente</a:t>
            </a:r>
            <a:r>
              <a:rPr dirty="0"/>
              <a:t> </a:t>
            </a:r>
            <a:r>
              <a:rPr dirty="0" err="1"/>
              <a:t>regulado</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Estado a octubre de 2026. El PNCTE tiene ley (1931 de 2018) y decreto (969 de 2026), pero no reglas operativas: falta saber quién queda regulado, el tope, las subastas y el precio inicial. El decreto exige definir agentes regulados al menos seis meses antes de la fase 1 (que empieza el 1 de enero de 2027), plazo que ya había vencido cuando se expidió, por eso el inicio está en duda. El Decreto 973, que regulaba los mercados de carbono y la no causación, fue revocado por fallas de procedimiento (sin concurrencia de Hacienda, conceptos pendientes y cambios sin nueva consulta). El Gobierno propondrá restablecer la no causación al 100 %. Pregunta para la clase: ¿qué señal envía al mercado la incertidumbre regulatoria sobre el precio esperado de los cupos y las decisiones de inversión?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que una reducción valga como crédito, para la no causación del impuesto o para el PNCTE, debe calcularse con una metodología reconocida y verificarse. Reducción = línea base − emisiones del proyecto − fugas (leakage). Leakage no son fugas de gas: son emisiones que el proyecto provoca fuera de sus límites. Conecta con adicionalidad e información asimétrica: el desarrollador conoce su línea base mejor que el regulador. AM0023: detección y reparación de fugas. AM0055: recuperación de gas residual en refinerías. ACM0012: recuperación de energía de desecho. ACM0009: cambio de combustible a gas natural. El mecanismo del art. 6.4 está revisando estas metodologías.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01553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Instrumentos complementarios al precio del carbono: subsidios vía impuestos para adoptar tecnología. Para economistas: comparar el costo fiscal por tonelada evitada de estos incentivos con el precio del impuesto al carbono.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Metas publicadas en la Estrategia 2040 de Ecopetrol, frente a 2019. La meta 2020–2024 era reducir 1,6 MtCO₂e; el resultado fue 2,25 Mt (Ecopetrol, 1 abr. 2025), y 2,8 Mt con 2025. Metano −45 % (2025) y −55 % (2030) en el segmento de producción. Las metas de largo plazo se revisan periódicamente.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empresarial: Ecopetrol reporta 2,8 MtCO₂e reducidas entre 2020 y 2025 con 445 iniciativas; el 64 % vino de eficiencia energética (comunicado del 26 mar. 2026). Pregunta para la clase: si la mayoría de las reducciones son rentables por sí mismas (eficiencia), ¿qué dice eso sobre la adicionalidad de un crédito y sobre la curva de costos marginales de abatimiento?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Pregunta adicional si sobra tiempo: el Gobierno propuso volver al 100 % de no causación del impuesto con créditos (hoy tope de 50 %). ¿Fortalece la demanda de créditos o debilita la señal de precio del impuesto? Para la pregunta 1: Weitzman (1974), "Prices vs. Quantities": si la curva de daño marginal es más plana que la de costo marginal, conviene fijar precio; si es más empinada, cantidad.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CC356-819F-F090-72C1-5B7D3B0FF5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_tradnl"/>
          </a:p>
        </p:txBody>
      </p:sp>
      <p:sp>
        <p:nvSpPr>
          <p:cNvPr id="3" name="Subtitle 2">
            <a:extLst>
              <a:ext uri="{FF2B5EF4-FFF2-40B4-BE49-F238E27FC236}">
                <a16:creationId xmlns:a16="http://schemas.microsoft.com/office/drawing/2014/main" id="{63A68AD3-C525-0B08-86EA-1185AC87D9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_tradnl"/>
          </a:p>
        </p:txBody>
      </p:sp>
      <p:sp>
        <p:nvSpPr>
          <p:cNvPr id="4" name="Date Placeholder 3">
            <a:extLst>
              <a:ext uri="{FF2B5EF4-FFF2-40B4-BE49-F238E27FC236}">
                <a16:creationId xmlns:a16="http://schemas.microsoft.com/office/drawing/2014/main" id="{B3D3E742-B724-7A59-9BC1-3DD6256E49E4}"/>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5" name="Footer Placeholder 4">
            <a:extLst>
              <a:ext uri="{FF2B5EF4-FFF2-40B4-BE49-F238E27FC236}">
                <a16:creationId xmlns:a16="http://schemas.microsoft.com/office/drawing/2014/main" id="{1B8F92E9-E06D-9278-CC3E-8F29867E6DFE}"/>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3C610C74-18A2-AEC1-EBB8-94149F7E7999}"/>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381897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A5FFC-1188-D26C-E37F-185EE873FC83}"/>
              </a:ext>
            </a:extLst>
          </p:cNvPr>
          <p:cNvSpPr>
            <a:spLocks noGrp="1"/>
          </p:cNvSpPr>
          <p:nvPr>
            <p:ph type="title"/>
          </p:nvPr>
        </p:nvSpPr>
        <p:spPr/>
        <p:txBody>
          <a:bodyPr/>
          <a:lstStyle/>
          <a:p>
            <a:r>
              <a:rPr lang="en-US"/>
              <a:t>Click to edit Master title style</a:t>
            </a:r>
            <a:endParaRPr lang="es-ES_tradnl"/>
          </a:p>
        </p:txBody>
      </p:sp>
      <p:sp>
        <p:nvSpPr>
          <p:cNvPr id="3" name="Content Placeholder 2">
            <a:extLst>
              <a:ext uri="{FF2B5EF4-FFF2-40B4-BE49-F238E27FC236}">
                <a16:creationId xmlns:a16="http://schemas.microsoft.com/office/drawing/2014/main" id="{721371C2-0B8E-5A85-7CB5-D08B2C8E19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168F81E9-E7E2-6CF7-C859-6494641D5DC3}"/>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5" name="Footer Placeholder 4">
            <a:extLst>
              <a:ext uri="{FF2B5EF4-FFF2-40B4-BE49-F238E27FC236}">
                <a16:creationId xmlns:a16="http://schemas.microsoft.com/office/drawing/2014/main" id="{D86BFFBF-C6D1-452A-B96F-4D279B3E11D1}"/>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17F8180A-61C9-0095-3DE0-AD8F16E005C8}"/>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4008800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D9491-FD4B-8977-5771-6BF6663896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_tradnl"/>
          </a:p>
        </p:txBody>
      </p:sp>
      <p:sp>
        <p:nvSpPr>
          <p:cNvPr id="3" name="Text Placeholder 2">
            <a:extLst>
              <a:ext uri="{FF2B5EF4-FFF2-40B4-BE49-F238E27FC236}">
                <a16:creationId xmlns:a16="http://schemas.microsoft.com/office/drawing/2014/main" id="{B8C74C3A-C607-6480-300D-10BE988CAF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4DD41A-FEE2-04A2-C545-4FFC2097383B}"/>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5" name="Footer Placeholder 4">
            <a:extLst>
              <a:ext uri="{FF2B5EF4-FFF2-40B4-BE49-F238E27FC236}">
                <a16:creationId xmlns:a16="http://schemas.microsoft.com/office/drawing/2014/main" id="{6E0ECF30-6DE8-7E6B-4BCB-8124B26D77CC}"/>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861E94EF-E5D2-1AC7-19C4-92DF4589CD95}"/>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2853059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6419-68EA-1218-D88A-6AF6F15160EA}"/>
              </a:ext>
            </a:extLst>
          </p:cNvPr>
          <p:cNvSpPr>
            <a:spLocks noGrp="1"/>
          </p:cNvSpPr>
          <p:nvPr>
            <p:ph type="title"/>
          </p:nvPr>
        </p:nvSpPr>
        <p:spPr/>
        <p:txBody>
          <a:bodyPr/>
          <a:lstStyle/>
          <a:p>
            <a:r>
              <a:rPr lang="en-US"/>
              <a:t>Click to edit Master title style</a:t>
            </a:r>
            <a:endParaRPr lang="es-ES_tradnl"/>
          </a:p>
        </p:txBody>
      </p:sp>
      <p:sp>
        <p:nvSpPr>
          <p:cNvPr id="3" name="Content Placeholder 2">
            <a:extLst>
              <a:ext uri="{FF2B5EF4-FFF2-40B4-BE49-F238E27FC236}">
                <a16:creationId xmlns:a16="http://schemas.microsoft.com/office/drawing/2014/main" id="{35F5E314-C8A2-4450-6FAE-382C43BD66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Content Placeholder 3">
            <a:extLst>
              <a:ext uri="{FF2B5EF4-FFF2-40B4-BE49-F238E27FC236}">
                <a16:creationId xmlns:a16="http://schemas.microsoft.com/office/drawing/2014/main" id="{28686134-2FF6-912A-18B6-4E140485B9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5" name="Date Placeholder 4">
            <a:extLst>
              <a:ext uri="{FF2B5EF4-FFF2-40B4-BE49-F238E27FC236}">
                <a16:creationId xmlns:a16="http://schemas.microsoft.com/office/drawing/2014/main" id="{380E67A4-0F7E-A5A8-8685-8AB589D230C4}"/>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6" name="Footer Placeholder 5">
            <a:extLst>
              <a:ext uri="{FF2B5EF4-FFF2-40B4-BE49-F238E27FC236}">
                <a16:creationId xmlns:a16="http://schemas.microsoft.com/office/drawing/2014/main" id="{9CA068CA-9DD7-9CD4-584E-AD1C86B0CB01}"/>
              </a:ext>
            </a:extLst>
          </p:cNvPr>
          <p:cNvSpPr>
            <a:spLocks noGrp="1"/>
          </p:cNvSpPr>
          <p:nvPr>
            <p:ph type="ftr" sz="quarter" idx="11"/>
          </p:nvPr>
        </p:nvSpPr>
        <p:spPr/>
        <p:txBody>
          <a:bodyPr/>
          <a:lstStyle/>
          <a:p>
            <a:endParaRPr lang="es-ES_tradnl"/>
          </a:p>
        </p:txBody>
      </p:sp>
      <p:sp>
        <p:nvSpPr>
          <p:cNvPr id="7" name="Slide Number Placeholder 6">
            <a:extLst>
              <a:ext uri="{FF2B5EF4-FFF2-40B4-BE49-F238E27FC236}">
                <a16:creationId xmlns:a16="http://schemas.microsoft.com/office/drawing/2014/main" id="{7449B001-AA40-A198-650A-6284AD46513A}"/>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2295157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58FAC-1DB1-2D71-A5E8-D76B613AB2E5}"/>
              </a:ext>
            </a:extLst>
          </p:cNvPr>
          <p:cNvSpPr>
            <a:spLocks noGrp="1"/>
          </p:cNvSpPr>
          <p:nvPr>
            <p:ph type="title"/>
          </p:nvPr>
        </p:nvSpPr>
        <p:spPr>
          <a:xfrm>
            <a:off x="839788" y="365125"/>
            <a:ext cx="10515600" cy="1325563"/>
          </a:xfrm>
        </p:spPr>
        <p:txBody>
          <a:bodyPr/>
          <a:lstStyle/>
          <a:p>
            <a:r>
              <a:rPr lang="en-US"/>
              <a:t>Click to edit Master title style</a:t>
            </a:r>
            <a:endParaRPr lang="es-ES_tradnl"/>
          </a:p>
        </p:txBody>
      </p:sp>
      <p:sp>
        <p:nvSpPr>
          <p:cNvPr id="3" name="Text Placeholder 2">
            <a:extLst>
              <a:ext uri="{FF2B5EF4-FFF2-40B4-BE49-F238E27FC236}">
                <a16:creationId xmlns:a16="http://schemas.microsoft.com/office/drawing/2014/main" id="{21F7D089-D8D3-6494-0C89-B40B4B19E1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AA90C9-B0F3-E55D-DAC2-D8C87BBB26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5" name="Text Placeholder 4">
            <a:extLst>
              <a:ext uri="{FF2B5EF4-FFF2-40B4-BE49-F238E27FC236}">
                <a16:creationId xmlns:a16="http://schemas.microsoft.com/office/drawing/2014/main" id="{9914D36C-13E1-DE6E-FD1C-B5E5D544D4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4AF377-13F1-FA0D-B3B8-AADCE1CC4C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7" name="Date Placeholder 6">
            <a:extLst>
              <a:ext uri="{FF2B5EF4-FFF2-40B4-BE49-F238E27FC236}">
                <a16:creationId xmlns:a16="http://schemas.microsoft.com/office/drawing/2014/main" id="{C87860D4-33A3-B765-2EE1-5A536D79523D}"/>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8" name="Footer Placeholder 7">
            <a:extLst>
              <a:ext uri="{FF2B5EF4-FFF2-40B4-BE49-F238E27FC236}">
                <a16:creationId xmlns:a16="http://schemas.microsoft.com/office/drawing/2014/main" id="{659AD9D8-9FE9-4114-901F-02F02E1D7A93}"/>
              </a:ext>
            </a:extLst>
          </p:cNvPr>
          <p:cNvSpPr>
            <a:spLocks noGrp="1"/>
          </p:cNvSpPr>
          <p:nvPr>
            <p:ph type="ftr" sz="quarter" idx="11"/>
          </p:nvPr>
        </p:nvSpPr>
        <p:spPr/>
        <p:txBody>
          <a:bodyPr/>
          <a:lstStyle/>
          <a:p>
            <a:endParaRPr lang="es-ES_tradnl"/>
          </a:p>
        </p:txBody>
      </p:sp>
      <p:sp>
        <p:nvSpPr>
          <p:cNvPr id="9" name="Slide Number Placeholder 8">
            <a:extLst>
              <a:ext uri="{FF2B5EF4-FFF2-40B4-BE49-F238E27FC236}">
                <a16:creationId xmlns:a16="http://schemas.microsoft.com/office/drawing/2014/main" id="{532A271C-32CF-52F3-7E3F-C8B64BFFDF73}"/>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2920535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B54EF-A3B8-0FD5-8B70-FD76A00BCE3A}"/>
              </a:ext>
            </a:extLst>
          </p:cNvPr>
          <p:cNvSpPr>
            <a:spLocks noGrp="1"/>
          </p:cNvSpPr>
          <p:nvPr>
            <p:ph type="title"/>
          </p:nvPr>
        </p:nvSpPr>
        <p:spPr/>
        <p:txBody>
          <a:bodyPr/>
          <a:lstStyle/>
          <a:p>
            <a:r>
              <a:rPr lang="en-US"/>
              <a:t>Click to edit Master title style</a:t>
            </a:r>
            <a:endParaRPr lang="es-ES_tradnl"/>
          </a:p>
        </p:txBody>
      </p:sp>
      <p:sp>
        <p:nvSpPr>
          <p:cNvPr id="3" name="Date Placeholder 2">
            <a:extLst>
              <a:ext uri="{FF2B5EF4-FFF2-40B4-BE49-F238E27FC236}">
                <a16:creationId xmlns:a16="http://schemas.microsoft.com/office/drawing/2014/main" id="{DFE8BB05-A77C-0CFD-BE4D-A545798811CA}"/>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4" name="Footer Placeholder 3">
            <a:extLst>
              <a:ext uri="{FF2B5EF4-FFF2-40B4-BE49-F238E27FC236}">
                <a16:creationId xmlns:a16="http://schemas.microsoft.com/office/drawing/2014/main" id="{CF1E87CF-57A6-47BF-265F-04825DC7222C}"/>
              </a:ext>
            </a:extLst>
          </p:cNvPr>
          <p:cNvSpPr>
            <a:spLocks noGrp="1"/>
          </p:cNvSpPr>
          <p:nvPr>
            <p:ph type="ftr" sz="quarter" idx="11"/>
          </p:nvPr>
        </p:nvSpPr>
        <p:spPr/>
        <p:txBody>
          <a:bodyPr/>
          <a:lstStyle/>
          <a:p>
            <a:endParaRPr lang="es-ES_tradnl"/>
          </a:p>
        </p:txBody>
      </p:sp>
      <p:sp>
        <p:nvSpPr>
          <p:cNvPr id="5" name="Slide Number Placeholder 4">
            <a:extLst>
              <a:ext uri="{FF2B5EF4-FFF2-40B4-BE49-F238E27FC236}">
                <a16:creationId xmlns:a16="http://schemas.microsoft.com/office/drawing/2014/main" id="{00DC7557-09E2-4EF3-7283-96956E860BBE}"/>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3027315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F28A17-1F21-CDBC-FB58-92F05C115648}"/>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3" name="Footer Placeholder 2">
            <a:extLst>
              <a:ext uri="{FF2B5EF4-FFF2-40B4-BE49-F238E27FC236}">
                <a16:creationId xmlns:a16="http://schemas.microsoft.com/office/drawing/2014/main" id="{74BAB8C1-7A29-F8AC-3B70-3DD02DA0D519}"/>
              </a:ext>
            </a:extLst>
          </p:cNvPr>
          <p:cNvSpPr>
            <a:spLocks noGrp="1"/>
          </p:cNvSpPr>
          <p:nvPr>
            <p:ph type="ftr" sz="quarter" idx="11"/>
          </p:nvPr>
        </p:nvSpPr>
        <p:spPr/>
        <p:txBody>
          <a:bodyPr/>
          <a:lstStyle/>
          <a:p>
            <a:endParaRPr lang="es-ES_tradnl"/>
          </a:p>
        </p:txBody>
      </p:sp>
      <p:sp>
        <p:nvSpPr>
          <p:cNvPr id="4" name="Slide Number Placeholder 3">
            <a:extLst>
              <a:ext uri="{FF2B5EF4-FFF2-40B4-BE49-F238E27FC236}">
                <a16:creationId xmlns:a16="http://schemas.microsoft.com/office/drawing/2014/main" id="{EF0D8019-045D-9652-FF68-1F97BBBAA7DA}"/>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1063646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53092-CAC8-EF3B-FC9A-5BBE8C439C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_tradnl"/>
          </a:p>
        </p:txBody>
      </p:sp>
      <p:sp>
        <p:nvSpPr>
          <p:cNvPr id="3" name="Content Placeholder 2">
            <a:extLst>
              <a:ext uri="{FF2B5EF4-FFF2-40B4-BE49-F238E27FC236}">
                <a16:creationId xmlns:a16="http://schemas.microsoft.com/office/drawing/2014/main" id="{00CC2151-F819-2696-A6F5-954E355DDA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Text Placeholder 3">
            <a:extLst>
              <a:ext uri="{FF2B5EF4-FFF2-40B4-BE49-F238E27FC236}">
                <a16:creationId xmlns:a16="http://schemas.microsoft.com/office/drawing/2014/main" id="{BD7BBB30-09E9-0FF7-7B0A-9837EDBA2F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862C5C-FAEA-9502-EFF7-F519AA364367}"/>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6" name="Footer Placeholder 5">
            <a:extLst>
              <a:ext uri="{FF2B5EF4-FFF2-40B4-BE49-F238E27FC236}">
                <a16:creationId xmlns:a16="http://schemas.microsoft.com/office/drawing/2014/main" id="{D2D6FE77-1326-325C-28D9-B6127E52FEC6}"/>
              </a:ext>
            </a:extLst>
          </p:cNvPr>
          <p:cNvSpPr>
            <a:spLocks noGrp="1"/>
          </p:cNvSpPr>
          <p:nvPr>
            <p:ph type="ftr" sz="quarter" idx="11"/>
          </p:nvPr>
        </p:nvSpPr>
        <p:spPr/>
        <p:txBody>
          <a:bodyPr/>
          <a:lstStyle/>
          <a:p>
            <a:endParaRPr lang="es-ES_tradnl"/>
          </a:p>
        </p:txBody>
      </p:sp>
      <p:sp>
        <p:nvSpPr>
          <p:cNvPr id="7" name="Slide Number Placeholder 6">
            <a:extLst>
              <a:ext uri="{FF2B5EF4-FFF2-40B4-BE49-F238E27FC236}">
                <a16:creationId xmlns:a16="http://schemas.microsoft.com/office/drawing/2014/main" id="{B6702235-F6CC-2957-0277-E4E851FCA4AA}"/>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3514463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C7E51-BB1E-A6D5-A5CE-8C7642B7CF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_tradnl"/>
          </a:p>
        </p:txBody>
      </p:sp>
      <p:sp>
        <p:nvSpPr>
          <p:cNvPr id="3" name="Picture Placeholder 2">
            <a:extLst>
              <a:ext uri="{FF2B5EF4-FFF2-40B4-BE49-F238E27FC236}">
                <a16:creationId xmlns:a16="http://schemas.microsoft.com/office/drawing/2014/main" id="{8951606A-CB42-1346-ABA7-87C1BFBAB3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Text Placeholder 3">
            <a:extLst>
              <a:ext uri="{FF2B5EF4-FFF2-40B4-BE49-F238E27FC236}">
                <a16:creationId xmlns:a16="http://schemas.microsoft.com/office/drawing/2014/main" id="{FEB9EB4D-A251-0F9D-9DFF-9084E66CB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CF9F45-77D5-287E-77CD-0010B7A77DD8}"/>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6" name="Footer Placeholder 5">
            <a:extLst>
              <a:ext uri="{FF2B5EF4-FFF2-40B4-BE49-F238E27FC236}">
                <a16:creationId xmlns:a16="http://schemas.microsoft.com/office/drawing/2014/main" id="{26B2A069-603F-839F-D73B-5ADAB08F9CA8}"/>
              </a:ext>
            </a:extLst>
          </p:cNvPr>
          <p:cNvSpPr>
            <a:spLocks noGrp="1"/>
          </p:cNvSpPr>
          <p:nvPr>
            <p:ph type="ftr" sz="quarter" idx="11"/>
          </p:nvPr>
        </p:nvSpPr>
        <p:spPr/>
        <p:txBody>
          <a:bodyPr/>
          <a:lstStyle/>
          <a:p>
            <a:endParaRPr lang="es-ES_tradnl"/>
          </a:p>
        </p:txBody>
      </p:sp>
      <p:sp>
        <p:nvSpPr>
          <p:cNvPr id="7" name="Slide Number Placeholder 6">
            <a:extLst>
              <a:ext uri="{FF2B5EF4-FFF2-40B4-BE49-F238E27FC236}">
                <a16:creationId xmlns:a16="http://schemas.microsoft.com/office/drawing/2014/main" id="{7653D0CC-7B4D-810D-E432-6F7D5CE28987}"/>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363534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87F6E-C7CE-8AD6-B208-106B6C0FC941}"/>
              </a:ext>
            </a:extLst>
          </p:cNvPr>
          <p:cNvSpPr>
            <a:spLocks noGrp="1"/>
          </p:cNvSpPr>
          <p:nvPr>
            <p:ph type="title"/>
          </p:nvPr>
        </p:nvSpPr>
        <p:spPr/>
        <p:txBody>
          <a:bodyPr/>
          <a:lstStyle/>
          <a:p>
            <a:r>
              <a:rPr lang="en-US"/>
              <a:t>Click to edit Master title style</a:t>
            </a:r>
            <a:endParaRPr lang="es-ES_tradnl"/>
          </a:p>
        </p:txBody>
      </p:sp>
      <p:sp>
        <p:nvSpPr>
          <p:cNvPr id="3" name="Vertical Text Placeholder 2">
            <a:extLst>
              <a:ext uri="{FF2B5EF4-FFF2-40B4-BE49-F238E27FC236}">
                <a16:creationId xmlns:a16="http://schemas.microsoft.com/office/drawing/2014/main" id="{F636CF3A-89CF-0BAA-5AC0-CD31DBFF19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9949F73E-067D-5ED9-F2AB-CF61B667E1EE}"/>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5" name="Footer Placeholder 4">
            <a:extLst>
              <a:ext uri="{FF2B5EF4-FFF2-40B4-BE49-F238E27FC236}">
                <a16:creationId xmlns:a16="http://schemas.microsoft.com/office/drawing/2014/main" id="{1A640449-1AAF-0EB5-9F3F-3EE606A8704C}"/>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61BB4239-1466-5DF9-1C7A-056C21BB8678}"/>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1838885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34A641-4EA1-BE31-8EAF-818ED519B0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_tradnl"/>
          </a:p>
        </p:txBody>
      </p:sp>
      <p:sp>
        <p:nvSpPr>
          <p:cNvPr id="3" name="Vertical Text Placeholder 2">
            <a:extLst>
              <a:ext uri="{FF2B5EF4-FFF2-40B4-BE49-F238E27FC236}">
                <a16:creationId xmlns:a16="http://schemas.microsoft.com/office/drawing/2014/main" id="{15CF9672-0DAD-4BA2-0AC0-137191921F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8D740569-7B05-57F3-A11D-0117502C9C3F}"/>
              </a:ext>
            </a:extLst>
          </p:cNvPr>
          <p:cNvSpPr>
            <a:spLocks noGrp="1"/>
          </p:cNvSpPr>
          <p:nvPr>
            <p:ph type="dt" sz="half" idx="10"/>
          </p:nvPr>
        </p:nvSpPr>
        <p:spPr/>
        <p:txBody>
          <a:bodyPr/>
          <a:lstStyle/>
          <a:p>
            <a:fld id="{9E3FE069-3FEA-EB46-82EB-F5B3D7A60C64}" type="datetimeFigureOut">
              <a:rPr lang="es-ES_tradnl" smtClean="0"/>
              <a:t>27/10/26</a:t>
            </a:fld>
            <a:endParaRPr lang="es-ES_tradnl"/>
          </a:p>
        </p:txBody>
      </p:sp>
      <p:sp>
        <p:nvSpPr>
          <p:cNvPr id="5" name="Footer Placeholder 4">
            <a:extLst>
              <a:ext uri="{FF2B5EF4-FFF2-40B4-BE49-F238E27FC236}">
                <a16:creationId xmlns:a16="http://schemas.microsoft.com/office/drawing/2014/main" id="{D175BD47-7BAE-3B7F-1C74-B5655798B455}"/>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32FAC9F9-3057-7AA9-7368-AE787E1D6C46}"/>
              </a:ext>
            </a:extLst>
          </p:cNvPr>
          <p:cNvSpPr>
            <a:spLocks noGrp="1"/>
          </p:cNvSpPr>
          <p:nvPr>
            <p:ph type="sldNum" sz="quarter" idx="12"/>
          </p:nvPr>
        </p:nvSpPr>
        <p:spPr/>
        <p:txBody>
          <a:body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1120792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02-Content">
  <p:cSld name="02-Content">
    <p:spTree>
      <p:nvGrpSpPr>
        <p:cNvPr id="1" name="Shape 101"/>
        <p:cNvGrpSpPr/>
        <p:nvPr/>
      </p:nvGrpSpPr>
      <p:grpSpPr>
        <a:xfrm>
          <a:off x="0" y="0"/>
          <a:ext cx="0" cy="0"/>
          <a:chOff x="0" y="0"/>
          <a:chExt cx="0" cy="0"/>
        </a:xfrm>
      </p:grpSpPr>
      <p:sp>
        <p:nvSpPr>
          <p:cNvPr id="102" name="Google Shape;102;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26"/>
          <p:cNvSpPr txBox="1">
            <a:spLocks noGrp="1"/>
          </p:cNvSpPr>
          <p:nvPr>
            <p:ph type="body" idx="1"/>
          </p:nvPr>
        </p:nvSpPr>
        <p:spPr>
          <a:xfrm>
            <a:off x="838200" y="1604435"/>
            <a:ext cx="8041217" cy="44174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55501958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meline (28-06-23)-04">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FE00AA4-B3AE-BE7E-F4DC-017F97CF963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Прямоугольник 6">
            <a:extLst>
              <a:ext uri="{FF2B5EF4-FFF2-40B4-BE49-F238E27FC236}">
                <a16:creationId xmlns:a16="http://schemas.microsoft.com/office/drawing/2014/main" id="{ABD1C9CE-325F-40F6-9E2F-1F7EA50234D2}"/>
              </a:ext>
            </a:extLst>
          </p:cNvPr>
          <p:cNvSpPr/>
          <p:nvPr userDrawn="1"/>
        </p:nvSpPr>
        <p:spPr>
          <a:xfrm>
            <a:off x="0" y="0"/>
            <a:ext cx="12191472" cy="6858000"/>
          </a:xfrm>
          <a:prstGeom prst="rect">
            <a:avLst/>
          </a:prstGeom>
          <a:solidFill>
            <a:srgbClr val="EEF0F6"/>
          </a:solidFill>
          <a:ln>
            <a:noFill/>
          </a:ln>
        </p:spPr>
        <p:txBody>
          <a:bodyPr vert="horz" wrap="square" lIns="60951" tIns="30475" rIns="60951" bIns="30475" numCol="1" anchor="t" anchorCtr="0" compatLnSpc="1">
            <a:prstTxWarp prst="textNoShape">
              <a:avLst/>
            </a:prstTxWarp>
          </a:bodyPr>
          <a:lstStyle/>
          <a:p>
            <a:pPr defTabSz="1625519" fontAlgn="auto">
              <a:spcBef>
                <a:spcPts val="0"/>
              </a:spcBef>
              <a:spcAft>
                <a:spcPts val="0"/>
              </a:spcAft>
            </a:pPr>
            <a:endParaRPr lang="ru-RU" sz="3200">
              <a:sym typeface="Calibri"/>
            </a:endParaRPr>
          </a:p>
        </p:txBody>
      </p:sp>
      <p:sp>
        <p:nvSpPr>
          <p:cNvPr id="3" name="Рисунок 2">
            <a:extLst>
              <a:ext uri="{FF2B5EF4-FFF2-40B4-BE49-F238E27FC236}">
                <a16:creationId xmlns:a16="http://schemas.microsoft.com/office/drawing/2014/main" id="{FE40276B-4FCB-4B86-98BF-BCAFDCE78715}"/>
              </a:ext>
            </a:extLst>
          </p:cNvPr>
          <p:cNvSpPr>
            <a:spLocks noGrp="1"/>
          </p:cNvSpPr>
          <p:nvPr>
            <p:ph type="pic" sz="quarter" idx="24"/>
          </p:nvPr>
        </p:nvSpPr>
        <p:spPr>
          <a:xfrm rot="10800000" flipV="1">
            <a:off x="5313649" y="2110657"/>
            <a:ext cx="1560977" cy="1560738"/>
          </a:xfrm>
          <a:prstGeom prst="ellipse">
            <a:avLst/>
          </a:prstGeom>
          <a:solidFill>
            <a:srgbClr val="E6E6E6"/>
          </a:solidFill>
          <a:ln w="228600">
            <a:solidFill>
              <a:schemeClr val="bg2"/>
            </a:solidFill>
          </a:ln>
          <a:effectLst>
            <a:outerShdw blurRad="596900" dist="266700" dir="5400000" sx="86000" sy="86000" algn="t" rotWithShape="0">
              <a:prstClr val="black">
                <a:alpha val="40000"/>
              </a:prstClr>
            </a:outerShdw>
          </a:effectLst>
        </p:spPr>
        <p:txBody>
          <a:bodyPr vert="horz" wrap="square" lIns="91440" tIns="45720" rIns="91440" bIns="45720" numCol="1" anchor="t" anchorCtr="0" compatLnSpc="1">
            <a:prstTxWarp prst="textNoShape">
              <a:avLst/>
            </a:prstTxWarp>
          </a:bodyPr>
          <a:lstStyle>
            <a:lvl1pPr>
              <a:defRPr lang="ru-RU" sz="100" dirty="0"/>
            </a:lvl1pPr>
          </a:lstStyle>
          <a:p>
            <a:pPr lvl="0"/>
            <a:endParaRPr lang="ru-RU"/>
          </a:p>
        </p:txBody>
      </p:sp>
      <p:sp>
        <p:nvSpPr>
          <p:cNvPr id="9" name="Рисунок 2">
            <a:extLst>
              <a:ext uri="{FF2B5EF4-FFF2-40B4-BE49-F238E27FC236}">
                <a16:creationId xmlns:a16="http://schemas.microsoft.com/office/drawing/2014/main" id="{63380831-9E35-4538-873B-B03B3C346EE3}"/>
              </a:ext>
            </a:extLst>
          </p:cNvPr>
          <p:cNvSpPr>
            <a:spLocks noGrp="1"/>
          </p:cNvSpPr>
          <p:nvPr>
            <p:ph type="pic" sz="quarter" idx="25"/>
          </p:nvPr>
        </p:nvSpPr>
        <p:spPr>
          <a:xfrm rot="10800000" flipV="1">
            <a:off x="3220482" y="2110657"/>
            <a:ext cx="1560977" cy="1560738"/>
          </a:xfrm>
          <a:prstGeom prst="ellipse">
            <a:avLst/>
          </a:prstGeom>
          <a:solidFill>
            <a:srgbClr val="E6E6E6"/>
          </a:solidFill>
          <a:ln w="228600">
            <a:solidFill>
              <a:schemeClr val="bg2"/>
            </a:solidFill>
          </a:ln>
          <a:effectLst>
            <a:outerShdw blurRad="596900" dist="266700" dir="5400000" sx="86000" sy="86000" algn="t" rotWithShape="0">
              <a:prstClr val="black">
                <a:alpha val="40000"/>
              </a:prstClr>
            </a:outerShdw>
          </a:effectLst>
        </p:spPr>
        <p:txBody>
          <a:bodyPr vert="horz" wrap="square" lIns="91440" tIns="45720" rIns="91440" bIns="45720" numCol="1" anchor="t" anchorCtr="0" compatLnSpc="1">
            <a:prstTxWarp prst="textNoShape">
              <a:avLst/>
            </a:prstTxWarp>
          </a:bodyPr>
          <a:lstStyle>
            <a:lvl1pPr>
              <a:defRPr lang="ru-RU" sz="100" dirty="0"/>
            </a:lvl1pPr>
          </a:lstStyle>
          <a:p>
            <a:pPr lvl="0"/>
            <a:endParaRPr lang="ru-RU"/>
          </a:p>
        </p:txBody>
      </p:sp>
      <p:sp>
        <p:nvSpPr>
          <p:cNvPr id="10" name="Рисунок 2">
            <a:extLst>
              <a:ext uri="{FF2B5EF4-FFF2-40B4-BE49-F238E27FC236}">
                <a16:creationId xmlns:a16="http://schemas.microsoft.com/office/drawing/2014/main" id="{E20AF176-4811-433F-A7F9-BB7EC728CD7A}"/>
              </a:ext>
            </a:extLst>
          </p:cNvPr>
          <p:cNvSpPr>
            <a:spLocks noGrp="1"/>
          </p:cNvSpPr>
          <p:nvPr>
            <p:ph type="pic" sz="quarter" idx="26"/>
          </p:nvPr>
        </p:nvSpPr>
        <p:spPr>
          <a:xfrm rot="10800000" flipV="1">
            <a:off x="1128337" y="2110657"/>
            <a:ext cx="1560977" cy="1560738"/>
          </a:xfrm>
          <a:prstGeom prst="ellipse">
            <a:avLst/>
          </a:prstGeom>
          <a:solidFill>
            <a:srgbClr val="E6E6E6"/>
          </a:solidFill>
          <a:ln w="228600">
            <a:solidFill>
              <a:schemeClr val="bg2"/>
            </a:solidFill>
          </a:ln>
          <a:effectLst>
            <a:outerShdw blurRad="596900" dist="266700" dir="5400000" sx="86000" sy="86000" algn="t" rotWithShape="0">
              <a:prstClr val="black">
                <a:alpha val="40000"/>
              </a:prstClr>
            </a:outerShdw>
          </a:effectLst>
        </p:spPr>
        <p:txBody>
          <a:bodyPr vert="horz" wrap="square" lIns="91440" tIns="45720" rIns="91440" bIns="45720" numCol="1" anchor="t" anchorCtr="0" compatLnSpc="1">
            <a:prstTxWarp prst="textNoShape">
              <a:avLst/>
            </a:prstTxWarp>
          </a:bodyPr>
          <a:lstStyle>
            <a:lvl1pPr>
              <a:defRPr lang="ru-RU" sz="100" dirty="0"/>
            </a:lvl1pPr>
          </a:lstStyle>
          <a:p>
            <a:pPr lvl="0"/>
            <a:endParaRPr lang="ru-RU"/>
          </a:p>
        </p:txBody>
      </p:sp>
      <p:sp>
        <p:nvSpPr>
          <p:cNvPr id="11" name="Рисунок 2">
            <a:extLst>
              <a:ext uri="{FF2B5EF4-FFF2-40B4-BE49-F238E27FC236}">
                <a16:creationId xmlns:a16="http://schemas.microsoft.com/office/drawing/2014/main" id="{55A9018E-6CC5-4179-B3ED-9BEF35739000}"/>
              </a:ext>
            </a:extLst>
          </p:cNvPr>
          <p:cNvSpPr>
            <a:spLocks noGrp="1"/>
          </p:cNvSpPr>
          <p:nvPr>
            <p:ph type="pic" sz="quarter" idx="27"/>
          </p:nvPr>
        </p:nvSpPr>
        <p:spPr>
          <a:xfrm rot="10800000" flipV="1">
            <a:off x="7407651" y="2110657"/>
            <a:ext cx="1560977" cy="1560738"/>
          </a:xfrm>
          <a:prstGeom prst="ellipse">
            <a:avLst/>
          </a:prstGeom>
          <a:solidFill>
            <a:srgbClr val="E6E6E6"/>
          </a:solidFill>
          <a:ln w="228600">
            <a:solidFill>
              <a:schemeClr val="bg2"/>
            </a:solidFill>
          </a:ln>
          <a:effectLst>
            <a:outerShdw blurRad="596900" dist="266700" dir="5400000" sx="86000" sy="86000" algn="t" rotWithShape="0">
              <a:prstClr val="black">
                <a:alpha val="40000"/>
              </a:prstClr>
            </a:outerShdw>
          </a:effectLst>
        </p:spPr>
        <p:txBody>
          <a:bodyPr vert="horz" wrap="square" lIns="91440" tIns="45720" rIns="91440" bIns="45720" numCol="1" anchor="t" anchorCtr="0" compatLnSpc="1">
            <a:prstTxWarp prst="textNoShape">
              <a:avLst/>
            </a:prstTxWarp>
          </a:bodyPr>
          <a:lstStyle>
            <a:lvl1pPr>
              <a:defRPr lang="ru-RU" sz="100" dirty="0"/>
            </a:lvl1pPr>
          </a:lstStyle>
          <a:p>
            <a:pPr lvl="0"/>
            <a:endParaRPr lang="ru-RU"/>
          </a:p>
        </p:txBody>
      </p:sp>
      <p:sp>
        <p:nvSpPr>
          <p:cNvPr id="12" name="Рисунок 2">
            <a:extLst>
              <a:ext uri="{FF2B5EF4-FFF2-40B4-BE49-F238E27FC236}">
                <a16:creationId xmlns:a16="http://schemas.microsoft.com/office/drawing/2014/main" id="{FDE02BB3-710E-4C9C-8EFA-5E5FF4123477}"/>
              </a:ext>
            </a:extLst>
          </p:cNvPr>
          <p:cNvSpPr>
            <a:spLocks noGrp="1"/>
          </p:cNvSpPr>
          <p:nvPr>
            <p:ph type="pic" sz="quarter" idx="28"/>
          </p:nvPr>
        </p:nvSpPr>
        <p:spPr>
          <a:xfrm rot="10800000" flipV="1">
            <a:off x="9500723" y="2110657"/>
            <a:ext cx="1560977" cy="1560738"/>
          </a:xfrm>
          <a:prstGeom prst="ellipse">
            <a:avLst/>
          </a:prstGeom>
          <a:solidFill>
            <a:srgbClr val="E6E6E6"/>
          </a:solidFill>
          <a:ln w="228600">
            <a:solidFill>
              <a:schemeClr val="bg2"/>
            </a:solidFill>
          </a:ln>
          <a:effectLst>
            <a:outerShdw blurRad="596900" dist="266700" dir="5400000" sx="86000" sy="86000" algn="t" rotWithShape="0">
              <a:prstClr val="black">
                <a:alpha val="40000"/>
              </a:prstClr>
            </a:outerShdw>
          </a:effectLst>
        </p:spPr>
        <p:txBody>
          <a:bodyPr vert="horz" wrap="square" lIns="91440" tIns="45720" rIns="91440" bIns="45720" numCol="1" anchor="t" anchorCtr="0" compatLnSpc="1">
            <a:prstTxWarp prst="textNoShape">
              <a:avLst/>
            </a:prstTxWarp>
          </a:bodyPr>
          <a:lstStyle>
            <a:lvl1pPr>
              <a:defRPr lang="ru-RU" sz="100" dirty="0"/>
            </a:lvl1pPr>
          </a:lstStyle>
          <a:p>
            <a:pPr lvl="0"/>
            <a:endParaRPr lang="ru-RU"/>
          </a:p>
        </p:txBody>
      </p:sp>
    </p:spTree>
    <p:extLst>
      <p:ext uri="{BB962C8B-B14F-4D97-AF65-F5344CB8AC3E}">
        <p14:creationId xmlns:p14="http://schemas.microsoft.com/office/powerpoint/2010/main" val="1424903348"/>
      </p:ext>
    </p:extLst>
  </p:cSld>
  <p:clrMapOvr>
    <a:masterClrMapping/>
  </p:clrMapOvr>
  <mc:AlternateContent xmlns:mc="http://schemas.openxmlformats.org/markup-compatibility/2006" xmlns:p14="http://schemas.microsoft.com/office/powerpoint/2010/main">
    <mc:Choice Requires="p14">
      <p:transition p14:dur="1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35" presetClass="path" presetSubtype="0" accel="50000" decel="50000" fill="hold" grpId="1" nodeType="withEffect">
                                  <p:stCondLst>
                                    <p:cond delay="1000"/>
                                  </p:stCondLst>
                                  <p:childTnLst>
                                    <p:animMotion origin="layout" path="M -0.13185 -4.28483E-6 L -3.75E-6 -4.28483E-6 " pathEditMode="relative" rAng="0" ptsTypes="AA">
                                      <p:cBhvr>
                                        <p:cTn id="9" dur="1000" fill="hold"/>
                                        <p:tgtEl>
                                          <p:spTgt spid="10"/>
                                        </p:tgtEl>
                                        <p:attrNameLst>
                                          <p:attrName>ppt_x</p:attrName>
                                          <p:attrName>ppt_y</p:attrName>
                                        </p:attrNameLst>
                                      </p:cBhvr>
                                      <p:rCtr x="6589" y="0"/>
                                    </p:animMotion>
                                  </p:childTnLst>
                                </p:cTn>
                              </p:par>
                              <p:par>
                                <p:cTn id="10" presetID="10" presetClass="entr" presetSubtype="0" fill="hold" grpId="0" nodeType="withEffect">
                                  <p:stCondLst>
                                    <p:cond delay="15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35" presetClass="path" presetSubtype="0" accel="50000" decel="50000" fill="hold" grpId="1" nodeType="withEffect">
                                  <p:stCondLst>
                                    <p:cond delay="1500"/>
                                  </p:stCondLst>
                                  <p:childTnLst>
                                    <p:animMotion origin="layout" path="M -0.13186 -4.28483E-6 L 1.66667E-6 -4.28483E-6 " pathEditMode="relative" rAng="0" ptsTypes="AA">
                                      <p:cBhvr>
                                        <p:cTn id="14" dur="1000" fill="hold"/>
                                        <p:tgtEl>
                                          <p:spTgt spid="9"/>
                                        </p:tgtEl>
                                        <p:attrNameLst>
                                          <p:attrName>ppt_x</p:attrName>
                                          <p:attrName>ppt_y</p:attrName>
                                        </p:attrNameLst>
                                      </p:cBhvr>
                                      <p:rCtr x="6589" y="0"/>
                                    </p:animMotion>
                                  </p:childTnLst>
                                </p:cTn>
                              </p:par>
                              <p:par>
                                <p:cTn id="15" presetID="10" presetClass="entr" presetSubtype="0" fill="hold" grpId="0" nodeType="withEffect">
                                  <p:stCondLst>
                                    <p:cond delay="200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35" presetClass="path" presetSubtype="0" accel="50000" decel="50000" fill="hold" grpId="1" nodeType="withEffect">
                                  <p:stCondLst>
                                    <p:cond delay="2000"/>
                                  </p:stCondLst>
                                  <p:childTnLst>
                                    <p:animMotion origin="layout" path="M -0.13186 -4.28483E-6 L 2.77778E-7 -4.28483E-6 " pathEditMode="relative" rAng="0" ptsTypes="AA">
                                      <p:cBhvr>
                                        <p:cTn id="19" dur="1000" fill="hold"/>
                                        <p:tgtEl>
                                          <p:spTgt spid="3"/>
                                        </p:tgtEl>
                                        <p:attrNameLst>
                                          <p:attrName>ppt_x</p:attrName>
                                          <p:attrName>ppt_y</p:attrName>
                                        </p:attrNameLst>
                                      </p:cBhvr>
                                      <p:rCtr x="6589" y="0"/>
                                    </p:animMotion>
                                  </p:childTnLst>
                                </p:cTn>
                              </p:par>
                              <p:par>
                                <p:cTn id="20" presetID="10" presetClass="entr" presetSubtype="0" fill="hold" grpId="0" nodeType="withEffect">
                                  <p:stCondLst>
                                    <p:cond delay="25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35" presetClass="path" presetSubtype="0" accel="50000" decel="50000" fill="hold" grpId="1" nodeType="withEffect">
                                  <p:stCondLst>
                                    <p:cond delay="2500"/>
                                  </p:stCondLst>
                                  <p:childTnLst>
                                    <p:animMotion origin="layout" path="M -0.13186 -4.28483E-6 L -1.11111E-6 -4.28483E-6 " pathEditMode="relative" rAng="0" ptsTypes="AA">
                                      <p:cBhvr>
                                        <p:cTn id="24" dur="1000" fill="hold"/>
                                        <p:tgtEl>
                                          <p:spTgt spid="11"/>
                                        </p:tgtEl>
                                        <p:attrNameLst>
                                          <p:attrName>ppt_x</p:attrName>
                                          <p:attrName>ppt_y</p:attrName>
                                        </p:attrNameLst>
                                      </p:cBhvr>
                                      <p:rCtr x="6589" y="0"/>
                                    </p:animMotion>
                                  </p:childTnLst>
                                </p:cTn>
                              </p:par>
                              <p:par>
                                <p:cTn id="25" presetID="10" presetClass="entr" presetSubtype="0" fill="hold" grpId="0" nodeType="withEffect">
                                  <p:stCondLst>
                                    <p:cond delay="30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35" presetClass="path" presetSubtype="0" accel="50000" decel="50000" fill="hold" grpId="1" nodeType="withEffect">
                                  <p:stCondLst>
                                    <p:cond delay="3000"/>
                                  </p:stCondLst>
                                  <p:childTnLst>
                                    <p:animMotion origin="layout" path="M -0.13186 -4.28483E-6 L -2.5E-6 -4.28483E-6 " pathEditMode="relative" rAng="0" ptsTypes="AA">
                                      <p:cBhvr>
                                        <p:cTn id="29" dur="1000" fill="hold"/>
                                        <p:tgtEl>
                                          <p:spTgt spid="12"/>
                                        </p:tgtEl>
                                        <p:attrNameLst>
                                          <p:attrName>ppt_x</p:attrName>
                                          <p:attrName>ppt_y</p:attrName>
                                        </p:attrNameLst>
                                      </p:cBhvr>
                                      <p:rCtr x="65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9" grpId="0" animBg="1"/>
      <p:bldP spid="9" grpId="1" animBg="1"/>
      <p:bldP spid="10" grpId="0" animBg="1"/>
      <p:bldP spid="10" grpId="1" animBg="1"/>
      <p:bldP spid="11" grpId="0" animBg="1"/>
      <p:bldP spid="11" grpId="1" animBg="1"/>
      <p:bldP spid="12" grpId="0" animBg="1"/>
      <p:bldP spid="12" grpId="1"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03E1EF-79AB-1C2A-2DDA-8541298865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_tradnl"/>
          </a:p>
        </p:txBody>
      </p:sp>
      <p:sp>
        <p:nvSpPr>
          <p:cNvPr id="3" name="Text Placeholder 2">
            <a:extLst>
              <a:ext uri="{FF2B5EF4-FFF2-40B4-BE49-F238E27FC236}">
                <a16:creationId xmlns:a16="http://schemas.microsoft.com/office/drawing/2014/main" id="{C9FF42FA-847B-B320-EB2A-79528322DA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8F178E15-F2BA-395A-FD9F-94395CD7C8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3FE069-3FEA-EB46-82EB-F5B3D7A60C64}" type="datetimeFigureOut">
              <a:rPr lang="es-ES_tradnl" smtClean="0"/>
              <a:t>27/10/26</a:t>
            </a:fld>
            <a:endParaRPr lang="es-ES_tradnl"/>
          </a:p>
        </p:txBody>
      </p:sp>
      <p:sp>
        <p:nvSpPr>
          <p:cNvPr id="5" name="Footer Placeholder 4">
            <a:extLst>
              <a:ext uri="{FF2B5EF4-FFF2-40B4-BE49-F238E27FC236}">
                <a16:creationId xmlns:a16="http://schemas.microsoft.com/office/drawing/2014/main" id="{3F2FDF8F-E5A1-D060-BB5B-0CAD141C8B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Slide Number Placeholder 5">
            <a:extLst>
              <a:ext uri="{FF2B5EF4-FFF2-40B4-BE49-F238E27FC236}">
                <a16:creationId xmlns:a16="http://schemas.microsoft.com/office/drawing/2014/main" id="{AFEA0CA1-A165-1B02-0286-7504479ADC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659D0B-C114-2C43-AB72-3FDAF82B6FA4}" type="slidenum">
              <a:rPr lang="es-ES_tradnl" smtClean="0"/>
              <a:t>‹#›</a:t>
            </a:fld>
            <a:endParaRPr lang="es-ES_tradnl"/>
          </a:p>
        </p:txBody>
      </p:sp>
    </p:spTree>
    <p:extLst>
      <p:ext uri="{BB962C8B-B14F-4D97-AF65-F5344CB8AC3E}">
        <p14:creationId xmlns:p14="http://schemas.microsoft.com/office/powerpoint/2010/main" val="1905025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hyperlink" Target="https://es.mongabay.com/by/andres-bermudez-lievano/" TargetMode="Externa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13.png"/><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080EA-E7C1-E2B5-3486-75DCE64C9754}"/>
              </a:ext>
            </a:extLst>
          </p:cNvPr>
          <p:cNvSpPr>
            <a:spLocks noGrp="1"/>
          </p:cNvSpPr>
          <p:nvPr>
            <p:ph type="ctrTitle"/>
          </p:nvPr>
        </p:nvSpPr>
        <p:spPr/>
        <p:txBody>
          <a:bodyPr/>
          <a:lstStyle/>
          <a:p>
            <a:r>
              <a:rPr lang="es-ES_tradnl" dirty="0"/>
              <a:t>Mercados de Carbono</a:t>
            </a:r>
          </a:p>
        </p:txBody>
      </p:sp>
      <p:sp>
        <p:nvSpPr>
          <p:cNvPr id="3" name="Subtitle 2">
            <a:extLst>
              <a:ext uri="{FF2B5EF4-FFF2-40B4-BE49-F238E27FC236}">
                <a16:creationId xmlns:a16="http://schemas.microsoft.com/office/drawing/2014/main" id="{519241FC-AA84-EFA2-EC6C-010758BD217B}"/>
              </a:ext>
            </a:extLst>
          </p:cNvPr>
          <p:cNvSpPr>
            <a:spLocks noGrp="1"/>
          </p:cNvSpPr>
          <p:nvPr>
            <p:ph type="subTitle" idx="1"/>
          </p:nvPr>
        </p:nvSpPr>
        <p:spPr/>
        <p:txBody>
          <a:bodyPr/>
          <a:lstStyle/>
          <a:p>
            <a:r>
              <a:rPr lang="es-ES_tradnl" dirty="0"/>
              <a:t>Brigitte Castañeda</a:t>
            </a:r>
          </a:p>
        </p:txBody>
      </p:sp>
    </p:spTree>
    <p:extLst>
      <p:ext uri="{BB962C8B-B14F-4D97-AF65-F5344CB8AC3E}">
        <p14:creationId xmlns:p14="http://schemas.microsoft.com/office/powerpoint/2010/main" val="2368966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Agenda</a:t>
            </a:r>
          </a:p>
        </p:txBody>
      </p:sp>
      <p:sp>
        <p:nvSpPr>
          <p:cNvPr id="3" name="Rounded Rectangle 2"/>
          <p:cNvSpPr/>
          <p:nvPr/>
        </p:nvSpPr>
        <p:spPr>
          <a:xfrm>
            <a:off x="841248" y="1691640"/>
            <a:ext cx="10515600" cy="603503"/>
          </a:xfrm>
          <a:prstGeom prst="roundRect">
            <a:avLst>
              <a:gd name="adj" fmla="val 6000"/>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05840" y="1764792"/>
            <a:ext cx="457200" cy="45720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88A3A"/>
                </a:solidFill>
                <a:latin typeface="+mj-lt"/>
              </a:rPr>
              <a:t>1</a:t>
            </a:r>
          </a:p>
        </p:txBody>
      </p:sp>
      <p:sp>
        <p:nvSpPr>
          <p:cNvPr id="5" name="TextBox 4"/>
          <p:cNvSpPr txBox="1"/>
          <p:nvPr/>
        </p:nvSpPr>
        <p:spPr>
          <a:xfrm>
            <a:off x="1645920" y="1728216"/>
            <a:ext cx="4206240" cy="530352"/>
          </a:xfrm>
          <a:prstGeom prst="rect">
            <a:avLst/>
          </a:prstGeom>
          <a:noFill/>
        </p:spPr>
        <p:txBody>
          <a:bodyPr wrap="square" anchor="ctr">
            <a:spAutoFit/>
          </a:bodyPr>
          <a:lstStyle/>
          <a:p>
            <a:pPr algn="l"/>
            <a:r>
              <a:rPr sz="1800" b="1" i="0">
                <a:solidFill>
                  <a:srgbClr val="00323F"/>
                </a:solidFill>
                <a:latin typeface="+mn-lt"/>
              </a:rPr>
              <a:t>Fundamentos económicos</a:t>
            </a:r>
          </a:p>
        </p:txBody>
      </p:sp>
      <p:sp>
        <p:nvSpPr>
          <p:cNvPr id="6" name="TextBox 5"/>
          <p:cNvSpPr txBox="1"/>
          <p:nvPr/>
        </p:nvSpPr>
        <p:spPr>
          <a:xfrm>
            <a:off x="5760720" y="1728216"/>
            <a:ext cx="4206240" cy="530352"/>
          </a:xfrm>
          <a:prstGeom prst="rect">
            <a:avLst/>
          </a:prstGeom>
          <a:noFill/>
        </p:spPr>
        <p:txBody>
          <a:bodyPr wrap="square" anchor="ctr">
            <a:spAutoFit/>
          </a:bodyPr>
          <a:lstStyle/>
          <a:p>
            <a:pPr algn="l"/>
            <a:r>
              <a:rPr sz="1400" b="0" i="0">
                <a:solidFill>
                  <a:srgbClr val="595959"/>
                </a:solidFill>
                <a:latin typeface="+mn-lt"/>
              </a:rPr>
              <a:t>Precio vs. cantidad, equimarginalidad, tipos de esquemas</a:t>
            </a:r>
          </a:p>
        </p:txBody>
      </p:sp>
      <p:sp>
        <p:nvSpPr>
          <p:cNvPr id="8" name="Oval 7"/>
          <p:cNvSpPr/>
          <p:nvPr/>
        </p:nvSpPr>
        <p:spPr>
          <a:xfrm>
            <a:off x="1005840" y="2423160"/>
            <a:ext cx="457200" cy="45720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88A3A"/>
                </a:solidFill>
                <a:latin typeface="+mj-lt"/>
              </a:rPr>
              <a:t>2</a:t>
            </a:r>
          </a:p>
        </p:txBody>
      </p:sp>
      <p:sp>
        <p:nvSpPr>
          <p:cNvPr id="9" name="TextBox 8"/>
          <p:cNvSpPr txBox="1"/>
          <p:nvPr/>
        </p:nvSpPr>
        <p:spPr>
          <a:xfrm>
            <a:off x="1645920" y="2386584"/>
            <a:ext cx="4206240" cy="530352"/>
          </a:xfrm>
          <a:prstGeom prst="rect">
            <a:avLst/>
          </a:prstGeom>
          <a:noFill/>
        </p:spPr>
        <p:txBody>
          <a:bodyPr wrap="square" anchor="ctr">
            <a:spAutoFit/>
          </a:bodyPr>
          <a:lstStyle/>
          <a:p>
            <a:pPr algn="l"/>
            <a:r>
              <a:rPr sz="1800" b="1" i="0">
                <a:solidFill>
                  <a:srgbClr val="00323F"/>
                </a:solidFill>
                <a:latin typeface="+mn-lt"/>
              </a:rPr>
              <a:t>De Kioto a París</a:t>
            </a:r>
          </a:p>
        </p:txBody>
      </p:sp>
      <p:sp>
        <p:nvSpPr>
          <p:cNvPr id="10" name="TextBox 9"/>
          <p:cNvSpPr txBox="1"/>
          <p:nvPr/>
        </p:nvSpPr>
        <p:spPr>
          <a:xfrm>
            <a:off x="5760720" y="2386584"/>
            <a:ext cx="4206240" cy="530352"/>
          </a:xfrm>
          <a:prstGeom prst="rect">
            <a:avLst/>
          </a:prstGeom>
          <a:noFill/>
        </p:spPr>
        <p:txBody>
          <a:bodyPr wrap="square" anchor="ctr">
            <a:spAutoFit/>
          </a:bodyPr>
          <a:lstStyle/>
          <a:p>
            <a:pPr algn="l"/>
            <a:r>
              <a:rPr sz="1400" b="0" i="0">
                <a:solidFill>
                  <a:srgbClr val="595959"/>
                </a:solidFill>
                <a:latin typeface="+mn-lt"/>
              </a:rPr>
              <a:t>MDL, críticas y artículo 6</a:t>
            </a:r>
          </a:p>
        </p:txBody>
      </p:sp>
      <p:sp>
        <p:nvSpPr>
          <p:cNvPr id="12" name="Rounded Rectangle 11"/>
          <p:cNvSpPr/>
          <p:nvPr/>
        </p:nvSpPr>
        <p:spPr>
          <a:xfrm>
            <a:off x="841248" y="3008376"/>
            <a:ext cx="10515600" cy="603503"/>
          </a:xfrm>
          <a:prstGeom prst="roundRect">
            <a:avLst>
              <a:gd name="adj" fmla="val 6000"/>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05840" y="3081528"/>
            <a:ext cx="457200" cy="45720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88A3A"/>
                </a:solidFill>
                <a:latin typeface="+mj-lt"/>
              </a:rPr>
              <a:t>3</a:t>
            </a:r>
          </a:p>
        </p:txBody>
      </p:sp>
      <p:sp>
        <p:nvSpPr>
          <p:cNvPr id="14" name="TextBox 13"/>
          <p:cNvSpPr txBox="1"/>
          <p:nvPr/>
        </p:nvSpPr>
        <p:spPr>
          <a:xfrm>
            <a:off x="1645920" y="3044952"/>
            <a:ext cx="4206240" cy="530352"/>
          </a:xfrm>
          <a:prstGeom prst="rect">
            <a:avLst/>
          </a:prstGeom>
          <a:noFill/>
        </p:spPr>
        <p:txBody>
          <a:bodyPr wrap="square" anchor="ctr">
            <a:spAutoFit/>
          </a:bodyPr>
          <a:lstStyle/>
          <a:p>
            <a:pPr algn="l"/>
            <a:r>
              <a:rPr sz="1800" b="1" i="0">
                <a:solidFill>
                  <a:srgbClr val="00323F"/>
                </a:solidFill>
                <a:latin typeface="+mn-lt"/>
              </a:rPr>
              <a:t>Mercados regulados y voluntarios</a:t>
            </a:r>
          </a:p>
        </p:txBody>
      </p:sp>
      <p:sp>
        <p:nvSpPr>
          <p:cNvPr id="15" name="TextBox 14"/>
          <p:cNvSpPr txBox="1"/>
          <p:nvPr/>
        </p:nvSpPr>
        <p:spPr>
          <a:xfrm>
            <a:off x="5760720" y="3044952"/>
            <a:ext cx="4206240" cy="530352"/>
          </a:xfrm>
          <a:prstGeom prst="rect">
            <a:avLst/>
          </a:prstGeom>
          <a:noFill/>
        </p:spPr>
        <p:txBody>
          <a:bodyPr wrap="square" anchor="ctr">
            <a:spAutoFit/>
          </a:bodyPr>
          <a:lstStyle/>
          <a:p>
            <a:pPr algn="l"/>
            <a:r>
              <a:rPr sz="1400" b="0" i="0">
                <a:solidFill>
                  <a:srgbClr val="595959"/>
                </a:solidFill>
                <a:latin typeface="+mn-lt"/>
              </a:rPr>
              <a:t>Precios, volúmenes y estándares</a:t>
            </a:r>
          </a:p>
        </p:txBody>
      </p:sp>
      <p:sp>
        <p:nvSpPr>
          <p:cNvPr id="17" name="Oval 16"/>
          <p:cNvSpPr/>
          <p:nvPr/>
        </p:nvSpPr>
        <p:spPr>
          <a:xfrm>
            <a:off x="1005840" y="3739896"/>
            <a:ext cx="457200" cy="45720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88A3A"/>
                </a:solidFill>
                <a:latin typeface="+mj-lt"/>
              </a:rPr>
              <a:t>4</a:t>
            </a:r>
          </a:p>
        </p:txBody>
      </p:sp>
      <p:sp>
        <p:nvSpPr>
          <p:cNvPr id="18" name="TextBox 17"/>
          <p:cNvSpPr txBox="1"/>
          <p:nvPr/>
        </p:nvSpPr>
        <p:spPr>
          <a:xfrm>
            <a:off x="1645920" y="3703320"/>
            <a:ext cx="4206240" cy="530352"/>
          </a:xfrm>
          <a:prstGeom prst="rect">
            <a:avLst/>
          </a:prstGeom>
          <a:noFill/>
        </p:spPr>
        <p:txBody>
          <a:bodyPr wrap="square" anchor="ctr">
            <a:spAutoFit/>
          </a:bodyPr>
          <a:lstStyle/>
          <a:p>
            <a:pPr algn="l"/>
            <a:r>
              <a:rPr sz="1800" b="1" i="0">
                <a:solidFill>
                  <a:srgbClr val="00323F"/>
                </a:solidFill>
                <a:latin typeface="+mn-lt"/>
              </a:rPr>
              <a:t>Colombia</a:t>
            </a:r>
          </a:p>
        </p:txBody>
      </p:sp>
      <p:sp>
        <p:nvSpPr>
          <p:cNvPr id="19" name="TextBox 18"/>
          <p:cNvSpPr txBox="1"/>
          <p:nvPr/>
        </p:nvSpPr>
        <p:spPr>
          <a:xfrm>
            <a:off x="5760720" y="3703320"/>
            <a:ext cx="4206240" cy="530352"/>
          </a:xfrm>
          <a:prstGeom prst="rect">
            <a:avLst/>
          </a:prstGeom>
          <a:noFill/>
        </p:spPr>
        <p:txBody>
          <a:bodyPr wrap="square" anchor="ctr">
            <a:spAutoFit/>
          </a:bodyPr>
          <a:lstStyle/>
          <a:p>
            <a:pPr algn="l"/>
            <a:r>
              <a:rPr sz="1400" b="0" i="0">
                <a:solidFill>
                  <a:srgbClr val="595959"/>
                </a:solidFill>
                <a:latin typeface="+mn-lt"/>
              </a:rPr>
              <a:t>Emisiones, metas, impuesto y PNCTE</a:t>
            </a:r>
          </a:p>
        </p:txBody>
      </p:sp>
      <p:sp>
        <p:nvSpPr>
          <p:cNvPr id="21" name="Rounded Rectangle 20"/>
          <p:cNvSpPr/>
          <p:nvPr/>
        </p:nvSpPr>
        <p:spPr>
          <a:xfrm>
            <a:off x="841248" y="4325112"/>
            <a:ext cx="10515600" cy="603503"/>
          </a:xfrm>
          <a:prstGeom prst="roundRect">
            <a:avLst>
              <a:gd name="adj" fmla="val 6000"/>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5840" y="4398264"/>
            <a:ext cx="457200" cy="45720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88A3A"/>
                </a:solidFill>
                <a:latin typeface="+mj-lt"/>
              </a:rPr>
              <a:t>5</a:t>
            </a:r>
          </a:p>
        </p:txBody>
      </p:sp>
      <p:sp>
        <p:nvSpPr>
          <p:cNvPr id="23" name="TextBox 22"/>
          <p:cNvSpPr txBox="1"/>
          <p:nvPr/>
        </p:nvSpPr>
        <p:spPr>
          <a:xfrm>
            <a:off x="1645920" y="4361688"/>
            <a:ext cx="4206240" cy="530352"/>
          </a:xfrm>
          <a:prstGeom prst="rect">
            <a:avLst/>
          </a:prstGeom>
          <a:noFill/>
        </p:spPr>
        <p:txBody>
          <a:bodyPr wrap="square" anchor="ctr">
            <a:spAutoFit/>
          </a:bodyPr>
          <a:lstStyle/>
          <a:p>
            <a:pPr algn="l"/>
            <a:r>
              <a:rPr sz="1800" b="1" i="0">
                <a:solidFill>
                  <a:srgbClr val="00323F"/>
                </a:solidFill>
                <a:latin typeface="+mn-lt"/>
              </a:rPr>
              <a:t>Casos</a:t>
            </a:r>
          </a:p>
        </p:txBody>
      </p:sp>
      <p:sp>
        <p:nvSpPr>
          <p:cNvPr id="24" name="TextBox 23"/>
          <p:cNvSpPr txBox="1"/>
          <p:nvPr/>
        </p:nvSpPr>
        <p:spPr>
          <a:xfrm>
            <a:off x="5760720" y="4361688"/>
            <a:ext cx="4206240" cy="530352"/>
          </a:xfrm>
          <a:prstGeom prst="rect">
            <a:avLst/>
          </a:prstGeom>
          <a:noFill/>
        </p:spPr>
        <p:txBody>
          <a:bodyPr wrap="square" anchor="ctr">
            <a:spAutoFit/>
          </a:bodyPr>
          <a:lstStyle/>
          <a:p>
            <a:pPr algn="l"/>
            <a:r>
              <a:rPr sz="1400" b="0" i="0">
                <a:solidFill>
                  <a:srgbClr val="595959"/>
                </a:solidFill>
                <a:latin typeface="+mn-lt"/>
              </a:rPr>
              <a:t>Ecopetrol y REDD+ en el Pacífico</a:t>
            </a:r>
          </a:p>
        </p:txBody>
      </p:sp>
      <p:sp>
        <p:nvSpPr>
          <p:cNvPr id="26" name="Oval 25"/>
          <p:cNvSpPr/>
          <p:nvPr/>
        </p:nvSpPr>
        <p:spPr>
          <a:xfrm>
            <a:off x="1005840" y="5056631"/>
            <a:ext cx="457200" cy="45720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88A3A"/>
                </a:solidFill>
                <a:latin typeface="+mj-lt"/>
              </a:rPr>
              <a:t>6</a:t>
            </a:r>
          </a:p>
        </p:txBody>
      </p:sp>
      <p:sp>
        <p:nvSpPr>
          <p:cNvPr id="27" name="TextBox 26"/>
          <p:cNvSpPr txBox="1"/>
          <p:nvPr/>
        </p:nvSpPr>
        <p:spPr>
          <a:xfrm>
            <a:off x="1645920" y="5020055"/>
            <a:ext cx="4206240" cy="530352"/>
          </a:xfrm>
          <a:prstGeom prst="rect">
            <a:avLst/>
          </a:prstGeom>
          <a:noFill/>
        </p:spPr>
        <p:txBody>
          <a:bodyPr wrap="square" anchor="ctr">
            <a:spAutoFit/>
          </a:bodyPr>
          <a:lstStyle/>
          <a:p>
            <a:pPr algn="l"/>
            <a:r>
              <a:rPr sz="1800" b="1" i="0">
                <a:solidFill>
                  <a:srgbClr val="00323F"/>
                </a:solidFill>
                <a:latin typeface="+mn-lt"/>
              </a:rPr>
              <a:t>Discusión</a:t>
            </a:r>
          </a:p>
        </p:txBody>
      </p:sp>
      <p:sp>
        <p:nvSpPr>
          <p:cNvPr id="28" name="TextBox 27"/>
          <p:cNvSpPr txBox="1"/>
          <p:nvPr/>
        </p:nvSpPr>
        <p:spPr>
          <a:xfrm>
            <a:off x="5760720" y="5020055"/>
            <a:ext cx="4206240" cy="530352"/>
          </a:xfrm>
          <a:prstGeom prst="rect">
            <a:avLst/>
          </a:prstGeom>
          <a:noFill/>
        </p:spPr>
        <p:txBody>
          <a:bodyPr wrap="square" anchor="ctr">
            <a:spAutoFit/>
          </a:bodyPr>
          <a:lstStyle/>
          <a:p>
            <a:pPr algn="l"/>
            <a:r>
              <a:rPr sz="1400" b="0" i="0">
                <a:solidFill>
                  <a:srgbClr val="595959"/>
                </a:solidFill>
                <a:latin typeface="+mn-lt"/>
              </a:rPr>
              <a:t>Preguntas de diseño de política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921D86F-EC94-89E0-0250-4153E720A08E}"/>
              </a:ext>
            </a:extLst>
          </p:cNvPr>
          <p:cNvSpPr txBox="1"/>
          <p:nvPr/>
        </p:nvSpPr>
        <p:spPr>
          <a:xfrm>
            <a:off x="838139" y="365760"/>
            <a:ext cx="10515600" cy="1188720"/>
          </a:xfrm>
          <a:prstGeom prst="rect">
            <a:avLst/>
          </a:prstGeom>
          <a:noFill/>
        </p:spPr>
        <p:txBody>
          <a:bodyPr wrap="square" rtlCol="0" anchor="ctr">
            <a:spAutoFit/>
          </a:bodyPr>
          <a:lstStyle/>
          <a:p>
            <a:pPr algn="l"/>
            <a:r>
              <a:rPr lang="es-CO" sz="3600" b="0" i="0" dirty="0">
                <a:solidFill>
                  <a:schemeClr val="tx1"/>
                </a:solidFill>
                <a:latin typeface="+mj-lt" panose="020B0604020202020204" pitchFamily="34" charset="0"/>
              </a:rPr>
              <a:t>¿Qué creen que significa esto?</a:t>
            </a:r>
            <a:endParaRPr lang="es-CO" sz="3600" b="1" dirty="0">
              <a:solidFill>
                <a:srgbClr val="00323F"/>
              </a:solidFill>
              <a:latin typeface="+mj-lt" panose="020B0604020202020204" pitchFamily="34" charset="0"/>
            </a:endParaRPr>
          </a:p>
        </p:txBody>
      </p:sp>
      <p:sp>
        <p:nvSpPr>
          <p:cNvPr id="4" name="CuadroTexto 3">
            <a:extLst>
              <a:ext uri="{FF2B5EF4-FFF2-40B4-BE49-F238E27FC236}">
                <a16:creationId xmlns:a16="http://schemas.microsoft.com/office/drawing/2014/main" id="{48352273-0437-93CC-69C8-9A9632116DEA}"/>
              </a:ext>
            </a:extLst>
          </p:cNvPr>
          <p:cNvSpPr txBox="1"/>
          <p:nvPr/>
        </p:nvSpPr>
        <p:spPr>
          <a:xfrm>
            <a:off x="857003" y="2228671"/>
            <a:ext cx="5154551" cy="4154984"/>
          </a:xfrm>
          <a:prstGeom prst="rect">
            <a:avLst/>
          </a:prstGeom>
          <a:noFill/>
        </p:spPr>
        <p:txBody>
          <a:bodyPr wrap="square" rtlCol="0">
            <a:spAutoFit/>
          </a:bodyPr>
          <a:lstStyle/>
          <a:p>
            <a:pPr marL="342900" indent="-342900">
              <a:buFont typeface="Arial" panose="020B0604020202020204" pitchFamily="34" charset="0"/>
              <a:buChar char="•"/>
            </a:pPr>
            <a:r>
              <a:rPr lang="es-419" sz="2400" b="1" dirty="0">
                <a:solidFill>
                  <a:srgbClr val="00323F"/>
                </a:solidFill>
                <a:latin typeface="+mn-lt" panose="020B0604020202020204" pitchFamily="34" charset="0"/>
              </a:rPr>
              <a:t>GEI</a:t>
            </a:r>
          </a:p>
          <a:p>
            <a:pPr marL="342900" indent="-342900">
              <a:buFont typeface="Arial" panose="020B0604020202020204" pitchFamily="34" charset="0"/>
              <a:buChar char="•"/>
            </a:pPr>
            <a:r>
              <a:rPr lang="es-419" sz="2400" b="1" dirty="0">
                <a:solidFill>
                  <a:srgbClr val="00323F"/>
                </a:solidFill>
                <a:latin typeface="+mn-lt" panose="020B0604020202020204" pitchFamily="34" charset="0"/>
              </a:rPr>
              <a:t>NDC </a:t>
            </a:r>
          </a:p>
          <a:p>
            <a:pPr marL="342900" indent="-342900">
              <a:buFont typeface="Arial" panose="020B0604020202020204" pitchFamily="34" charset="0"/>
              <a:buChar char="•"/>
            </a:pPr>
            <a:r>
              <a:rPr lang="en-CO" sz="2400" b="1" dirty="0">
                <a:solidFill>
                  <a:srgbClr val="00323F"/>
                </a:solidFill>
                <a:latin typeface="+mn-lt" panose="020B0604020202020204" pitchFamily="34" charset="0"/>
              </a:rPr>
              <a:t>SISCLIMA</a:t>
            </a:r>
          </a:p>
          <a:p>
            <a:pPr marL="342900" indent="-342900">
              <a:buFont typeface="Arial" panose="020B0604020202020204" pitchFamily="34" charset="0"/>
              <a:buChar char="•"/>
            </a:pPr>
            <a:r>
              <a:rPr lang="es-419" sz="2400" b="1" dirty="0">
                <a:solidFill>
                  <a:srgbClr val="00323F"/>
                </a:solidFill>
                <a:latin typeface="+mn-lt" panose="020B0604020202020204" pitchFamily="34" charset="0"/>
              </a:rPr>
              <a:t>COP</a:t>
            </a:r>
            <a:endParaRPr lang="en-CO" sz="2400" b="1" dirty="0">
              <a:solidFill>
                <a:srgbClr val="00323F"/>
              </a:solidFill>
              <a:latin typeface="+mn-lt" panose="020B0604020202020204" pitchFamily="34" charset="0"/>
            </a:endParaRPr>
          </a:p>
          <a:p>
            <a:pPr marL="342900" indent="-342900">
              <a:buFont typeface="Arial" panose="020B0604020202020204" pitchFamily="34" charset="0"/>
              <a:buChar char="•"/>
            </a:pPr>
            <a:r>
              <a:rPr lang="en-CO" sz="2400" b="1" dirty="0">
                <a:solidFill>
                  <a:srgbClr val="00323F"/>
                </a:solidFill>
                <a:latin typeface="+mn-lt" panose="020B0604020202020204" pitchFamily="34" charset="0"/>
              </a:rPr>
              <a:t>RENARE </a:t>
            </a:r>
          </a:p>
          <a:p>
            <a:pPr marL="342900" indent="-342900">
              <a:buFont typeface="Arial" panose="020B0604020202020204" pitchFamily="34" charset="0"/>
              <a:buChar char="•"/>
            </a:pPr>
            <a:r>
              <a:rPr lang="en-US" sz="2400" b="1" dirty="0">
                <a:solidFill>
                  <a:srgbClr val="00323F"/>
                </a:solidFill>
                <a:latin typeface="+mn-lt" panose="020B0604020202020204" pitchFamily="34" charset="0"/>
              </a:rPr>
              <a:t>PNCTE</a:t>
            </a:r>
            <a:endParaRPr lang="en-CO" sz="2400" b="1" dirty="0">
              <a:solidFill>
                <a:srgbClr val="00323F"/>
              </a:solidFill>
              <a:latin typeface="+mn-lt" panose="020B0604020202020204" pitchFamily="34" charset="0"/>
            </a:endParaRPr>
          </a:p>
          <a:p>
            <a:pPr marL="342900" indent="-342900">
              <a:buFont typeface="Arial" panose="020B0604020202020204" pitchFamily="34" charset="0"/>
              <a:buChar char="•"/>
            </a:pPr>
            <a:endParaRPr lang="en-CO" sz="2400" b="1" dirty="0">
              <a:solidFill>
                <a:srgbClr val="00323F"/>
              </a:solidFill>
              <a:latin typeface="+mn-lt" panose="020B0604020202020204" pitchFamily="34" charset="0"/>
            </a:endParaRPr>
          </a:p>
          <a:p>
            <a:pPr marL="342900" indent="-342900">
              <a:buFont typeface="Arial" panose="020B0604020202020204" pitchFamily="34" charset="0"/>
              <a:buChar char="•"/>
            </a:pPr>
            <a:r>
              <a:rPr lang="en-CO" sz="2400" b="1" dirty="0">
                <a:solidFill>
                  <a:srgbClr val="00323F"/>
                </a:solidFill>
                <a:latin typeface="+mn-lt" panose="020B0604020202020204" pitchFamily="34" charset="0"/>
              </a:rPr>
              <a:t>Carbono Neutralidad</a:t>
            </a:r>
          </a:p>
          <a:p>
            <a:pPr marL="342900" indent="-342900">
              <a:buFont typeface="Arial" panose="020B0604020202020204" pitchFamily="34" charset="0"/>
              <a:buChar char="•"/>
            </a:pPr>
            <a:r>
              <a:rPr lang="en-CO" sz="2400" b="1" dirty="0">
                <a:solidFill>
                  <a:srgbClr val="00323F"/>
                </a:solidFill>
                <a:latin typeface="+mn-lt" panose="020B0604020202020204" pitchFamily="34" charset="0"/>
              </a:rPr>
              <a:t>Línea Base de Emisiones</a:t>
            </a:r>
          </a:p>
          <a:p>
            <a:pPr marL="342900" indent="-342900">
              <a:buFont typeface="Arial" panose="020B0604020202020204" pitchFamily="34" charset="0"/>
              <a:buChar char="•"/>
            </a:pPr>
            <a:r>
              <a:rPr lang="en-CO" sz="2400" b="1" dirty="0">
                <a:solidFill>
                  <a:srgbClr val="00323F"/>
                </a:solidFill>
                <a:latin typeface="+mn-lt" panose="020B0604020202020204" pitchFamily="34" charset="0"/>
              </a:rPr>
              <a:t>Adicionalidad</a:t>
            </a:r>
            <a:endParaRPr lang="es-CO" sz="2400" b="1" dirty="0">
              <a:solidFill>
                <a:srgbClr val="00323F"/>
              </a:solidFill>
              <a:latin typeface="+mj-lt" panose="020B0604020202020204" pitchFamily="34" charset="0"/>
            </a:endParaRPr>
          </a:p>
          <a:p>
            <a:endParaRPr lang="es-CO" sz="2400" b="1" dirty="0">
              <a:solidFill>
                <a:srgbClr val="00323F"/>
              </a:solidFill>
              <a:latin typeface="+mj-lt" panose="020B060402020202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AF7F396-DB44-2C78-C39D-B74D3454769E}"/>
                  </a:ext>
                </a:extLst>
              </p:cNvPr>
              <p:cNvSpPr txBox="1"/>
              <p:nvPr/>
            </p:nvSpPr>
            <p:spPr>
              <a:xfrm>
                <a:off x="8159694" y="2228671"/>
                <a:ext cx="1898779" cy="1200329"/>
              </a:xfrm>
              <a:prstGeom prst="rect">
                <a:avLst/>
              </a:prstGeom>
              <a:noFill/>
            </p:spPr>
            <p:txBody>
              <a:bodyPr wrap="square">
                <a:spAutoFit/>
              </a:bodyPr>
              <a:lstStyle/>
              <a:p>
                <a:pPr/>
                <a14:m>
                  <m:oMathPara xmlns:m="http://schemas.openxmlformats.org/officeDocument/2006/math">
                    <m:oMath>
                      <m:r>
                        <a:rPr lang="es-CO" sz="2400" b="1" i="1" dirty="0" smtClean="0">
                          <a:solidFill>
                            <a:srgbClr val="00323F"/>
                          </a:solidFill>
                          <a:latin typeface="Cambria Math" panose="02040503050406030204" pitchFamily="18" charset="0"/>
                        </a:rPr>
                        <m:t>𝑪</m:t>
                      </m:r>
                      <m:sSub>
                        <m:sSubPr>
                          <m:ctrlPr>
                            <a:rPr lang="es-CO" sz="2400" b="1" i="1" dirty="0" smtClean="0">
                              <a:solidFill>
                                <a:srgbClr val="00323F"/>
                              </a:solidFill>
                              <a:latin typeface="Cambria Math" panose="02040503050406030204" pitchFamily="18" charset="0"/>
                            </a:rPr>
                          </m:ctrlPr>
                        </m:sSubPr>
                        <m:e>
                          <m:r>
                            <a:rPr lang="es-CO" sz="2400" b="1" i="1" dirty="0" smtClean="0">
                              <a:solidFill>
                                <a:srgbClr val="00323F"/>
                              </a:solidFill>
                              <a:latin typeface="Cambria Math" panose="02040503050406030204" pitchFamily="18" charset="0"/>
                            </a:rPr>
                            <m:t>𝑶</m:t>
                          </m:r>
                        </m:e>
                        <m:sub>
                          <m:r>
                            <a:rPr lang="es-CO" sz="2400" b="1" i="1" dirty="0" smtClean="0">
                              <a:solidFill>
                                <a:srgbClr val="00323F"/>
                              </a:solidFill>
                              <a:latin typeface="Cambria Math" panose="02040503050406030204" pitchFamily="18" charset="0"/>
                            </a:rPr>
                            <m:t>𝟐</m:t>
                          </m:r>
                        </m:sub>
                      </m:sSub>
                    </m:oMath>
                  </m:oMathPara>
                </a14:m>
                <a:endParaRPr lang="en-CO" sz="1800" dirty="0"/>
              </a:p>
              <a:p>
                <a:pPr/>
                <a14:m>
                  <m:oMathPara xmlns:m="http://schemas.openxmlformats.org/officeDocument/2006/math">
                    <m:oMath>
                      <m:r>
                        <a:rPr lang="es-CO" sz="2400" b="1" i="1" dirty="0">
                          <a:solidFill>
                            <a:srgbClr val="00323F"/>
                          </a:solidFill>
                          <a:latin typeface="Cambria Math" panose="02040503050406030204" pitchFamily="18" charset="0"/>
                        </a:rPr>
                        <m:t>𝑪</m:t>
                      </m:r>
                      <m:sSub>
                        <m:sSubPr>
                          <m:ctrlPr>
                            <a:rPr lang="es-CO" sz="2400" b="1" i="1" dirty="0" smtClean="0">
                              <a:solidFill>
                                <a:srgbClr val="00323F"/>
                              </a:solidFill>
                              <a:latin typeface="Cambria Math" panose="02040503050406030204" pitchFamily="18" charset="0"/>
                            </a:rPr>
                          </m:ctrlPr>
                        </m:sSubPr>
                        <m:e>
                          <m:r>
                            <a:rPr lang="es-CO" sz="2400" b="1" i="1" dirty="0" smtClean="0">
                              <a:solidFill>
                                <a:srgbClr val="00323F"/>
                              </a:solidFill>
                              <a:latin typeface="Cambria Math" panose="02040503050406030204" pitchFamily="18" charset="0"/>
                            </a:rPr>
                            <m:t>𝑯</m:t>
                          </m:r>
                        </m:e>
                        <m:sub>
                          <m:r>
                            <a:rPr lang="es-CO" sz="2400" b="1" i="1" dirty="0" smtClean="0">
                              <a:solidFill>
                                <a:srgbClr val="00323F"/>
                              </a:solidFill>
                              <a:latin typeface="Cambria Math" panose="02040503050406030204" pitchFamily="18" charset="0"/>
                            </a:rPr>
                            <m:t>𝟒</m:t>
                          </m:r>
                        </m:sub>
                      </m:sSub>
                    </m:oMath>
                  </m:oMathPara>
                </a14:m>
                <a:endParaRPr lang="en-CO" sz="2400" b="1" i="1" dirty="0">
                  <a:solidFill>
                    <a:srgbClr val="00323F"/>
                  </a:solidFill>
                  <a:latin typeface="+mn-lt" panose="020B0604020202020204" pitchFamily="34" charset="0"/>
                </a:endParaRPr>
              </a:p>
              <a:p>
                <a:pPr/>
                <a14:m>
                  <m:oMathPara xmlns:m="http://schemas.openxmlformats.org/officeDocument/2006/math">
                    <m:oMath>
                      <m:r>
                        <a:rPr lang="es-CO" sz="2400" b="1" i="1" dirty="0" smtClean="0">
                          <a:solidFill>
                            <a:srgbClr val="00323F"/>
                          </a:solidFill>
                          <a:latin typeface="Cambria Math" panose="02040503050406030204" pitchFamily="18" charset="0"/>
                        </a:rPr>
                        <m:t>𝑺</m:t>
                      </m:r>
                      <m:sSub>
                        <m:sSubPr>
                          <m:ctrlPr>
                            <a:rPr lang="es-CO" sz="2400" b="1" i="1" dirty="0" smtClean="0">
                              <a:solidFill>
                                <a:srgbClr val="00323F"/>
                              </a:solidFill>
                              <a:latin typeface="Cambria Math" panose="02040503050406030204" pitchFamily="18" charset="0"/>
                            </a:rPr>
                          </m:ctrlPr>
                        </m:sSubPr>
                        <m:e>
                          <m:r>
                            <a:rPr lang="es-CO" sz="2400" b="1" i="1" dirty="0" smtClean="0">
                              <a:solidFill>
                                <a:srgbClr val="00323F"/>
                              </a:solidFill>
                              <a:latin typeface="Cambria Math" panose="02040503050406030204" pitchFamily="18" charset="0"/>
                            </a:rPr>
                            <m:t>𝑶</m:t>
                          </m:r>
                        </m:e>
                        <m:sub>
                          <m:r>
                            <a:rPr lang="es-CO" sz="2400" b="1" i="1" dirty="0" smtClean="0">
                              <a:solidFill>
                                <a:srgbClr val="00323F"/>
                              </a:solidFill>
                              <a:latin typeface="Cambria Math" panose="02040503050406030204" pitchFamily="18" charset="0"/>
                            </a:rPr>
                            <m:t>𝒙</m:t>
                          </m:r>
                        </m:sub>
                      </m:sSub>
                    </m:oMath>
                  </m:oMathPara>
                </a14:m>
                <a:endParaRPr lang="es-419" sz="2400" b="1" i="1" dirty="0">
                  <a:solidFill>
                    <a:srgbClr val="00323F"/>
                  </a:solidFill>
                  <a:latin typeface="+mn-lt" panose="020B0604020202020204" pitchFamily="34" charset="0"/>
                </a:endParaRPr>
              </a:p>
            </p:txBody>
          </p:sp>
        </mc:Choice>
        <mc:Fallback xmlns="">
          <p:sp>
            <p:nvSpPr>
              <p:cNvPr id="10" name="TextBox 9">
                <a:extLst>
                  <a:ext uri="{FF2B5EF4-FFF2-40B4-BE49-F238E27FC236}">
                    <a16:creationId xmlns:a16="http://schemas.microsoft.com/office/drawing/2014/main" id="{CAF7F396-DB44-2C78-C39D-B74D3454769E}"/>
                  </a:ext>
                </a:extLst>
              </p:cNvPr>
              <p:cNvSpPr txBox="1">
                <a:spLocks noRot="1" noChangeAspect="1" noMove="1" noResize="1" noEditPoints="1" noAdjustHandles="1" noChangeArrowheads="1" noChangeShapeType="1" noTextEdit="1"/>
              </p:cNvSpPr>
              <p:nvPr/>
            </p:nvSpPr>
            <p:spPr>
              <a:xfrm>
                <a:off x="8159694" y="2228671"/>
                <a:ext cx="1898779" cy="1200329"/>
              </a:xfrm>
              <a:prstGeom prst="rect">
                <a:avLst/>
              </a:prstGeom>
              <a:blipFill>
                <a:blip r:embed="rId4"/>
                <a:stretch>
                  <a:fillRect/>
                </a:stretch>
              </a:blipFill>
            </p:spPr>
            <p:txBody>
              <a:bodyPr/>
              <a:lstStyle/>
              <a:p>
                <a:r>
                  <a:rPr lang="es-ES_tradnl">
                    <a:noFill/>
                  </a:rPr>
                  <a:t> </a:t>
                </a:r>
              </a:p>
            </p:txBody>
          </p:sp>
        </mc:Fallback>
      </mc:AlternateContent>
      <p:sp>
        <p:nvSpPr>
          <p:cNvPr id="12" name="TextBox 11">
            <a:extLst>
              <a:ext uri="{FF2B5EF4-FFF2-40B4-BE49-F238E27FC236}">
                <a16:creationId xmlns:a16="http://schemas.microsoft.com/office/drawing/2014/main" id="{F374AC6C-D9DC-409F-F1AE-8BA66371EB9A}"/>
              </a:ext>
            </a:extLst>
          </p:cNvPr>
          <p:cNvSpPr txBox="1"/>
          <p:nvPr/>
        </p:nvSpPr>
        <p:spPr>
          <a:xfrm>
            <a:off x="2066804" y="2659558"/>
            <a:ext cx="6092890" cy="338554"/>
          </a:xfrm>
          <a:prstGeom prst="rect">
            <a:avLst/>
          </a:prstGeom>
          <a:noFill/>
        </p:spPr>
        <p:txBody>
          <a:bodyPr wrap="square">
            <a:spAutoFit/>
          </a:bodyPr>
          <a:lstStyle/>
          <a:p>
            <a:r>
              <a:rPr lang="en-CO" sz="1600" dirty="0">
                <a:solidFill>
                  <a:srgbClr val="595959"/>
                </a:solidFill>
                <a:latin typeface="+mn-lt"/>
              </a:rPr>
              <a:t>Contribución Determinada a Nivel Nacional</a:t>
            </a:r>
          </a:p>
        </p:txBody>
      </p:sp>
      <p:sp>
        <p:nvSpPr>
          <p:cNvPr id="13" name="TextBox 12">
            <a:extLst>
              <a:ext uri="{FF2B5EF4-FFF2-40B4-BE49-F238E27FC236}">
                <a16:creationId xmlns:a16="http://schemas.microsoft.com/office/drawing/2014/main" id="{FF80DBF6-7CD5-014F-2BCA-86F5F00D94B5}"/>
              </a:ext>
            </a:extLst>
          </p:cNvPr>
          <p:cNvSpPr txBox="1"/>
          <p:nvPr/>
        </p:nvSpPr>
        <p:spPr>
          <a:xfrm>
            <a:off x="1906904" y="2325792"/>
            <a:ext cx="6092890" cy="338554"/>
          </a:xfrm>
          <a:prstGeom prst="rect">
            <a:avLst/>
          </a:prstGeom>
          <a:noFill/>
        </p:spPr>
        <p:txBody>
          <a:bodyPr wrap="square">
            <a:spAutoFit/>
          </a:bodyPr>
          <a:lstStyle/>
          <a:p>
            <a:r>
              <a:rPr lang="en-CO" sz="1600" dirty="0">
                <a:solidFill>
                  <a:srgbClr val="595959"/>
                </a:solidFill>
                <a:latin typeface="+mn-lt"/>
              </a:rPr>
              <a:t>Gases de Efecto Invernadero</a:t>
            </a:r>
          </a:p>
        </p:txBody>
      </p:sp>
      <p:sp>
        <p:nvSpPr>
          <p:cNvPr id="15" name="TextBox 14">
            <a:extLst>
              <a:ext uri="{FF2B5EF4-FFF2-40B4-BE49-F238E27FC236}">
                <a16:creationId xmlns:a16="http://schemas.microsoft.com/office/drawing/2014/main" id="{941C09C8-CDA9-48B7-FD0F-197B8BD5D504}"/>
              </a:ext>
            </a:extLst>
          </p:cNvPr>
          <p:cNvSpPr txBox="1"/>
          <p:nvPr/>
        </p:nvSpPr>
        <p:spPr>
          <a:xfrm>
            <a:off x="2894669" y="2993324"/>
            <a:ext cx="6092890" cy="338554"/>
          </a:xfrm>
          <a:prstGeom prst="rect">
            <a:avLst/>
          </a:prstGeom>
          <a:noFill/>
        </p:spPr>
        <p:txBody>
          <a:bodyPr wrap="square">
            <a:spAutoFit/>
          </a:bodyPr>
          <a:lstStyle/>
          <a:p>
            <a:r>
              <a:rPr lang="en-CO" sz="1600" dirty="0">
                <a:solidFill>
                  <a:srgbClr val="595959"/>
                </a:solidFill>
                <a:latin typeface="+mn-lt"/>
              </a:rPr>
              <a:t>Sistema Nacional de Cambio Climático</a:t>
            </a:r>
          </a:p>
        </p:txBody>
      </p:sp>
      <p:sp>
        <p:nvSpPr>
          <p:cNvPr id="17" name="TextBox 16">
            <a:extLst>
              <a:ext uri="{FF2B5EF4-FFF2-40B4-BE49-F238E27FC236}">
                <a16:creationId xmlns:a16="http://schemas.microsoft.com/office/drawing/2014/main" id="{F88317B1-6A77-90E3-4D50-C72F06EB2931}"/>
              </a:ext>
            </a:extLst>
          </p:cNvPr>
          <p:cNvSpPr txBox="1"/>
          <p:nvPr/>
        </p:nvSpPr>
        <p:spPr>
          <a:xfrm>
            <a:off x="2066804" y="3374351"/>
            <a:ext cx="6092890" cy="338554"/>
          </a:xfrm>
          <a:prstGeom prst="rect">
            <a:avLst/>
          </a:prstGeom>
          <a:noFill/>
        </p:spPr>
        <p:txBody>
          <a:bodyPr wrap="square">
            <a:spAutoFit/>
          </a:bodyPr>
          <a:lstStyle/>
          <a:p>
            <a:pPr rtl="0">
              <a:spcBef>
                <a:spcPts val="1000"/>
              </a:spcBef>
              <a:buNone/>
            </a:pPr>
            <a:r>
              <a:rPr lang="en-CO" sz="1600" dirty="0">
                <a:solidFill>
                  <a:srgbClr val="595959"/>
                </a:solidFill>
                <a:latin typeface="+mn-lt"/>
              </a:rPr>
              <a:t>Conference of Parties</a:t>
            </a:r>
          </a:p>
        </p:txBody>
      </p:sp>
      <p:sp>
        <p:nvSpPr>
          <p:cNvPr id="19" name="TextBox 18">
            <a:extLst>
              <a:ext uri="{FF2B5EF4-FFF2-40B4-BE49-F238E27FC236}">
                <a16:creationId xmlns:a16="http://schemas.microsoft.com/office/drawing/2014/main" id="{0C02B43E-2675-2DB9-13F6-8A38595D0820}"/>
              </a:ext>
            </a:extLst>
          </p:cNvPr>
          <p:cNvSpPr txBox="1"/>
          <p:nvPr/>
        </p:nvSpPr>
        <p:spPr>
          <a:xfrm>
            <a:off x="2579915" y="3759956"/>
            <a:ext cx="6092890" cy="338554"/>
          </a:xfrm>
          <a:prstGeom prst="rect">
            <a:avLst/>
          </a:prstGeom>
          <a:noFill/>
        </p:spPr>
        <p:txBody>
          <a:bodyPr wrap="square">
            <a:spAutoFit/>
          </a:bodyPr>
          <a:lstStyle/>
          <a:p>
            <a:pPr>
              <a:spcBef>
                <a:spcPts val="1000"/>
              </a:spcBef>
            </a:pPr>
            <a:r>
              <a:rPr lang="en-CO" sz="1600" dirty="0">
                <a:solidFill>
                  <a:srgbClr val="595959"/>
                </a:solidFill>
                <a:latin typeface="+mn-lt"/>
              </a:rPr>
              <a:t>Registro Nacional de Reducción de Emisiones de GEI</a:t>
            </a:r>
          </a:p>
        </p:txBody>
      </p:sp>
      <p:sp>
        <p:nvSpPr>
          <p:cNvPr id="21" name="TextBox 20">
            <a:extLst>
              <a:ext uri="{FF2B5EF4-FFF2-40B4-BE49-F238E27FC236}">
                <a16:creationId xmlns:a16="http://schemas.microsoft.com/office/drawing/2014/main" id="{BACDFCFC-66C6-AB4F-1E99-8D1315DC9FD0}"/>
              </a:ext>
            </a:extLst>
          </p:cNvPr>
          <p:cNvSpPr txBox="1"/>
          <p:nvPr/>
        </p:nvSpPr>
        <p:spPr>
          <a:xfrm>
            <a:off x="2411963" y="4133432"/>
            <a:ext cx="6092890" cy="338554"/>
          </a:xfrm>
          <a:prstGeom prst="rect">
            <a:avLst/>
          </a:prstGeom>
          <a:noFill/>
        </p:spPr>
        <p:txBody>
          <a:bodyPr wrap="square">
            <a:spAutoFit/>
          </a:bodyPr>
          <a:lstStyle/>
          <a:p>
            <a:pPr>
              <a:spcBef>
                <a:spcPts val="1000"/>
              </a:spcBef>
            </a:pPr>
            <a:r>
              <a:rPr lang="en-CO" sz="1600" dirty="0">
                <a:solidFill>
                  <a:srgbClr val="595959"/>
                </a:solidFill>
                <a:latin typeface="+mn-lt"/>
              </a:rPr>
              <a:t>Programa Nacional de Cupos Transables de Emisión</a:t>
            </a:r>
          </a:p>
        </p:txBody>
      </p:sp>
    </p:spTree>
    <p:extLst>
      <p:ext uri="{BB962C8B-B14F-4D97-AF65-F5344CB8AC3E}">
        <p14:creationId xmlns:p14="http://schemas.microsoft.com/office/powerpoint/2010/main" val="363134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5" grpId="0"/>
      <p:bldP spid="17" grpId="0"/>
      <p:bldP spid="19"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2697480"/>
            <a:ext cx="10515600" cy="1737360"/>
          </a:xfrm>
        </p:spPr>
        <p:txBody>
          <a:bodyPr anchor="t"/>
          <a:lstStyle/>
          <a:p>
            <a:r>
              <a:rPr sz="5400"/>
              <a:t>Fundamentos económicos</a:t>
            </a:r>
          </a:p>
        </p:txBody>
      </p:sp>
      <p:sp>
        <p:nvSpPr>
          <p:cNvPr id="3" name="TextBox 2"/>
          <p:cNvSpPr txBox="1"/>
          <p:nvPr/>
        </p:nvSpPr>
        <p:spPr>
          <a:xfrm>
            <a:off x="914400" y="2148840"/>
            <a:ext cx="7315200" cy="457200"/>
          </a:xfrm>
          <a:prstGeom prst="rect">
            <a:avLst/>
          </a:prstGeom>
          <a:noFill/>
        </p:spPr>
        <p:txBody>
          <a:bodyPr wrap="square" anchor="t">
            <a:spAutoFit/>
          </a:bodyPr>
          <a:lstStyle/>
          <a:p>
            <a:pPr algn="l"/>
            <a:r>
              <a:rPr sz="2000" b="1" i="0">
                <a:solidFill>
                  <a:srgbClr val="088A3A"/>
                </a:solidFill>
                <a:latin typeface="+mn-lt"/>
              </a:rPr>
              <a:t>Parte 1</a:t>
            </a:r>
            <a:r>
              <a:rPr sz="2000" b="0" i="0">
                <a:solidFill>
                  <a:srgbClr val="595959"/>
                </a:solidFill>
                <a:latin typeface="+mn-lt"/>
              </a:rPr>
              <a:t>  ·  25 min</a:t>
            </a:r>
          </a:p>
        </p:txBody>
      </p:sp>
      <p:sp>
        <p:nvSpPr>
          <p:cNvPr id="4" name="TextBox 3"/>
          <p:cNvSpPr txBox="1"/>
          <p:nvPr/>
        </p:nvSpPr>
        <p:spPr>
          <a:xfrm>
            <a:off x="914400" y="4434840"/>
            <a:ext cx="9601200" cy="457200"/>
          </a:xfrm>
          <a:prstGeom prst="rect">
            <a:avLst/>
          </a:prstGeom>
          <a:noFill/>
        </p:spPr>
        <p:txBody>
          <a:bodyPr wrap="square" anchor="t">
            <a:spAutoFit/>
          </a:bodyPr>
          <a:lstStyle/>
          <a:p>
            <a:pPr algn="l"/>
            <a:r>
              <a:rPr sz="1800" b="0" i="0">
                <a:solidFill>
                  <a:srgbClr val="595959"/>
                </a:solidFill>
                <a:latin typeface="+mn-lt"/>
              </a:rPr>
              <a:t>Precio vs. cantidad, equimarginalidad, tipos de esquemas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Dos formas de ponerle precio al carbono</a:t>
            </a:r>
          </a:p>
        </p:txBody>
      </p:sp>
      <p:sp>
        <p:nvSpPr>
          <p:cNvPr id="10" name="Rounded Rectangle 9"/>
          <p:cNvSpPr/>
          <p:nvPr/>
        </p:nvSpPr>
        <p:spPr>
          <a:xfrm>
            <a:off x="914400" y="1783080"/>
            <a:ext cx="4983480" cy="310896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133856" y="1911095"/>
            <a:ext cx="1069848" cy="1069848"/>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s12_114.png"/>
          <p:cNvPicPr>
            <a:picLocks noChangeAspect="1"/>
          </p:cNvPicPr>
          <p:nvPr/>
        </p:nvPicPr>
        <p:blipFill>
          <a:blip r:embed="rId3"/>
          <a:stretch>
            <a:fillRect/>
          </a:stretch>
        </p:blipFill>
        <p:spPr>
          <a:xfrm>
            <a:off x="1325880" y="2103120"/>
            <a:ext cx="685800" cy="685800"/>
          </a:xfrm>
          <a:prstGeom prst="rect">
            <a:avLst/>
          </a:prstGeom>
        </p:spPr>
      </p:pic>
      <p:sp>
        <p:nvSpPr>
          <p:cNvPr id="13" name="TextBox 12"/>
          <p:cNvSpPr txBox="1"/>
          <p:nvPr/>
        </p:nvSpPr>
        <p:spPr>
          <a:xfrm>
            <a:off x="2377440" y="2103120"/>
            <a:ext cx="3291840" cy="685800"/>
          </a:xfrm>
          <a:prstGeom prst="rect">
            <a:avLst/>
          </a:prstGeom>
          <a:noFill/>
        </p:spPr>
        <p:txBody>
          <a:bodyPr wrap="square" lIns="45720" rIns="45720" anchor="ctr">
            <a:spAutoFit/>
          </a:bodyPr>
          <a:lstStyle/>
          <a:p>
            <a:pPr algn="l">
              <a:spcAft>
                <a:spcPts val="400"/>
              </a:spcAft>
            </a:pPr>
            <a:r>
              <a:rPr sz="2400" b="1" i="0">
                <a:solidFill>
                  <a:srgbClr val="00323F"/>
                </a:solidFill>
                <a:latin typeface="+mn-lt"/>
              </a:rPr>
              <a:t>Impuesto</a:t>
            </a:r>
          </a:p>
        </p:txBody>
      </p:sp>
      <p:sp>
        <p:nvSpPr>
          <p:cNvPr id="14" name="TextBox 13"/>
          <p:cNvSpPr txBox="1"/>
          <p:nvPr/>
        </p:nvSpPr>
        <p:spPr>
          <a:xfrm>
            <a:off x="1325880" y="3063240"/>
            <a:ext cx="4297680" cy="1737360"/>
          </a:xfrm>
          <a:prstGeom prst="rect">
            <a:avLst/>
          </a:prstGeom>
          <a:noFill/>
        </p:spPr>
        <p:txBody>
          <a:bodyPr wrap="square" lIns="45720" rIns="45720" anchor="t">
            <a:spAutoFit/>
          </a:bodyPr>
          <a:lstStyle/>
          <a:p>
            <a:pPr marL="228600" indent="-228600" algn="l">
              <a:spcAft>
                <a:spcPts val="800"/>
              </a:spcAft>
              <a:buChar char="•"/>
            </a:pPr>
            <a:r>
              <a:rPr sz="1600" b="0" i="0">
                <a:solidFill>
                  <a:srgbClr val="595959"/>
                </a:solidFill>
                <a:latin typeface="+mn-lt"/>
              </a:rPr>
              <a:t>El Estado fija el precio (P)</a:t>
            </a:r>
          </a:p>
          <a:p>
            <a:pPr marL="228600" indent="-228600" algn="l">
              <a:spcAft>
                <a:spcPts val="800"/>
              </a:spcAft>
              <a:buChar char="•"/>
            </a:pPr>
            <a:r>
              <a:rPr sz="1600" b="0" i="0">
                <a:solidFill>
                  <a:srgbClr val="595959"/>
                </a:solidFill>
                <a:latin typeface="+mn-lt"/>
              </a:rPr>
              <a:t>La cantidad emitida (Q) queda incierta</a:t>
            </a:r>
          </a:p>
          <a:p>
            <a:pPr marL="228600" indent="-228600" algn="l">
              <a:spcAft>
                <a:spcPts val="800"/>
              </a:spcAft>
              <a:buChar char="•"/>
            </a:pPr>
            <a:r>
              <a:rPr sz="1600" b="0" i="0">
                <a:solidFill>
                  <a:srgbClr val="595959"/>
                </a:solidFill>
                <a:latin typeface="+mn-lt"/>
              </a:rPr>
              <a:t>En Colombia: impuesto nacional al carbono (desde 2017)</a:t>
            </a:r>
          </a:p>
        </p:txBody>
      </p:sp>
      <p:sp>
        <p:nvSpPr>
          <p:cNvPr id="15" name="Rounded Rectangle 14"/>
          <p:cNvSpPr/>
          <p:nvPr/>
        </p:nvSpPr>
        <p:spPr>
          <a:xfrm>
            <a:off x="6263640" y="1783080"/>
            <a:ext cx="4983480" cy="310896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83096" y="1911095"/>
            <a:ext cx="1069848" cy="1069848"/>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s12_168.png"/>
          <p:cNvPicPr>
            <a:picLocks noChangeAspect="1"/>
          </p:cNvPicPr>
          <p:nvPr/>
        </p:nvPicPr>
        <p:blipFill>
          <a:blip r:embed="rId4"/>
          <a:stretch>
            <a:fillRect/>
          </a:stretch>
        </p:blipFill>
        <p:spPr>
          <a:xfrm>
            <a:off x="6675120" y="2103120"/>
            <a:ext cx="685800" cy="685800"/>
          </a:xfrm>
          <a:prstGeom prst="rect">
            <a:avLst/>
          </a:prstGeom>
        </p:spPr>
      </p:pic>
      <p:sp>
        <p:nvSpPr>
          <p:cNvPr id="18" name="TextBox 17"/>
          <p:cNvSpPr txBox="1"/>
          <p:nvPr/>
        </p:nvSpPr>
        <p:spPr>
          <a:xfrm>
            <a:off x="7726679" y="2103120"/>
            <a:ext cx="3291840" cy="685800"/>
          </a:xfrm>
          <a:prstGeom prst="rect">
            <a:avLst/>
          </a:prstGeom>
          <a:noFill/>
        </p:spPr>
        <p:txBody>
          <a:bodyPr wrap="square" lIns="45720" rIns="45720" anchor="ctr">
            <a:spAutoFit/>
          </a:bodyPr>
          <a:lstStyle/>
          <a:p>
            <a:pPr algn="l">
              <a:spcAft>
                <a:spcPts val="400"/>
              </a:spcAft>
            </a:pPr>
            <a:r>
              <a:rPr sz="2400" b="1" i="0">
                <a:solidFill>
                  <a:srgbClr val="088A3A"/>
                </a:solidFill>
                <a:latin typeface="+mn-lt"/>
              </a:rPr>
              <a:t>Cap and trade</a:t>
            </a:r>
          </a:p>
        </p:txBody>
      </p:sp>
      <p:sp>
        <p:nvSpPr>
          <p:cNvPr id="19" name="TextBox 18"/>
          <p:cNvSpPr txBox="1"/>
          <p:nvPr/>
        </p:nvSpPr>
        <p:spPr>
          <a:xfrm>
            <a:off x="6675120" y="3063240"/>
            <a:ext cx="4297680" cy="1737360"/>
          </a:xfrm>
          <a:prstGeom prst="rect">
            <a:avLst/>
          </a:prstGeom>
          <a:noFill/>
        </p:spPr>
        <p:txBody>
          <a:bodyPr wrap="square" lIns="45720" rIns="45720" anchor="t">
            <a:spAutoFit/>
          </a:bodyPr>
          <a:lstStyle/>
          <a:p>
            <a:pPr marL="228600" indent="-228600" algn="l">
              <a:spcAft>
                <a:spcPts val="800"/>
              </a:spcAft>
              <a:buChar char="•"/>
            </a:pPr>
            <a:r>
              <a:rPr sz="1600" b="0" i="0" dirty="0">
                <a:solidFill>
                  <a:srgbClr val="595959"/>
                </a:solidFill>
                <a:latin typeface="+mn-lt"/>
              </a:rPr>
              <a:t>El Estado </a:t>
            </a:r>
            <a:r>
              <a:rPr sz="1600" b="0" i="0" dirty="0" err="1">
                <a:solidFill>
                  <a:srgbClr val="595959"/>
                </a:solidFill>
                <a:latin typeface="+mn-lt"/>
              </a:rPr>
              <a:t>fija</a:t>
            </a:r>
            <a:r>
              <a:rPr sz="1600" b="0" i="0" dirty="0">
                <a:solidFill>
                  <a:srgbClr val="595959"/>
                </a:solidFill>
                <a:latin typeface="+mn-lt"/>
              </a:rPr>
              <a:t> la </a:t>
            </a:r>
            <a:r>
              <a:rPr sz="1600" b="0" i="0" dirty="0" err="1">
                <a:solidFill>
                  <a:srgbClr val="595959"/>
                </a:solidFill>
                <a:latin typeface="+mn-lt"/>
              </a:rPr>
              <a:t>cantidad</a:t>
            </a:r>
            <a:r>
              <a:rPr sz="1600" b="0" i="0" dirty="0">
                <a:solidFill>
                  <a:srgbClr val="595959"/>
                </a:solidFill>
                <a:latin typeface="+mn-lt"/>
              </a:rPr>
              <a:t> (tope)</a:t>
            </a:r>
          </a:p>
          <a:p>
            <a:pPr marL="228600" indent="-228600" algn="l">
              <a:spcAft>
                <a:spcPts val="800"/>
              </a:spcAft>
              <a:buChar char="•"/>
            </a:pPr>
            <a:r>
              <a:rPr sz="1600" b="0" i="0" dirty="0">
                <a:solidFill>
                  <a:srgbClr val="595959"/>
                </a:solidFill>
                <a:latin typeface="+mn-lt"/>
              </a:rPr>
              <a:t>El </a:t>
            </a:r>
            <a:r>
              <a:rPr sz="1600" b="0" i="0" dirty="0" err="1">
                <a:solidFill>
                  <a:srgbClr val="595959"/>
                </a:solidFill>
                <a:latin typeface="+mn-lt"/>
              </a:rPr>
              <a:t>precio</a:t>
            </a:r>
            <a:r>
              <a:rPr sz="1600" b="0" i="0" dirty="0">
                <a:solidFill>
                  <a:srgbClr val="595959"/>
                </a:solidFill>
                <a:latin typeface="+mn-lt"/>
              </a:rPr>
              <a:t> sale del mercado de </a:t>
            </a:r>
            <a:r>
              <a:rPr sz="1600" b="0" i="0" dirty="0" err="1">
                <a:solidFill>
                  <a:srgbClr val="595959"/>
                </a:solidFill>
                <a:latin typeface="+mn-lt"/>
              </a:rPr>
              <a:t>permisos</a:t>
            </a:r>
            <a:endParaRPr sz="1600" b="0" i="0" dirty="0">
              <a:solidFill>
                <a:srgbClr val="595959"/>
              </a:solidFill>
              <a:latin typeface="+mn-lt"/>
            </a:endParaRPr>
          </a:p>
          <a:p>
            <a:pPr marL="228600" indent="-228600" algn="l">
              <a:spcAft>
                <a:spcPts val="800"/>
              </a:spcAft>
              <a:buChar char="•"/>
            </a:pPr>
            <a:r>
              <a:rPr sz="1600" b="0" i="0" dirty="0">
                <a:solidFill>
                  <a:srgbClr val="595959"/>
                </a:solidFill>
                <a:latin typeface="+mn-lt"/>
              </a:rPr>
              <a:t>En Colombia: PNCTE (</a:t>
            </a:r>
            <a:r>
              <a:rPr sz="1600" b="0" i="0" dirty="0" err="1">
                <a:solidFill>
                  <a:srgbClr val="595959"/>
                </a:solidFill>
                <a:latin typeface="+mn-lt"/>
              </a:rPr>
              <a:t>Decreto</a:t>
            </a:r>
            <a:r>
              <a:rPr sz="1600" b="0" i="0" dirty="0">
                <a:solidFill>
                  <a:srgbClr val="595959"/>
                </a:solidFill>
                <a:latin typeface="+mn-lt"/>
              </a:rPr>
              <a:t> 969 de 2026)</a:t>
            </a:r>
          </a:p>
        </p:txBody>
      </p:sp>
    </p:spTree>
    <p:extLst>
      <p:ext uri="{BB962C8B-B14F-4D97-AF65-F5344CB8AC3E}">
        <p14:creationId xmlns:p14="http://schemas.microsoft.com/office/powerpoint/2010/main" val="59363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F2786-BF79-0CF1-C636-5AABB3F77959}"/>
              </a:ext>
            </a:extLst>
          </p:cNvPr>
          <p:cNvSpPr>
            <a:spLocks noGrp="1"/>
          </p:cNvSpPr>
          <p:nvPr>
            <p:ph type="title"/>
          </p:nvPr>
        </p:nvSpPr>
        <p:spPr/>
        <p:txBody>
          <a:bodyPr/>
          <a:lstStyle/>
          <a:p>
            <a:r>
              <a:rPr lang="en-US" dirty="0" err="1"/>
              <a:t>Comparación con impuestos pigouvianos</a:t>
            </a:r>
            <a:endParaRPr lang="es-ES_tradnl" dirty="0"/>
          </a:p>
        </p:txBody>
      </p:sp>
      <p:graphicFrame>
        <p:nvGraphicFramePr>
          <p:cNvPr id="3" name="Table 2"/>
          <p:cNvGraphicFramePr>
            <a:graphicFrameLocks noGrp="1"/>
          </p:cNvGraphicFramePr>
          <p:nvPr/>
        </p:nvGraphicFramePr>
        <p:xfrm>
          <a:off x="841248" y="1828800"/>
          <a:ext cx="10515600" cy="4282440"/>
        </p:xfrm>
        <a:graphic>
          <a:graphicData uri="http://schemas.openxmlformats.org/drawingml/2006/table">
            <a:tbl>
              <a:tblPr>
                <a:tableStyleId>{5940675A-B579-460E-94D1-54222C63F5DA}</a:tableStyleId>
              </a:tblPr>
              <a:tblGrid>
                <a:gridCol w="28346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411480">
                <a:tc>
                  <a:txBody>
                    <a:bodyPr/>
                    <a:lstStyle/>
                    <a:p>
                      <a:r>
                        <a:rPr sz="1500" b="1">
                          <a:solidFill>
                            <a:srgbClr val="FFFFFF"/>
                          </a:solidFill>
                          <a:latin typeface="+mn-lt"/>
                        </a:rPr>
                        <a:t>Criterio</a:t>
                      </a:r>
                    </a:p>
                  </a:txBody>
                  <a:tcPr marT="36576" marB="36576" anchor="ctr">
                    <a:lnB w="12700">
                      <a:solidFill>
                        <a:srgbClr val="FFFFFF"/>
                      </a:solidFill>
                    </a:lnB>
                    <a:solidFill>
                      <a:srgbClr val="00323F"/>
                    </a:solidFill>
                  </a:tcPr>
                </a:tc>
                <a:tc>
                  <a:txBody>
                    <a:bodyPr/>
                    <a:lstStyle/>
                    <a:p>
                      <a:r>
                        <a:rPr sz="1500" b="1">
                          <a:solidFill>
                            <a:srgbClr val="FFFFFF"/>
                          </a:solidFill>
                          <a:latin typeface="+mn-lt"/>
                        </a:rPr>
                        <a:t>Impuesto pigouviano</a:t>
                      </a:r>
                    </a:p>
                  </a:txBody>
                  <a:tcPr marT="36576" marB="36576" anchor="ctr">
                    <a:lnB w="12700">
                      <a:solidFill>
                        <a:srgbClr val="FFFFFF"/>
                      </a:solidFill>
                    </a:lnB>
                    <a:solidFill>
                      <a:srgbClr val="00323F"/>
                    </a:solidFill>
                  </a:tcPr>
                </a:tc>
                <a:tc>
                  <a:txBody>
                    <a:bodyPr/>
                    <a:lstStyle/>
                    <a:p>
                      <a:r>
                        <a:rPr sz="1500" b="1">
                          <a:solidFill>
                            <a:srgbClr val="FFFFFF"/>
                          </a:solidFill>
                          <a:latin typeface="+mn-lt"/>
                        </a:rPr>
                        <a:t>Cap and trade</a:t>
                      </a:r>
                    </a:p>
                  </a:txBody>
                  <a:tcPr marT="36576" marB="36576" anchor="ctr">
                    <a:lnB w="12700">
                      <a:solidFill>
                        <a:srgbClr val="FFFFFF"/>
                      </a:solidFill>
                    </a:lnB>
                    <a:solidFill>
                      <a:srgbClr val="00323F"/>
                    </a:solidFill>
                  </a:tcPr>
                </a:tc>
                <a:extLst>
                  <a:ext uri="{0D108BD9-81ED-4DB2-BD59-A6C34878D82A}">
                    <a16:rowId xmlns:a16="http://schemas.microsoft.com/office/drawing/2014/main" val="10000"/>
                  </a:ext>
                </a:extLst>
              </a:tr>
              <a:tr h="457200">
                <a:tc>
                  <a:txBody>
                    <a:bodyPr/>
                    <a:lstStyle/>
                    <a:p>
                      <a:r>
                        <a:rPr sz="1400" b="1">
                          <a:solidFill>
                            <a:srgbClr val="00323F"/>
                          </a:solidFill>
                          <a:latin typeface="+mn-lt"/>
                        </a:rPr>
                        <a:t>Variable que fija el gobierno</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tc>
                  <a:txBody>
                    <a:bodyPr/>
                    <a:lstStyle/>
                    <a:p>
                      <a:r>
                        <a:rPr sz="1400" b="0">
                          <a:solidFill>
                            <a:srgbClr val="1F1F1F"/>
                          </a:solidFill>
                          <a:latin typeface="+mn-lt"/>
                        </a:rPr>
                        <a:t>Precio ($/tCO₂)</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tc>
                  <a:txBody>
                    <a:bodyPr/>
                    <a:lstStyle/>
                    <a:p>
                      <a:r>
                        <a:rPr sz="1400" b="0">
                          <a:solidFill>
                            <a:srgbClr val="1F1F1F"/>
                          </a:solidFill>
                          <a:latin typeface="+mn-lt"/>
                        </a:rPr>
                        <a:t>Cantidad (tope de emisiones)</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extLst>
                  <a:ext uri="{0D108BD9-81ED-4DB2-BD59-A6C34878D82A}">
                    <a16:rowId xmlns:a16="http://schemas.microsoft.com/office/drawing/2014/main" val="10001"/>
                  </a:ext>
                </a:extLst>
              </a:tr>
              <a:tr h="457200">
                <a:tc>
                  <a:txBody>
                    <a:bodyPr/>
                    <a:lstStyle/>
                    <a:p>
                      <a:r>
                        <a:rPr sz="1400" b="1">
                          <a:solidFill>
                            <a:srgbClr val="00323F"/>
                          </a:solidFill>
                          <a:latin typeface="+mn-lt"/>
                        </a:rPr>
                        <a:t>Variable que determina el mercado</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tc>
                  <a:txBody>
                    <a:bodyPr/>
                    <a:lstStyle/>
                    <a:p>
                      <a:r>
                        <a:rPr sz="1400" b="0">
                          <a:solidFill>
                            <a:srgbClr val="1F1F1F"/>
                          </a:solidFill>
                          <a:latin typeface="+mn-lt"/>
                        </a:rPr>
                        <a:t>Cantidad total de emisiones</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tc>
                  <a:txBody>
                    <a:bodyPr/>
                    <a:lstStyle/>
                    <a:p>
                      <a:r>
                        <a:rPr sz="1400" b="0">
                          <a:solidFill>
                            <a:srgbClr val="1F1F1F"/>
                          </a:solidFill>
                          <a:latin typeface="+mn-lt"/>
                        </a:rPr>
                        <a:t>Precio del permiso de emisión</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extLst>
                  <a:ext uri="{0D108BD9-81ED-4DB2-BD59-A6C34878D82A}">
                    <a16:rowId xmlns:a16="http://schemas.microsoft.com/office/drawing/2014/main" val="10002"/>
                  </a:ext>
                </a:extLst>
              </a:tr>
              <a:tr h="457200">
                <a:tc>
                  <a:txBody>
                    <a:bodyPr/>
                    <a:lstStyle/>
                    <a:p>
                      <a:r>
                        <a:rPr sz="1400" b="1">
                          <a:solidFill>
                            <a:srgbClr val="00323F"/>
                          </a:solidFill>
                          <a:latin typeface="+mn-lt"/>
                        </a:rPr>
                        <a:t>Certeza ambiental</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tc>
                  <a:txBody>
                    <a:bodyPr/>
                    <a:lstStyle/>
                    <a:p>
                      <a:r>
                        <a:rPr sz="1400" b="1">
                          <a:solidFill>
                            <a:srgbClr val="00323F"/>
                          </a:solidFill>
                          <a:latin typeface="+mn-lt"/>
                        </a:rPr>
                        <a:t>Baja:</a:t>
                      </a:r>
                      <a:r>
                        <a:rPr sz="1400" b="0">
                          <a:solidFill>
                            <a:srgbClr val="1F1F1F"/>
                          </a:solidFill>
                          <a:latin typeface="+mn-lt"/>
                        </a:rPr>
                        <a:t> depende de si la tarifa induce la reducción esperada</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tc>
                  <a:txBody>
                    <a:bodyPr/>
                    <a:lstStyle/>
                    <a:p>
                      <a:r>
                        <a:rPr sz="1400" b="1">
                          <a:solidFill>
                            <a:srgbClr val="00323F"/>
                          </a:solidFill>
                          <a:latin typeface="+mn-lt"/>
                        </a:rPr>
                        <a:t>Alta:</a:t>
                      </a:r>
                      <a:r>
                        <a:rPr sz="1400" b="0">
                          <a:solidFill>
                            <a:srgbClr val="1F1F1F"/>
                          </a:solidFill>
                          <a:latin typeface="+mn-lt"/>
                        </a:rPr>
                        <a:t> el tope de emisiones está fijado por norma</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extLst>
                  <a:ext uri="{0D108BD9-81ED-4DB2-BD59-A6C34878D82A}">
                    <a16:rowId xmlns:a16="http://schemas.microsoft.com/office/drawing/2014/main" val="10003"/>
                  </a:ext>
                </a:extLst>
              </a:tr>
              <a:tr h="457200">
                <a:tc>
                  <a:txBody>
                    <a:bodyPr/>
                    <a:lstStyle/>
                    <a:p>
                      <a:r>
                        <a:rPr sz="1400" b="1">
                          <a:solidFill>
                            <a:srgbClr val="00323F"/>
                          </a:solidFill>
                          <a:latin typeface="+mn-lt"/>
                        </a:rPr>
                        <a:t>Certeza de costos para la industria</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tc>
                  <a:txBody>
                    <a:bodyPr/>
                    <a:lstStyle/>
                    <a:p>
                      <a:r>
                        <a:rPr sz="1400" b="1">
                          <a:solidFill>
                            <a:srgbClr val="00323F"/>
                          </a:solidFill>
                          <a:latin typeface="+mn-lt"/>
                        </a:rPr>
                        <a:t>Alta:</a:t>
                      </a:r>
                      <a:r>
                        <a:rPr sz="1400" b="0">
                          <a:solidFill>
                            <a:srgbClr val="1F1F1F"/>
                          </a:solidFill>
                          <a:latin typeface="+mn-lt"/>
                        </a:rPr>
                        <a:t> el costo marginal se conoce de antemano</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tc>
                  <a:txBody>
                    <a:bodyPr/>
                    <a:lstStyle/>
                    <a:p>
                      <a:r>
                        <a:rPr sz="1400" b="1">
                          <a:solidFill>
                            <a:srgbClr val="00323F"/>
                          </a:solidFill>
                          <a:latin typeface="+mn-lt"/>
                        </a:rPr>
                        <a:t>Baja:</a:t>
                      </a:r>
                      <a:r>
                        <a:rPr sz="1400" b="0">
                          <a:solidFill>
                            <a:srgbClr val="1F1F1F"/>
                          </a:solidFill>
                          <a:latin typeface="+mn-lt"/>
                        </a:rPr>
                        <a:t> el precio del permiso fluctúa con el ciclo económico y la demanda</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extLst>
                  <a:ext uri="{0D108BD9-81ED-4DB2-BD59-A6C34878D82A}">
                    <a16:rowId xmlns:a16="http://schemas.microsoft.com/office/drawing/2014/main" val="10004"/>
                  </a:ext>
                </a:extLst>
              </a:tr>
              <a:tr h="457200">
                <a:tc>
                  <a:txBody>
                    <a:bodyPr/>
                    <a:lstStyle/>
                    <a:p>
                      <a:r>
                        <a:rPr sz="1400" b="1">
                          <a:solidFill>
                            <a:srgbClr val="00323F"/>
                          </a:solidFill>
                          <a:latin typeface="+mn-lt"/>
                        </a:rPr>
                        <a:t>Recaudación fiscal</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tc>
                  <a:txBody>
                    <a:bodyPr/>
                    <a:lstStyle/>
                    <a:p>
                      <a:r>
                        <a:rPr sz="1400" b="0">
                          <a:solidFill>
                            <a:srgbClr val="1F1F1F"/>
                          </a:solidFill>
                          <a:latin typeface="+mn-lt"/>
                        </a:rPr>
                        <a:t>Ingresos fiscales directos para el Estado</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tc>
                  <a:txBody>
                    <a:bodyPr/>
                    <a:lstStyle/>
                    <a:p>
                      <a:r>
                        <a:rPr sz="1400" b="0">
                          <a:solidFill>
                            <a:srgbClr val="1F1F1F"/>
                          </a:solidFill>
                          <a:latin typeface="+mn-lt"/>
                        </a:rPr>
                        <a:t>Solo si los permisos se subastan; no si se asignan gratis (grandfathering)</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extLst>
                  <a:ext uri="{0D108BD9-81ED-4DB2-BD59-A6C34878D82A}">
                    <a16:rowId xmlns:a16="http://schemas.microsoft.com/office/drawing/2014/main" val="10005"/>
                  </a:ext>
                </a:extLst>
              </a:tr>
              <a:tr h="457200">
                <a:tc>
                  <a:txBody>
                    <a:bodyPr/>
                    <a:lstStyle/>
                    <a:p>
                      <a:r>
                        <a:rPr sz="1400" b="1">
                          <a:solidFill>
                            <a:srgbClr val="00323F"/>
                          </a:solidFill>
                          <a:latin typeface="+mn-lt"/>
                        </a:rPr>
                        <a:t>Respuesta a choques económicos</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tc>
                  <a:txBody>
                    <a:bodyPr/>
                    <a:lstStyle/>
                    <a:p>
                      <a:r>
                        <a:rPr sz="1400" b="0">
                          <a:solidFill>
                            <a:srgbClr val="1F1F1F"/>
                          </a:solidFill>
                          <a:latin typeface="+mn-lt"/>
                        </a:rPr>
                        <a:t>En una expansión aumentan las emisiones; el precio no cambia</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tc>
                  <a:txBody>
                    <a:bodyPr/>
                    <a:lstStyle/>
                    <a:p>
                      <a:r>
                        <a:rPr sz="1400" b="0">
                          <a:solidFill>
                            <a:srgbClr val="1F1F1F"/>
                          </a:solidFill>
                          <a:latin typeface="+mn-lt"/>
                        </a:rPr>
                        <a:t>En una expansión sube el precio del permiso; en una recesión cae</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extLst>
                  <a:ext uri="{0D108BD9-81ED-4DB2-BD59-A6C34878D82A}">
                    <a16:rowId xmlns:a16="http://schemas.microsoft.com/office/drawing/2014/main" val="10006"/>
                  </a:ext>
                </a:extLst>
              </a:tr>
              <a:tr h="457200">
                <a:tc>
                  <a:txBody>
                    <a:bodyPr/>
                    <a:lstStyle/>
                    <a:p>
                      <a:r>
                        <a:rPr sz="1400" b="1">
                          <a:solidFill>
                            <a:srgbClr val="00323F"/>
                          </a:solidFill>
                          <a:latin typeface="+mn-lt"/>
                        </a:rPr>
                        <a:t>Simplicidad</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tc>
                  <a:txBody>
                    <a:bodyPr/>
                    <a:lstStyle/>
                    <a:p>
                      <a:r>
                        <a:rPr sz="1400" b="0">
                          <a:solidFill>
                            <a:srgbClr val="1F1F1F"/>
                          </a:solidFill>
                          <a:latin typeface="+mn-lt"/>
                        </a:rPr>
                        <a:t>Más simple</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tc>
                  <a:txBody>
                    <a:bodyPr/>
                    <a:lstStyle/>
                    <a:p>
                      <a:r>
                        <a:rPr sz="1400" b="0">
                          <a:solidFill>
                            <a:srgbClr val="1F1F1F"/>
                          </a:solidFill>
                          <a:latin typeface="+mn-lt"/>
                        </a:rPr>
                        <a:t>Más complejo</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FFFFF"/>
                    </a:solidFill>
                  </a:tcPr>
                </a:tc>
                <a:extLst>
                  <a:ext uri="{0D108BD9-81ED-4DB2-BD59-A6C34878D82A}">
                    <a16:rowId xmlns:a16="http://schemas.microsoft.com/office/drawing/2014/main" val="10007"/>
                  </a:ext>
                </a:extLst>
              </a:tr>
              <a:tr h="457200">
                <a:tc>
                  <a:txBody>
                    <a:bodyPr/>
                    <a:lstStyle/>
                    <a:p>
                      <a:r>
                        <a:rPr sz="1400" b="1">
                          <a:solidFill>
                            <a:srgbClr val="00323F"/>
                          </a:solidFill>
                          <a:latin typeface="+mn-lt"/>
                        </a:rPr>
                        <a:t>Flexibilidad para las empresas</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tc>
                  <a:txBody>
                    <a:bodyPr/>
                    <a:lstStyle/>
                    <a:p>
                      <a:r>
                        <a:rPr sz="1400" b="0">
                          <a:solidFill>
                            <a:srgbClr val="1F1F1F"/>
                          </a:solidFill>
                          <a:latin typeface="+mn-lt"/>
                        </a:rPr>
                        <a:t>Menor</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tc>
                  <a:txBody>
                    <a:bodyPr/>
                    <a:lstStyle/>
                    <a:p>
                      <a:r>
                        <a:rPr sz="1400" b="1">
                          <a:solidFill>
                            <a:srgbClr val="00323F"/>
                          </a:solidFill>
                          <a:latin typeface="+mn-lt"/>
                        </a:rPr>
                        <a:t>Mayor:</a:t>
                      </a:r>
                      <a:r>
                        <a:rPr sz="1400" b="0">
                          <a:solidFill>
                            <a:srgbClr val="1F1F1F"/>
                          </a:solidFill>
                          <a:latin typeface="+mn-lt"/>
                        </a:rPr>
                        <a:t> pueden comprar y vender permisos</a:t>
                      </a:r>
                    </a:p>
                  </a:txBody>
                  <a:tcPr marT="36576" marB="36576" anchor="ctr">
                    <a:lnT w="12700" cap="flat" cmpd="sng" algn="ctr">
                      <a:solidFill>
                        <a:srgbClr val="FFFFFF"/>
                      </a:solidFill>
                      <a:prstDash val="solid"/>
                      <a:round/>
                      <a:headEnd type="none" w="med" len="med"/>
                      <a:tailEnd type="none" w="med" len="med"/>
                    </a:lnT>
                    <a:lnB w="12700">
                      <a:solidFill>
                        <a:srgbClr val="FFFFFF"/>
                      </a:solidFill>
                    </a:lnB>
                    <a:solidFill>
                      <a:srgbClr val="F2F5F7"/>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1134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11646-0EB2-138E-AD79-28B6D729DC5A}"/>
              </a:ext>
            </a:extLst>
          </p:cNvPr>
          <p:cNvSpPr>
            <a:spLocks noGrp="1"/>
          </p:cNvSpPr>
          <p:nvPr>
            <p:ph type="title"/>
          </p:nvPr>
        </p:nvSpPr>
        <p:spPr/>
        <p:txBody>
          <a:bodyPr/>
          <a:lstStyle/>
          <a:p>
            <a:r>
              <a:rPr lang="en-US" b="1" dirty="0"/>
              <a:t>Mercados de Carbono (Cap and Trade)</a:t>
            </a:r>
            <a:endParaRPr lang="es-ES_tradnl" dirty="0"/>
          </a:p>
        </p:txBody>
      </p:sp>
      <p:sp>
        <p:nvSpPr>
          <p:cNvPr id="3" name="Content Placeholder 2">
            <a:extLst>
              <a:ext uri="{FF2B5EF4-FFF2-40B4-BE49-F238E27FC236}">
                <a16:creationId xmlns:a16="http://schemas.microsoft.com/office/drawing/2014/main" id="{98267DF0-B79F-F029-E427-1D896733219E}"/>
              </a:ext>
            </a:extLst>
          </p:cNvPr>
          <p:cNvSpPr>
            <a:spLocks noGrp="1"/>
          </p:cNvSpPr>
          <p:nvPr>
            <p:ph idx="1"/>
          </p:nvPr>
        </p:nvSpPr>
        <p:spPr>
          <a:xfrm>
            <a:off x="838200" y="1825625"/>
            <a:ext cx="10515600" cy="4667250"/>
          </a:xfrm>
        </p:spPr>
        <p:txBody>
          <a:bodyPr>
            <a:normAutofit/>
          </a:bodyPr>
          <a:lstStyle/>
          <a:p>
            <a:r>
              <a:rPr lang="es-CO" sz="2400" dirty="0"/>
              <a:t>Este esquema es más descentralizado que los impuestos </a:t>
            </a:r>
            <a:r>
              <a:rPr lang="es-CO" sz="2400" dirty="0" err="1"/>
              <a:t>pigouvianos</a:t>
            </a:r>
            <a:r>
              <a:rPr lang="es-CO" sz="2400" dirty="0"/>
              <a:t>: fija emisiones permitidas, el precio lo determina el mercado y permite transacciones de emisiones.</a:t>
            </a:r>
            <a:endParaRPr lang="en-US" sz="2400" dirty="0"/>
          </a:p>
          <a:p>
            <a:pPr marL="0" indent="0">
              <a:buNone/>
            </a:pPr>
            <a:r>
              <a:rPr lang="en-US" sz="2400" i="1" dirty="0" err="1"/>
              <a:t>Ejemplo</a:t>
            </a:r>
            <a:r>
              <a:rPr lang="en-US" sz="2400" i="1" dirty="0"/>
              <a:t> </a:t>
            </a:r>
            <a:r>
              <a:rPr lang="en-US" sz="2400" i="1" dirty="0" err="1"/>
              <a:t>típico</a:t>
            </a:r>
            <a:r>
              <a:rPr lang="en-US" sz="2400" i="1" dirty="0"/>
              <a:t>:</a:t>
            </a:r>
          </a:p>
          <a:p>
            <a:pPr>
              <a:buFont typeface="Arial" panose="020B0604020202020204" pitchFamily="34" charset="0"/>
              <a:buChar char="•"/>
            </a:pPr>
            <a:r>
              <a:rPr lang="en-US" sz="2400" dirty="0"/>
              <a:t>El EU ETS (Sistema de Comercio de Emisiones de la Unión Europea).</a:t>
            </a:r>
          </a:p>
          <a:p>
            <a:pPr>
              <a:buFont typeface="Arial" panose="020B0604020202020204" pitchFamily="34" charset="0"/>
              <a:buChar char="•"/>
            </a:pPr>
            <a:r>
              <a:rPr lang="en-US" sz="2400" dirty="0"/>
              <a:t>Mercado de </a:t>
            </a:r>
            <a:r>
              <a:rPr lang="en-US" sz="2400" dirty="0" err="1"/>
              <a:t>emisiones</a:t>
            </a:r>
            <a:r>
              <a:rPr lang="en-US" sz="2400" dirty="0"/>
              <a:t> de Chile</a:t>
            </a:r>
          </a:p>
          <a:p>
            <a:pPr marL="0" indent="0">
              <a:buNone/>
            </a:pPr>
            <a:r>
              <a:rPr lang="en-US" sz="2400" dirty="0" err="1"/>
              <a:t>Cómo</a:t>
            </a:r>
            <a:r>
              <a:rPr lang="en-US" sz="2400" dirty="0"/>
              <a:t> </a:t>
            </a:r>
            <a:r>
              <a:rPr lang="en-US" sz="2400" dirty="0" err="1"/>
              <a:t>funciona</a:t>
            </a:r>
            <a:r>
              <a:rPr lang="en-US" sz="2400" dirty="0"/>
              <a:t>:</a:t>
            </a:r>
          </a:p>
          <a:p>
            <a:pPr>
              <a:buFont typeface="Arial" panose="020B0604020202020204" pitchFamily="34" charset="0"/>
              <a:buChar char="•"/>
            </a:pPr>
            <a:r>
              <a:rPr lang="en-US" sz="2400" dirty="0"/>
              <a:t>Si el </a:t>
            </a:r>
            <a:r>
              <a:rPr lang="en-US" sz="2400" dirty="0" err="1"/>
              <a:t>gobierno</a:t>
            </a:r>
            <a:r>
              <a:rPr lang="en-US" sz="2400" dirty="0"/>
              <a:t> </a:t>
            </a:r>
            <a:r>
              <a:rPr lang="en-US" sz="2400" dirty="0" err="1"/>
              <a:t>establece</a:t>
            </a:r>
            <a:r>
              <a:rPr lang="en-US" sz="2400" dirty="0"/>
              <a:t> un </a:t>
            </a:r>
            <a:r>
              <a:rPr lang="en-US" sz="2400" dirty="0" err="1"/>
              <a:t>límite</a:t>
            </a:r>
            <a:r>
              <a:rPr lang="en-US" sz="2400" dirty="0"/>
              <a:t> total (cap) de </a:t>
            </a:r>
            <a:r>
              <a:rPr lang="en-US" sz="2400" dirty="0" err="1"/>
              <a:t>contaminación</a:t>
            </a:r>
            <a:r>
              <a:rPr lang="en-US" sz="2400" dirty="0"/>
              <a:t> y </a:t>
            </a:r>
            <a:r>
              <a:rPr lang="en-US" sz="2400" dirty="0" err="1"/>
              <a:t>permite</a:t>
            </a:r>
            <a:r>
              <a:rPr lang="en-US" sz="2400" dirty="0"/>
              <a:t> a las </a:t>
            </a:r>
            <a:r>
              <a:rPr lang="en-US" sz="2400" dirty="0" err="1"/>
              <a:t>empresas</a:t>
            </a:r>
            <a:r>
              <a:rPr lang="en-US" sz="2400" dirty="0"/>
              <a:t> </a:t>
            </a:r>
            <a:r>
              <a:rPr lang="en-US" sz="2400" dirty="0" err="1"/>
              <a:t>intercambiar</a:t>
            </a:r>
            <a:r>
              <a:rPr lang="en-US" sz="2400" dirty="0"/>
              <a:t> </a:t>
            </a:r>
            <a:r>
              <a:rPr lang="en-US" sz="2400" dirty="0" err="1"/>
              <a:t>permisos</a:t>
            </a:r>
            <a:r>
              <a:rPr lang="en-US" sz="2400" dirty="0"/>
              <a:t>, se </a:t>
            </a:r>
            <a:r>
              <a:rPr lang="en-US" sz="2400" dirty="0" err="1"/>
              <a:t>puede</a:t>
            </a:r>
            <a:r>
              <a:rPr lang="en-US" sz="2400" dirty="0"/>
              <a:t> </a:t>
            </a:r>
            <a:r>
              <a:rPr lang="en-US" sz="2400" dirty="0" err="1"/>
              <a:t>lograr</a:t>
            </a:r>
            <a:r>
              <a:rPr lang="en-US" sz="2400" dirty="0"/>
              <a:t> la </a:t>
            </a:r>
            <a:r>
              <a:rPr lang="en-US" sz="2400" dirty="0" err="1"/>
              <a:t>reducción</a:t>
            </a:r>
            <a:r>
              <a:rPr lang="en-US" sz="2400" dirty="0"/>
              <a:t> de </a:t>
            </a:r>
            <a:r>
              <a:rPr lang="en-US" sz="2400" dirty="0" err="1"/>
              <a:t>emisiones</a:t>
            </a:r>
            <a:r>
              <a:rPr lang="en-US" sz="2400" dirty="0"/>
              <a:t> al </a:t>
            </a:r>
            <a:r>
              <a:rPr lang="en-US" sz="2400" dirty="0" err="1"/>
              <a:t>menor</a:t>
            </a:r>
            <a:r>
              <a:rPr lang="en-US" sz="2400" dirty="0"/>
              <a:t> </a:t>
            </a:r>
            <a:r>
              <a:rPr lang="en-US" sz="2400" dirty="0" err="1"/>
              <a:t>costo</a:t>
            </a:r>
            <a:r>
              <a:rPr lang="en-US" sz="2400" dirty="0"/>
              <a:t> </a:t>
            </a:r>
            <a:r>
              <a:rPr lang="en-US" sz="2400" dirty="0" err="1"/>
              <a:t>posible</a:t>
            </a:r>
            <a:r>
              <a:rPr lang="en-US" sz="2400" dirty="0"/>
              <a:t>.</a:t>
            </a:r>
          </a:p>
          <a:p>
            <a:r>
              <a:rPr lang="en-US" sz="2400" dirty="0"/>
              <a:t>El </a:t>
            </a:r>
            <a:r>
              <a:rPr lang="en-US" sz="2400" dirty="0" err="1"/>
              <a:t>precio</a:t>
            </a:r>
            <a:r>
              <a:rPr lang="en-US" sz="2400" dirty="0"/>
              <a:t> del </a:t>
            </a:r>
            <a:r>
              <a:rPr lang="en-US" sz="2400" dirty="0" err="1"/>
              <a:t>carbono</a:t>
            </a:r>
            <a:r>
              <a:rPr lang="en-US" sz="2400" dirty="0"/>
              <a:t> se </a:t>
            </a:r>
            <a:r>
              <a:rPr lang="en-US" sz="2400" dirty="0" err="1"/>
              <a:t>determina</a:t>
            </a:r>
            <a:r>
              <a:rPr lang="en-US" sz="2400" dirty="0"/>
              <a:t> </a:t>
            </a:r>
            <a:r>
              <a:rPr lang="en-US" sz="2400" dirty="0" err="1"/>
              <a:t>por</a:t>
            </a:r>
            <a:r>
              <a:rPr lang="en-US" sz="2400" dirty="0"/>
              <a:t> el mercado.</a:t>
            </a:r>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100458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8B49C-512A-4FAA-50D9-BE7A48D165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B27495-CA42-D497-A578-F2A1BECB4A88}"/>
              </a:ext>
            </a:extLst>
          </p:cNvPr>
          <p:cNvSpPr>
            <a:spLocks noGrp="1"/>
          </p:cNvSpPr>
          <p:nvPr>
            <p:ph type="title"/>
          </p:nvPr>
        </p:nvSpPr>
        <p:spPr/>
        <p:txBody>
          <a:bodyPr/>
          <a:lstStyle/>
          <a:p>
            <a:r>
              <a:rPr lang="es-CO" dirty="0" err="1"/>
              <a:t>Cap</a:t>
            </a:r>
            <a:r>
              <a:rPr lang="es-CO" dirty="0"/>
              <a:t> and </a:t>
            </a:r>
            <a:r>
              <a:rPr lang="es-CO" dirty="0" err="1"/>
              <a:t>Trade</a:t>
            </a:r>
            <a:r>
              <a:rPr lang="es-CO" dirty="0"/>
              <a:t> (CAP)</a:t>
            </a:r>
          </a:p>
        </p:txBody>
      </p:sp>
      <p:sp>
        <p:nvSpPr>
          <p:cNvPr id="3" name="Marcador de contenido 2">
            <a:extLst>
              <a:ext uri="{FF2B5EF4-FFF2-40B4-BE49-F238E27FC236}">
                <a16:creationId xmlns:a16="http://schemas.microsoft.com/office/drawing/2014/main" id="{95262047-51DA-7FAB-8141-76014A1BD0A9}"/>
              </a:ext>
            </a:extLst>
          </p:cNvPr>
          <p:cNvSpPr>
            <a:spLocks noGrp="1"/>
          </p:cNvSpPr>
          <p:nvPr>
            <p:ph sz="half" idx="1"/>
          </p:nvPr>
        </p:nvSpPr>
        <p:spPr>
          <a:xfrm>
            <a:off x="692727" y="1690688"/>
            <a:ext cx="5327073" cy="4486275"/>
          </a:xfrm>
        </p:spPr>
        <p:txBody>
          <a:bodyPr>
            <a:noAutofit/>
          </a:bodyPr>
          <a:lstStyle/>
          <a:p>
            <a:pPr marL="0" indent="0">
              <a:buNone/>
            </a:pPr>
            <a:r>
              <a:rPr lang="es-CO" sz="2400" dirty="0"/>
              <a:t>Si las empresas tienen costos marginales diferentes, algunas serán vendedoras y otras compradoras de permisos</a:t>
            </a:r>
          </a:p>
          <a:p>
            <a:pPr marL="0" indent="0">
              <a:buNone/>
            </a:pPr>
            <a:r>
              <a:rPr lang="es-CO" sz="2400" dirty="0"/>
              <a:t>Si su CMA&gt;P compran</a:t>
            </a:r>
          </a:p>
          <a:p>
            <a:pPr marL="0" indent="0">
              <a:buNone/>
            </a:pPr>
            <a:r>
              <a:rPr lang="es-CO" sz="2400" dirty="0"/>
              <a:t>Si su CMA&lt;P venden</a:t>
            </a:r>
          </a:p>
          <a:p>
            <a:pPr marL="0" indent="0">
              <a:buNone/>
            </a:pPr>
            <a:r>
              <a:rPr lang="es-CO" sz="2400" dirty="0"/>
              <a:t>Hay ganancias del comercio y la reducción será costo-efectiva</a:t>
            </a:r>
          </a:p>
          <a:p>
            <a:pPr marL="0" indent="0">
              <a:buNone/>
            </a:pPr>
            <a:r>
              <a:rPr lang="es-CO" sz="2400" dirty="0"/>
              <a:t>¿Por qué?</a:t>
            </a:r>
          </a:p>
          <a:p>
            <a:pPr marL="0" indent="0">
              <a:buNone/>
            </a:pPr>
            <a:r>
              <a:rPr lang="es-CO" sz="2400" dirty="0"/>
              <a:t>Porque todas llegan al mismo costo marginal. Se cumple el principio de </a:t>
            </a:r>
            <a:r>
              <a:rPr lang="es-CO" sz="2400" dirty="0" err="1"/>
              <a:t>equimarginalidad</a:t>
            </a:r>
            <a:r>
              <a:rPr lang="es-CO" sz="2400" dirty="0"/>
              <a:t>.</a:t>
            </a:r>
          </a:p>
        </p:txBody>
      </p:sp>
      <p:cxnSp>
        <p:nvCxnSpPr>
          <p:cNvPr id="6" name="Conector recto de flecha 5">
            <a:extLst>
              <a:ext uri="{FF2B5EF4-FFF2-40B4-BE49-F238E27FC236}">
                <a16:creationId xmlns:a16="http://schemas.microsoft.com/office/drawing/2014/main" id="{E88D5E8C-C17A-6BF8-5556-990ED9004017}"/>
              </a:ext>
            </a:extLst>
          </p:cNvPr>
          <p:cNvCxnSpPr/>
          <p:nvPr/>
        </p:nvCxnSpPr>
        <p:spPr>
          <a:xfrm>
            <a:off x="7222839" y="5578752"/>
            <a:ext cx="41471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D9E10B05-DD65-7C80-600D-72C292E28152}"/>
              </a:ext>
            </a:extLst>
          </p:cNvPr>
          <p:cNvCxnSpPr/>
          <p:nvPr/>
        </p:nvCxnSpPr>
        <p:spPr>
          <a:xfrm flipH="1" flipV="1">
            <a:off x="7213599" y="1367418"/>
            <a:ext cx="0" cy="42205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CC315020-D261-AD5F-9A20-2EA927AEC2D7}"/>
              </a:ext>
            </a:extLst>
          </p:cNvPr>
          <p:cNvSpPr txBox="1"/>
          <p:nvPr/>
        </p:nvSpPr>
        <p:spPr>
          <a:xfrm>
            <a:off x="8754839" y="6030908"/>
            <a:ext cx="1651286" cy="369332"/>
          </a:xfrm>
          <a:prstGeom prst="rect">
            <a:avLst/>
          </a:prstGeom>
          <a:noFill/>
        </p:spPr>
        <p:txBody>
          <a:bodyPr wrap="none" rtlCol="0">
            <a:spAutoFit/>
          </a:bodyPr>
          <a:lstStyle/>
          <a:p>
            <a:r>
              <a:rPr lang="es-CO" dirty="0"/>
              <a:t>Contaminación </a:t>
            </a:r>
          </a:p>
        </p:txBody>
      </p:sp>
      <p:sp>
        <p:nvSpPr>
          <p:cNvPr id="9" name="CuadroTexto 8">
            <a:extLst>
              <a:ext uri="{FF2B5EF4-FFF2-40B4-BE49-F238E27FC236}">
                <a16:creationId xmlns:a16="http://schemas.microsoft.com/office/drawing/2014/main" id="{CD32BAF6-3230-FD7E-6C59-7ADE40F9FFED}"/>
              </a:ext>
            </a:extLst>
          </p:cNvPr>
          <p:cNvSpPr txBox="1"/>
          <p:nvPr/>
        </p:nvSpPr>
        <p:spPr>
          <a:xfrm>
            <a:off x="6779493" y="1502355"/>
            <a:ext cx="301686" cy="369332"/>
          </a:xfrm>
          <a:prstGeom prst="rect">
            <a:avLst/>
          </a:prstGeom>
          <a:noFill/>
        </p:spPr>
        <p:txBody>
          <a:bodyPr wrap="none" rtlCol="0">
            <a:spAutoFit/>
          </a:bodyPr>
          <a:lstStyle/>
          <a:p>
            <a:r>
              <a:rPr lang="es-CO" dirty="0"/>
              <a:t>$</a:t>
            </a:r>
          </a:p>
        </p:txBody>
      </p:sp>
      <p:sp>
        <p:nvSpPr>
          <p:cNvPr id="10" name="CuadroTexto 9">
            <a:extLst>
              <a:ext uri="{FF2B5EF4-FFF2-40B4-BE49-F238E27FC236}">
                <a16:creationId xmlns:a16="http://schemas.microsoft.com/office/drawing/2014/main" id="{5D360C27-BB88-E0F3-8FA6-1EE166A5951F}"/>
              </a:ext>
            </a:extLst>
          </p:cNvPr>
          <p:cNvSpPr txBox="1"/>
          <p:nvPr/>
        </p:nvSpPr>
        <p:spPr>
          <a:xfrm>
            <a:off x="10902098" y="4992582"/>
            <a:ext cx="638316" cy="369332"/>
          </a:xfrm>
          <a:prstGeom prst="rect">
            <a:avLst/>
          </a:prstGeom>
          <a:noFill/>
        </p:spPr>
        <p:txBody>
          <a:bodyPr wrap="none" rtlCol="0">
            <a:spAutoFit/>
          </a:bodyPr>
          <a:lstStyle/>
          <a:p>
            <a:r>
              <a:rPr lang="es-CO" dirty="0"/>
              <a:t>CMA</a:t>
            </a:r>
          </a:p>
        </p:txBody>
      </p:sp>
      <p:sp>
        <p:nvSpPr>
          <p:cNvPr id="11" name="CuadroTexto 10">
            <a:extLst>
              <a:ext uri="{FF2B5EF4-FFF2-40B4-BE49-F238E27FC236}">
                <a16:creationId xmlns:a16="http://schemas.microsoft.com/office/drawing/2014/main" id="{04DFC739-75FD-483F-1366-FA5ECC7282FE}"/>
              </a:ext>
            </a:extLst>
          </p:cNvPr>
          <p:cNvSpPr txBox="1"/>
          <p:nvPr/>
        </p:nvSpPr>
        <p:spPr>
          <a:xfrm>
            <a:off x="10907228" y="5578763"/>
            <a:ext cx="418704" cy="369332"/>
          </a:xfrm>
          <a:prstGeom prst="rect">
            <a:avLst/>
          </a:prstGeom>
          <a:noFill/>
        </p:spPr>
        <p:txBody>
          <a:bodyPr wrap="none" rtlCol="0">
            <a:spAutoFit/>
          </a:bodyPr>
          <a:lstStyle/>
          <a:p>
            <a:r>
              <a:rPr lang="es-CO" dirty="0"/>
              <a:t>50</a:t>
            </a:r>
          </a:p>
        </p:txBody>
      </p:sp>
      <p:cxnSp>
        <p:nvCxnSpPr>
          <p:cNvPr id="13" name="Conector recto 12">
            <a:extLst>
              <a:ext uri="{FF2B5EF4-FFF2-40B4-BE49-F238E27FC236}">
                <a16:creationId xmlns:a16="http://schemas.microsoft.com/office/drawing/2014/main" id="{0E69E8C9-A894-A3F0-E020-2EEE819FCA15}"/>
              </a:ext>
            </a:extLst>
          </p:cNvPr>
          <p:cNvCxnSpPr/>
          <p:nvPr/>
        </p:nvCxnSpPr>
        <p:spPr>
          <a:xfrm>
            <a:off x="7202272" y="3840491"/>
            <a:ext cx="414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D7BFB8A5-8D74-49A1-9075-E3252B50D4ED}"/>
              </a:ext>
            </a:extLst>
          </p:cNvPr>
          <p:cNvSpPr txBox="1"/>
          <p:nvPr/>
        </p:nvSpPr>
        <p:spPr>
          <a:xfrm>
            <a:off x="6631711" y="3620660"/>
            <a:ext cx="418704" cy="369332"/>
          </a:xfrm>
          <a:prstGeom prst="rect">
            <a:avLst/>
          </a:prstGeom>
          <a:noFill/>
        </p:spPr>
        <p:txBody>
          <a:bodyPr wrap="none" rtlCol="0">
            <a:spAutoFit/>
          </a:bodyPr>
          <a:lstStyle/>
          <a:p>
            <a:r>
              <a:rPr lang="es-CO" dirty="0"/>
              <a:t>40</a:t>
            </a:r>
          </a:p>
        </p:txBody>
      </p:sp>
      <p:cxnSp>
        <p:nvCxnSpPr>
          <p:cNvPr id="16" name="Conector recto 15">
            <a:extLst>
              <a:ext uri="{FF2B5EF4-FFF2-40B4-BE49-F238E27FC236}">
                <a16:creationId xmlns:a16="http://schemas.microsoft.com/office/drawing/2014/main" id="{7B69D346-FDC7-5CB2-AA8D-7FCCCA38D61B}"/>
              </a:ext>
            </a:extLst>
          </p:cNvPr>
          <p:cNvCxnSpPr>
            <a:endCxn id="11" idx="0"/>
          </p:cNvCxnSpPr>
          <p:nvPr/>
        </p:nvCxnSpPr>
        <p:spPr>
          <a:xfrm>
            <a:off x="7222839" y="2124364"/>
            <a:ext cx="3893741" cy="345439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F283BC14-9C90-1940-EA8E-F93201D0BE9A}"/>
              </a:ext>
            </a:extLst>
          </p:cNvPr>
          <p:cNvCxnSpPr/>
          <p:nvPr/>
        </p:nvCxnSpPr>
        <p:spPr>
          <a:xfrm>
            <a:off x="7216129" y="3060019"/>
            <a:ext cx="1044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1E943A28-A51C-17AB-9D13-4F3F9BCCBA8D}"/>
              </a:ext>
            </a:extLst>
          </p:cNvPr>
          <p:cNvSpPr txBox="1"/>
          <p:nvPr/>
        </p:nvSpPr>
        <p:spPr>
          <a:xfrm>
            <a:off x="6645568" y="2840188"/>
            <a:ext cx="418704" cy="369332"/>
          </a:xfrm>
          <a:prstGeom prst="rect">
            <a:avLst/>
          </a:prstGeom>
          <a:noFill/>
        </p:spPr>
        <p:txBody>
          <a:bodyPr wrap="none" rtlCol="0">
            <a:spAutoFit/>
          </a:bodyPr>
          <a:lstStyle/>
          <a:p>
            <a:r>
              <a:rPr lang="es-CO" dirty="0"/>
              <a:t>60</a:t>
            </a:r>
          </a:p>
        </p:txBody>
      </p:sp>
      <p:sp>
        <p:nvSpPr>
          <p:cNvPr id="20" name="CuadroTexto 19">
            <a:extLst>
              <a:ext uri="{FF2B5EF4-FFF2-40B4-BE49-F238E27FC236}">
                <a16:creationId xmlns:a16="http://schemas.microsoft.com/office/drawing/2014/main" id="{F0BD6C0D-DAC2-22B8-D20A-29688D30952D}"/>
              </a:ext>
            </a:extLst>
          </p:cNvPr>
          <p:cNvSpPr txBox="1"/>
          <p:nvPr/>
        </p:nvSpPr>
        <p:spPr>
          <a:xfrm>
            <a:off x="6622475" y="4442686"/>
            <a:ext cx="418704" cy="369332"/>
          </a:xfrm>
          <a:prstGeom prst="rect">
            <a:avLst/>
          </a:prstGeom>
          <a:noFill/>
        </p:spPr>
        <p:txBody>
          <a:bodyPr wrap="none" rtlCol="0">
            <a:spAutoFit/>
          </a:bodyPr>
          <a:lstStyle/>
          <a:p>
            <a:r>
              <a:rPr lang="es-CO" dirty="0"/>
              <a:t>20</a:t>
            </a:r>
          </a:p>
        </p:txBody>
      </p:sp>
      <p:cxnSp>
        <p:nvCxnSpPr>
          <p:cNvPr id="22" name="Conector recto 21">
            <a:extLst>
              <a:ext uri="{FF2B5EF4-FFF2-40B4-BE49-F238E27FC236}">
                <a16:creationId xmlns:a16="http://schemas.microsoft.com/office/drawing/2014/main" id="{ADAD6416-2D12-90FE-140C-4DA4D170F210}"/>
              </a:ext>
            </a:extLst>
          </p:cNvPr>
          <p:cNvCxnSpPr/>
          <p:nvPr/>
        </p:nvCxnSpPr>
        <p:spPr>
          <a:xfrm>
            <a:off x="8254162" y="3060019"/>
            <a:ext cx="0" cy="25187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52B4EA95-3DBD-E754-FBFC-C3853CA7FDE6}"/>
              </a:ext>
            </a:extLst>
          </p:cNvPr>
          <p:cNvCxnSpPr/>
          <p:nvPr/>
        </p:nvCxnSpPr>
        <p:spPr>
          <a:xfrm>
            <a:off x="9145466" y="3840494"/>
            <a:ext cx="0" cy="1728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F9B63A3-FB55-9283-4AA5-948ED62FEED8}"/>
              </a:ext>
            </a:extLst>
          </p:cNvPr>
          <p:cNvCxnSpPr/>
          <p:nvPr/>
        </p:nvCxnSpPr>
        <p:spPr>
          <a:xfrm>
            <a:off x="10055238" y="4657907"/>
            <a:ext cx="0" cy="936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BBD7A120-7127-D9F3-F230-2E9E8789798F}"/>
              </a:ext>
            </a:extLst>
          </p:cNvPr>
          <p:cNvSpPr txBox="1"/>
          <p:nvPr/>
        </p:nvSpPr>
        <p:spPr>
          <a:xfrm>
            <a:off x="8048568" y="5574147"/>
            <a:ext cx="418704" cy="369332"/>
          </a:xfrm>
          <a:prstGeom prst="rect">
            <a:avLst/>
          </a:prstGeom>
          <a:noFill/>
        </p:spPr>
        <p:txBody>
          <a:bodyPr wrap="none" rtlCol="0">
            <a:spAutoFit/>
          </a:bodyPr>
          <a:lstStyle/>
          <a:p>
            <a:r>
              <a:rPr lang="es-CO" dirty="0"/>
              <a:t>18</a:t>
            </a:r>
          </a:p>
        </p:txBody>
      </p:sp>
      <p:sp>
        <p:nvSpPr>
          <p:cNvPr id="26" name="CuadroTexto 25">
            <a:extLst>
              <a:ext uri="{FF2B5EF4-FFF2-40B4-BE49-F238E27FC236}">
                <a16:creationId xmlns:a16="http://schemas.microsoft.com/office/drawing/2014/main" id="{20A63A0B-15F0-832E-04E3-039208B04B34}"/>
              </a:ext>
            </a:extLst>
          </p:cNvPr>
          <p:cNvSpPr txBox="1"/>
          <p:nvPr/>
        </p:nvSpPr>
        <p:spPr>
          <a:xfrm>
            <a:off x="8939872" y="5569530"/>
            <a:ext cx="418704" cy="369332"/>
          </a:xfrm>
          <a:prstGeom prst="rect">
            <a:avLst/>
          </a:prstGeom>
          <a:noFill/>
        </p:spPr>
        <p:txBody>
          <a:bodyPr wrap="none" rtlCol="0">
            <a:spAutoFit/>
          </a:bodyPr>
          <a:lstStyle/>
          <a:p>
            <a:r>
              <a:rPr lang="es-CO" dirty="0"/>
              <a:t>25</a:t>
            </a:r>
          </a:p>
        </p:txBody>
      </p:sp>
      <p:sp>
        <p:nvSpPr>
          <p:cNvPr id="27" name="CuadroTexto 26">
            <a:extLst>
              <a:ext uri="{FF2B5EF4-FFF2-40B4-BE49-F238E27FC236}">
                <a16:creationId xmlns:a16="http://schemas.microsoft.com/office/drawing/2014/main" id="{4896E197-274E-67D6-911D-34E25907B0EB}"/>
              </a:ext>
            </a:extLst>
          </p:cNvPr>
          <p:cNvSpPr txBox="1"/>
          <p:nvPr/>
        </p:nvSpPr>
        <p:spPr>
          <a:xfrm>
            <a:off x="9849648" y="5574151"/>
            <a:ext cx="418704" cy="369332"/>
          </a:xfrm>
          <a:prstGeom prst="rect">
            <a:avLst/>
          </a:prstGeom>
          <a:noFill/>
        </p:spPr>
        <p:txBody>
          <a:bodyPr wrap="none" rtlCol="0">
            <a:spAutoFit/>
          </a:bodyPr>
          <a:lstStyle/>
          <a:p>
            <a:r>
              <a:rPr lang="es-CO" dirty="0"/>
              <a:t>35</a:t>
            </a:r>
          </a:p>
        </p:txBody>
      </p:sp>
      <p:cxnSp>
        <p:nvCxnSpPr>
          <p:cNvPr id="28" name="Conector recto 27">
            <a:extLst>
              <a:ext uri="{FF2B5EF4-FFF2-40B4-BE49-F238E27FC236}">
                <a16:creationId xmlns:a16="http://schemas.microsoft.com/office/drawing/2014/main" id="{39CFB967-558E-93BF-4FA6-8B7D10DF1468}"/>
              </a:ext>
            </a:extLst>
          </p:cNvPr>
          <p:cNvCxnSpPr/>
          <p:nvPr/>
        </p:nvCxnSpPr>
        <p:spPr>
          <a:xfrm>
            <a:off x="7220752" y="4634826"/>
            <a:ext cx="2880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47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Tres esquemas de mercado y su versión colombiana</a:t>
            </a:r>
          </a:p>
        </p:txBody>
      </p:sp>
      <p:sp>
        <p:nvSpPr>
          <p:cNvPr id="10" name="Rounded Rectangle 9"/>
          <p:cNvSpPr/>
          <p:nvPr/>
        </p:nvSpPr>
        <p:spPr>
          <a:xfrm>
            <a:off x="914400" y="1783080"/>
            <a:ext cx="3200400" cy="393192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113739" y="1890979"/>
            <a:ext cx="927201" cy="927201"/>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s13_140.png"/>
          <p:cNvPicPr>
            <a:picLocks noChangeAspect="1"/>
          </p:cNvPicPr>
          <p:nvPr/>
        </p:nvPicPr>
        <p:blipFill>
          <a:blip r:embed="rId3"/>
          <a:stretch>
            <a:fillRect/>
          </a:stretch>
        </p:blipFill>
        <p:spPr>
          <a:xfrm>
            <a:off x="1280160" y="2057400"/>
            <a:ext cx="594360" cy="594360"/>
          </a:xfrm>
          <a:prstGeom prst="rect">
            <a:avLst/>
          </a:prstGeom>
        </p:spPr>
      </p:pic>
      <p:sp>
        <p:nvSpPr>
          <p:cNvPr id="13" name="TextBox 12"/>
          <p:cNvSpPr txBox="1"/>
          <p:nvPr/>
        </p:nvSpPr>
        <p:spPr>
          <a:xfrm>
            <a:off x="1143000" y="2788920"/>
            <a:ext cx="2743200" cy="457200"/>
          </a:xfrm>
          <a:prstGeom prst="rect">
            <a:avLst/>
          </a:prstGeom>
          <a:noFill/>
        </p:spPr>
        <p:txBody>
          <a:bodyPr wrap="square" lIns="45720" rIns="45720" anchor="t">
            <a:spAutoFit/>
          </a:bodyPr>
          <a:lstStyle/>
          <a:p>
            <a:pPr algn="l">
              <a:spcAft>
                <a:spcPts val="400"/>
              </a:spcAft>
            </a:pPr>
            <a:r>
              <a:rPr sz="1800" b="1" i="0">
                <a:solidFill>
                  <a:srgbClr val="00323F"/>
                </a:solidFill>
                <a:latin typeface="+mn-lt"/>
              </a:rPr>
              <a:t>Compensación (offset)</a:t>
            </a:r>
          </a:p>
        </p:txBody>
      </p:sp>
      <p:sp>
        <p:nvSpPr>
          <p:cNvPr id="14" name="TextBox 13"/>
          <p:cNvSpPr txBox="1"/>
          <p:nvPr/>
        </p:nvSpPr>
        <p:spPr>
          <a:xfrm>
            <a:off x="1143000" y="3246120"/>
            <a:ext cx="2743200" cy="1097280"/>
          </a:xfrm>
          <a:prstGeom prst="rect">
            <a:avLst/>
          </a:prstGeom>
          <a:noFill/>
        </p:spPr>
        <p:txBody>
          <a:bodyPr wrap="square" lIns="45720" rIns="45720" anchor="t">
            <a:spAutoFit/>
          </a:bodyPr>
          <a:lstStyle/>
          <a:p>
            <a:pPr algn="l">
              <a:spcAft>
                <a:spcPts val="400"/>
              </a:spcAft>
            </a:pPr>
            <a:r>
              <a:rPr sz="1400" b="0" i="0">
                <a:solidFill>
                  <a:srgbClr val="595959"/>
                </a:solidFill>
                <a:latin typeface="+mn-lt"/>
              </a:rPr>
              <a:t>Quien emite paga a otro para que reduzca por él</a:t>
            </a:r>
          </a:p>
        </p:txBody>
      </p:sp>
      <p:sp>
        <p:nvSpPr>
          <p:cNvPr id="15" name="Rounded Rectangle 14"/>
          <p:cNvSpPr/>
          <p:nvPr/>
        </p:nvSpPr>
        <p:spPr>
          <a:xfrm>
            <a:off x="1097280" y="4389120"/>
            <a:ext cx="2834640" cy="1143000"/>
          </a:xfrm>
          <a:prstGeom prst="roundRect">
            <a:avLst>
              <a:gd name="adj" fmla="val 10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234440" y="4486131"/>
            <a:ext cx="2606040" cy="948978"/>
          </a:xfrm>
          <a:prstGeom prst="rect">
            <a:avLst/>
          </a:prstGeom>
          <a:noFill/>
        </p:spPr>
        <p:txBody>
          <a:bodyPr wrap="square" lIns="45720" rIns="45720" anchor="ctr">
            <a:spAutoFit/>
          </a:bodyPr>
          <a:lstStyle/>
          <a:p>
            <a:pPr algn="l">
              <a:spcAft>
                <a:spcPts val="200"/>
              </a:spcAft>
            </a:pPr>
            <a:r>
              <a:rPr sz="1200" b="1" i="0" dirty="0">
                <a:solidFill>
                  <a:srgbClr val="088A3A"/>
                </a:solidFill>
                <a:latin typeface="+mn-lt"/>
              </a:rPr>
              <a:t>En Colombia</a:t>
            </a:r>
          </a:p>
          <a:p>
            <a:pPr algn="l">
              <a:spcAft>
                <a:spcPts val="200"/>
              </a:spcAft>
            </a:pPr>
            <a:r>
              <a:rPr sz="1400" b="0" i="0" dirty="0">
                <a:solidFill>
                  <a:srgbClr val="00323F"/>
                </a:solidFill>
                <a:latin typeface="+mn-lt"/>
              </a:rPr>
              <a:t>No </a:t>
            </a:r>
            <a:r>
              <a:rPr sz="1400" b="0" i="0" dirty="0" err="1">
                <a:solidFill>
                  <a:srgbClr val="00323F"/>
                </a:solidFill>
                <a:latin typeface="+mn-lt"/>
              </a:rPr>
              <a:t>causación</a:t>
            </a:r>
            <a:r>
              <a:rPr sz="1400" b="0" i="0" dirty="0">
                <a:solidFill>
                  <a:srgbClr val="00323F"/>
                </a:solidFill>
                <a:latin typeface="+mn-lt"/>
              </a:rPr>
              <a:t> del </a:t>
            </a:r>
            <a:r>
              <a:rPr sz="1400" b="0" i="0" dirty="0" err="1">
                <a:solidFill>
                  <a:srgbClr val="00323F"/>
                </a:solidFill>
                <a:latin typeface="+mn-lt"/>
              </a:rPr>
              <a:t>impuesto</a:t>
            </a:r>
            <a:r>
              <a:rPr sz="1400" b="0" i="0" dirty="0">
                <a:solidFill>
                  <a:srgbClr val="00323F"/>
                </a:solidFill>
                <a:latin typeface="+mn-lt"/>
              </a:rPr>
              <a:t> · crudo Castilla Blend carbono </a:t>
            </a:r>
            <a:r>
              <a:rPr sz="1400" b="0" i="0" dirty="0" err="1">
                <a:solidFill>
                  <a:srgbClr val="00323F"/>
                </a:solidFill>
                <a:latin typeface="+mn-lt"/>
              </a:rPr>
              <a:t>compensado</a:t>
            </a:r>
            <a:endParaRPr sz="1400" b="0" i="0" dirty="0">
              <a:solidFill>
                <a:srgbClr val="00323F"/>
              </a:solidFill>
              <a:latin typeface="+mn-lt"/>
            </a:endParaRPr>
          </a:p>
        </p:txBody>
      </p:sp>
      <p:sp>
        <p:nvSpPr>
          <p:cNvPr id="17" name="Rounded Rectangle 16"/>
          <p:cNvSpPr/>
          <p:nvPr/>
        </p:nvSpPr>
        <p:spPr>
          <a:xfrm>
            <a:off x="4434840" y="1783080"/>
            <a:ext cx="3200400" cy="393192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4634179" y="1890979"/>
            <a:ext cx="927201" cy="927201"/>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s12_94.png"/>
          <p:cNvPicPr>
            <a:picLocks noChangeAspect="1"/>
          </p:cNvPicPr>
          <p:nvPr/>
        </p:nvPicPr>
        <p:blipFill>
          <a:blip r:embed="rId4"/>
          <a:stretch>
            <a:fillRect/>
          </a:stretch>
        </p:blipFill>
        <p:spPr>
          <a:xfrm>
            <a:off x="4800600" y="2057400"/>
            <a:ext cx="594360" cy="594360"/>
          </a:xfrm>
          <a:prstGeom prst="rect">
            <a:avLst/>
          </a:prstGeom>
        </p:spPr>
      </p:pic>
      <p:sp>
        <p:nvSpPr>
          <p:cNvPr id="20" name="TextBox 19"/>
          <p:cNvSpPr txBox="1"/>
          <p:nvPr/>
        </p:nvSpPr>
        <p:spPr>
          <a:xfrm>
            <a:off x="4663440" y="2788920"/>
            <a:ext cx="2743200" cy="457200"/>
          </a:xfrm>
          <a:prstGeom prst="rect">
            <a:avLst/>
          </a:prstGeom>
          <a:noFill/>
        </p:spPr>
        <p:txBody>
          <a:bodyPr wrap="square" lIns="45720" rIns="45720" anchor="t">
            <a:spAutoFit/>
          </a:bodyPr>
          <a:lstStyle/>
          <a:p>
            <a:pPr algn="l">
              <a:spcAft>
                <a:spcPts val="400"/>
              </a:spcAft>
            </a:pPr>
            <a:r>
              <a:rPr sz="1800" b="1" i="0">
                <a:solidFill>
                  <a:srgbClr val="00323F"/>
                </a:solidFill>
                <a:latin typeface="+mn-lt"/>
              </a:rPr>
              <a:t>Tasa de emisión</a:t>
            </a:r>
          </a:p>
        </p:txBody>
      </p:sp>
      <p:sp>
        <p:nvSpPr>
          <p:cNvPr id="21" name="TextBox 20"/>
          <p:cNvSpPr txBox="1"/>
          <p:nvPr/>
        </p:nvSpPr>
        <p:spPr>
          <a:xfrm>
            <a:off x="4663440" y="3246120"/>
            <a:ext cx="2743200" cy="1097280"/>
          </a:xfrm>
          <a:prstGeom prst="rect">
            <a:avLst/>
          </a:prstGeom>
          <a:noFill/>
        </p:spPr>
        <p:txBody>
          <a:bodyPr wrap="square" lIns="45720" rIns="45720" anchor="t">
            <a:spAutoFit/>
          </a:bodyPr>
          <a:lstStyle/>
          <a:p>
            <a:pPr algn="l">
              <a:spcAft>
                <a:spcPts val="400"/>
              </a:spcAft>
            </a:pPr>
            <a:r>
              <a:rPr sz="1400" b="0" i="0">
                <a:solidFill>
                  <a:srgbClr val="595959"/>
                </a:solidFill>
                <a:latin typeface="+mn-lt"/>
              </a:rPr>
              <a:t>Se fija una intensidad base; quien baja de ella vende créditos</a:t>
            </a:r>
          </a:p>
        </p:txBody>
      </p:sp>
      <p:sp>
        <p:nvSpPr>
          <p:cNvPr id="22" name="Rounded Rectangle 21"/>
          <p:cNvSpPr/>
          <p:nvPr/>
        </p:nvSpPr>
        <p:spPr>
          <a:xfrm>
            <a:off x="4617720" y="4389120"/>
            <a:ext cx="2834640" cy="1143000"/>
          </a:xfrm>
          <a:prstGeom prst="roundRect">
            <a:avLst>
              <a:gd name="adj" fmla="val 10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754879" y="4434840"/>
            <a:ext cx="2606040" cy="1051560"/>
          </a:xfrm>
          <a:prstGeom prst="rect">
            <a:avLst/>
          </a:prstGeom>
          <a:noFill/>
        </p:spPr>
        <p:txBody>
          <a:bodyPr wrap="square" lIns="45720" rIns="45720" anchor="ctr">
            <a:spAutoFit/>
          </a:bodyPr>
          <a:lstStyle/>
          <a:p>
            <a:pPr algn="l">
              <a:spcAft>
                <a:spcPts val="200"/>
              </a:spcAft>
            </a:pPr>
            <a:r>
              <a:rPr sz="1200" b="1" i="0">
                <a:solidFill>
                  <a:srgbClr val="088A3A"/>
                </a:solidFill>
                <a:latin typeface="+mn-lt"/>
              </a:rPr>
              <a:t>En Colombia</a:t>
            </a:r>
          </a:p>
          <a:p>
            <a:pPr algn="l">
              <a:spcAft>
                <a:spcPts val="200"/>
              </a:spcAft>
            </a:pPr>
            <a:r>
              <a:rPr sz="1400" b="0" i="0">
                <a:solidFill>
                  <a:srgbClr val="00323F"/>
                </a:solidFill>
                <a:latin typeface="+mn-lt"/>
              </a:rPr>
              <a:t>Sin esquema propio; análogo: metas de intensidad (kgCO₂e por barril)</a:t>
            </a:r>
          </a:p>
        </p:txBody>
      </p:sp>
      <p:sp>
        <p:nvSpPr>
          <p:cNvPr id="24" name="Rounded Rectangle 23"/>
          <p:cNvSpPr/>
          <p:nvPr/>
        </p:nvSpPr>
        <p:spPr>
          <a:xfrm>
            <a:off x="7955279" y="1783080"/>
            <a:ext cx="3200400" cy="393192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8154619" y="1890979"/>
            <a:ext cx="927201" cy="927201"/>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s12_168.png"/>
          <p:cNvPicPr>
            <a:picLocks noChangeAspect="1"/>
          </p:cNvPicPr>
          <p:nvPr/>
        </p:nvPicPr>
        <p:blipFill>
          <a:blip r:embed="rId5"/>
          <a:stretch>
            <a:fillRect/>
          </a:stretch>
        </p:blipFill>
        <p:spPr>
          <a:xfrm>
            <a:off x="8321040" y="2057400"/>
            <a:ext cx="594360" cy="594360"/>
          </a:xfrm>
          <a:prstGeom prst="rect">
            <a:avLst/>
          </a:prstGeom>
        </p:spPr>
      </p:pic>
      <p:sp>
        <p:nvSpPr>
          <p:cNvPr id="27" name="TextBox 26"/>
          <p:cNvSpPr txBox="1"/>
          <p:nvPr/>
        </p:nvSpPr>
        <p:spPr>
          <a:xfrm>
            <a:off x="8183879" y="2788920"/>
            <a:ext cx="2743200" cy="457200"/>
          </a:xfrm>
          <a:prstGeom prst="rect">
            <a:avLst/>
          </a:prstGeom>
          <a:noFill/>
        </p:spPr>
        <p:txBody>
          <a:bodyPr wrap="square" lIns="45720" rIns="45720" anchor="t">
            <a:spAutoFit/>
          </a:bodyPr>
          <a:lstStyle/>
          <a:p>
            <a:pPr algn="l">
              <a:spcAft>
                <a:spcPts val="400"/>
              </a:spcAft>
            </a:pPr>
            <a:r>
              <a:rPr sz="1800" b="1" i="0">
                <a:solidFill>
                  <a:srgbClr val="00323F"/>
                </a:solidFill>
                <a:latin typeface="+mn-lt"/>
              </a:rPr>
              <a:t>Cap and trade</a:t>
            </a:r>
          </a:p>
        </p:txBody>
      </p:sp>
      <p:sp>
        <p:nvSpPr>
          <p:cNvPr id="28" name="TextBox 27"/>
          <p:cNvSpPr txBox="1"/>
          <p:nvPr/>
        </p:nvSpPr>
        <p:spPr>
          <a:xfrm>
            <a:off x="8183879" y="3246120"/>
            <a:ext cx="2743200" cy="1097280"/>
          </a:xfrm>
          <a:prstGeom prst="rect">
            <a:avLst/>
          </a:prstGeom>
          <a:noFill/>
        </p:spPr>
        <p:txBody>
          <a:bodyPr wrap="square" lIns="45720" rIns="45720" anchor="t">
            <a:spAutoFit/>
          </a:bodyPr>
          <a:lstStyle/>
          <a:p>
            <a:pPr algn="l">
              <a:spcAft>
                <a:spcPts val="400"/>
              </a:spcAft>
            </a:pPr>
            <a:r>
              <a:rPr sz="1400" b="0" i="0">
                <a:solidFill>
                  <a:srgbClr val="595959"/>
                </a:solidFill>
                <a:latin typeface="+mn-lt"/>
              </a:rPr>
              <a:t>Tope total, permisos asignados o subastados y comercio libre</a:t>
            </a:r>
          </a:p>
        </p:txBody>
      </p:sp>
      <p:sp>
        <p:nvSpPr>
          <p:cNvPr id="29" name="Rounded Rectangle 28"/>
          <p:cNvSpPr/>
          <p:nvPr/>
        </p:nvSpPr>
        <p:spPr>
          <a:xfrm>
            <a:off x="8138159" y="4389120"/>
            <a:ext cx="2834640" cy="1143000"/>
          </a:xfrm>
          <a:prstGeom prst="roundRect">
            <a:avLst>
              <a:gd name="adj" fmla="val 10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275319" y="4434840"/>
            <a:ext cx="2606040" cy="1051560"/>
          </a:xfrm>
          <a:prstGeom prst="rect">
            <a:avLst/>
          </a:prstGeom>
          <a:noFill/>
        </p:spPr>
        <p:txBody>
          <a:bodyPr wrap="square" lIns="45720" rIns="45720" anchor="ctr">
            <a:spAutoFit/>
          </a:bodyPr>
          <a:lstStyle/>
          <a:p>
            <a:pPr algn="l">
              <a:spcAft>
                <a:spcPts val="200"/>
              </a:spcAft>
            </a:pPr>
            <a:r>
              <a:rPr sz="1200" b="1" i="0">
                <a:solidFill>
                  <a:srgbClr val="088A3A"/>
                </a:solidFill>
                <a:latin typeface="+mn-lt"/>
              </a:rPr>
              <a:t>En Colombia</a:t>
            </a:r>
          </a:p>
          <a:p>
            <a:pPr algn="l">
              <a:spcAft>
                <a:spcPts val="200"/>
              </a:spcAft>
            </a:pPr>
            <a:r>
              <a:rPr sz="1400" b="0" i="0">
                <a:solidFill>
                  <a:srgbClr val="00323F"/>
                </a:solidFill>
                <a:latin typeface="+mn-lt"/>
              </a:rPr>
              <a:t>PNCTE, reglamentado en agosto de 2026</a:t>
            </a:r>
          </a:p>
        </p:txBody>
      </p:sp>
      <p:sp>
        <p:nvSpPr>
          <p:cNvPr id="31"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Basado en: J. H. Maldonado, “Sistemas basados en mercados” (2024).</a:t>
            </a:r>
          </a:p>
        </p:txBody>
      </p:sp>
    </p:spTree>
    <p:extLst>
      <p:ext uri="{BB962C8B-B14F-4D97-AF65-F5344CB8AC3E}">
        <p14:creationId xmlns:p14="http://schemas.microsoft.com/office/powerpoint/2010/main" val="1900298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0560D06-47DA-49A1-844D-2BF48175E1B7}"/>
              </a:ext>
            </a:extLst>
          </p:cNvPr>
          <p:cNvSpPr txBox="1"/>
          <p:nvPr/>
        </p:nvSpPr>
        <p:spPr>
          <a:xfrm>
            <a:off x="991206"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John Dales propone los permisos negociables</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12" name="TextBox 11">
            <a:extLst>
              <a:ext uri="{FF2B5EF4-FFF2-40B4-BE49-F238E27FC236}">
                <a16:creationId xmlns:a16="http://schemas.microsoft.com/office/drawing/2014/main" id="{CF8272BD-AEDC-4472-A1B0-6C636288EAF2}"/>
              </a:ext>
            </a:extLst>
          </p:cNvPr>
          <p:cNvSpPr txBox="1"/>
          <p:nvPr/>
        </p:nvSpPr>
        <p:spPr>
          <a:xfrm>
            <a:off x="982609"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1968</a:t>
            </a:r>
            <a:endParaRPr lang="ru-RU" sz="1667" b="1">
              <a:solidFill>
                <a:srgbClr val="04CF74"/>
              </a:solidFill>
              <a:latin typeface="+mn-lt" panose="020B0604020202020204" pitchFamily="34" charset="0"/>
            </a:endParaRPr>
          </a:p>
        </p:txBody>
      </p:sp>
      <p:sp>
        <p:nvSpPr>
          <p:cNvPr id="20" name="TextBox 19">
            <a:extLst>
              <a:ext uri="{FF2B5EF4-FFF2-40B4-BE49-F238E27FC236}">
                <a16:creationId xmlns:a16="http://schemas.microsoft.com/office/drawing/2014/main" id="{991C7038-9352-4A46-A3C3-ECEFBA55517A}"/>
              </a:ext>
            </a:extLst>
          </p:cNvPr>
          <p:cNvSpPr txBox="1"/>
          <p:nvPr/>
        </p:nvSpPr>
        <p:spPr>
          <a:xfrm>
            <a:off x="3083540"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EE. UU.: mercado de SO₂ contra la lluvia ácida</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21" name="TextBox 20">
            <a:extLst>
              <a:ext uri="{FF2B5EF4-FFF2-40B4-BE49-F238E27FC236}">
                <a16:creationId xmlns:a16="http://schemas.microsoft.com/office/drawing/2014/main" id="{6802060A-7280-4CAD-8FFA-C83CE0D5FC13}"/>
              </a:ext>
            </a:extLst>
          </p:cNvPr>
          <p:cNvSpPr txBox="1"/>
          <p:nvPr/>
        </p:nvSpPr>
        <p:spPr>
          <a:xfrm>
            <a:off x="3074943"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1990s</a:t>
            </a:r>
            <a:endParaRPr lang="ru-RU" sz="1667" b="1">
              <a:solidFill>
                <a:srgbClr val="04CF74"/>
              </a:solidFill>
              <a:latin typeface="+mn-lt" panose="020B0604020202020204" pitchFamily="34" charset="0"/>
            </a:endParaRPr>
          </a:p>
        </p:txBody>
      </p:sp>
      <p:sp>
        <p:nvSpPr>
          <p:cNvPr id="34" name="TextBox 33">
            <a:extLst>
              <a:ext uri="{FF2B5EF4-FFF2-40B4-BE49-F238E27FC236}">
                <a16:creationId xmlns:a16="http://schemas.microsoft.com/office/drawing/2014/main" id="{F6FAD7C6-B2F7-4EDD-8EFE-4C3842107AE2}"/>
              </a:ext>
            </a:extLst>
          </p:cNvPr>
          <p:cNvSpPr txBox="1"/>
          <p:nvPr/>
        </p:nvSpPr>
        <p:spPr>
          <a:xfrm>
            <a:off x="5176289"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Protocolo de Kioto: mercado climático global</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35" name="TextBox 34">
            <a:extLst>
              <a:ext uri="{FF2B5EF4-FFF2-40B4-BE49-F238E27FC236}">
                <a16:creationId xmlns:a16="http://schemas.microsoft.com/office/drawing/2014/main" id="{D6A05C34-2F30-4872-988B-F4F733B2C832}"/>
              </a:ext>
            </a:extLst>
          </p:cNvPr>
          <p:cNvSpPr txBox="1"/>
          <p:nvPr/>
        </p:nvSpPr>
        <p:spPr>
          <a:xfrm>
            <a:off x="5167692"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1997</a:t>
            </a:r>
            <a:endParaRPr lang="ru-RU" sz="1667" b="1">
              <a:solidFill>
                <a:srgbClr val="04CF74"/>
              </a:solidFill>
              <a:latin typeface="+mn-lt" panose="020B0604020202020204" pitchFamily="34" charset="0"/>
            </a:endParaRPr>
          </a:p>
        </p:txBody>
      </p:sp>
      <p:sp>
        <p:nvSpPr>
          <p:cNvPr id="48" name="TextBox 47">
            <a:extLst>
              <a:ext uri="{FF2B5EF4-FFF2-40B4-BE49-F238E27FC236}">
                <a16:creationId xmlns:a16="http://schemas.microsoft.com/office/drawing/2014/main" id="{CC07686E-D477-4025-BA97-4FC26CB9D53C}"/>
              </a:ext>
            </a:extLst>
          </p:cNvPr>
          <p:cNvSpPr txBox="1"/>
          <p:nvPr/>
        </p:nvSpPr>
        <p:spPr>
          <a:xfrm>
            <a:off x="7269550"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Unión Europea lanza el EU ETS</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49" name="TextBox 48">
            <a:extLst>
              <a:ext uri="{FF2B5EF4-FFF2-40B4-BE49-F238E27FC236}">
                <a16:creationId xmlns:a16="http://schemas.microsoft.com/office/drawing/2014/main" id="{F61318FF-889C-4EED-90DE-09ADFE78ACCF}"/>
              </a:ext>
            </a:extLst>
          </p:cNvPr>
          <p:cNvSpPr txBox="1"/>
          <p:nvPr/>
        </p:nvSpPr>
        <p:spPr>
          <a:xfrm>
            <a:off x="7260954"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2005</a:t>
            </a:r>
            <a:endParaRPr lang="ru-RU" sz="1667" b="1">
              <a:solidFill>
                <a:srgbClr val="04CF74"/>
              </a:solidFill>
              <a:latin typeface="+mn-lt" panose="020B0604020202020204" pitchFamily="34" charset="0"/>
            </a:endParaRPr>
          </a:p>
        </p:txBody>
      </p:sp>
      <p:sp>
        <p:nvSpPr>
          <p:cNvPr id="55" name="TextBox 54">
            <a:extLst>
              <a:ext uri="{FF2B5EF4-FFF2-40B4-BE49-F238E27FC236}">
                <a16:creationId xmlns:a16="http://schemas.microsoft.com/office/drawing/2014/main" id="{FA0AE620-10C2-4A49-AE10-7F80513256E0}"/>
              </a:ext>
            </a:extLst>
          </p:cNvPr>
          <p:cNvSpPr txBox="1"/>
          <p:nvPr/>
        </p:nvSpPr>
        <p:spPr>
          <a:xfrm>
            <a:off x="9362299"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Acuerdo de París, artículo 6 (6.2 y 6.4)</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56" name="TextBox 55">
            <a:extLst>
              <a:ext uri="{FF2B5EF4-FFF2-40B4-BE49-F238E27FC236}">
                <a16:creationId xmlns:a16="http://schemas.microsoft.com/office/drawing/2014/main" id="{9B15FE90-05B7-4481-A412-F2E20D2A8C2B}"/>
              </a:ext>
            </a:extLst>
          </p:cNvPr>
          <p:cNvSpPr txBox="1"/>
          <p:nvPr/>
        </p:nvSpPr>
        <p:spPr>
          <a:xfrm>
            <a:off x="9353703"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2015</a:t>
            </a:r>
            <a:endParaRPr lang="ru-RU" sz="1667" b="1">
              <a:solidFill>
                <a:srgbClr val="04CF74"/>
              </a:solidFill>
              <a:latin typeface="+mn-lt" panose="020B0604020202020204" pitchFamily="34" charset="0"/>
            </a:endParaRPr>
          </a:p>
        </p:txBody>
      </p:sp>
      <p:sp>
        <p:nvSpPr>
          <p:cNvPr id="29" name="Прямоугольник: скругленные углы 28">
            <a:extLst>
              <a:ext uri="{FF2B5EF4-FFF2-40B4-BE49-F238E27FC236}">
                <a16:creationId xmlns:a16="http://schemas.microsoft.com/office/drawing/2014/main" id="{3123EA43-71F1-462F-B009-3C3AEBE12F5C}"/>
              </a:ext>
            </a:extLst>
          </p:cNvPr>
          <p:cNvSpPr/>
          <p:nvPr/>
        </p:nvSpPr>
        <p:spPr>
          <a:xfrm>
            <a:off x="781870" y="4190353"/>
            <a:ext cx="10628260" cy="395790"/>
          </a:xfrm>
          <a:prstGeom prst="roundRect">
            <a:avLst>
              <a:gd name="adj" fmla="val 50000"/>
            </a:avLst>
          </a:prstGeom>
          <a:solidFill>
            <a:srgbClr val="04CF74"/>
          </a:solidFill>
          <a:ln w="1905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200"/>
          </a:p>
        </p:txBody>
      </p:sp>
      <p:sp>
        <p:nvSpPr>
          <p:cNvPr id="30" name="Овал 29">
            <a:extLst>
              <a:ext uri="{FF2B5EF4-FFF2-40B4-BE49-F238E27FC236}">
                <a16:creationId xmlns:a16="http://schemas.microsoft.com/office/drawing/2014/main" id="{397EED49-9132-4FFC-8C99-385C11598C77}"/>
              </a:ext>
            </a:extLst>
          </p:cNvPr>
          <p:cNvSpPr/>
          <p:nvPr/>
        </p:nvSpPr>
        <p:spPr>
          <a:xfrm>
            <a:off x="1810038"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31" name="Овал 30">
            <a:extLst>
              <a:ext uri="{FF2B5EF4-FFF2-40B4-BE49-F238E27FC236}">
                <a16:creationId xmlns:a16="http://schemas.microsoft.com/office/drawing/2014/main" id="{4ADD9E66-03F9-4806-BF1D-131677FB16C5}"/>
              </a:ext>
            </a:extLst>
          </p:cNvPr>
          <p:cNvSpPr/>
          <p:nvPr/>
        </p:nvSpPr>
        <p:spPr>
          <a:xfrm>
            <a:off x="3901860"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33" name="Овал 32">
            <a:extLst>
              <a:ext uri="{FF2B5EF4-FFF2-40B4-BE49-F238E27FC236}">
                <a16:creationId xmlns:a16="http://schemas.microsoft.com/office/drawing/2014/main" id="{7161E021-2FB5-4461-B32E-E93E2C23B9B6}"/>
              </a:ext>
            </a:extLst>
          </p:cNvPr>
          <p:cNvSpPr/>
          <p:nvPr/>
        </p:nvSpPr>
        <p:spPr>
          <a:xfrm>
            <a:off x="5994705"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36" name="Овал 35">
            <a:extLst>
              <a:ext uri="{FF2B5EF4-FFF2-40B4-BE49-F238E27FC236}">
                <a16:creationId xmlns:a16="http://schemas.microsoft.com/office/drawing/2014/main" id="{3540F45E-15C0-4C9C-98E2-F9E20928EDB1}"/>
              </a:ext>
            </a:extLst>
          </p:cNvPr>
          <p:cNvSpPr/>
          <p:nvPr/>
        </p:nvSpPr>
        <p:spPr>
          <a:xfrm>
            <a:off x="8088384"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38" name="Овал 37">
            <a:extLst>
              <a:ext uri="{FF2B5EF4-FFF2-40B4-BE49-F238E27FC236}">
                <a16:creationId xmlns:a16="http://schemas.microsoft.com/office/drawing/2014/main" id="{4646179E-5953-48EC-94F8-F8E62D69F0AF}"/>
              </a:ext>
            </a:extLst>
          </p:cNvPr>
          <p:cNvSpPr/>
          <p:nvPr/>
        </p:nvSpPr>
        <p:spPr>
          <a:xfrm>
            <a:off x="10181133"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26" name="TextBox 25">
            <a:extLst>
              <a:ext uri="{FF2B5EF4-FFF2-40B4-BE49-F238E27FC236}">
                <a16:creationId xmlns:a16="http://schemas.microsoft.com/office/drawing/2014/main" id="{A86976CE-FFBB-4468-B0BE-0C0BADDC1FFD}"/>
              </a:ext>
            </a:extLst>
          </p:cNvPr>
          <p:cNvSpPr txBox="1"/>
          <p:nvPr/>
        </p:nvSpPr>
        <p:spPr>
          <a:xfrm>
            <a:off x="838139" y="365760"/>
            <a:ext cx="10515600" cy="1188720"/>
          </a:xfrm>
          <a:prstGeom prst="rect">
            <a:avLst/>
          </a:prstGeom>
          <a:noFill/>
        </p:spPr>
        <p:txBody>
          <a:bodyPr wrap="square" rtlCol="0" anchor="ctr">
            <a:spAutoFit/>
          </a:bodyPr>
          <a:lstStyle/>
          <a:p>
            <a:pPr algn="l"/>
            <a:r>
              <a:rPr lang="en-US" sz="3600" b="0" i="0">
                <a:solidFill>
                  <a:schemeClr val="tx1"/>
                </a:solidFill>
                <a:latin typeface="+mj-lt" panose="020B0604020202020204" pitchFamily="34" charset="0"/>
                <a:ea typeface="Roboto Black" panose="02000000000000000000" pitchFamily="2" charset="0"/>
              </a:rPr>
              <a:t>Evolución del mercado de carbono</a:t>
            </a:r>
            <a:endParaRPr lang="ru-RU" sz="3000" b="1">
              <a:solidFill>
                <a:srgbClr val="04CF74"/>
              </a:solidFill>
              <a:latin typeface="+mj-lt" panose="020B0604020202020204" pitchFamily="34" charset="0"/>
              <a:ea typeface="Roboto Black" panose="02000000000000000000" pitchFamily="2" charset="0"/>
            </a:endParaRPr>
          </a:p>
        </p:txBody>
      </p:sp>
      <p:sp>
        <p:nvSpPr>
          <p:cNvPr id="27" name="TextBox 26">
            <a:extLst>
              <a:ext uri="{FF2B5EF4-FFF2-40B4-BE49-F238E27FC236}">
                <a16:creationId xmlns:a16="http://schemas.microsoft.com/office/drawing/2014/main" id="{BCA8E107-179B-4B48-938B-B8194CBED4DD}"/>
              </a:ext>
            </a:extLst>
          </p:cNvPr>
          <p:cNvSpPr txBox="1"/>
          <p:nvPr/>
        </p:nvSpPr>
        <p:spPr>
          <a:xfrm>
            <a:off x="914400" y="1481328"/>
            <a:ext cx="10332720" cy="365760"/>
          </a:xfrm>
          <a:prstGeom prst="rect">
            <a:avLst/>
          </a:prstGeom>
          <a:noFill/>
        </p:spPr>
        <p:txBody>
          <a:bodyPr wrap="square" rtlCol="0">
            <a:spAutoFit/>
          </a:bodyPr>
          <a:lstStyle/>
          <a:p>
            <a:pPr algn="l"/>
            <a:r>
              <a:rPr lang="en-US" sz="1600" i="1">
                <a:solidFill>
                  <a:srgbClr val="595959"/>
                </a:solidFill>
                <a:latin typeface="+mn-lt" panose="020B0604020202020204" pitchFamily="34" charset="0"/>
                <a:ea typeface="Roboto Light" panose="02000000000000000000" pitchFamily="2" charset="0"/>
              </a:rPr>
              <a:t>De una idea económica a un instrumento climático global</a:t>
            </a:r>
            <a:endParaRPr lang="ru-RU" sz="10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69" name="Oval 68"/>
          <p:cNvSpPr/>
          <p:nvPr/>
        </p:nvSpPr>
        <p:spPr>
          <a:xfrm>
            <a:off x="1224349"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0" name="Picture 69" descr="s13_136.png"/>
          <p:cNvPicPr>
            <a:picLocks noChangeAspect="1"/>
          </p:cNvPicPr>
          <p:nvPr/>
        </p:nvPicPr>
        <p:blipFill>
          <a:blip r:embed="rId3"/>
          <a:stretch>
            <a:fillRect/>
          </a:stretch>
        </p:blipFill>
        <p:spPr>
          <a:xfrm>
            <a:off x="1498669" y="2480989"/>
            <a:ext cx="822960" cy="822960"/>
          </a:xfrm>
          <a:prstGeom prst="rect">
            <a:avLst/>
          </a:prstGeom>
        </p:spPr>
      </p:pic>
      <p:sp>
        <p:nvSpPr>
          <p:cNvPr id="71" name="Oval 70"/>
          <p:cNvSpPr/>
          <p:nvPr/>
        </p:nvSpPr>
        <p:spPr>
          <a:xfrm>
            <a:off x="3316494"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2" name="Picture 71" descr="s12_130.png"/>
          <p:cNvPicPr>
            <a:picLocks noChangeAspect="1"/>
          </p:cNvPicPr>
          <p:nvPr/>
        </p:nvPicPr>
        <p:blipFill>
          <a:blip r:embed="rId4"/>
          <a:stretch>
            <a:fillRect/>
          </a:stretch>
        </p:blipFill>
        <p:spPr>
          <a:xfrm>
            <a:off x="3590813" y="2480989"/>
            <a:ext cx="822960" cy="822960"/>
          </a:xfrm>
          <a:prstGeom prst="rect">
            <a:avLst/>
          </a:prstGeom>
        </p:spPr>
      </p:pic>
      <p:sp>
        <p:nvSpPr>
          <p:cNvPr id="73" name="Oval 72"/>
          <p:cNvSpPr/>
          <p:nvPr/>
        </p:nvSpPr>
        <p:spPr>
          <a:xfrm>
            <a:off x="5409661"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4" name="Picture 73" descr="s14_22.png"/>
          <p:cNvPicPr>
            <a:picLocks noChangeAspect="1"/>
          </p:cNvPicPr>
          <p:nvPr/>
        </p:nvPicPr>
        <p:blipFill>
          <a:blip r:embed="rId5"/>
          <a:stretch>
            <a:fillRect/>
          </a:stretch>
        </p:blipFill>
        <p:spPr>
          <a:xfrm>
            <a:off x="5683980" y="2480989"/>
            <a:ext cx="822960" cy="822960"/>
          </a:xfrm>
          <a:prstGeom prst="rect">
            <a:avLst/>
          </a:prstGeom>
        </p:spPr>
      </p:pic>
      <p:sp>
        <p:nvSpPr>
          <p:cNvPr id="75" name="Oval 74"/>
          <p:cNvSpPr/>
          <p:nvPr/>
        </p:nvSpPr>
        <p:spPr>
          <a:xfrm>
            <a:off x="7503663"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6" name="Picture 75" descr="s12_114.png"/>
          <p:cNvPicPr>
            <a:picLocks noChangeAspect="1"/>
          </p:cNvPicPr>
          <p:nvPr/>
        </p:nvPicPr>
        <p:blipFill>
          <a:blip r:embed="rId6"/>
          <a:stretch>
            <a:fillRect/>
          </a:stretch>
        </p:blipFill>
        <p:spPr>
          <a:xfrm>
            <a:off x="7777983" y="2480989"/>
            <a:ext cx="822960" cy="822960"/>
          </a:xfrm>
          <a:prstGeom prst="rect">
            <a:avLst/>
          </a:prstGeom>
        </p:spPr>
      </p:pic>
      <p:sp>
        <p:nvSpPr>
          <p:cNvPr id="77" name="Oval 76"/>
          <p:cNvSpPr/>
          <p:nvPr/>
        </p:nvSpPr>
        <p:spPr>
          <a:xfrm>
            <a:off x="9596735"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8" name="Picture 77" descr="s12_168.png"/>
          <p:cNvPicPr>
            <a:picLocks noChangeAspect="1"/>
          </p:cNvPicPr>
          <p:nvPr/>
        </p:nvPicPr>
        <p:blipFill>
          <a:blip r:embed="rId7"/>
          <a:stretch>
            <a:fillRect/>
          </a:stretch>
        </p:blipFill>
        <p:spPr>
          <a:xfrm>
            <a:off x="9871055" y="2480989"/>
            <a:ext cx="822960" cy="822960"/>
          </a:xfrm>
          <a:prstGeom prst="rect">
            <a:avLst/>
          </a:prstGeom>
        </p:spPr>
      </p:pic>
    </p:spTree>
    <p:extLst>
      <p:ext uri="{BB962C8B-B14F-4D97-AF65-F5344CB8AC3E}">
        <p14:creationId xmlns:p14="http://schemas.microsoft.com/office/powerpoint/2010/main" val="3272077624"/>
      </p:ext>
    </p:extLst>
  </p:cSld>
  <p:clrMapOvr>
    <a:masterClrMapping/>
  </p:clrMapOvr>
  <mc:AlternateContent xmlns:mc="http://schemas.openxmlformats.org/markup-compatibility/2006" xmlns:p14="http://schemas.microsoft.com/office/powerpoint/2010/main">
    <mc:Choice Requires="p14">
      <p:transition p14:dur="1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1000"/>
                                        <p:tgtEl>
                                          <p:spTgt spid="2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1000"/>
                                        <p:tgtEl>
                                          <p:spTgt spid="29"/>
                                        </p:tgtEl>
                                      </p:cBhvr>
                                    </p:animEffect>
                                  </p:childTnLst>
                                </p:cTn>
                              </p:par>
                              <p:par>
                                <p:cTn id="14" presetID="10" presetClass="entr" presetSubtype="0" fill="hold" grpId="0" nodeType="withEffect">
                                  <p:stCondLst>
                                    <p:cond delay="100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35" presetClass="path" presetSubtype="0" accel="50000" decel="50000" fill="hold" grpId="1" nodeType="withEffect">
                                  <p:stCondLst>
                                    <p:cond delay="1000"/>
                                  </p:stCondLst>
                                  <p:childTnLst>
                                    <p:animMotion origin="layout" path="M -0.13186 1.1418E-7 L 1.38889E-7 1.1418E-7 " pathEditMode="relative" rAng="0" ptsTypes="AA">
                                      <p:cBhvr>
                                        <p:cTn id="18" dur="1000" fill="hold"/>
                                        <p:tgtEl>
                                          <p:spTgt spid="30"/>
                                        </p:tgtEl>
                                        <p:attrNameLst>
                                          <p:attrName>ppt_x</p:attrName>
                                          <p:attrName>ppt_y</p:attrName>
                                        </p:attrNameLst>
                                      </p:cBhvr>
                                      <p:rCtr x="6589" y="0"/>
                                    </p:animMotion>
                                  </p:childTnLst>
                                </p:cTn>
                              </p:par>
                              <p:par>
                                <p:cTn id="19" presetID="10" presetClass="entr" presetSubtype="0" fill="hold" grpId="0" nodeType="withEffect">
                                  <p:stCondLst>
                                    <p:cond delay="15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childTnLst>
                                </p:cTn>
                              </p:par>
                              <p:par>
                                <p:cTn id="22" presetID="10" presetClass="entr" presetSubtype="0" fill="hold" grpId="0" nodeType="withEffect">
                                  <p:stCondLst>
                                    <p:cond delay="15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childTnLst>
                                </p:cTn>
                              </p:par>
                              <p:par>
                                <p:cTn id="25" presetID="10" presetClass="entr" presetSubtype="0" fill="hold" grpId="0" nodeType="withEffect">
                                  <p:stCondLst>
                                    <p:cond delay="150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35" presetClass="path" presetSubtype="0" accel="50000" decel="50000" fill="hold" grpId="1" nodeType="withEffect">
                                  <p:stCondLst>
                                    <p:cond delay="1500"/>
                                  </p:stCondLst>
                                  <p:childTnLst>
                                    <p:animMotion origin="layout" path="M -0.13186 1.1418E-7 L 1.38889E-7 1.1418E-7 " pathEditMode="relative" rAng="0" ptsTypes="AA">
                                      <p:cBhvr>
                                        <p:cTn id="29" dur="1000" fill="hold"/>
                                        <p:tgtEl>
                                          <p:spTgt spid="31"/>
                                        </p:tgtEl>
                                        <p:attrNameLst>
                                          <p:attrName>ppt_x</p:attrName>
                                          <p:attrName>ppt_y</p:attrName>
                                        </p:attrNameLst>
                                      </p:cBhvr>
                                      <p:rCtr x="6589" y="0"/>
                                    </p:animMotion>
                                  </p:childTnLst>
                                </p:cTn>
                              </p:par>
                              <p:par>
                                <p:cTn id="30" presetID="10" presetClass="entr" presetSubtype="0" fill="hold" grpId="0" nodeType="withEffect">
                                  <p:stCondLst>
                                    <p:cond delay="20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1000"/>
                                        <p:tgtEl>
                                          <p:spTgt spid="21"/>
                                        </p:tgtEl>
                                      </p:cBhvr>
                                    </p:animEffect>
                                  </p:childTnLst>
                                </p:cTn>
                              </p:par>
                              <p:par>
                                <p:cTn id="36" presetID="10" presetClass="entr" presetSubtype="0" fill="hold" grpId="0" nodeType="withEffect">
                                  <p:stCondLst>
                                    <p:cond delay="200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par>
                                <p:cTn id="39" presetID="35" presetClass="path" presetSubtype="0" accel="50000" decel="50000" fill="hold" grpId="1" nodeType="withEffect">
                                  <p:stCondLst>
                                    <p:cond delay="2000"/>
                                  </p:stCondLst>
                                  <p:childTnLst>
                                    <p:animMotion origin="layout" path="M -0.13186 1.1418E-7 L 1.38889E-7 1.1418E-7 " pathEditMode="relative" rAng="0" ptsTypes="AA">
                                      <p:cBhvr>
                                        <p:cTn id="40" dur="1000" fill="hold"/>
                                        <p:tgtEl>
                                          <p:spTgt spid="33"/>
                                        </p:tgtEl>
                                        <p:attrNameLst>
                                          <p:attrName>ppt_x</p:attrName>
                                          <p:attrName>ppt_y</p:attrName>
                                        </p:attrNameLst>
                                      </p:cBhvr>
                                      <p:rCtr x="6589" y="0"/>
                                    </p:animMotion>
                                  </p:childTnLst>
                                </p:cTn>
                              </p:par>
                              <p:par>
                                <p:cTn id="41" presetID="10" presetClass="entr" presetSubtype="0" fill="hold" grpId="0" nodeType="withEffect">
                                  <p:stCondLst>
                                    <p:cond delay="250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1000"/>
                                        <p:tgtEl>
                                          <p:spTgt spid="34"/>
                                        </p:tgtEl>
                                      </p:cBhvr>
                                    </p:animEffect>
                                  </p:childTnLst>
                                </p:cTn>
                              </p:par>
                              <p:par>
                                <p:cTn id="44" presetID="10" presetClass="entr" presetSubtype="0" fill="hold" grpId="0" nodeType="withEffect">
                                  <p:stCondLst>
                                    <p:cond delay="250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1000"/>
                                        <p:tgtEl>
                                          <p:spTgt spid="35"/>
                                        </p:tgtEl>
                                      </p:cBhvr>
                                    </p:animEffect>
                                  </p:childTnLst>
                                </p:cTn>
                              </p:par>
                              <p:par>
                                <p:cTn id="47" presetID="10" presetClass="entr" presetSubtype="0" fill="hold" grpId="0" nodeType="withEffect">
                                  <p:stCondLst>
                                    <p:cond delay="250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00"/>
                                        <p:tgtEl>
                                          <p:spTgt spid="36"/>
                                        </p:tgtEl>
                                      </p:cBhvr>
                                    </p:animEffect>
                                  </p:childTnLst>
                                </p:cTn>
                              </p:par>
                              <p:par>
                                <p:cTn id="50" presetID="35" presetClass="path" presetSubtype="0" accel="50000" decel="50000" fill="hold" grpId="1" nodeType="withEffect">
                                  <p:stCondLst>
                                    <p:cond delay="2500"/>
                                  </p:stCondLst>
                                  <p:childTnLst>
                                    <p:animMotion origin="layout" path="M -0.13186 1.1418E-7 L 1.38889E-7 1.1418E-7 " pathEditMode="relative" rAng="0" ptsTypes="AA">
                                      <p:cBhvr>
                                        <p:cTn id="51" dur="1000" fill="hold"/>
                                        <p:tgtEl>
                                          <p:spTgt spid="36"/>
                                        </p:tgtEl>
                                        <p:attrNameLst>
                                          <p:attrName>ppt_x</p:attrName>
                                          <p:attrName>ppt_y</p:attrName>
                                        </p:attrNameLst>
                                      </p:cBhvr>
                                      <p:rCtr x="6589" y="0"/>
                                    </p:animMotion>
                                  </p:childTnLst>
                                </p:cTn>
                              </p:par>
                              <p:par>
                                <p:cTn id="52" presetID="10" presetClass="entr" presetSubtype="0" fill="hold" grpId="0" nodeType="withEffect">
                                  <p:stCondLst>
                                    <p:cond delay="3000"/>
                                  </p:stCondLst>
                                  <p:childTnLst>
                                    <p:set>
                                      <p:cBhvr>
                                        <p:cTn id="53" dur="1" fill="hold">
                                          <p:stCondLst>
                                            <p:cond delay="0"/>
                                          </p:stCondLst>
                                        </p:cTn>
                                        <p:tgtEl>
                                          <p:spTgt spid="48"/>
                                        </p:tgtEl>
                                        <p:attrNameLst>
                                          <p:attrName>style.visibility</p:attrName>
                                        </p:attrNameLst>
                                      </p:cBhvr>
                                      <p:to>
                                        <p:strVal val="visible"/>
                                      </p:to>
                                    </p:set>
                                    <p:animEffect transition="in" filter="fade">
                                      <p:cBhvr>
                                        <p:cTn id="54" dur="1000"/>
                                        <p:tgtEl>
                                          <p:spTgt spid="48"/>
                                        </p:tgtEl>
                                      </p:cBhvr>
                                    </p:animEffect>
                                  </p:childTnLst>
                                </p:cTn>
                              </p:par>
                              <p:par>
                                <p:cTn id="55" presetID="10" presetClass="entr" presetSubtype="0" fill="hold" grpId="0" nodeType="withEffect">
                                  <p:stCondLst>
                                    <p:cond delay="300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1000"/>
                                        <p:tgtEl>
                                          <p:spTgt spid="49"/>
                                        </p:tgtEl>
                                      </p:cBhvr>
                                    </p:animEffect>
                                  </p:childTnLst>
                                </p:cTn>
                              </p:par>
                              <p:par>
                                <p:cTn id="58" presetID="10" presetClass="entr" presetSubtype="0" fill="hold" grpId="0" nodeType="withEffect">
                                  <p:stCondLst>
                                    <p:cond delay="300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500"/>
                                        <p:tgtEl>
                                          <p:spTgt spid="38"/>
                                        </p:tgtEl>
                                      </p:cBhvr>
                                    </p:animEffect>
                                  </p:childTnLst>
                                </p:cTn>
                              </p:par>
                              <p:par>
                                <p:cTn id="61" presetID="35" presetClass="path" presetSubtype="0" accel="50000" decel="50000" fill="hold" grpId="1" nodeType="withEffect">
                                  <p:stCondLst>
                                    <p:cond delay="3000"/>
                                  </p:stCondLst>
                                  <p:childTnLst>
                                    <p:animMotion origin="layout" path="M -0.13186 1.1418E-7 L 1.38889E-7 1.1418E-7 " pathEditMode="relative" rAng="0" ptsTypes="AA">
                                      <p:cBhvr>
                                        <p:cTn id="62" dur="1000" fill="hold"/>
                                        <p:tgtEl>
                                          <p:spTgt spid="38"/>
                                        </p:tgtEl>
                                        <p:attrNameLst>
                                          <p:attrName>ppt_x</p:attrName>
                                          <p:attrName>ppt_y</p:attrName>
                                        </p:attrNameLst>
                                      </p:cBhvr>
                                      <p:rCtr x="6589" y="0"/>
                                    </p:animMotion>
                                  </p:childTnLst>
                                </p:cTn>
                              </p:par>
                              <p:par>
                                <p:cTn id="63" presetID="10" presetClass="entr" presetSubtype="0" fill="hold" grpId="0" nodeType="withEffect">
                                  <p:stCondLst>
                                    <p:cond delay="3500"/>
                                  </p:stCondLst>
                                  <p:childTnLst>
                                    <p:set>
                                      <p:cBhvr>
                                        <p:cTn id="64" dur="1" fill="hold">
                                          <p:stCondLst>
                                            <p:cond delay="0"/>
                                          </p:stCondLst>
                                        </p:cTn>
                                        <p:tgtEl>
                                          <p:spTgt spid="56"/>
                                        </p:tgtEl>
                                        <p:attrNameLst>
                                          <p:attrName>style.visibility</p:attrName>
                                        </p:attrNameLst>
                                      </p:cBhvr>
                                      <p:to>
                                        <p:strVal val="visible"/>
                                      </p:to>
                                    </p:set>
                                    <p:animEffect transition="in" filter="fade">
                                      <p:cBhvr>
                                        <p:cTn id="65" dur="1000"/>
                                        <p:tgtEl>
                                          <p:spTgt spid="56"/>
                                        </p:tgtEl>
                                      </p:cBhvr>
                                    </p:animEffect>
                                  </p:childTnLst>
                                </p:cTn>
                              </p:par>
                              <p:par>
                                <p:cTn id="66" presetID="10" presetClass="entr" presetSubtype="0" fill="hold" grpId="0" nodeType="withEffect">
                                  <p:stCondLst>
                                    <p:cond delay="3500"/>
                                  </p:stCondLst>
                                  <p:childTnLst>
                                    <p:set>
                                      <p:cBhvr>
                                        <p:cTn id="67" dur="1" fill="hold">
                                          <p:stCondLst>
                                            <p:cond delay="0"/>
                                          </p:stCondLst>
                                        </p:cTn>
                                        <p:tgtEl>
                                          <p:spTgt spid="55"/>
                                        </p:tgtEl>
                                        <p:attrNameLst>
                                          <p:attrName>style.visibility</p:attrName>
                                        </p:attrNameLst>
                                      </p:cBhvr>
                                      <p:to>
                                        <p:strVal val="visible"/>
                                      </p:to>
                                    </p:set>
                                    <p:animEffect transition="in" filter="fade">
                                      <p:cBhvr>
                                        <p:cTn id="68"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0" grpId="0"/>
      <p:bldP spid="21" grpId="0"/>
      <p:bldP spid="34" grpId="0"/>
      <p:bldP spid="35" grpId="0"/>
      <p:bldP spid="48" grpId="0"/>
      <p:bldP spid="49" grpId="0"/>
      <p:bldP spid="55" grpId="0"/>
      <p:bldP spid="56" grpId="0"/>
      <p:bldP spid="29" grpId="0" animBg="1"/>
      <p:bldP spid="30" grpId="0" animBg="1"/>
      <p:bldP spid="30" grpId="1" animBg="1"/>
      <p:bldP spid="31" grpId="0" animBg="1"/>
      <p:bldP spid="31" grpId="1" animBg="1"/>
      <p:bldP spid="33" grpId="0" animBg="1"/>
      <p:bldP spid="33" grpId="1" animBg="1"/>
      <p:bldP spid="36" grpId="0" animBg="1"/>
      <p:bldP spid="36" grpId="1" animBg="1"/>
      <p:bldP spid="38" grpId="0" animBg="1"/>
      <p:bldP spid="38" grpId="1" animBg="1"/>
      <p:bldP spid="26"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2697480"/>
            <a:ext cx="10515600" cy="1737360"/>
          </a:xfrm>
        </p:spPr>
        <p:txBody>
          <a:bodyPr anchor="t"/>
          <a:lstStyle/>
          <a:p>
            <a:r>
              <a:rPr sz="5400"/>
              <a:t>De Kioto a París</a:t>
            </a:r>
          </a:p>
        </p:txBody>
      </p:sp>
      <p:sp>
        <p:nvSpPr>
          <p:cNvPr id="3" name="TextBox 2"/>
          <p:cNvSpPr txBox="1"/>
          <p:nvPr/>
        </p:nvSpPr>
        <p:spPr>
          <a:xfrm>
            <a:off x="914400" y="2148840"/>
            <a:ext cx="7315200" cy="457200"/>
          </a:xfrm>
          <a:prstGeom prst="rect">
            <a:avLst/>
          </a:prstGeom>
          <a:noFill/>
        </p:spPr>
        <p:txBody>
          <a:bodyPr wrap="square" anchor="t">
            <a:spAutoFit/>
          </a:bodyPr>
          <a:lstStyle/>
          <a:p>
            <a:pPr algn="l"/>
            <a:r>
              <a:rPr sz="2000" b="1" i="0">
                <a:solidFill>
                  <a:srgbClr val="088A3A"/>
                </a:solidFill>
                <a:latin typeface="+mn-lt"/>
              </a:rPr>
              <a:t>Parte 2</a:t>
            </a:r>
            <a:r>
              <a:rPr sz="2000" b="0" i="0">
                <a:solidFill>
                  <a:srgbClr val="595959"/>
                </a:solidFill>
                <a:latin typeface="+mn-lt"/>
              </a:rPr>
              <a:t>  ·  30 min</a:t>
            </a:r>
          </a:p>
        </p:txBody>
      </p:sp>
      <p:sp>
        <p:nvSpPr>
          <p:cNvPr id="4" name="TextBox 3"/>
          <p:cNvSpPr txBox="1"/>
          <p:nvPr/>
        </p:nvSpPr>
        <p:spPr>
          <a:xfrm>
            <a:off x="914400" y="4434840"/>
            <a:ext cx="9601200" cy="457200"/>
          </a:xfrm>
          <a:prstGeom prst="rect">
            <a:avLst/>
          </a:prstGeom>
          <a:noFill/>
        </p:spPr>
        <p:txBody>
          <a:bodyPr wrap="square" anchor="t">
            <a:spAutoFit/>
          </a:bodyPr>
          <a:lstStyle/>
          <a:p>
            <a:pPr algn="l"/>
            <a:r>
              <a:rPr sz="1800" b="0" i="0">
                <a:solidFill>
                  <a:srgbClr val="595959"/>
                </a:solidFill>
                <a:latin typeface="+mn-lt"/>
              </a:rPr>
              <a:t>MDL, críticas y artículo 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9AA62-798C-956B-A554-FD8E3851C5B0}"/>
              </a:ext>
            </a:extLst>
          </p:cNvPr>
          <p:cNvSpPr>
            <a:spLocks noGrp="1"/>
          </p:cNvSpPr>
          <p:nvPr>
            <p:ph type="title"/>
          </p:nvPr>
        </p:nvSpPr>
        <p:spPr/>
        <p:txBody>
          <a:bodyPr/>
          <a:lstStyle/>
          <a:p>
            <a:r>
              <a:rPr lang="en-US" dirty="0"/>
              <a:t>Más siglas: ¿qué significan?</a:t>
            </a:r>
            <a:endParaRPr lang="es-ES_tradnl" dirty="0"/>
          </a:p>
        </p:txBody>
      </p:sp>
      <p:sp>
        <p:nvSpPr>
          <p:cNvPr id="4" name="Content Placeholder 3">
            <a:extLst>
              <a:ext uri="{FF2B5EF4-FFF2-40B4-BE49-F238E27FC236}">
                <a16:creationId xmlns:a16="http://schemas.microsoft.com/office/drawing/2014/main" id="{63372FEB-FA5E-CF19-BD96-DA99402E06C4}"/>
              </a:ext>
            </a:extLst>
          </p:cNvPr>
          <p:cNvSpPr>
            <a:spLocks noGrp="1"/>
          </p:cNvSpPr>
          <p:nvPr>
            <p:ph sz="half" idx="2"/>
          </p:nvPr>
        </p:nvSpPr>
        <p:spPr>
          <a:xfrm>
            <a:off x="673537" y="1773382"/>
            <a:ext cx="5157787" cy="4719493"/>
          </a:xfrm>
        </p:spPr>
        <p:txBody>
          <a:bodyPr>
            <a:normAutofit/>
          </a:bodyPr>
          <a:lstStyle/>
          <a:p>
            <a:r>
              <a:rPr lang="es-ES_tradnl" sz="2200" dirty="0"/>
              <a:t>ETS</a:t>
            </a:r>
          </a:p>
          <a:p>
            <a:r>
              <a:rPr lang="es-ES_tradnl" sz="2200" dirty="0"/>
              <a:t>ITMO</a:t>
            </a:r>
          </a:p>
          <a:p>
            <a:r>
              <a:rPr lang="es-ES_tradnl" sz="2200" dirty="0"/>
              <a:t>VCM</a:t>
            </a:r>
          </a:p>
          <a:p>
            <a:r>
              <a:rPr lang="es-ES_tradnl" sz="2200" dirty="0"/>
              <a:t>REDD+</a:t>
            </a:r>
          </a:p>
          <a:p>
            <a:r>
              <a:rPr lang="es-ES_tradnl" sz="2200" dirty="0"/>
              <a:t>IPCC</a:t>
            </a:r>
          </a:p>
          <a:p>
            <a:r>
              <a:rPr lang="es-ES_tradnl" sz="2200" dirty="0"/>
              <a:t>CMNUCC </a:t>
            </a:r>
          </a:p>
        </p:txBody>
      </p:sp>
      <p:sp>
        <p:nvSpPr>
          <p:cNvPr id="6" name="Content Placeholder 5">
            <a:extLst>
              <a:ext uri="{FF2B5EF4-FFF2-40B4-BE49-F238E27FC236}">
                <a16:creationId xmlns:a16="http://schemas.microsoft.com/office/drawing/2014/main" id="{4D128E03-4465-A4D8-9F83-6E4B72FCD5C7}"/>
              </a:ext>
            </a:extLst>
          </p:cNvPr>
          <p:cNvSpPr>
            <a:spLocks noGrp="1"/>
          </p:cNvSpPr>
          <p:nvPr>
            <p:ph sz="quarter" idx="4"/>
          </p:nvPr>
        </p:nvSpPr>
        <p:spPr>
          <a:xfrm>
            <a:off x="2834640" y="1773382"/>
            <a:ext cx="8869680" cy="4416281"/>
          </a:xfrm>
        </p:spPr>
        <p:txBody>
          <a:bodyPr>
            <a:normAutofit/>
          </a:bodyPr>
          <a:lstStyle/>
          <a:p>
            <a:r>
              <a:rPr lang="en-US" sz="2200" dirty="0"/>
              <a:t>Emission Trading Scheme</a:t>
            </a:r>
          </a:p>
          <a:p>
            <a:r>
              <a:rPr lang="en-US" sz="2200" dirty="0"/>
              <a:t>Internationally Transferred Mitigation Outcome</a:t>
            </a:r>
          </a:p>
          <a:p>
            <a:r>
              <a:rPr lang="en-US" sz="2200" dirty="0"/>
              <a:t>Voluntary Carbon Market</a:t>
            </a:r>
          </a:p>
          <a:p>
            <a:r>
              <a:rPr lang="en-US" sz="2200" dirty="0"/>
              <a:t>Reducing Emissions from Deforestation and forest Degradation</a:t>
            </a:r>
          </a:p>
          <a:p>
            <a:r>
              <a:rPr lang="en-US" sz="2200" dirty="0"/>
              <a:t>Intergovernmental Panel on Climate Change</a:t>
            </a:r>
          </a:p>
          <a:p>
            <a:r>
              <a:rPr lang="en-US" sz="2200" dirty="0" err="1"/>
              <a:t>Convención</a:t>
            </a:r>
            <a:r>
              <a:rPr lang="en-US" sz="2200" dirty="0"/>
              <a:t> Marco de </a:t>
            </a:r>
            <a:r>
              <a:rPr lang="en-US" sz="2200" dirty="0" err="1"/>
              <a:t>Naciones</a:t>
            </a:r>
            <a:r>
              <a:rPr lang="en-US" sz="2200" dirty="0"/>
              <a:t> </a:t>
            </a:r>
            <a:r>
              <a:rPr lang="en-US" sz="2200" dirty="0" err="1"/>
              <a:t>Unidas</a:t>
            </a:r>
            <a:r>
              <a:rPr lang="en-US" sz="2200" dirty="0"/>
              <a:t> </a:t>
            </a:r>
            <a:r>
              <a:rPr lang="en-US" sz="2200" dirty="0" err="1"/>
              <a:t>sobre</a:t>
            </a:r>
            <a:r>
              <a:rPr lang="en-US" sz="2200" dirty="0"/>
              <a:t> Cambio </a:t>
            </a:r>
            <a:r>
              <a:rPr lang="en-US" sz="2200" dirty="0" err="1"/>
              <a:t>Climático</a:t>
            </a:r>
            <a:endParaRPr lang="en-US" dirty="0"/>
          </a:p>
        </p:txBody>
      </p:sp>
    </p:spTree>
    <p:extLst>
      <p:ext uri="{BB962C8B-B14F-4D97-AF65-F5344CB8AC3E}">
        <p14:creationId xmlns:p14="http://schemas.microsoft.com/office/powerpoint/2010/main" val="187220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A269C-68B8-21B9-D748-724B2F15AA02}"/>
              </a:ext>
            </a:extLst>
          </p:cNvPr>
          <p:cNvSpPr>
            <a:spLocks noGrp="1"/>
          </p:cNvSpPr>
          <p:nvPr>
            <p:ph type="title"/>
          </p:nvPr>
        </p:nvSpPr>
        <p:spPr>
          <a:xfrm>
            <a:off x="838200" y="254549"/>
            <a:ext cx="10515600" cy="1325563"/>
          </a:xfrm>
        </p:spPr>
        <p:txBody>
          <a:bodyPr/>
          <a:lstStyle/>
          <a:p>
            <a:r>
              <a:rPr lang="en-US" dirty="0"/>
              <a:t>¿</a:t>
            </a:r>
            <a:r>
              <a:rPr lang="en-US" dirty="0" err="1"/>
              <a:t>Qué</a:t>
            </a:r>
            <a:r>
              <a:rPr lang="en-US" dirty="0"/>
              <a:t> es un bono de carbono?</a:t>
            </a:r>
            <a:endParaRPr lang="es-ES_tradnl" dirty="0"/>
          </a:p>
        </p:txBody>
      </p:sp>
      <p:pic>
        <p:nvPicPr>
          <p:cNvPr id="5" name="Content Placeholder 4" descr="A picture containing timeline&#10;&#10;Description automatically generated">
            <a:extLst>
              <a:ext uri="{FF2B5EF4-FFF2-40B4-BE49-F238E27FC236}">
                <a16:creationId xmlns:a16="http://schemas.microsoft.com/office/drawing/2014/main" id="{AAF21B83-8224-D126-8FA3-3FCFB36478A5}"/>
              </a:ext>
            </a:extLst>
          </p:cNvPr>
          <p:cNvPicPr>
            <a:picLocks noChangeAspect="1"/>
          </p:cNvPicPr>
          <p:nvPr/>
        </p:nvPicPr>
        <p:blipFill rotWithShape="1">
          <a:blip r:embed="rId3">
            <a:extLst>
              <a:ext uri="{28A0092B-C50C-407E-A947-70E740481C1C}">
                <a14:useLocalDpi xmlns:a14="http://schemas.microsoft.com/office/drawing/2010/main" val="0"/>
              </a:ext>
            </a:extLst>
          </a:blip>
          <a:srcRect t="19087" r="49818" b="39110"/>
          <a:stretch/>
        </p:blipFill>
        <p:spPr>
          <a:xfrm>
            <a:off x="505669" y="1580112"/>
            <a:ext cx="3063142" cy="3189555"/>
          </a:xfrm>
          <a:prstGeom prst="rect">
            <a:avLst/>
          </a:prstGeom>
          <a:noFill/>
          <a:ln>
            <a:noFill/>
          </a:ln>
        </p:spPr>
      </p:pic>
      <p:pic>
        <p:nvPicPr>
          <p:cNvPr id="6" name="Content Placeholder 4" descr="A picture containing timeline&#10;&#10;Description automatically generated">
            <a:extLst>
              <a:ext uri="{FF2B5EF4-FFF2-40B4-BE49-F238E27FC236}">
                <a16:creationId xmlns:a16="http://schemas.microsoft.com/office/drawing/2014/main" id="{7483A64A-6D8B-DFFE-9F66-672004E79D9D}"/>
              </a:ext>
            </a:extLst>
          </p:cNvPr>
          <p:cNvPicPr>
            <a:picLocks noChangeAspect="1"/>
          </p:cNvPicPr>
          <p:nvPr/>
        </p:nvPicPr>
        <p:blipFill rotWithShape="1">
          <a:blip r:embed="rId3">
            <a:extLst>
              <a:ext uri="{28A0092B-C50C-407E-A947-70E740481C1C}">
                <a14:useLocalDpi xmlns:a14="http://schemas.microsoft.com/office/drawing/2010/main" val="0"/>
              </a:ext>
            </a:extLst>
          </a:blip>
          <a:srcRect l="49818" t="18928" r="256" b="54185"/>
          <a:stretch/>
        </p:blipFill>
        <p:spPr>
          <a:xfrm>
            <a:off x="8167881" y="1558455"/>
            <a:ext cx="3047517" cy="2051438"/>
          </a:xfrm>
          <a:prstGeom prst="rect">
            <a:avLst/>
          </a:prstGeom>
          <a:noFill/>
          <a:ln>
            <a:noFill/>
          </a:ln>
        </p:spPr>
      </p:pic>
      <p:pic>
        <p:nvPicPr>
          <p:cNvPr id="7" name="Marcador de contenido 3" descr="Diagrama&#10;&#10;Descripción generada automáticamente">
            <a:extLst>
              <a:ext uri="{FF2B5EF4-FFF2-40B4-BE49-F238E27FC236}">
                <a16:creationId xmlns:a16="http://schemas.microsoft.com/office/drawing/2014/main" id="{4CB558B6-88A4-D1E8-0B65-91E5A7255E2E}"/>
              </a:ext>
            </a:extLst>
          </p:cNvPr>
          <p:cNvPicPr>
            <a:picLocks noChangeAspect="1"/>
          </p:cNvPicPr>
          <p:nvPr/>
        </p:nvPicPr>
        <p:blipFill>
          <a:blip r:embed="rId4"/>
          <a:stretch>
            <a:fillRect/>
          </a:stretch>
        </p:blipFill>
        <p:spPr>
          <a:xfrm>
            <a:off x="4328259" y="1558455"/>
            <a:ext cx="3080174" cy="2814762"/>
          </a:xfrm>
          <a:prstGeom prst="rect">
            <a:avLst/>
          </a:prstGeom>
          <a:noFill/>
          <a:ln>
            <a:noFill/>
          </a:ln>
        </p:spPr>
      </p:pic>
      <p:sp>
        <p:nvSpPr>
          <p:cNvPr id="8" name="CuadroTexto 2">
            <a:extLst>
              <a:ext uri="{FF2B5EF4-FFF2-40B4-BE49-F238E27FC236}">
                <a16:creationId xmlns:a16="http://schemas.microsoft.com/office/drawing/2014/main" id="{045173BA-E55D-73C9-E6D9-36262A06CC6C}"/>
              </a:ext>
            </a:extLst>
          </p:cNvPr>
          <p:cNvSpPr txBox="1"/>
          <p:nvPr/>
        </p:nvSpPr>
        <p:spPr>
          <a:xfrm>
            <a:off x="4328259" y="4366345"/>
            <a:ext cx="3063143" cy="461665"/>
          </a:xfrm>
          <a:prstGeom prst="rect">
            <a:avLst/>
          </a:prstGeom>
          <a:ln>
            <a:noFill/>
          </a:ln>
        </p:spPr>
        <p:style>
          <a:lnRef idx="3">
            <a:schemeClr val="lt1"/>
          </a:lnRef>
          <a:fillRef idx="1">
            <a:schemeClr val="accent6"/>
          </a:fillRef>
          <a:effectRef idx="1">
            <a:schemeClr val="accent6"/>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200" dirty="0">
                <a:latin typeface="+mn-lt" panose="020F0502020204030204" pitchFamily="34" charset="0"/>
                <a:cs typeface="Agency FB" panose="020F0502020204030204" pitchFamily="34" charset="0"/>
              </a:rPr>
              <a:t>Bienes colectivos sin mecanismos que creen incentivos para conservarlos</a:t>
            </a:r>
          </a:p>
        </p:txBody>
      </p:sp>
      <p:pic>
        <p:nvPicPr>
          <p:cNvPr id="9" name="Content Placeholder 4" descr="A picture containing timeline&#10;&#10;Description automatically generated">
            <a:extLst>
              <a:ext uri="{FF2B5EF4-FFF2-40B4-BE49-F238E27FC236}">
                <a16:creationId xmlns:a16="http://schemas.microsoft.com/office/drawing/2014/main" id="{652D47BC-BA43-57F6-B5F6-A574A3A041E1}"/>
              </a:ext>
            </a:extLst>
          </p:cNvPr>
          <p:cNvPicPr>
            <a:picLocks noChangeAspect="1"/>
          </p:cNvPicPr>
          <p:nvPr/>
        </p:nvPicPr>
        <p:blipFill rotWithShape="1">
          <a:blip r:embed="rId3">
            <a:extLst>
              <a:ext uri="{28A0092B-C50C-407E-A947-70E740481C1C}">
                <a14:useLocalDpi xmlns:a14="http://schemas.microsoft.com/office/drawing/2010/main" val="0"/>
              </a:ext>
            </a:extLst>
          </a:blip>
          <a:srcRect l="50181" t="45711" r="-1635" b="29400"/>
          <a:stretch/>
        </p:blipFill>
        <p:spPr>
          <a:xfrm>
            <a:off x="8167881" y="3582064"/>
            <a:ext cx="3140764" cy="1899039"/>
          </a:xfrm>
          <a:prstGeom prst="rect">
            <a:avLst/>
          </a:prstGeom>
          <a:noFill/>
          <a:ln>
            <a:noFill/>
          </a:ln>
        </p:spPr>
      </p:pic>
      <p:pic>
        <p:nvPicPr>
          <p:cNvPr id="10" name="Content Placeholder 4" descr="A picture containing timeline&#10;&#10;Description automatically generated">
            <a:extLst>
              <a:ext uri="{FF2B5EF4-FFF2-40B4-BE49-F238E27FC236}">
                <a16:creationId xmlns:a16="http://schemas.microsoft.com/office/drawing/2014/main" id="{5CF1FF27-3504-7D38-D363-1C7C07D544ED}"/>
              </a:ext>
            </a:extLst>
          </p:cNvPr>
          <p:cNvPicPr>
            <a:picLocks noChangeAspect="1"/>
          </p:cNvPicPr>
          <p:nvPr/>
        </p:nvPicPr>
        <p:blipFill rotWithShape="1">
          <a:blip r:embed="rId3">
            <a:extLst>
              <a:ext uri="{28A0092B-C50C-407E-A947-70E740481C1C}">
                <a14:useLocalDpi xmlns:a14="http://schemas.microsoft.com/office/drawing/2010/main" val="0"/>
              </a:ext>
            </a:extLst>
          </a:blip>
          <a:srcRect l="43967" t="70636" r="6363" b="20589"/>
          <a:stretch/>
        </p:blipFill>
        <p:spPr>
          <a:xfrm>
            <a:off x="8167881" y="5481103"/>
            <a:ext cx="3031892" cy="669478"/>
          </a:xfrm>
          <a:prstGeom prst="rect">
            <a:avLst/>
          </a:prstGeom>
          <a:noFill/>
          <a:ln>
            <a:noFill/>
          </a:ln>
        </p:spPr>
      </p:pic>
      <p:cxnSp>
        <p:nvCxnSpPr>
          <p:cNvPr id="11" name="Conector recto de flecha 18">
            <a:extLst>
              <a:ext uri="{FF2B5EF4-FFF2-40B4-BE49-F238E27FC236}">
                <a16:creationId xmlns:a16="http://schemas.microsoft.com/office/drawing/2014/main" id="{B5365FB0-3D74-4729-C586-FAF14B16A314}"/>
              </a:ext>
            </a:extLst>
          </p:cNvPr>
          <p:cNvCxnSpPr/>
          <p:nvPr/>
        </p:nvCxnSpPr>
        <p:spPr>
          <a:xfrm>
            <a:off x="7785324" y="1360915"/>
            <a:ext cx="22697" cy="535669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2" name="CuadroTexto 6">
            <a:extLst>
              <a:ext uri="{FF2B5EF4-FFF2-40B4-BE49-F238E27FC236}">
                <a16:creationId xmlns:a16="http://schemas.microsoft.com/office/drawing/2014/main" id="{2C7A12F6-C297-AE66-4C4E-F5CF60F40232}"/>
              </a:ext>
            </a:extLst>
          </p:cNvPr>
          <p:cNvSpPr txBox="1"/>
          <p:nvPr/>
        </p:nvSpPr>
        <p:spPr>
          <a:xfrm>
            <a:off x="2888661" y="5762395"/>
            <a:ext cx="206965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t>Creación de mercados</a:t>
            </a:r>
          </a:p>
        </p:txBody>
      </p:sp>
      <p:sp>
        <p:nvSpPr>
          <p:cNvPr id="13" name="CuadroTexto 8">
            <a:extLst>
              <a:ext uri="{FF2B5EF4-FFF2-40B4-BE49-F238E27FC236}">
                <a16:creationId xmlns:a16="http://schemas.microsoft.com/office/drawing/2014/main" id="{B98FFC94-2F2D-5EBD-CE45-ED22571EC107}"/>
              </a:ext>
            </a:extLst>
          </p:cNvPr>
          <p:cNvSpPr txBox="1"/>
          <p:nvPr/>
        </p:nvSpPr>
        <p:spPr>
          <a:xfrm>
            <a:off x="3315416" y="5299545"/>
            <a:ext cx="1182557" cy="369332"/>
          </a:xfrm>
          <a:prstGeom prst="rect">
            <a:avLst/>
          </a:prstGeom>
          <a:ln/>
        </p:spPr>
        <p:style>
          <a:lnRef idx="3">
            <a:schemeClr val="lt1"/>
          </a:lnRef>
          <a:fillRef idx="1">
            <a:schemeClr val="accent5"/>
          </a:fillRef>
          <a:effectRef idx="1">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t>Solución</a:t>
            </a:r>
          </a:p>
        </p:txBody>
      </p:sp>
      <p:sp>
        <p:nvSpPr>
          <p:cNvPr id="14" name="Left-Right Arrow 13">
            <a:extLst>
              <a:ext uri="{FF2B5EF4-FFF2-40B4-BE49-F238E27FC236}">
                <a16:creationId xmlns:a16="http://schemas.microsoft.com/office/drawing/2014/main" id="{ECF51801-BF78-5219-24CF-857F1A22176D}"/>
              </a:ext>
            </a:extLst>
          </p:cNvPr>
          <p:cNvSpPr/>
          <p:nvPr/>
        </p:nvSpPr>
        <p:spPr>
          <a:xfrm>
            <a:off x="3315416" y="4970563"/>
            <a:ext cx="1216142" cy="20673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TextBox 14">
            <a:extLst>
              <a:ext uri="{FF2B5EF4-FFF2-40B4-BE49-F238E27FC236}">
                <a16:creationId xmlns:a16="http://schemas.microsoft.com/office/drawing/2014/main" id="{7F1D4EE4-DB1E-84FB-82BE-A2F419461EF2}"/>
              </a:ext>
            </a:extLst>
          </p:cNvPr>
          <p:cNvSpPr txBox="1"/>
          <p:nvPr/>
        </p:nvSpPr>
        <p:spPr>
          <a:xfrm>
            <a:off x="7808021" y="6453598"/>
            <a:ext cx="4258393" cy="299706"/>
          </a:xfrm>
          <a:prstGeom prst="rect">
            <a:avLst/>
          </a:prstGeom>
        </p:spPr>
        <p:txBody>
          <a:bodyPr vert="horz" lIns="91440" tIns="45720" rIns="91440" bIns="45720" rtlCol="0">
            <a:normAutofit fontScale="92500"/>
          </a:bodyPr>
          <a:lstStyle/>
          <a:p>
            <a:pPr marL="182880">
              <a:lnSpc>
                <a:spcPct val="110000"/>
              </a:lnSpc>
              <a:spcBef>
                <a:spcPts val="400"/>
              </a:spcBef>
              <a:spcAft>
                <a:spcPts val="400"/>
              </a:spcAft>
              <a:buFont typeface="Arial" panose="020B0604020202020204" pitchFamily="34" charset="0"/>
            </a:pPr>
            <a:r>
              <a:rPr lang="en-US" sz="1050" dirty="0">
                <a:solidFill>
                  <a:schemeClr val="tx1">
                    <a:lumMod val="85000"/>
                    <a:lumOff val="15000"/>
                  </a:schemeClr>
                </a:solidFill>
              </a:rPr>
              <a:t>Adaptado de: </a:t>
            </a:r>
            <a:r>
              <a:rPr lang="en-US" sz="1050" i="1" dirty="0">
                <a:solidFill>
                  <a:schemeClr val="tx1">
                    <a:lumMod val="85000"/>
                    <a:lumOff val="15000"/>
                  </a:schemeClr>
                </a:solidFill>
              </a:rPr>
              <a:t>Rainforest Journalism Fund. </a:t>
            </a:r>
            <a:r>
              <a:rPr lang="en-US" sz="1050" dirty="0">
                <a:solidFill>
                  <a:schemeClr val="tx1">
                    <a:lumMod val="85000"/>
                    <a:lumOff val="15000"/>
                  </a:schemeClr>
                </a:solidFill>
                <a:hlinkClick r:id="rId5">
                  <a:extLst>
                    <a:ext uri="{A12FA001-AC4F-418D-AE19-62706E023703}">
                      <ahyp:hlinkClr xmlns:ahyp="http://schemas.microsoft.com/office/drawing/2018/hyperlinkcolor" val="tx"/>
                    </a:ext>
                  </a:extLst>
                </a:hlinkClick>
              </a:rPr>
              <a:t>Andrés Bermúdez Liévano</a:t>
            </a:r>
            <a:r>
              <a:rPr lang="en-US" sz="1050" dirty="0">
                <a:solidFill>
                  <a:schemeClr val="tx1">
                    <a:lumMod val="85000"/>
                    <a:lumOff val="15000"/>
                  </a:schemeClr>
                </a:solidFill>
              </a:rPr>
              <a:t> </a:t>
            </a:r>
          </a:p>
        </p:txBody>
      </p:sp>
      <p:pic>
        <p:nvPicPr>
          <p:cNvPr id="16" name="Picture 15">
            <a:extLst>
              <a:ext uri="{FF2B5EF4-FFF2-40B4-BE49-F238E27FC236}">
                <a16:creationId xmlns:a16="http://schemas.microsoft.com/office/drawing/2014/main" id="{B8B344F1-7009-AB97-2D49-22421E8E1365}"/>
              </a:ext>
            </a:extLst>
          </p:cNvPr>
          <p:cNvPicPr>
            <a:picLocks noChangeAspect="1"/>
          </p:cNvPicPr>
          <p:nvPr/>
        </p:nvPicPr>
        <p:blipFill>
          <a:blip r:embed="rId6"/>
          <a:stretch>
            <a:fillRect/>
          </a:stretch>
        </p:blipFill>
        <p:spPr>
          <a:xfrm>
            <a:off x="505669" y="5869637"/>
            <a:ext cx="2029040" cy="561888"/>
          </a:xfrm>
          <a:prstGeom prst="rect">
            <a:avLst/>
          </a:prstGeom>
        </p:spPr>
      </p:pic>
    </p:spTree>
    <p:extLst>
      <p:ext uri="{BB962C8B-B14F-4D97-AF65-F5344CB8AC3E}">
        <p14:creationId xmlns:p14="http://schemas.microsoft.com/office/powerpoint/2010/main" val="200347609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Mecanismos de mercado del Protocolo de Kioto</a:t>
            </a:r>
          </a:p>
        </p:txBody>
      </p:sp>
      <p:sp>
        <p:nvSpPr>
          <p:cNvPr id="10" name="Rounded Rectangle 9"/>
          <p:cNvSpPr/>
          <p:nvPr/>
        </p:nvSpPr>
        <p:spPr>
          <a:xfrm>
            <a:off x="914400" y="1783080"/>
            <a:ext cx="3200400" cy="393192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1143000" y="2011680"/>
            <a:ext cx="1600200" cy="365760"/>
          </a:xfrm>
          <a:prstGeom prst="roundRect">
            <a:avLst>
              <a:gd name="adj" fmla="val 50000"/>
            </a:avLst>
          </a:prstGeom>
          <a:solidFill>
            <a:srgbClr val="08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43000" y="2011680"/>
            <a:ext cx="1600200" cy="365760"/>
          </a:xfrm>
          <a:prstGeom prst="rect">
            <a:avLst/>
          </a:prstGeom>
          <a:noFill/>
        </p:spPr>
        <p:txBody>
          <a:bodyPr wrap="square" lIns="0" tIns="0" rIns="0" bIns="0" anchor="ctr">
            <a:spAutoFit/>
          </a:bodyPr>
          <a:lstStyle/>
          <a:p>
            <a:pPr algn="ctr">
              <a:spcAft>
                <a:spcPts val="400"/>
              </a:spcAft>
            </a:pPr>
            <a:r>
              <a:rPr sz="1200" b="1" i="0">
                <a:solidFill>
                  <a:srgbClr val="FFFFFF"/>
                </a:solidFill>
                <a:latin typeface="+mn-lt"/>
              </a:rPr>
              <a:t>Cap and trade</a:t>
            </a:r>
          </a:p>
        </p:txBody>
      </p:sp>
      <p:sp>
        <p:nvSpPr>
          <p:cNvPr id="13" name="TextBox 12"/>
          <p:cNvSpPr txBox="1"/>
          <p:nvPr/>
        </p:nvSpPr>
        <p:spPr>
          <a:xfrm>
            <a:off x="1143000" y="2514600"/>
            <a:ext cx="2743200" cy="731520"/>
          </a:xfrm>
          <a:prstGeom prst="rect">
            <a:avLst/>
          </a:prstGeom>
          <a:noFill/>
        </p:spPr>
        <p:txBody>
          <a:bodyPr wrap="square" lIns="45720" rIns="45720" anchor="t">
            <a:spAutoFit/>
          </a:bodyPr>
          <a:lstStyle/>
          <a:p>
            <a:pPr algn="l">
              <a:spcAft>
                <a:spcPts val="400"/>
              </a:spcAft>
            </a:pPr>
            <a:r>
              <a:rPr sz="1800" b="1" i="0">
                <a:solidFill>
                  <a:srgbClr val="00323F"/>
                </a:solidFill>
                <a:latin typeface="+mn-lt"/>
              </a:rPr>
              <a:t>Comercio internacional de emisiones</a:t>
            </a:r>
          </a:p>
        </p:txBody>
      </p:sp>
      <p:sp>
        <p:nvSpPr>
          <p:cNvPr id="14" name="TextBox 13"/>
          <p:cNvSpPr txBox="1"/>
          <p:nvPr/>
        </p:nvSpPr>
        <p:spPr>
          <a:xfrm>
            <a:off x="1143000" y="3474720"/>
            <a:ext cx="2743200" cy="914400"/>
          </a:xfrm>
          <a:prstGeom prst="rect">
            <a:avLst/>
          </a:prstGeom>
          <a:noFill/>
        </p:spPr>
        <p:txBody>
          <a:bodyPr wrap="square" lIns="45720" rIns="45720" anchor="t">
            <a:spAutoFit/>
          </a:bodyPr>
          <a:lstStyle/>
          <a:p>
            <a:pPr algn="l">
              <a:spcAft>
                <a:spcPts val="400"/>
              </a:spcAft>
            </a:pPr>
            <a:r>
              <a:rPr sz="1400" b="0" i="0">
                <a:solidFill>
                  <a:srgbClr val="595959"/>
                </a:solidFill>
                <a:latin typeface="+mn-lt"/>
              </a:rPr>
              <a:t>Los países intercambian permisos de emisión bajo un límite total.</a:t>
            </a:r>
          </a:p>
        </p:txBody>
      </p:sp>
      <p:sp>
        <p:nvSpPr>
          <p:cNvPr id="15" name="Rounded Rectangle 14"/>
          <p:cNvSpPr/>
          <p:nvPr/>
        </p:nvSpPr>
        <p:spPr>
          <a:xfrm>
            <a:off x="1097280" y="4434840"/>
            <a:ext cx="2834640" cy="1097280"/>
          </a:xfrm>
          <a:prstGeom prst="roundRect">
            <a:avLst>
              <a:gd name="adj" fmla="val 10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234440" y="4434840"/>
            <a:ext cx="2606040" cy="1097280"/>
          </a:xfrm>
          <a:prstGeom prst="rect">
            <a:avLst/>
          </a:prstGeom>
          <a:noFill/>
        </p:spPr>
        <p:txBody>
          <a:bodyPr wrap="square" lIns="45720" rIns="45720" anchor="ctr">
            <a:spAutoFit/>
          </a:bodyPr>
          <a:lstStyle/>
          <a:p>
            <a:pPr algn="l">
              <a:spcAft>
                <a:spcPts val="200"/>
              </a:spcAft>
            </a:pPr>
            <a:r>
              <a:rPr sz="1200" b="1" i="0">
                <a:solidFill>
                  <a:srgbClr val="088A3A"/>
                </a:solidFill>
                <a:latin typeface="+mn-lt"/>
              </a:rPr>
              <a:t>1 t CO₂e =</a:t>
            </a:r>
          </a:p>
          <a:p>
            <a:pPr algn="l">
              <a:spcAft>
                <a:spcPts val="200"/>
              </a:spcAft>
            </a:pPr>
            <a:r>
              <a:rPr sz="1600" b="1" i="0">
                <a:solidFill>
                  <a:srgbClr val="00323F"/>
                </a:solidFill>
                <a:latin typeface="+mn-lt"/>
              </a:rPr>
              <a:t>Derecho de emisión (allowance)</a:t>
            </a:r>
          </a:p>
        </p:txBody>
      </p:sp>
      <p:sp>
        <p:nvSpPr>
          <p:cNvPr id="17" name="Rounded Rectangle 16"/>
          <p:cNvSpPr/>
          <p:nvPr/>
        </p:nvSpPr>
        <p:spPr>
          <a:xfrm>
            <a:off x="4434840" y="1783080"/>
            <a:ext cx="3200400" cy="393192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4663440" y="2011680"/>
            <a:ext cx="1600200" cy="36576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663440" y="2011680"/>
            <a:ext cx="1600200" cy="365760"/>
          </a:xfrm>
          <a:prstGeom prst="rect">
            <a:avLst/>
          </a:prstGeom>
          <a:noFill/>
        </p:spPr>
        <p:txBody>
          <a:bodyPr wrap="square" lIns="0" tIns="0" rIns="0" bIns="0" anchor="ctr">
            <a:spAutoFit/>
          </a:bodyPr>
          <a:lstStyle/>
          <a:p>
            <a:pPr algn="ctr">
              <a:spcAft>
                <a:spcPts val="400"/>
              </a:spcAft>
            </a:pPr>
            <a:r>
              <a:rPr sz="1200" b="1" i="0">
                <a:solidFill>
                  <a:srgbClr val="FFFFFF"/>
                </a:solidFill>
                <a:latin typeface="+mn-lt"/>
              </a:rPr>
              <a:t>Offset</a:t>
            </a:r>
          </a:p>
        </p:txBody>
      </p:sp>
      <p:sp>
        <p:nvSpPr>
          <p:cNvPr id="20" name="TextBox 19"/>
          <p:cNvSpPr txBox="1"/>
          <p:nvPr/>
        </p:nvSpPr>
        <p:spPr>
          <a:xfrm>
            <a:off x="4663440" y="2514600"/>
            <a:ext cx="2743200" cy="731520"/>
          </a:xfrm>
          <a:prstGeom prst="rect">
            <a:avLst/>
          </a:prstGeom>
          <a:noFill/>
        </p:spPr>
        <p:txBody>
          <a:bodyPr wrap="square" lIns="45720" rIns="45720" anchor="t">
            <a:spAutoFit/>
          </a:bodyPr>
          <a:lstStyle/>
          <a:p>
            <a:pPr algn="l">
              <a:spcAft>
                <a:spcPts val="400"/>
              </a:spcAft>
            </a:pPr>
            <a:r>
              <a:rPr sz="1800" b="1" i="0">
                <a:solidFill>
                  <a:srgbClr val="00323F"/>
                </a:solidFill>
                <a:latin typeface="+mn-lt"/>
              </a:rPr>
              <a:t>Mecanismo de Desarrollo Limpio (MDL)</a:t>
            </a:r>
          </a:p>
        </p:txBody>
      </p:sp>
      <p:sp>
        <p:nvSpPr>
          <p:cNvPr id="21" name="TextBox 20"/>
          <p:cNvSpPr txBox="1"/>
          <p:nvPr/>
        </p:nvSpPr>
        <p:spPr>
          <a:xfrm>
            <a:off x="4663440" y="3474720"/>
            <a:ext cx="2743200" cy="914400"/>
          </a:xfrm>
          <a:prstGeom prst="rect">
            <a:avLst/>
          </a:prstGeom>
          <a:noFill/>
        </p:spPr>
        <p:txBody>
          <a:bodyPr wrap="square" lIns="45720" rIns="45720" anchor="t">
            <a:spAutoFit/>
          </a:bodyPr>
          <a:lstStyle/>
          <a:p>
            <a:pPr algn="l">
              <a:spcAft>
                <a:spcPts val="400"/>
              </a:spcAft>
            </a:pPr>
            <a:r>
              <a:rPr sz="1400" b="0" i="0">
                <a:solidFill>
                  <a:srgbClr val="595959"/>
                </a:solidFill>
                <a:latin typeface="+mn-lt"/>
              </a:rPr>
              <a:t>Países desarrollados compran créditos de proyectos en países en desarrollo.</a:t>
            </a:r>
          </a:p>
        </p:txBody>
      </p:sp>
      <p:sp>
        <p:nvSpPr>
          <p:cNvPr id="22" name="Rounded Rectangle 21"/>
          <p:cNvSpPr/>
          <p:nvPr/>
        </p:nvSpPr>
        <p:spPr>
          <a:xfrm>
            <a:off x="4617720" y="4434840"/>
            <a:ext cx="2834640" cy="1097280"/>
          </a:xfrm>
          <a:prstGeom prst="roundRect">
            <a:avLst>
              <a:gd name="adj" fmla="val 10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754879" y="4434840"/>
            <a:ext cx="2606040" cy="1097280"/>
          </a:xfrm>
          <a:prstGeom prst="rect">
            <a:avLst/>
          </a:prstGeom>
          <a:noFill/>
        </p:spPr>
        <p:txBody>
          <a:bodyPr wrap="square" lIns="45720" rIns="45720" anchor="ctr">
            <a:spAutoFit/>
          </a:bodyPr>
          <a:lstStyle/>
          <a:p>
            <a:pPr algn="l">
              <a:spcAft>
                <a:spcPts val="200"/>
              </a:spcAft>
            </a:pPr>
            <a:r>
              <a:rPr sz="1200" b="1" i="0">
                <a:solidFill>
                  <a:srgbClr val="088A3A"/>
                </a:solidFill>
                <a:latin typeface="+mn-lt"/>
              </a:rPr>
              <a:t>1 t CO₂e =</a:t>
            </a:r>
          </a:p>
          <a:p>
            <a:pPr algn="l">
              <a:spcAft>
                <a:spcPts val="200"/>
              </a:spcAft>
            </a:pPr>
            <a:r>
              <a:rPr sz="1600" b="1" i="0">
                <a:solidFill>
                  <a:srgbClr val="00323F"/>
                </a:solidFill>
                <a:latin typeface="+mn-lt"/>
              </a:rPr>
              <a:t>Reducción certificada (CER)</a:t>
            </a:r>
          </a:p>
        </p:txBody>
      </p:sp>
      <p:sp>
        <p:nvSpPr>
          <p:cNvPr id="24" name="Rounded Rectangle 23"/>
          <p:cNvSpPr/>
          <p:nvPr/>
        </p:nvSpPr>
        <p:spPr>
          <a:xfrm>
            <a:off x="7955279" y="1783080"/>
            <a:ext cx="3200400" cy="393192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8183879" y="2011680"/>
            <a:ext cx="1600200" cy="36576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183879" y="2011680"/>
            <a:ext cx="1600200" cy="365760"/>
          </a:xfrm>
          <a:prstGeom prst="rect">
            <a:avLst/>
          </a:prstGeom>
          <a:noFill/>
        </p:spPr>
        <p:txBody>
          <a:bodyPr wrap="square" lIns="0" tIns="0" rIns="0" bIns="0" anchor="ctr">
            <a:spAutoFit/>
          </a:bodyPr>
          <a:lstStyle/>
          <a:p>
            <a:pPr algn="ctr">
              <a:spcAft>
                <a:spcPts val="400"/>
              </a:spcAft>
            </a:pPr>
            <a:r>
              <a:rPr sz="1200" b="1" i="0">
                <a:solidFill>
                  <a:srgbClr val="FFFFFF"/>
                </a:solidFill>
                <a:latin typeface="+mn-lt"/>
              </a:rPr>
              <a:t>Offset</a:t>
            </a:r>
          </a:p>
        </p:txBody>
      </p:sp>
      <p:sp>
        <p:nvSpPr>
          <p:cNvPr id="27" name="TextBox 26"/>
          <p:cNvSpPr txBox="1"/>
          <p:nvPr/>
        </p:nvSpPr>
        <p:spPr>
          <a:xfrm>
            <a:off x="8183879" y="2514600"/>
            <a:ext cx="2743200" cy="731520"/>
          </a:xfrm>
          <a:prstGeom prst="rect">
            <a:avLst/>
          </a:prstGeom>
          <a:noFill/>
        </p:spPr>
        <p:txBody>
          <a:bodyPr wrap="square" lIns="45720" rIns="45720" anchor="t">
            <a:spAutoFit/>
          </a:bodyPr>
          <a:lstStyle/>
          <a:p>
            <a:pPr algn="l">
              <a:spcAft>
                <a:spcPts val="400"/>
              </a:spcAft>
            </a:pPr>
            <a:r>
              <a:rPr sz="1800" b="1" i="0">
                <a:solidFill>
                  <a:srgbClr val="00323F"/>
                </a:solidFill>
                <a:latin typeface="+mn-lt"/>
              </a:rPr>
              <a:t>Implementación Conjunta (JI)</a:t>
            </a:r>
          </a:p>
        </p:txBody>
      </p:sp>
      <p:sp>
        <p:nvSpPr>
          <p:cNvPr id="28" name="TextBox 27"/>
          <p:cNvSpPr txBox="1"/>
          <p:nvPr/>
        </p:nvSpPr>
        <p:spPr>
          <a:xfrm>
            <a:off x="8183879" y="3474720"/>
            <a:ext cx="2743200" cy="914400"/>
          </a:xfrm>
          <a:prstGeom prst="rect">
            <a:avLst/>
          </a:prstGeom>
          <a:noFill/>
        </p:spPr>
        <p:txBody>
          <a:bodyPr wrap="square" lIns="45720" rIns="45720" anchor="t">
            <a:spAutoFit/>
          </a:bodyPr>
          <a:lstStyle/>
          <a:p>
            <a:pPr algn="l">
              <a:spcAft>
                <a:spcPts val="400"/>
              </a:spcAft>
            </a:pPr>
            <a:r>
              <a:rPr sz="1400" b="0" i="0">
                <a:solidFill>
                  <a:srgbClr val="595959"/>
                </a:solidFill>
                <a:latin typeface="+mn-lt"/>
              </a:rPr>
              <a:t>Países desarrollados compran créditos de otros países desarrollados.</a:t>
            </a:r>
          </a:p>
        </p:txBody>
      </p:sp>
      <p:sp>
        <p:nvSpPr>
          <p:cNvPr id="29" name="Rounded Rectangle 28"/>
          <p:cNvSpPr/>
          <p:nvPr/>
        </p:nvSpPr>
        <p:spPr>
          <a:xfrm>
            <a:off x="8138159" y="4434840"/>
            <a:ext cx="2834640" cy="1097280"/>
          </a:xfrm>
          <a:prstGeom prst="roundRect">
            <a:avLst>
              <a:gd name="adj" fmla="val 10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275319" y="4434840"/>
            <a:ext cx="2606040" cy="1097280"/>
          </a:xfrm>
          <a:prstGeom prst="rect">
            <a:avLst/>
          </a:prstGeom>
          <a:noFill/>
        </p:spPr>
        <p:txBody>
          <a:bodyPr wrap="square" lIns="45720" rIns="45720" anchor="ctr">
            <a:spAutoFit/>
          </a:bodyPr>
          <a:lstStyle/>
          <a:p>
            <a:pPr algn="l">
              <a:spcAft>
                <a:spcPts val="200"/>
              </a:spcAft>
            </a:pPr>
            <a:r>
              <a:rPr sz="1200" b="1" i="0">
                <a:solidFill>
                  <a:srgbClr val="088A3A"/>
                </a:solidFill>
                <a:latin typeface="+mn-lt"/>
              </a:rPr>
              <a:t>1 t CO₂e =</a:t>
            </a:r>
          </a:p>
          <a:p>
            <a:pPr algn="l">
              <a:spcAft>
                <a:spcPts val="200"/>
              </a:spcAft>
            </a:pPr>
            <a:r>
              <a:rPr sz="1600" b="1" i="0">
                <a:solidFill>
                  <a:srgbClr val="00323F"/>
                </a:solidFill>
                <a:latin typeface="+mn-lt"/>
              </a:rPr>
              <a:t>Unidad de reducción (ERU)</a:t>
            </a:r>
          </a:p>
        </p:txBody>
      </p:sp>
    </p:spTree>
    <p:extLst>
      <p:ext uri="{BB962C8B-B14F-4D97-AF65-F5344CB8AC3E}">
        <p14:creationId xmlns:p14="http://schemas.microsoft.com/office/powerpoint/2010/main" val="3009164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Cómo funciona el Mecanismo de Desarrollo Limpio</a:t>
            </a:r>
          </a:p>
        </p:txBody>
      </p:sp>
      <p:sp>
        <p:nvSpPr>
          <p:cNvPr id="10" name="Rounded Rectangle 9"/>
          <p:cNvSpPr/>
          <p:nvPr/>
        </p:nvSpPr>
        <p:spPr>
          <a:xfrm>
            <a:off x="914400" y="2377440"/>
            <a:ext cx="3108960" cy="2103120"/>
          </a:xfrm>
          <a:prstGeom prst="roundRect">
            <a:avLst>
              <a:gd name="adj" fmla="val 8000"/>
            </a:avLst>
          </a:prstGeom>
          <a:solidFill>
            <a:srgbClr val="00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2040940" y="2452420"/>
            <a:ext cx="855878" cy="85587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s12_130.png"/>
          <p:cNvPicPr>
            <a:picLocks noChangeAspect="1"/>
          </p:cNvPicPr>
          <p:nvPr/>
        </p:nvPicPr>
        <p:blipFill>
          <a:blip r:embed="rId3"/>
          <a:stretch>
            <a:fillRect/>
          </a:stretch>
        </p:blipFill>
        <p:spPr>
          <a:xfrm>
            <a:off x="2194560" y="2606040"/>
            <a:ext cx="548640" cy="548640"/>
          </a:xfrm>
          <a:prstGeom prst="rect">
            <a:avLst/>
          </a:prstGeom>
        </p:spPr>
      </p:pic>
      <p:sp>
        <p:nvSpPr>
          <p:cNvPr id="13" name="TextBox 12"/>
          <p:cNvSpPr txBox="1"/>
          <p:nvPr/>
        </p:nvSpPr>
        <p:spPr>
          <a:xfrm>
            <a:off x="1097280" y="3429000"/>
            <a:ext cx="2743200" cy="1005840"/>
          </a:xfrm>
          <a:prstGeom prst="rect">
            <a:avLst/>
          </a:prstGeom>
          <a:noFill/>
        </p:spPr>
        <p:txBody>
          <a:bodyPr wrap="square" lIns="45720" rIns="45720" anchor="t">
            <a:spAutoFit/>
          </a:bodyPr>
          <a:lstStyle/>
          <a:p>
            <a:pPr algn="ctr">
              <a:spcAft>
                <a:spcPts val="200"/>
              </a:spcAft>
            </a:pPr>
            <a:r>
              <a:rPr sz="1800" b="1" i="0">
                <a:solidFill>
                  <a:srgbClr val="FFFFFF"/>
                </a:solidFill>
                <a:latin typeface="+mn-lt"/>
              </a:rPr>
              <a:t>País industrializado</a:t>
            </a:r>
          </a:p>
          <a:p>
            <a:pPr algn="ctr">
              <a:spcAft>
                <a:spcPts val="200"/>
              </a:spcAft>
            </a:pPr>
            <a:r>
              <a:rPr sz="1400" b="0" i="0">
                <a:solidFill>
                  <a:srgbClr val="FFFFFF"/>
                </a:solidFill>
                <a:latin typeface="+mn-lt"/>
              </a:rPr>
              <a:t>Tiene emisiones de GEI que debe compensar</a:t>
            </a:r>
          </a:p>
        </p:txBody>
      </p:sp>
      <p:sp>
        <p:nvSpPr>
          <p:cNvPr id="14" name="Rounded Rectangle 13"/>
          <p:cNvSpPr/>
          <p:nvPr/>
        </p:nvSpPr>
        <p:spPr>
          <a:xfrm>
            <a:off x="8138160" y="2377440"/>
            <a:ext cx="3108960" cy="2103120"/>
          </a:xfrm>
          <a:prstGeom prst="roundRect">
            <a:avLst>
              <a:gd name="adj" fmla="val 8000"/>
            </a:avLst>
          </a:prstGeom>
          <a:solidFill>
            <a:srgbClr val="08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9264700" y="2452420"/>
            <a:ext cx="855878" cy="85587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s12_148.png"/>
          <p:cNvPicPr>
            <a:picLocks noChangeAspect="1"/>
          </p:cNvPicPr>
          <p:nvPr/>
        </p:nvPicPr>
        <p:blipFill>
          <a:blip r:embed="rId4"/>
          <a:stretch>
            <a:fillRect/>
          </a:stretch>
        </p:blipFill>
        <p:spPr>
          <a:xfrm>
            <a:off x="9418320" y="2606040"/>
            <a:ext cx="548640" cy="548640"/>
          </a:xfrm>
          <a:prstGeom prst="rect">
            <a:avLst/>
          </a:prstGeom>
        </p:spPr>
      </p:pic>
      <p:sp>
        <p:nvSpPr>
          <p:cNvPr id="17" name="TextBox 16"/>
          <p:cNvSpPr txBox="1"/>
          <p:nvPr/>
        </p:nvSpPr>
        <p:spPr>
          <a:xfrm>
            <a:off x="8321040" y="3429000"/>
            <a:ext cx="2743200" cy="1005840"/>
          </a:xfrm>
          <a:prstGeom prst="rect">
            <a:avLst/>
          </a:prstGeom>
          <a:noFill/>
        </p:spPr>
        <p:txBody>
          <a:bodyPr wrap="square" lIns="45720" rIns="45720" anchor="t">
            <a:spAutoFit/>
          </a:bodyPr>
          <a:lstStyle/>
          <a:p>
            <a:pPr algn="ctr">
              <a:spcAft>
                <a:spcPts val="200"/>
              </a:spcAft>
            </a:pPr>
            <a:r>
              <a:rPr sz="1800" b="1" i="0">
                <a:solidFill>
                  <a:srgbClr val="FFFFFF"/>
                </a:solidFill>
                <a:latin typeface="+mn-lt"/>
              </a:rPr>
              <a:t>País en desarrollo</a:t>
            </a:r>
          </a:p>
          <a:p>
            <a:pPr algn="ctr">
              <a:spcAft>
                <a:spcPts val="200"/>
              </a:spcAft>
            </a:pPr>
            <a:r>
              <a:rPr sz="1400" b="0" i="0">
                <a:solidFill>
                  <a:srgbClr val="FFFFFF"/>
                </a:solidFill>
                <a:latin typeface="+mn-lt"/>
              </a:rPr>
              <a:t>Ejecuta el proyecto y reduce emisiones</a:t>
            </a:r>
          </a:p>
        </p:txBody>
      </p:sp>
      <p:sp>
        <p:nvSpPr>
          <p:cNvPr id="18" name="Left Arrow 17"/>
          <p:cNvSpPr/>
          <p:nvPr/>
        </p:nvSpPr>
        <p:spPr>
          <a:xfrm>
            <a:off x="4297680" y="2423160"/>
            <a:ext cx="3611880" cy="685800"/>
          </a:xfrm>
          <a:prstGeom prst="leftArrow">
            <a:avLst/>
          </a:prstGeom>
          <a:solidFill>
            <a:srgbClr val="04C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97680" y="1783080"/>
            <a:ext cx="3611880" cy="594360"/>
          </a:xfrm>
          <a:prstGeom prst="rect">
            <a:avLst/>
          </a:prstGeom>
          <a:noFill/>
        </p:spPr>
        <p:txBody>
          <a:bodyPr wrap="square" lIns="45720" rIns="45720" anchor="b">
            <a:spAutoFit/>
          </a:bodyPr>
          <a:lstStyle/>
          <a:p>
            <a:pPr algn="ctr">
              <a:spcAft>
                <a:spcPts val="400"/>
              </a:spcAft>
            </a:pPr>
            <a:r>
              <a:rPr sz="1600" b="1" i="0">
                <a:solidFill>
                  <a:srgbClr val="00323F"/>
                </a:solidFill>
                <a:latin typeface="+mn-lt"/>
              </a:rPr>
              <a:t>Créditos de carbono (CER)</a:t>
            </a:r>
          </a:p>
        </p:txBody>
      </p:sp>
      <p:sp>
        <p:nvSpPr>
          <p:cNvPr id="20" name="Right Arrow 19"/>
          <p:cNvSpPr/>
          <p:nvPr/>
        </p:nvSpPr>
        <p:spPr>
          <a:xfrm>
            <a:off x="4297680" y="3749039"/>
            <a:ext cx="3611880" cy="685800"/>
          </a:xfrm>
          <a:prstGeom prst="rightArrow">
            <a:avLst/>
          </a:prstGeom>
          <a:solidFill>
            <a:srgbClr val="00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0" y="4480560"/>
            <a:ext cx="3611880" cy="640080"/>
          </a:xfrm>
          <a:prstGeom prst="rect">
            <a:avLst/>
          </a:prstGeom>
          <a:noFill/>
        </p:spPr>
        <p:txBody>
          <a:bodyPr wrap="square" lIns="45720" rIns="45720" anchor="t">
            <a:spAutoFit/>
          </a:bodyPr>
          <a:lstStyle/>
          <a:p>
            <a:pPr algn="ctr">
              <a:spcAft>
                <a:spcPts val="400"/>
              </a:spcAft>
            </a:pPr>
            <a:r>
              <a:rPr sz="1400" b="1" i="0">
                <a:solidFill>
                  <a:srgbClr val="00323F"/>
                </a:solidFill>
                <a:latin typeface="+mn-lt"/>
              </a:rPr>
              <a:t>Pago: </a:t>
            </a:r>
            <a:r>
              <a:rPr sz="1400" b="0" i="0">
                <a:solidFill>
                  <a:srgbClr val="595959"/>
                </a:solidFill>
                <a:latin typeface="+mn-lt"/>
              </a:rPr>
              <a:t>financiación, tecnología y desarrollo de capacidades</a:t>
            </a:r>
          </a:p>
        </p:txBody>
      </p:sp>
      <p:sp>
        <p:nvSpPr>
          <p:cNvPr id="22" name="Rounded Rectangle 21"/>
          <p:cNvSpPr/>
          <p:nvPr/>
        </p:nvSpPr>
        <p:spPr>
          <a:xfrm>
            <a:off x="914400" y="5257800"/>
            <a:ext cx="10332720" cy="594360"/>
          </a:xfrm>
          <a:prstGeom prst="roundRect">
            <a:avLst>
              <a:gd name="adj" fmla="val 8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188720" y="5257800"/>
            <a:ext cx="9875520" cy="594360"/>
          </a:xfrm>
          <a:prstGeom prst="rect">
            <a:avLst/>
          </a:prstGeom>
          <a:noFill/>
        </p:spPr>
        <p:txBody>
          <a:bodyPr wrap="square" lIns="45720" rIns="45720" anchor="ctr">
            <a:spAutoFit/>
          </a:bodyPr>
          <a:lstStyle/>
          <a:p>
            <a:pPr algn="l">
              <a:spcAft>
                <a:spcPts val="400"/>
              </a:spcAft>
            </a:pPr>
            <a:r>
              <a:rPr sz="1600" b="1" i="0">
                <a:solidFill>
                  <a:srgbClr val="088A3A"/>
                </a:solidFill>
                <a:latin typeface="+mn-lt"/>
              </a:rPr>
              <a:t>Hoy: </a:t>
            </a:r>
            <a:r>
              <a:rPr sz="1600" b="0" i="0">
                <a:solidFill>
                  <a:srgbClr val="00323F"/>
                </a:solidFill>
                <a:latin typeface="+mn-lt"/>
              </a:rPr>
              <a:t>el mecanismo del artículo 6.4 del Acuerdo de París toma el relevo del MDL.</a:t>
            </a:r>
          </a:p>
        </p:txBody>
      </p:sp>
      <p:sp>
        <p:nvSpPr>
          <p:cNvPr id="24"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Basado en: Asian Development Bank, concepto del MDL (CDM).</a:t>
            </a:r>
          </a:p>
        </p:txBody>
      </p:sp>
    </p:spTree>
    <p:extLst>
      <p:ext uri="{BB962C8B-B14F-4D97-AF65-F5344CB8AC3E}">
        <p14:creationId xmlns:p14="http://schemas.microsoft.com/office/powerpoint/2010/main" val="513230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26C624C-963C-4795-B05B-6565DB5AB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screenshot of a website&#10;&#10;Description automatically generated">
            <a:extLst>
              <a:ext uri="{FF2B5EF4-FFF2-40B4-BE49-F238E27FC236}">
                <a16:creationId xmlns:a16="http://schemas.microsoft.com/office/drawing/2014/main" id="{EC606489-8B0D-1770-BB69-3B79BF9F3AEE}"/>
              </a:ext>
            </a:extLst>
          </p:cNvPr>
          <p:cNvPicPr>
            <a:picLocks noChangeAspect="1"/>
          </p:cNvPicPr>
          <p:nvPr/>
        </p:nvPicPr>
        <p:blipFill>
          <a:blip r:embed="rId2"/>
          <a:srcRect r="1833" b="-4"/>
          <a:stretch/>
        </p:blipFill>
        <p:spPr>
          <a:xfrm>
            <a:off x="80434" y="280267"/>
            <a:ext cx="3728839" cy="4197358"/>
          </a:xfrm>
          <a:prstGeom prst="rect">
            <a:avLst/>
          </a:prstGeom>
        </p:spPr>
      </p:pic>
      <p:pic>
        <p:nvPicPr>
          <p:cNvPr id="11" name="Picture 10" descr="A stream in a forest&#10;&#10;Description automatically generated">
            <a:extLst>
              <a:ext uri="{FF2B5EF4-FFF2-40B4-BE49-F238E27FC236}">
                <a16:creationId xmlns:a16="http://schemas.microsoft.com/office/drawing/2014/main" id="{F145CFCB-3C02-9BCA-F0E1-83242559978A}"/>
              </a:ext>
            </a:extLst>
          </p:cNvPr>
          <p:cNvPicPr>
            <a:picLocks noChangeAspect="1"/>
          </p:cNvPicPr>
          <p:nvPr/>
        </p:nvPicPr>
        <p:blipFill rotWithShape="1">
          <a:blip r:embed="rId3"/>
          <a:srcRect l="-2839" t="-3912" r="-2939" b="-16813"/>
          <a:stretch/>
        </p:blipFill>
        <p:spPr>
          <a:xfrm>
            <a:off x="3889707" y="64188"/>
            <a:ext cx="3686887" cy="4197368"/>
          </a:xfrm>
          <a:custGeom>
            <a:avLst/>
            <a:gdLst/>
            <a:ahLst/>
            <a:cxnLst/>
            <a:rect l="l" t="t" r="r" b="b"/>
            <a:pathLst>
              <a:path w="3686887" h="4197368">
                <a:moveTo>
                  <a:pt x="0" y="0"/>
                </a:moveTo>
                <a:lnTo>
                  <a:pt x="3686887" y="0"/>
                </a:lnTo>
                <a:lnTo>
                  <a:pt x="3686887" y="3832811"/>
                </a:lnTo>
                <a:lnTo>
                  <a:pt x="3497100" y="3826712"/>
                </a:lnTo>
                <a:cubicBezTo>
                  <a:pt x="3497100" y="3826712"/>
                  <a:pt x="3493758" y="3826712"/>
                  <a:pt x="3493758" y="3826712"/>
                </a:cubicBezTo>
                <a:cubicBezTo>
                  <a:pt x="3426914" y="3823370"/>
                  <a:pt x="3363416" y="3823370"/>
                  <a:pt x="3296571" y="3820027"/>
                </a:cubicBezTo>
                <a:cubicBezTo>
                  <a:pt x="3065966" y="3820027"/>
                  <a:pt x="2835360" y="3820027"/>
                  <a:pt x="2608095" y="3820027"/>
                </a:cubicBezTo>
                <a:cubicBezTo>
                  <a:pt x="2384173" y="3910265"/>
                  <a:pt x="2140198" y="3833396"/>
                  <a:pt x="1919619" y="3903581"/>
                </a:cubicBezTo>
                <a:cubicBezTo>
                  <a:pt x="1685670" y="3900239"/>
                  <a:pt x="1465092" y="3970423"/>
                  <a:pt x="1234485" y="4000503"/>
                </a:cubicBezTo>
                <a:cubicBezTo>
                  <a:pt x="1060693" y="4013871"/>
                  <a:pt x="883561" y="3997160"/>
                  <a:pt x="723139" y="4067345"/>
                </a:cubicBezTo>
                <a:cubicBezTo>
                  <a:pt x="661310" y="4095753"/>
                  <a:pt x="606165" y="4128339"/>
                  <a:pt x="583188" y="4172622"/>
                </a:cubicBezTo>
                <a:lnTo>
                  <a:pt x="575662" y="4197368"/>
                </a:lnTo>
                <a:lnTo>
                  <a:pt x="0" y="4197368"/>
                </a:lnTo>
                <a:close/>
              </a:path>
            </a:pathLst>
          </a:custGeom>
        </p:spPr>
      </p:pic>
      <p:pic>
        <p:nvPicPr>
          <p:cNvPr id="9" name="Picture 8" descr="A screenshot of a web page&#10;&#10;Description automatically generated">
            <a:extLst>
              <a:ext uri="{FF2B5EF4-FFF2-40B4-BE49-F238E27FC236}">
                <a16:creationId xmlns:a16="http://schemas.microsoft.com/office/drawing/2014/main" id="{BF0430A6-1FB8-112B-B53D-BE6387FFBD0E}"/>
              </a:ext>
            </a:extLst>
          </p:cNvPr>
          <p:cNvPicPr>
            <a:picLocks noChangeAspect="1"/>
          </p:cNvPicPr>
          <p:nvPr/>
        </p:nvPicPr>
        <p:blipFill rotWithShape="1">
          <a:blip r:embed="rId4"/>
          <a:srcRect l="-964" t="-28949" r="-1" b="-92216"/>
          <a:stretch/>
        </p:blipFill>
        <p:spPr>
          <a:xfrm>
            <a:off x="7653541" y="1"/>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
        <p:nvSpPr>
          <p:cNvPr id="4" name="Google Shape;430;p12">
            <a:extLst>
              <a:ext uri="{FF2B5EF4-FFF2-40B4-BE49-F238E27FC236}">
                <a16:creationId xmlns:a16="http://schemas.microsoft.com/office/drawing/2014/main" id="{F0EA3FBB-7584-7B19-7368-743504983267}"/>
              </a:ext>
            </a:extLst>
          </p:cNvPr>
          <p:cNvSpPr txBox="1">
            <a:spLocks/>
          </p:cNvSpPr>
          <p:nvPr/>
        </p:nvSpPr>
        <p:spPr>
          <a:xfrm>
            <a:off x="6343650" y="4181474"/>
            <a:ext cx="5505814" cy="1471335"/>
          </a:xfrm>
          <a:prstGeom prst="rect">
            <a:avLst/>
          </a:prstGeom>
        </p:spPr>
        <p:txBody>
          <a:bodyPr spcFirstLastPara="1" vert="horz" lIns="91440" tIns="45720" rIns="91440" bIns="45720" rtlCol="0" anchor="b" anchorCtr="0">
            <a:normAutofit/>
          </a:bodyPr>
          <a:lstStyle>
            <a:lvl1pPr lvl="0" algn="l" defTabSz="914400" rtl="0" eaLnBrk="1" latinLnBrk="0" hangingPunct="1">
              <a:lnSpc>
                <a:spcPct val="90000"/>
              </a:lnSpc>
              <a:spcBef>
                <a:spcPts val="0"/>
              </a:spcBef>
              <a:spcAft>
                <a:spcPts val="0"/>
              </a:spcAft>
              <a:buClr>
                <a:schemeClr val="dk1"/>
              </a:buClr>
              <a:buSzPts val="1800"/>
              <a:buNone/>
              <a:defRPr sz="4400" kern="1200">
                <a:solidFill>
                  <a:schemeClr val="tx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spcBef>
                <a:spcPct val="0"/>
              </a:spcBef>
              <a:spcAft>
                <a:spcPts val="600"/>
              </a:spcAft>
              <a:buClr>
                <a:srgbClr val="122C4A"/>
              </a:buClr>
              <a:buSzPct val="100000"/>
            </a:pPr>
            <a:r>
              <a:rPr lang="en-US" kern="1200" dirty="0" err="1">
                <a:solidFill>
                  <a:schemeClr val="tx1"/>
                </a:solidFill>
                <a:latin typeface="+mj-lt"/>
                <a:ea typeface="+mj-ea"/>
                <a:cs typeface="+mj-cs"/>
              </a:rPr>
              <a:t>Críticas</a:t>
            </a:r>
            <a:r>
              <a:rPr lang="en-US" kern="1200" dirty="0">
                <a:solidFill>
                  <a:schemeClr val="tx1"/>
                </a:solidFill>
                <a:latin typeface="+mj-lt"/>
                <a:ea typeface="+mj-ea"/>
                <a:cs typeface="+mj-cs"/>
              </a:rPr>
              <a:t> a los Mecanismos de </a:t>
            </a:r>
            <a:r>
              <a:rPr lang="en-US" kern="1200" dirty="0" err="1">
                <a:solidFill>
                  <a:schemeClr val="tx1"/>
                </a:solidFill>
                <a:latin typeface="+mj-lt"/>
                <a:ea typeface="+mj-ea"/>
                <a:cs typeface="+mj-cs"/>
              </a:rPr>
              <a:t>Kioto</a:t>
            </a:r>
            <a:endParaRPr lang="en-US" kern="1200" dirty="0">
              <a:solidFill>
                <a:schemeClr val="tx1"/>
              </a:solidFill>
              <a:latin typeface="+mj-lt"/>
              <a:ea typeface="+mj-ea"/>
              <a:cs typeface="+mj-cs"/>
            </a:endParaRPr>
          </a:p>
        </p:txBody>
      </p:sp>
      <p:sp>
        <p:nvSpPr>
          <p:cNvPr id="12" name="TextBox 11">
            <a:extLst>
              <a:ext uri="{FF2B5EF4-FFF2-40B4-BE49-F238E27FC236}">
                <a16:creationId xmlns:a16="http://schemas.microsoft.com/office/drawing/2014/main" id="{AFAB6F04-2E3E-576B-9E70-E1344D460D11}"/>
              </a:ext>
            </a:extLst>
          </p:cNvPr>
          <p:cNvSpPr txBox="1"/>
          <p:nvPr/>
        </p:nvSpPr>
        <p:spPr>
          <a:xfrm>
            <a:off x="9398000" y="2171700"/>
            <a:ext cx="184731" cy="369332"/>
          </a:xfrm>
          <a:prstGeom prst="rect">
            <a:avLst/>
          </a:prstGeom>
          <a:noFill/>
        </p:spPr>
        <p:txBody>
          <a:bodyPr wrap="none" rtlCol="0">
            <a:spAutoFit/>
          </a:bodyPr>
          <a:lstStyle/>
          <a:p>
            <a:endParaRPr lang="es-ES_tradnl" dirty="0"/>
          </a:p>
        </p:txBody>
      </p:sp>
      <p:pic>
        <p:nvPicPr>
          <p:cNvPr id="17" name="Picture 16">
            <a:extLst>
              <a:ext uri="{FF2B5EF4-FFF2-40B4-BE49-F238E27FC236}">
                <a16:creationId xmlns:a16="http://schemas.microsoft.com/office/drawing/2014/main" id="{5D42888A-9E97-89C6-9EB1-46C9E3BC1D86}"/>
              </a:ext>
            </a:extLst>
          </p:cNvPr>
          <p:cNvPicPr>
            <a:picLocks noChangeAspect="1"/>
          </p:cNvPicPr>
          <p:nvPr/>
        </p:nvPicPr>
        <p:blipFill rotWithShape="1">
          <a:blip r:embed="rId5"/>
          <a:srcRect t="-1321" r="-17162" b="1321"/>
          <a:stretch/>
        </p:blipFill>
        <p:spPr>
          <a:xfrm>
            <a:off x="80434" y="4966709"/>
            <a:ext cx="6773479" cy="1372200"/>
          </a:xfrm>
          <a:custGeom>
            <a:avLst/>
            <a:gdLst/>
            <a:ahLst/>
            <a:cxnLst/>
            <a:rect l="l" t="t" r="r" b="b"/>
            <a:pathLst>
              <a:path w="6836850" h="2541737">
                <a:moveTo>
                  <a:pt x="0" y="0"/>
                </a:moveTo>
                <a:lnTo>
                  <a:pt x="4460098" y="0"/>
                </a:lnTo>
                <a:lnTo>
                  <a:pt x="4483996" y="31836"/>
                </a:lnTo>
                <a:cubicBezTo>
                  <a:pt x="4644419" y="28495"/>
                  <a:pt x="4627708" y="282495"/>
                  <a:pt x="4788129" y="245732"/>
                </a:cubicBezTo>
                <a:cubicBezTo>
                  <a:pt x="4754709" y="362707"/>
                  <a:pt x="4641076" y="302548"/>
                  <a:pt x="4600971" y="389443"/>
                </a:cubicBezTo>
                <a:cubicBezTo>
                  <a:pt x="4684524" y="462970"/>
                  <a:pt x="4844945" y="409497"/>
                  <a:pt x="4871683" y="563233"/>
                </a:cubicBezTo>
                <a:cubicBezTo>
                  <a:pt x="4838262" y="723655"/>
                  <a:pt x="4945210" y="703602"/>
                  <a:pt x="5032105" y="713629"/>
                </a:cubicBezTo>
                <a:cubicBezTo>
                  <a:pt x="5239317" y="733683"/>
                  <a:pt x="5439843" y="747050"/>
                  <a:pt x="5643713" y="780472"/>
                </a:cubicBezTo>
                <a:cubicBezTo>
                  <a:pt x="5693844" y="790498"/>
                  <a:pt x="5810819" y="767103"/>
                  <a:pt x="5800794" y="870709"/>
                </a:cubicBezTo>
                <a:cubicBezTo>
                  <a:pt x="5790767" y="954261"/>
                  <a:pt x="5700529" y="924184"/>
                  <a:pt x="5643713" y="927525"/>
                </a:cubicBezTo>
                <a:cubicBezTo>
                  <a:pt x="5329553" y="967632"/>
                  <a:pt x="5012052" y="904131"/>
                  <a:pt x="4701235" y="907472"/>
                </a:cubicBezTo>
                <a:cubicBezTo>
                  <a:pt x="4664472" y="907472"/>
                  <a:pt x="4657787" y="1017762"/>
                  <a:pt x="4577576" y="980999"/>
                </a:cubicBezTo>
                <a:cubicBezTo>
                  <a:pt x="4788129" y="1081263"/>
                  <a:pt x="5767372" y="1108001"/>
                  <a:pt x="6094900" y="1161474"/>
                </a:cubicBezTo>
                <a:cubicBezTo>
                  <a:pt x="5754004" y="1542477"/>
                  <a:pt x="5429817" y="1311870"/>
                  <a:pt x="5159105" y="1525765"/>
                </a:cubicBezTo>
                <a:cubicBezTo>
                  <a:pt x="5159105" y="1525765"/>
                  <a:pt x="5212580" y="1525765"/>
                  <a:pt x="5443187" y="1595950"/>
                </a:cubicBezTo>
                <a:cubicBezTo>
                  <a:pt x="5627002" y="1652765"/>
                  <a:pt x="5536765" y="1732976"/>
                  <a:pt x="6001321" y="1886715"/>
                </a:cubicBezTo>
                <a:cubicBezTo>
                  <a:pt x="5824188" y="1936846"/>
                  <a:pt x="5593581" y="1839925"/>
                  <a:pt x="5506685" y="2100610"/>
                </a:cubicBezTo>
                <a:cubicBezTo>
                  <a:pt x="5643713" y="2147401"/>
                  <a:pt x="5807477" y="2103953"/>
                  <a:pt x="5904398" y="2227611"/>
                </a:cubicBezTo>
                <a:cubicBezTo>
                  <a:pt x="5934478" y="2264375"/>
                  <a:pt x="5964557" y="2287770"/>
                  <a:pt x="6001321" y="2307821"/>
                </a:cubicBezTo>
                <a:cubicBezTo>
                  <a:pt x="5984612" y="2314507"/>
                  <a:pt x="5964557" y="2321190"/>
                  <a:pt x="5951188" y="2327874"/>
                </a:cubicBezTo>
                <a:cubicBezTo>
                  <a:pt x="5977925" y="2351271"/>
                  <a:pt x="6663060" y="2478270"/>
                  <a:pt x="6836850" y="2481613"/>
                </a:cubicBezTo>
                <a:cubicBezTo>
                  <a:pt x="6761652" y="2506679"/>
                  <a:pt x="6636845" y="2527828"/>
                  <a:pt x="6553814" y="2540165"/>
                </a:cubicBezTo>
                <a:lnTo>
                  <a:pt x="6542822" y="2541737"/>
                </a:lnTo>
                <a:lnTo>
                  <a:pt x="0" y="2541737"/>
                </a:lnTo>
                <a:close/>
              </a:path>
            </a:pathLst>
          </a:custGeom>
        </p:spPr>
      </p:pic>
    </p:spTree>
    <p:extLst>
      <p:ext uri="{BB962C8B-B14F-4D97-AF65-F5344CB8AC3E}">
        <p14:creationId xmlns:p14="http://schemas.microsoft.com/office/powerpoint/2010/main" val="64614895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B20D-FF16-3B36-3F7E-50383AB8578E}"/>
            </a:ext>
          </a:extLst>
        </p:cNvPr>
        <p:cNvGrpSpPr/>
        <p:nvPr/>
      </p:nvGrpSpPr>
      <p:grpSpPr>
        <a:xfrm>
          <a:off x="0" y="0"/>
          <a:ext cx="0" cy="0"/>
          <a:chOff x="0" y="0"/>
          <a:chExt cx="0" cy="0"/>
        </a:xfrm>
      </p:grpSpPr>
      <p:sp>
        <p:nvSpPr>
          <p:cNvPr id="4" name="Google Shape;430;p12">
            <a:extLst>
              <a:ext uri="{FF2B5EF4-FFF2-40B4-BE49-F238E27FC236}">
                <a16:creationId xmlns:a16="http://schemas.microsoft.com/office/drawing/2014/main" id="{19F21A78-1851-1677-26BA-6712E3262366}"/>
              </a:ext>
            </a:extLst>
          </p:cNvPr>
          <p:cNvSpPr txBox="1">
            <a:spLocks/>
          </p:cNvSpPr>
          <p:nvPr/>
        </p:nvSpPr>
        <p:spPr>
          <a:xfrm>
            <a:off x="642551" y="341197"/>
            <a:ext cx="9101524" cy="735763"/>
          </a:xfrm>
          <a:prstGeom prst="rect">
            <a:avLst/>
          </a:prstGeom>
          <a:noFill/>
          <a:ln>
            <a:noFill/>
          </a:ln>
        </p:spPr>
        <p:txBody>
          <a:bodyPr spcFirstLastPara="1" vert="horz" wrap="square" lIns="91425" tIns="45700" rIns="91425" bIns="45700" rtlCol="0" anchor="t" anchorCtr="0">
            <a:normAutofit fontScale="97500"/>
          </a:bodyPr>
          <a:lstStyle>
            <a:lvl1pPr lvl="0" algn="l" defTabSz="914400" rtl="0" eaLnBrk="1" latinLnBrk="0" hangingPunct="1">
              <a:lnSpc>
                <a:spcPct val="90000"/>
              </a:lnSpc>
              <a:spcBef>
                <a:spcPts val="0"/>
              </a:spcBef>
              <a:spcAft>
                <a:spcPts val="0"/>
              </a:spcAft>
              <a:buClr>
                <a:schemeClr val="dk1"/>
              </a:buClr>
              <a:buSzPts val="1800"/>
              <a:buNone/>
              <a:defRPr sz="4400" kern="1200">
                <a:solidFill>
                  <a:schemeClr val="tx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buClr>
                <a:srgbClr val="122C4A"/>
              </a:buClr>
              <a:buSzPct val="100000"/>
              <a:buFont typeface="Lato Black"/>
              <a:buNone/>
            </a:pPr>
            <a:r>
              <a:rPr lang="en-US" dirty="0" err="1"/>
              <a:t>Críticas</a:t>
            </a:r>
            <a:r>
              <a:rPr lang="en-US" dirty="0"/>
              <a:t> a los Mecanismos de </a:t>
            </a:r>
            <a:r>
              <a:rPr lang="en-US" dirty="0" err="1"/>
              <a:t>Kioto</a:t>
            </a:r>
            <a:endParaRPr lang="en-US" dirty="0"/>
          </a:p>
        </p:txBody>
      </p:sp>
      <p:sp>
        <p:nvSpPr>
          <p:cNvPr id="5" name="Google Shape;432;p12">
            <a:extLst>
              <a:ext uri="{FF2B5EF4-FFF2-40B4-BE49-F238E27FC236}">
                <a16:creationId xmlns:a16="http://schemas.microsoft.com/office/drawing/2014/main" id="{DC294B8C-B5B6-CB1D-EBCA-FB9BE36D64C6}"/>
              </a:ext>
            </a:extLst>
          </p:cNvPr>
          <p:cNvSpPr txBox="1">
            <a:spLocks/>
          </p:cNvSpPr>
          <p:nvPr/>
        </p:nvSpPr>
        <p:spPr>
          <a:xfrm>
            <a:off x="660400" y="1314450"/>
            <a:ext cx="11239500" cy="4548188"/>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Clr>
                <a:schemeClr val="dk1"/>
              </a:buClr>
              <a:buSzPts val="2800"/>
            </a:pPr>
            <a:r>
              <a:rPr lang="en-US" dirty="0" err="1"/>
              <a:t>Pobre</a:t>
            </a:r>
            <a:r>
              <a:rPr lang="en-US" dirty="0"/>
              <a:t> </a:t>
            </a:r>
            <a:r>
              <a:rPr lang="en-US" dirty="0" err="1"/>
              <a:t>integridad</a:t>
            </a:r>
            <a:r>
              <a:rPr lang="en-US" dirty="0"/>
              <a:t> de los MDL</a:t>
            </a:r>
          </a:p>
          <a:p>
            <a:pPr lvl="1">
              <a:spcBef>
                <a:spcPts val="0"/>
              </a:spcBef>
              <a:buClr>
                <a:schemeClr val="dk1"/>
              </a:buClr>
              <a:buSzPts val="2800"/>
            </a:pPr>
            <a:r>
              <a:rPr lang="en-US" dirty="0"/>
              <a:t>Mala </a:t>
            </a:r>
            <a:r>
              <a:rPr lang="en-US" dirty="0" err="1"/>
              <a:t>calidad</a:t>
            </a:r>
            <a:r>
              <a:rPr lang="en-US" dirty="0"/>
              <a:t> de las </a:t>
            </a:r>
            <a:r>
              <a:rPr lang="en-US" dirty="0" err="1"/>
              <a:t>unidades</a:t>
            </a:r>
            <a:r>
              <a:rPr lang="en-US" dirty="0"/>
              <a:t> (</a:t>
            </a:r>
            <a:r>
              <a:rPr lang="en-US" dirty="0" err="1"/>
              <a:t>reales</a:t>
            </a:r>
            <a:r>
              <a:rPr lang="en-US" dirty="0"/>
              <a:t>, </a:t>
            </a:r>
            <a:r>
              <a:rPr lang="en-US" dirty="0" err="1"/>
              <a:t>adicionales</a:t>
            </a:r>
            <a:r>
              <a:rPr lang="en-US" dirty="0"/>
              <a:t>, </a:t>
            </a:r>
            <a:r>
              <a:rPr lang="en-US" dirty="0" err="1"/>
              <a:t>verificables</a:t>
            </a:r>
            <a:r>
              <a:rPr lang="en-US" dirty="0"/>
              <a:t>, </a:t>
            </a:r>
            <a:r>
              <a:rPr lang="en-US" dirty="0" err="1"/>
              <a:t>permanentes</a:t>
            </a:r>
            <a:r>
              <a:rPr lang="en-US" dirty="0"/>
              <a:t>)</a:t>
            </a:r>
          </a:p>
          <a:p>
            <a:pPr lvl="1">
              <a:spcBef>
                <a:spcPts val="0"/>
              </a:spcBef>
              <a:buClr>
                <a:schemeClr val="dk1"/>
              </a:buClr>
              <a:buSzPts val="2800"/>
            </a:pPr>
            <a:r>
              <a:rPr lang="en-US" dirty="0" err="1"/>
              <a:t>Problemas</a:t>
            </a:r>
            <a:r>
              <a:rPr lang="en-US" dirty="0"/>
              <a:t> </a:t>
            </a:r>
            <a:r>
              <a:rPr lang="en-US" dirty="0" err="1"/>
              <a:t>contables</a:t>
            </a:r>
            <a:r>
              <a:rPr lang="en-US" dirty="0"/>
              <a:t> (doble </a:t>
            </a:r>
            <a:r>
              <a:rPr lang="en-US" dirty="0" err="1"/>
              <a:t>conteo</a:t>
            </a:r>
            <a:r>
              <a:rPr lang="en-US" dirty="0"/>
              <a:t>)</a:t>
            </a:r>
          </a:p>
          <a:p>
            <a:pPr lvl="1">
              <a:spcBef>
                <a:spcPts val="0"/>
              </a:spcBef>
              <a:buClr>
                <a:schemeClr val="dk1"/>
              </a:buClr>
              <a:buSzPts val="2800"/>
            </a:pPr>
            <a:r>
              <a:rPr lang="en-US" dirty="0"/>
              <a:t>Marco de </a:t>
            </a:r>
            <a:r>
              <a:rPr lang="en-US" dirty="0" err="1"/>
              <a:t>tiempo</a:t>
            </a:r>
            <a:r>
              <a:rPr lang="en-US" dirty="0"/>
              <a:t> (</a:t>
            </a:r>
            <a:r>
              <a:rPr lang="en-US" dirty="0" err="1"/>
              <a:t>proyecto</a:t>
            </a:r>
            <a:r>
              <a:rPr lang="en-US" dirty="0"/>
              <a:t> a gran </a:t>
            </a:r>
            <a:r>
              <a:rPr lang="en-US" dirty="0" err="1"/>
              <a:t>escala</a:t>
            </a:r>
            <a:r>
              <a:rPr lang="en-US" dirty="0"/>
              <a:t> </a:t>
            </a:r>
            <a:r>
              <a:rPr lang="en-US" dirty="0" err="1"/>
              <a:t>utilizado</a:t>
            </a:r>
            <a:r>
              <a:rPr lang="en-US" dirty="0"/>
              <a:t> para </a:t>
            </a:r>
            <a:r>
              <a:rPr lang="en-US" dirty="0" err="1"/>
              <a:t>alcanzar</a:t>
            </a:r>
            <a:r>
              <a:rPr lang="en-US" dirty="0"/>
              <a:t> </a:t>
            </a:r>
            <a:r>
              <a:rPr lang="en-US" dirty="0" err="1"/>
              <a:t>una</a:t>
            </a:r>
            <a:r>
              <a:rPr lang="en-US" dirty="0"/>
              <a:t> meta </a:t>
            </a:r>
            <a:r>
              <a:rPr lang="en-US" dirty="0" err="1"/>
              <a:t>anual</a:t>
            </a:r>
            <a:r>
              <a:rPr lang="en-US" dirty="0"/>
              <a:t>)</a:t>
            </a:r>
          </a:p>
          <a:p>
            <a:pPr lvl="1">
              <a:spcBef>
                <a:spcPts val="0"/>
              </a:spcBef>
              <a:buClr>
                <a:schemeClr val="dk1"/>
              </a:buClr>
              <a:buSzPts val="2800"/>
            </a:pPr>
            <a:r>
              <a:rPr lang="en-US" dirty="0"/>
              <a:t>Diferentes </a:t>
            </a:r>
            <a:r>
              <a:rPr lang="en-US" dirty="0" err="1"/>
              <a:t>metodologías</a:t>
            </a:r>
            <a:r>
              <a:rPr lang="en-US" dirty="0"/>
              <a:t> (</a:t>
            </a:r>
            <a:r>
              <a:rPr lang="en-US" dirty="0" err="1"/>
              <a:t>Potenciales</a:t>
            </a:r>
            <a:r>
              <a:rPr lang="en-US" dirty="0"/>
              <a:t> de </a:t>
            </a:r>
            <a:r>
              <a:rPr lang="en-US" dirty="0" err="1"/>
              <a:t>Calentamiento</a:t>
            </a:r>
            <a:r>
              <a:rPr lang="en-US" dirty="0"/>
              <a:t> Global) para la </a:t>
            </a:r>
            <a:r>
              <a:rPr lang="en-US" dirty="0" err="1"/>
              <a:t>conversión</a:t>
            </a:r>
            <a:r>
              <a:rPr lang="en-US" dirty="0"/>
              <a:t> a CO2 </a:t>
            </a:r>
            <a:r>
              <a:rPr lang="en-US" dirty="0" err="1"/>
              <a:t>equivalente</a:t>
            </a:r>
            <a:endParaRPr lang="en-US" dirty="0"/>
          </a:p>
          <a:p>
            <a:pPr>
              <a:spcBef>
                <a:spcPts val="0"/>
              </a:spcBef>
              <a:buClr>
                <a:schemeClr val="dk1"/>
              </a:buClr>
              <a:buSzPts val="2800"/>
            </a:pPr>
            <a:r>
              <a:rPr lang="en-US" dirty="0" err="1"/>
              <a:t>Precios</a:t>
            </a:r>
            <a:r>
              <a:rPr lang="en-US" dirty="0"/>
              <a:t> </a:t>
            </a:r>
            <a:r>
              <a:rPr lang="en-US" dirty="0" err="1"/>
              <a:t>volátiles</a:t>
            </a:r>
            <a:endParaRPr lang="en-US" dirty="0"/>
          </a:p>
          <a:p>
            <a:pPr lvl="1">
              <a:spcBef>
                <a:spcPts val="0"/>
              </a:spcBef>
              <a:buClr>
                <a:schemeClr val="dk1"/>
              </a:buClr>
              <a:buSzPts val="2800"/>
            </a:pPr>
            <a:r>
              <a:rPr lang="en-US" dirty="0" err="1"/>
              <a:t>Demasiado</a:t>
            </a:r>
            <a:r>
              <a:rPr lang="en-US" dirty="0"/>
              <a:t> bajo: no hay </a:t>
            </a:r>
            <a:r>
              <a:rPr lang="en-US" dirty="0" err="1"/>
              <a:t>incentivos</a:t>
            </a:r>
            <a:r>
              <a:rPr lang="en-US" dirty="0"/>
              <a:t> para </a:t>
            </a:r>
            <a:r>
              <a:rPr lang="en-US" dirty="0" err="1"/>
              <a:t>reducir</a:t>
            </a:r>
            <a:r>
              <a:rPr lang="en-US" dirty="0"/>
              <a:t> las </a:t>
            </a:r>
            <a:r>
              <a:rPr lang="en-US" dirty="0" err="1"/>
              <a:t>emisiones</a:t>
            </a:r>
            <a:endParaRPr lang="en-US" dirty="0"/>
          </a:p>
          <a:p>
            <a:pPr lvl="1">
              <a:spcBef>
                <a:spcPts val="0"/>
              </a:spcBef>
              <a:buClr>
                <a:schemeClr val="dk1"/>
              </a:buClr>
              <a:buSzPts val="2800"/>
            </a:pPr>
            <a:r>
              <a:rPr lang="en-US" dirty="0" err="1"/>
              <a:t>Demasiado</a:t>
            </a:r>
            <a:r>
              <a:rPr lang="en-US" dirty="0"/>
              <a:t> alto: </a:t>
            </a:r>
            <a:r>
              <a:rPr lang="en-US" dirty="0" err="1"/>
              <a:t>erosión</a:t>
            </a:r>
            <a:r>
              <a:rPr lang="en-US" dirty="0"/>
              <a:t> del </a:t>
            </a:r>
            <a:r>
              <a:rPr lang="en-US" dirty="0" err="1"/>
              <a:t>apoyo</a:t>
            </a:r>
            <a:r>
              <a:rPr lang="en-US" dirty="0"/>
              <a:t> </a:t>
            </a:r>
            <a:r>
              <a:rPr lang="en-US" dirty="0" err="1"/>
              <a:t>público</a:t>
            </a:r>
            <a:r>
              <a:rPr lang="en-US" dirty="0"/>
              <a:t> </a:t>
            </a:r>
            <a:r>
              <a:rPr lang="en-US" dirty="0" err="1"/>
              <a:t>debido</a:t>
            </a:r>
            <a:r>
              <a:rPr lang="en-US" dirty="0"/>
              <a:t> al </a:t>
            </a:r>
            <a:r>
              <a:rPr lang="en-US" dirty="0" err="1"/>
              <a:t>aumento</a:t>
            </a:r>
            <a:r>
              <a:rPr lang="en-US" dirty="0"/>
              <a:t> del </a:t>
            </a:r>
            <a:r>
              <a:rPr lang="en-US" dirty="0" err="1"/>
              <a:t>costo</a:t>
            </a:r>
            <a:r>
              <a:rPr lang="en-US" dirty="0"/>
              <a:t> de los </a:t>
            </a:r>
            <a:r>
              <a:rPr lang="en-US" dirty="0" err="1"/>
              <a:t>bienes</a:t>
            </a:r>
            <a:endParaRPr lang="en-US" dirty="0"/>
          </a:p>
          <a:p>
            <a:pPr>
              <a:spcBef>
                <a:spcPts val="0"/>
              </a:spcBef>
              <a:buClr>
                <a:schemeClr val="dk1"/>
              </a:buClr>
              <a:buSzPts val="2800"/>
            </a:pPr>
            <a:r>
              <a:rPr lang="en-US" dirty="0" err="1"/>
              <a:t>Impacto</a:t>
            </a:r>
            <a:r>
              <a:rPr lang="en-US" dirty="0"/>
              <a:t> </a:t>
            </a:r>
            <a:r>
              <a:rPr lang="en-US" dirty="0" err="1"/>
              <a:t>negativo</a:t>
            </a:r>
            <a:r>
              <a:rPr lang="en-US" dirty="0"/>
              <a:t> </a:t>
            </a:r>
            <a:r>
              <a:rPr lang="en-US" dirty="0" err="1"/>
              <a:t>en</a:t>
            </a:r>
            <a:r>
              <a:rPr lang="en-US" dirty="0"/>
              <a:t> las </a:t>
            </a:r>
            <a:r>
              <a:rPr lang="en-US" dirty="0" err="1"/>
              <a:t>comunidades</a:t>
            </a:r>
            <a:r>
              <a:rPr lang="en-US" dirty="0"/>
              <a:t> locales.</a:t>
            </a:r>
          </a:p>
        </p:txBody>
      </p:sp>
    </p:spTree>
    <p:extLst>
      <p:ext uri="{BB962C8B-B14F-4D97-AF65-F5344CB8AC3E}">
        <p14:creationId xmlns:p14="http://schemas.microsoft.com/office/powerpoint/2010/main" val="261354559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Mecanismos de mercado del Acuerdo de París</a:t>
            </a:r>
          </a:p>
        </p:txBody>
      </p:sp>
      <p:sp>
        <p:nvSpPr>
          <p:cNvPr id="10" name="Rounded Rectangle 9"/>
          <p:cNvSpPr/>
          <p:nvPr/>
        </p:nvSpPr>
        <p:spPr>
          <a:xfrm>
            <a:off x="914400" y="1783080"/>
            <a:ext cx="3200400" cy="3977639"/>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43000" y="1920240"/>
            <a:ext cx="2743200" cy="457200"/>
          </a:xfrm>
          <a:prstGeom prst="rect">
            <a:avLst/>
          </a:prstGeom>
          <a:noFill/>
        </p:spPr>
        <p:txBody>
          <a:bodyPr wrap="square" lIns="45720" rIns="45720" anchor="t">
            <a:spAutoFit/>
          </a:bodyPr>
          <a:lstStyle/>
          <a:p>
            <a:pPr algn="l">
              <a:spcAft>
                <a:spcPts val="400"/>
              </a:spcAft>
            </a:pPr>
            <a:r>
              <a:rPr sz="2400" b="1" i="0">
                <a:solidFill>
                  <a:srgbClr val="00323F"/>
                </a:solidFill>
                <a:latin typeface="+mj-lt"/>
              </a:rPr>
              <a:t>Artículo 6.2</a:t>
            </a:r>
          </a:p>
        </p:txBody>
      </p:sp>
      <p:sp>
        <p:nvSpPr>
          <p:cNvPr id="12" name="TextBox 11"/>
          <p:cNvSpPr txBox="1"/>
          <p:nvPr/>
        </p:nvSpPr>
        <p:spPr>
          <a:xfrm>
            <a:off x="1143000" y="2423160"/>
            <a:ext cx="2743200" cy="365760"/>
          </a:xfrm>
          <a:prstGeom prst="rect">
            <a:avLst/>
          </a:prstGeom>
          <a:noFill/>
        </p:spPr>
        <p:txBody>
          <a:bodyPr wrap="square" lIns="45720" rIns="45720" anchor="t">
            <a:spAutoFit/>
          </a:bodyPr>
          <a:lstStyle/>
          <a:p>
            <a:pPr algn="l">
              <a:spcAft>
                <a:spcPts val="400"/>
              </a:spcAft>
            </a:pPr>
            <a:r>
              <a:rPr sz="1400" b="1" i="0">
                <a:solidFill>
                  <a:srgbClr val="595959"/>
                </a:solidFill>
                <a:latin typeface="+mn-lt"/>
              </a:rPr>
              <a:t>Cooperación bilateral</a:t>
            </a:r>
          </a:p>
        </p:txBody>
      </p:sp>
      <p:sp>
        <p:nvSpPr>
          <p:cNvPr id="13" name="TextBox 12"/>
          <p:cNvSpPr txBox="1"/>
          <p:nvPr/>
        </p:nvSpPr>
        <p:spPr>
          <a:xfrm>
            <a:off x="1143000" y="2880360"/>
            <a:ext cx="2788920" cy="2788920"/>
          </a:xfrm>
          <a:prstGeom prst="rect">
            <a:avLst/>
          </a:prstGeom>
          <a:noFill/>
        </p:spPr>
        <p:txBody>
          <a:bodyPr wrap="square" lIns="45720" rIns="45720" anchor="t">
            <a:spAutoFit/>
          </a:bodyPr>
          <a:lstStyle/>
          <a:p>
            <a:pPr marL="201168" indent="-201168" algn="l">
              <a:spcAft>
                <a:spcPts val="800"/>
              </a:spcAft>
              <a:buChar char="•"/>
            </a:pPr>
            <a:r>
              <a:rPr sz="1400" b="0" i="0">
                <a:solidFill>
                  <a:srgbClr val="00323F"/>
                </a:solidFill>
                <a:latin typeface="+mn-lt"/>
              </a:rPr>
              <a:t>Intercambio de resultados de mitigación (ITMO) entre países</a:t>
            </a:r>
          </a:p>
          <a:p>
            <a:pPr marL="201168" indent="-201168" algn="l">
              <a:spcAft>
                <a:spcPts val="800"/>
              </a:spcAft>
              <a:buChar char="•"/>
            </a:pPr>
            <a:r>
              <a:rPr sz="1400" b="0" i="0">
                <a:solidFill>
                  <a:srgbClr val="00323F"/>
                </a:solidFill>
                <a:latin typeface="+mn-lt"/>
              </a:rPr>
              <a:t>Ajuste correspondiente para evitar la doble contabilidad</a:t>
            </a:r>
          </a:p>
          <a:p>
            <a:pPr marL="201168" indent="-201168" algn="l">
              <a:spcAft>
                <a:spcPts val="800"/>
              </a:spcAft>
              <a:buChar char="•"/>
            </a:pPr>
            <a:r>
              <a:rPr sz="1400" b="0" i="0">
                <a:solidFill>
                  <a:srgbClr val="00323F"/>
                </a:solidFill>
                <a:latin typeface="+mn-lt"/>
              </a:rPr>
              <a:t>Descentralizado: los países definen las reglas</a:t>
            </a:r>
          </a:p>
        </p:txBody>
      </p:sp>
      <p:sp>
        <p:nvSpPr>
          <p:cNvPr id="14" name="Rounded Rectangle 13"/>
          <p:cNvSpPr/>
          <p:nvPr/>
        </p:nvSpPr>
        <p:spPr>
          <a:xfrm>
            <a:off x="4434840" y="1783080"/>
            <a:ext cx="3200400" cy="3977639"/>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63440" y="1920240"/>
            <a:ext cx="2743200" cy="457200"/>
          </a:xfrm>
          <a:prstGeom prst="rect">
            <a:avLst/>
          </a:prstGeom>
          <a:noFill/>
        </p:spPr>
        <p:txBody>
          <a:bodyPr wrap="square" lIns="45720" rIns="45720" anchor="t">
            <a:spAutoFit/>
          </a:bodyPr>
          <a:lstStyle/>
          <a:p>
            <a:pPr algn="l">
              <a:spcAft>
                <a:spcPts val="400"/>
              </a:spcAft>
            </a:pPr>
            <a:r>
              <a:rPr sz="2400" b="1" i="0">
                <a:solidFill>
                  <a:srgbClr val="088A3A"/>
                </a:solidFill>
                <a:latin typeface="+mj-lt"/>
              </a:rPr>
              <a:t>Artículo 6.4</a:t>
            </a:r>
          </a:p>
        </p:txBody>
      </p:sp>
      <p:sp>
        <p:nvSpPr>
          <p:cNvPr id="16" name="TextBox 15"/>
          <p:cNvSpPr txBox="1"/>
          <p:nvPr/>
        </p:nvSpPr>
        <p:spPr>
          <a:xfrm>
            <a:off x="4663440" y="2423160"/>
            <a:ext cx="2743200" cy="365760"/>
          </a:xfrm>
          <a:prstGeom prst="rect">
            <a:avLst/>
          </a:prstGeom>
          <a:noFill/>
        </p:spPr>
        <p:txBody>
          <a:bodyPr wrap="square" lIns="45720" rIns="45720" anchor="t">
            <a:spAutoFit/>
          </a:bodyPr>
          <a:lstStyle/>
          <a:p>
            <a:pPr algn="l">
              <a:spcAft>
                <a:spcPts val="400"/>
              </a:spcAft>
            </a:pPr>
            <a:r>
              <a:rPr sz="1400" b="1" i="0">
                <a:solidFill>
                  <a:srgbClr val="595959"/>
                </a:solidFill>
                <a:latin typeface="+mn-lt"/>
              </a:rPr>
              <a:t>Mercado multilateral</a:t>
            </a:r>
          </a:p>
        </p:txBody>
      </p:sp>
      <p:sp>
        <p:nvSpPr>
          <p:cNvPr id="17" name="TextBox 16"/>
          <p:cNvSpPr txBox="1"/>
          <p:nvPr/>
        </p:nvSpPr>
        <p:spPr>
          <a:xfrm>
            <a:off x="4663440" y="2880360"/>
            <a:ext cx="2788920" cy="2788920"/>
          </a:xfrm>
          <a:prstGeom prst="rect">
            <a:avLst/>
          </a:prstGeom>
          <a:noFill/>
        </p:spPr>
        <p:txBody>
          <a:bodyPr wrap="square" lIns="45720" rIns="45720" anchor="t">
            <a:spAutoFit/>
          </a:bodyPr>
          <a:lstStyle/>
          <a:p>
            <a:pPr marL="201168" indent="-201168" algn="l">
              <a:spcAft>
                <a:spcPts val="800"/>
              </a:spcAft>
              <a:buChar char="•"/>
            </a:pPr>
            <a:r>
              <a:rPr sz="1400" b="0" i="0">
                <a:solidFill>
                  <a:srgbClr val="00323F"/>
                </a:solidFill>
                <a:latin typeface="+mn-lt"/>
              </a:rPr>
              <a:t>Mecanismo de acreditación que reemplaza al MDL de Kioto (créditos A6.4ER)</a:t>
            </a:r>
          </a:p>
          <a:p>
            <a:pPr marL="201168" indent="-201168" algn="l">
              <a:spcAft>
                <a:spcPts val="800"/>
              </a:spcAft>
              <a:buChar char="•"/>
            </a:pPr>
            <a:r>
              <a:rPr sz="1400" b="0" i="0">
                <a:solidFill>
                  <a:srgbClr val="00323F"/>
                </a:solidFill>
                <a:latin typeface="+mn-lt"/>
              </a:rPr>
              <a:t>Supervisado por el Órgano de Supervisión de la CMNUCC</a:t>
            </a:r>
          </a:p>
          <a:p>
            <a:pPr marL="201168" indent="-201168" algn="l">
              <a:spcAft>
                <a:spcPts val="800"/>
              </a:spcAft>
              <a:buChar char="•"/>
            </a:pPr>
            <a:r>
              <a:rPr sz="1400" b="0" i="0">
                <a:solidFill>
                  <a:srgbClr val="00323F"/>
                </a:solidFill>
                <a:latin typeface="+mn-lt"/>
              </a:rPr>
              <a:t>Pueden comprar países, empresas y personas</a:t>
            </a:r>
          </a:p>
          <a:p>
            <a:pPr marL="201168" indent="-201168" algn="l">
              <a:spcAft>
                <a:spcPts val="800"/>
              </a:spcAft>
              <a:buChar char="•"/>
            </a:pPr>
            <a:r>
              <a:rPr sz="1400" b="0" i="0">
                <a:solidFill>
                  <a:srgbClr val="00323F"/>
                </a:solidFill>
                <a:latin typeface="+mn-lt"/>
              </a:rPr>
              <a:t>5 % del valor de los créditos va al Fondo de Adaptación</a:t>
            </a:r>
          </a:p>
        </p:txBody>
      </p:sp>
      <p:sp>
        <p:nvSpPr>
          <p:cNvPr id="18" name="Rounded Rectangle 17"/>
          <p:cNvSpPr/>
          <p:nvPr/>
        </p:nvSpPr>
        <p:spPr>
          <a:xfrm>
            <a:off x="7955279" y="1783080"/>
            <a:ext cx="3200400" cy="3977639"/>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83879" y="1920240"/>
            <a:ext cx="2743200" cy="457200"/>
          </a:xfrm>
          <a:prstGeom prst="rect">
            <a:avLst/>
          </a:prstGeom>
          <a:noFill/>
        </p:spPr>
        <p:txBody>
          <a:bodyPr wrap="square" lIns="45720" rIns="45720" anchor="t">
            <a:spAutoFit/>
          </a:bodyPr>
          <a:lstStyle/>
          <a:p>
            <a:pPr algn="l">
              <a:spcAft>
                <a:spcPts val="400"/>
              </a:spcAft>
            </a:pPr>
            <a:r>
              <a:rPr sz="2400" b="1" i="0">
                <a:solidFill>
                  <a:srgbClr val="002060"/>
                </a:solidFill>
                <a:latin typeface="+mj-lt"/>
              </a:rPr>
              <a:t>Artículo 6.8</a:t>
            </a:r>
          </a:p>
        </p:txBody>
      </p:sp>
      <p:sp>
        <p:nvSpPr>
          <p:cNvPr id="20" name="TextBox 19"/>
          <p:cNvSpPr txBox="1"/>
          <p:nvPr/>
        </p:nvSpPr>
        <p:spPr>
          <a:xfrm>
            <a:off x="8183879" y="2423160"/>
            <a:ext cx="2743200" cy="365760"/>
          </a:xfrm>
          <a:prstGeom prst="rect">
            <a:avLst/>
          </a:prstGeom>
          <a:noFill/>
        </p:spPr>
        <p:txBody>
          <a:bodyPr wrap="square" lIns="45720" rIns="45720" anchor="t">
            <a:spAutoFit/>
          </a:bodyPr>
          <a:lstStyle/>
          <a:p>
            <a:pPr algn="l">
              <a:spcAft>
                <a:spcPts val="400"/>
              </a:spcAft>
            </a:pPr>
            <a:r>
              <a:rPr sz="1400" b="1" i="0">
                <a:solidFill>
                  <a:srgbClr val="595959"/>
                </a:solidFill>
                <a:latin typeface="+mn-lt"/>
              </a:rPr>
              <a:t>Enfoques no de mercado</a:t>
            </a:r>
          </a:p>
        </p:txBody>
      </p:sp>
      <p:sp>
        <p:nvSpPr>
          <p:cNvPr id="21" name="TextBox 20"/>
          <p:cNvSpPr txBox="1"/>
          <p:nvPr/>
        </p:nvSpPr>
        <p:spPr>
          <a:xfrm>
            <a:off x="8183879" y="2880360"/>
            <a:ext cx="2788920" cy="2788920"/>
          </a:xfrm>
          <a:prstGeom prst="rect">
            <a:avLst/>
          </a:prstGeom>
          <a:noFill/>
        </p:spPr>
        <p:txBody>
          <a:bodyPr wrap="square" lIns="45720" rIns="45720" anchor="t">
            <a:spAutoFit/>
          </a:bodyPr>
          <a:lstStyle/>
          <a:p>
            <a:pPr marL="201168" indent="-201168" algn="l">
              <a:spcAft>
                <a:spcPts val="800"/>
              </a:spcAft>
              <a:buChar char="•"/>
            </a:pPr>
            <a:r>
              <a:rPr sz="1400" b="0" i="0">
                <a:solidFill>
                  <a:srgbClr val="00323F"/>
                </a:solidFill>
                <a:latin typeface="+mn-lt"/>
              </a:rPr>
              <a:t>Transferencia de tecnología</a:t>
            </a:r>
          </a:p>
          <a:p>
            <a:pPr marL="201168" indent="-201168" algn="l">
              <a:spcAft>
                <a:spcPts val="800"/>
              </a:spcAft>
              <a:buChar char="•"/>
            </a:pPr>
            <a:r>
              <a:rPr sz="1400" b="0" i="0">
                <a:solidFill>
                  <a:srgbClr val="00323F"/>
                </a:solidFill>
                <a:latin typeface="+mn-lt"/>
              </a:rPr>
              <a:t>Desarrollo de capacidades</a:t>
            </a:r>
          </a:p>
          <a:p>
            <a:pPr marL="201168" indent="-201168" algn="l">
              <a:spcAft>
                <a:spcPts val="800"/>
              </a:spcAft>
              <a:buChar char="•"/>
            </a:pPr>
            <a:r>
              <a:rPr sz="1400" b="0" i="0">
                <a:solidFill>
                  <a:srgbClr val="00323F"/>
                </a:solidFill>
                <a:latin typeface="+mn-lt"/>
              </a:rPr>
              <a:t>Esquemas tributarios y de política para reducir emisiones</a:t>
            </a:r>
          </a:p>
        </p:txBody>
      </p:sp>
      <p:sp>
        <p:nvSpPr>
          <p:cNvPr id="22"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ITMO: resultados de mitigación transferidos internacionalmente. CMNUCC: Convención Marco de las Naciones Unidas sobre el Cambio Climático.</a:t>
            </a:r>
          </a:p>
        </p:txBody>
      </p:sp>
    </p:spTree>
    <p:extLst>
      <p:ext uri="{BB962C8B-B14F-4D97-AF65-F5344CB8AC3E}">
        <p14:creationId xmlns:p14="http://schemas.microsoft.com/office/powerpoint/2010/main" val="2265786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Artículo 6: cómo funciona, ventajas y desafíos</a:t>
            </a:r>
          </a:p>
        </p:txBody>
      </p:sp>
      <p:sp>
        <p:nvSpPr>
          <p:cNvPr id="10" name="Rounded Rectangle 9"/>
          <p:cNvSpPr/>
          <p:nvPr/>
        </p:nvSpPr>
        <p:spPr>
          <a:xfrm>
            <a:off x="914400" y="1691640"/>
            <a:ext cx="6720840" cy="196596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43000" y="1755648"/>
            <a:ext cx="2194560" cy="411480"/>
          </a:xfrm>
          <a:prstGeom prst="rect">
            <a:avLst/>
          </a:prstGeom>
          <a:noFill/>
        </p:spPr>
        <p:txBody>
          <a:bodyPr wrap="square" lIns="45720" rIns="45720" anchor="t">
            <a:spAutoFit/>
          </a:bodyPr>
          <a:lstStyle/>
          <a:p>
            <a:pPr algn="l">
              <a:spcAft>
                <a:spcPts val="400"/>
              </a:spcAft>
            </a:pPr>
            <a:r>
              <a:rPr sz="1800" b="1" i="0">
                <a:solidFill>
                  <a:srgbClr val="00323F"/>
                </a:solidFill>
                <a:latin typeface="+mn-lt"/>
              </a:rPr>
              <a:t>Artículo 6.2</a:t>
            </a:r>
          </a:p>
        </p:txBody>
      </p:sp>
      <p:sp>
        <p:nvSpPr>
          <p:cNvPr id="12" name="Oval 11"/>
          <p:cNvSpPr/>
          <p:nvPr/>
        </p:nvSpPr>
        <p:spPr>
          <a:xfrm>
            <a:off x="1197864" y="2203703"/>
            <a:ext cx="713232" cy="713232"/>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s14_22.png"/>
          <p:cNvPicPr>
            <a:picLocks noChangeAspect="1"/>
          </p:cNvPicPr>
          <p:nvPr/>
        </p:nvPicPr>
        <p:blipFill>
          <a:blip r:embed="rId3"/>
          <a:stretch>
            <a:fillRect/>
          </a:stretch>
        </p:blipFill>
        <p:spPr>
          <a:xfrm>
            <a:off x="1325880" y="2331720"/>
            <a:ext cx="457200" cy="457200"/>
          </a:xfrm>
          <a:prstGeom prst="rect">
            <a:avLst/>
          </a:prstGeom>
        </p:spPr>
      </p:pic>
      <p:sp>
        <p:nvSpPr>
          <p:cNvPr id="14" name="TextBox 13"/>
          <p:cNvSpPr txBox="1"/>
          <p:nvPr/>
        </p:nvSpPr>
        <p:spPr>
          <a:xfrm>
            <a:off x="960120" y="2926080"/>
            <a:ext cx="1188720" cy="320040"/>
          </a:xfrm>
          <a:prstGeom prst="rect">
            <a:avLst/>
          </a:prstGeom>
          <a:noFill/>
        </p:spPr>
        <p:txBody>
          <a:bodyPr wrap="square" lIns="45720" rIns="45720" anchor="t">
            <a:spAutoFit/>
          </a:bodyPr>
          <a:lstStyle/>
          <a:p>
            <a:pPr algn="ctr">
              <a:spcAft>
                <a:spcPts val="400"/>
              </a:spcAft>
            </a:pPr>
            <a:r>
              <a:rPr sz="1200" b="1" i="0">
                <a:solidFill>
                  <a:srgbClr val="00323F"/>
                </a:solidFill>
                <a:latin typeface="+mn-lt"/>
              </a:rPr>
              <a:t>País A</a:t>
            </a:r>
          </a:p>
        </p:txBody>
      </p:sp>
      <p:sp>
        <p:nvSpPr>
          <p:cNvPr id="15" name="Right Arrow 14"/>
          <p:cNvSpPr/>
          <p:nvPr/>
        </p:nvSpPr>
        <p:spPr>
          <a:xfrm>
            <a:off x="2194560" y="2423160"/>
            <a:ext cx="822960" cy="292608"/>
          </a:xfrm>
          <a:prstGeom prst="rightArrow">
            <a:avLst/>
          </a:prstGeom>
          <a:solidFill>
            <a:srgbClr val="04C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163824" y="2203703"/>
            <a:ext cx="713232" cy="713232"/>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s14_22.png"/>
          <p:cNvPicPr>
            <a:picLocks noChangeAspect="1"/>
          </p:cNvPicPr>
          <p:nvPr/>
        </p:nvPicPr>
        <p:blipFill>
          <a:blip r:embed="rId3"/>
          <a:stretch>
            <a:fillRect/>
          </a:stretch>
        </p:blipFill>
        <p:spPr>
          <a:xfrm>
            <a:off x="3291840" y="2331720"/>
            <a:ext cx="457200" cy="457200"/>
          </a:xfrm>
          <a:prstGeom prst="rect">
            <a:avLst/>
          </a:prstGeom>
        </p:spPr>
      </p:pic>
      <p:sp>
        <p:nvSpPr>
          <p:cNvPr id="18" name="TextBox 17"/>
          <p:cNvSpPr txBox="1"/>
          <p:nvPr/>
        </p:nvSpPr>
        <p:spPr>
          <a:xfrm>
            <a:off x="2926080" y="2926080"/>
            <a:ext cx="1188720" cy="320040"/>
          </a:xfrm>
          <a:prstGeom prst="rect">
            <a:avLst/>
          </a:prstGeom>
          <a:noFill/>
        </p:spPr>
        <p:txBody>
          <a:bodyPr wrap="square" lIns="45720" rIns="45720" anchor="t">
            <a:spAutoFit/>
          </a:bodyPr>
          <a:lstStyle/>
          <a:p>
            <a:pPr algn="ctr">
              <a:spcAft>
                <a:spcPts val="400"/>
              </a:spcAft>
            </a:pPr>
            <a:r>
              <a:rPr sz="1200" b="1" i="0">
                <a:solidFill>
                  <a:srgbClr val="00323F"/>
                </a:solidFill>
                <a:latin typeface="+mn-lt"/>
              </a:rPr>
              <a:t>País B</a:t>
            </a:r>
          </a:p>
        </p:txBody>
      </p:sp>
      <p:sp>
        <p:nvSpPr>
          <p:cNvPr id="19" name="TextBox 18"/>
          <p:cNvSpPr txBox="1"/>
          <p:nvPr/>
        </p:nvSpPr>
        <p:spPr>
          <a:xfrm>
            <a:off x="1097280" y="3200400"/>
            <a:ext cx="3017520" cy="411480"/>
          </a:xfrm>
          <a:prstGeom prst="rect">
            <a:avLst/>
          </a:prstGeom>
          <a:noFill/>
        </p:spPr>
        <p:txBody>
          <a:bodyPr wrap="square" lIns="45720" rIns="45720" anchor="t">
            <a:spAutoFit/>
          </a:bodyPr>
          <a:lstStyle/>
          <a:p>
            <a:pPr algn="l">
              <a:spcAft>
                <a:spcPts val="400"/>
              </a:spcAft>
            </a:pPr>
            <a:r>
              <a:rPr sz="1200" b="0" i="0">
                <a:solidFill>
                  <a:srgbClr val="595959"/>
                </a:solidFill>
                <a:latin typeface="+mn-lt"/>
              </a:rPr>
              <a:t>A vende reducciones a B</a:t>
            </a:r>
          </a:p>
        </p:txBody>
      </p:sp>
      <p:sp>
        <p:nvSpPr>
          <p:cNvPr id="20" name="TextBox 19"/>
          <p:cNvSpPr txBox="1"/>
          <p:nvPr/>
        </p:nvSpPr>
        <p:spPr>
          <a:xfrm>
            <a:off x="4343400" y="2148840"/>
            <a:ext cx="3154680" cy="1463040"/>
          </a:xfrm>
          <a:prstGeom prst="rect">
            <a:avLst/>
          </a:prstGeom>
          <a:noFill/>
        </p:spPr>
        <p:txBody>
          <a:bodyPr wrap="square" lIns="45720" rIns="45720" anchor="t">
            <a:spAutoFit/>
          </a:bodyPr>
          <a:lstStyle/>
          <a:p>
            <a:pPr algn="l">
              <a:spcAft>
                <a:spcPts val="600"/>
              </a:spcAft>
            </a:pPr>
            <a:r>
              <a:rPr sz="1400" b="1" i="0">
                <a:solidFill>
                  <a:srgbClr val="088A3A"/>
                </a:solidFill>
                <a:latin typeface="+mn-lt"/>
              </a:rPr>
              <a:t>✓ </a:t>
            </a:r>
            <a:r>
              <a:rPr sz="1400" b="0" i="0">
                <a:solidFill>
                  <a:srgbClr val="00323F"/>
                </a:solidFill>
                <a:latin typeface="+mn-lt"/>
              </a:rPr>
              <a:t>Más flexibilidad para cumplir las NDC</a:t>
            </a:r>
          </a:p>
          <a:p>
            <a:pPr algn="l">
              <a:spcAft>
                <a:spcPts val="600"/>
              </a:spcAft>
            </a:pPr>
            <a:r>
              <a:rPr sz="1400" b="1" i="0">
                <a:solidFill>
                  <a:srgbClr val="C0392B"/>
                </a:solidFill>
                <a:latin typeface="+mn-lt"/>
              </a:rPr>
              <a:t>✗ </a:t>
            </a:r>
            <a:r>
              <a:rPr sz="1400" b="0" i="0">
                <a:solidFill>
                  <a:srgbClr val="00323F"/>
                </a:solidFill>
                <a:latin typeface="+mn-lt"/>
              </a:rPr>
              <a:t>Riesgo de integridad si la contabilidad no es transparente</a:t>
            </a:r>
          </a:p>
        </p:txBody>
      </p:sp>
      <p:sp>
        <p:nvSpPr>
          <p:cNvPr id="21" name="Rounded Rectangle 20"/>
          <p:cNvSpPr/>
          <p:nvPr/>
        </p:nvSpPr>
        <p:spPr>
          <a:xfrm>
            <a:off x="7863840" y="1691640"/>
            <a:ext cx="3383280" cy="196596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092440" y="1755648"/>
            <a:ext cx="3017520" cy="411480"/>
          </a:xfrm>
          <a:prstGeom prst="rect">
            <a:avLst/>
          </a:prstGeom>
          <a:noFill/>
        </p:spPr>
        <p:txBody>
          <a:bodyPr wrap="square" lIns="45720" rIns="45720" anchor="t">
            <a:spAutoFit/>
          </a:bodyPr>
          <a:lstStyle/>
          <a:p>
            <a:pPr algn="l">
              <a:spcAft>
                <a:spcPts val="400"/>
              </a:spcAft>
            </a:pPr>
            <a:r>
              <a:rPr sz="1800" b="1" i="0">
                <a:solidFill>
                  <a:srgbClr val="002060"/>
                </a:solidFill>
                <a:latin typeface="+mn-lt"/>
              </a:rPr>
              <a:t>Artículo 6.8</a:t>
            </a:r>
          </a:p>
        </p:txBody>
      </p:sp>
      <p:pic>
        <p:nvPicPr>
          <p:cNvPr id="23" name="Picture 22" descr="carrot.png"/>
          <p:cNvPicPr>
            <a:picLocks noChangeAspect="1"/>
          </p:cNvPicPr>
          <p:nvPr/>
        </p:nvPicPr>
        <p:blipFill>
          <a:blip r:embed="rId4"/>
          <a:stretch>
            <a:fillRect/>
          </a:stretch>
        </p:blipFill>
        <p:spPr>
          <a:xfrm>
            <a:off x="8092440" y="2194560"/>
            <a:ext cx="1463040" cy="614115"/>
          </a:xfrm>
          <a:prstGeom prst="rect">
            <a:avLst/>
          </a:prstGeom>
        </p:spPr>
      </p:pic>
      <p:sp>
        <p:nvSpPr>
          <p:cNvPr id="24" name="TextBox 23"/>
          <p:cNvSpPr txBox="1"/>
          <p:nvPr/>
        </p:nvSpPr>
        <p:spPr>
          <a:xfrm>
            <a:off x="9646920" y="2148840"/>
            <a:ext cx="1508760" cy="1463040"/>
          </a:xfrm>
          <a:prstGeom prst="rect">
            <a:avLst/>
          </a:prstGeom>
          <a:noFill/>
        </p:spPr>
        <p:txBody>
          <a:bodyPr wrap="square" lIns="45720" rIns="45720" anchor="t">
            <a:spAutoFit/>
          </a:bodyPr>
          <a:lstStyle/>
          <a:p>
            <a:pPr algn="l">
              <a:spcAft>
                <a:spcPts val="400"/>
              </a:spcAft>
            </a:pPr>
            <a:r>
              <a:rPr sz="1200" b="0" i="0">
                <a:solidFill>
                  <a:srgbClr val="595959"/>
                </a:solidFill>
                <a:latin typeface="+mn-lt"/>
              </a:rPr>
              <a:t>Incentivos sin mercado: tecnología, capacidades y política</a:t>
            </a:r>
          </a:p>
        </p:txBody>
      </p:sp>
      <p:sp>
        <p:nvSpPr>
          <p:cNvPr id="25" name="Rounded Rectangle 24"/>
          <p:cNvSpPr/>
          <p:nvPr/>
        </p:nvSpPr>
        <p:spPr>
          <a:xfrm>
            <a:off x="914400" y="3840480"/>
            <a:ext cx="10332720" cy="192024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143000" y="3904487"/>
            <a:ext cx="2194560" cy="411480"/>
          </a:xfrm>
          <a:prstGeom prst="rect">
            <a:avLst/>
          </a:prstGeom>
          <a:noFill/>
        </p:spPr>
        <p:txBody>
          <a:bodyPr wrap="square" lIns="45720" rIns="45720" anchor="t">
            <a:spAutoFit/>
          </a:bodyPr>
          <a:lstStyle/>
          <a:p>
            <a:pPr algn="l">
              <a:spcAft>
                <a:spcPts val="400"/>
              </a:spcAft>
            </a:pPr>
            <a:r>
              <a:rPr sz="1800" b="1" i="0">
                <a:solidFill>
                  <a:srgbClr val="088A3A"/>
                </a:solidFill>
                <a:latin typeface="+mn-lt"/>
              </a:rPr>
              <a:t>Artículo 6.4</a:t>
            </a:r>
          </a:p>
        </p:txBody>
      </p:sp>
      <p:sp>
        <p:nvSpPr>
          <p:cNvPr id="27" name="Oval 26"/>
          <p:cNvSpPr/>
          <p:nvPr/>
        </p:nvSpPr>
        <p:spPr>
          <a:xfrm>
            <a:off x="1484985" y="4319625"/>
            <a:ext cx="641908" cy="641908"/>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s12_124.png"/>
          <p:cNvPicPr>
            <a:picLocks noChangeAspect="1"/>
          </p:cNvPicPr>
          <p:nvPr/>
        </p:nvPicPr>
        <p:blipFill>
          <a:blip r:embed="rId5"/>
          <a:stretch>
            <a:fillRect/>
          </a:stretch>
        </p:blipFill>
        <p:spPr>
          <a:xfrm>
            <a:off x="1600200" y="4434840"/>
            <a:ext cx="411480" cy="411480"/>
          </a:xfrm>
          <a:prstGeom prst="rect">
            <a:avLst/>
          </a:prstGeom>
        </p:spPr>
      </p:pic>
      <p:sp>
        <p:nvSpPr>
          <p:cNvPr id="29" name="TextBox 28"/>
          <p:cNvSpPr txBox="1"/>
          <p:nvPr/>
        </p:nvSpPr>
        <p:spPr>
          <a:xfrm>
            <a:off x="1051560" y="4983480"/>
            <a:ext cx="1508760" cy="731520"/>
          </a:xfrm>
          <a:prstGeom prst="rect">
            <a:avLst/>
          </a:prstGeom>
          <a:noFill/>
        </p:spPr>
        <p:txBody>
          <a:bodyPr wrap="square" lIns="45720" rIns="45720" anchor="t">
            <a:spAutoFit/>
          </a:bodyPr>
          <a:lstStyle/>
          <a:p>
            <a:pPr algn="ctr">
              <a:spcAft>
                <a:spcPts val="400"/>
              </a:spcAft>
            </a:pPr>
            <a:r>
              <a:rPr sz="1200" b="0" i="0">
                <a:solidFill>
                  <a:srgbClr val="00323F"/>
                </a:solidFill>
                <a:latin typeface="+mn-lt"/>
              </a:rPr>
              <a:t>Desarrollador del proyecto</a:t>
            </a:r>
          </a:p>
        </p:txBody>
      </p:sp>
      <p:sp>
        <p:nvSpPr>
          <p:cNvPr id="30" name="Right Arrow 29"/>
          <p:cNvSpPr/>
          <p:nvPr/>
        </p:nvSpPr>
        <p:spPr>
          <a:xfrm>
            <a:off x="2377440" y="4507992"/>
            <a:ext cx="292608" cy="256032"/>
          </a:xfrm>
          <a:prstGeom prst="rightArrow">
            <a:avLst/>
          </a:prstGeom>
          <a:solidFill>
            <a:srgbClr val="04C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085185" y="4319625"/>
            <a:ext cx="641908" cy="641908"/>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s12_139.png"/>
          <p:cNvPicPr>
            <a:picLocks noChangeAspect="1"/>
          </p:cNvPicPr>
          <p:nvPr/>
        </p:nvPicPr>
        <p:blipFill>
          <a:blip r:embed="rId6"/>
          <a:stretch>
            <a:fillRect/>
          </a:stretch>
        </p:blipFill>
        <p:spPr>
          <a:xfrm>
            <a:off x="3200400" y="4434840"/>
            <a:ext cx="411480" cy="411480"/>
          </a:xfrm>
          <a:prstGeom prst="rect">
            <a:avLst/>
          </a:prstGeom>
        </p:spPr>
      </p:pic>
      <p:sp>
        <p:nvSpPr>
          <p:cNvPr id="33" name="TextBox 32"/>
          <p:cNvSpPr txBox="1"/>
          <p:nvPr/>
        </p:nvSpPr>
        <p:spPr>
          <a:xfrm>
            <a:off x="2651760" y="4983480"/>
            <a:ext cx="1508760" cy="731520"/>
          </a:xfrm>
          <a:prstGeom prst="rect">
            <a:avLst/>
          </a:prstGeom>
          <a:noFill/>
        </p:spPr>
        <p:txBody>
          <a:bodyPr wrap="square" lIns="45720" rIns="45720" anchor="t">
            <a:spAutoFit/>
          </a:bodyPr>
          <a:lstStyle/>
          <a:p>
            <a:pPr algn="ctr">
              <a:spcAft>
                <a:spcPts val="400"/>
              </a:spcAft>
            </a:pPr>
            <a:r>
              <a:rPr sz="1200" b="0" i="0">
                <a:solidFill>
                  <a:srgbClr val="00323F"/>
                </a:solidFill>
                <a:latin typeface="+mn-lt"/>
              </a:rPr>
              <a:t>Aprobación del país anfitrión</a:t>
            </a:r>
          </a:p>
        </p:txBody>
      </p:sp>
      <p:sp>
        <p:nvSpPr>
          <p:cNvPr id="34" name="Right Arrow 33"/>
          <p:cNvSpPr/>
          <p:nvPr/>
        </p:nvSpPr>
        <p:spPr>
          <a:xfrm>
            <a:off x="3977639" y="4507992"/>
            <a:ext cx="292608" cy="256032"/>
          </a:xfrm>
          <a:prstGeom prst="rightArrow">
            <a:avLst/>
          </a:prstGeom>
          <a:solidFill>
            <a:srgbClr val="04C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685385" y="4319625"/>
            <a:ext cx="641908" cy="641908"/>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s12_137.png"/>
          <p:cNvPicPr>
            <a:picLocks noChangeAspect="1"/>
          </p:cNvPicPr>
          <p:nvPr/>
        </p:nvPicPr>
        <p:blipFill>
          <a:blip r:embed="rId7"/>
          <a:stretch>
            <a:fillRect/>
          </a:stretch>
        </p:blipFill>
        <p:spPr>
          <a:xfrm>
            <a:off x="4800600" y="4434840"/>
            <a:ext cx="411480" cy="411480"/>
          </a:xfrm>
          <a:prstGeom prst="rect">
            <a:avLst/>
          </a:prstGeom>
        </p:spPr>
      </p:pic>
      <p:sp>
        <p:nvSpPr>
          <p:cNvPr id="37" name="TextBox 36"/>
          <p:cNvSpPr txBox="1"/>
          <p:nvPr/>
        </p:nvSpPr>
        <p:spPr>
          <a:xfrm>
            <a:off x="4251960" y="4983480"/>
            <a:ext cx="1508760" cy="731520"/>
          </a:xfrm>
          <a:prstGeom prst="rect">
            <a:avLst/>
          </a:prstGeom>
          <a:noFill/>
        </p:spPr>
        <p:txBody>
          <a:bodyPr wrap="square" lIns="45720" rIns="45720" anchor="t">
            <a:spAutoFit/>
          </a:bodyPr>
          <a:lstStyle/>
          <a:p>
            <a:pPr algn="ctr">
              <a:spcAft>
                <a:spcPts val="400"/>
              </a:spcAft>
            </a:pPr>
            <a:r>
              <a:rPr sz="1200" b="0" i="0">
                <a:solidFill>
                  <a:srgbClr val="00323F"/>
                </a:solidFill>
                <a:latin typeface="+mn-lt"/>
              </a:rPr>
              <a:t>Emisión por el Órgano de Supervisión</a:t>
            </a:r>
          </a:p>
        </p:txBody>
      </p:sp>
      <p:sp>
        <p:nvSpPr>
          <p:cNvPr id="38" name="Right Arrow 37"/>
          <p:cNvSpPr/>
          <p:nvPr/>
        </p:nvSpPr>
        <p:spPr>
          <a:xfrm>
            <a:off x="5577840" y="4507992"/>
            <a:ext cx="292608" cy="256032"/>
          </a:xfrm>
          <a:prstGeom prst="rightArrow">
            <a:avLst/>
          </a:prstGeom>
          <a:solidFill>
            <a:srgbClr val="04C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285585" y="4319625"/>
            <a:ext cx="641908" cy="641908"/>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s13_140.png"/>
          <p:cNvPicPr>
            <a:picLocks noChangeAspect="1"/>
          </p:cNvPicPr>
          <p:nvPr/>
        </p:nvPicPr>
        <p:blipFill>
          <a:blip r:embed="rId8"/>
          <a:stretch>
            <a:fillRect/>
          </a:stretch>
        </p:blipFill>
        <p:spPr>
          <a:xfrm>
            <a:off x="6400800" y="4434840"/>
            <a:ext cx="411480" cy="411480"/>
          </a:xfrm>
          <a:prstGeom prst="rect">
            <a:avLst/>
          </a:prstGeom>
        </p:spPr>
      </p:pic>
      <p:sp>
        <p:nvSpPr>
          <p:cNvPr id="41" name="TextBox 40"/>
          <p:cNvSpPr txBox="1"/>
          <p:nvPr/>
        </p:nvSpPr>
        <p:spPr>
          <a:xfrm>
            <a:off x="5852160" y="4983480"/>
            <a:ext cx="1508760" cy="731520"/>
          </a:xfrm>
          <a:prstGeom prst="rect">
            <a:avLst/>
          </a:prstGeom>
          <a:noFill/>
        </p:spPr>
        <p:txBody>
          <a:bodyPr wrap="square" lIns="45720" rIns="45720" anchor="t">
            <a:spAutoFit/>
          </a:bodyPr>
          <a:lstStyle/>
          <a:p>
            <a:pPr algn="ctr">
              <a:spcAft>
                <a:spcPts val="400"/>
              </a:spcAft>
            </a:pPr>
            <a:r>
              <a:rPr sz="1200" b="0" i="0">
                <a:solidFill>
                  <a:srgbClr val="00323F"/>
                </a:solidFill>
                <a:latin typeface="+mn-lt"/>
              </a:rPr>
              <a:t>Venta a comprador internacional</a:t>
            </a:r>
          </a:p>
        </p:txBody>
      </p:sp>
      <p:sp>
        <p:nvSpPr>
          <p:cNvPr id="42" name="TextBox 41"/>
          <p:cNvSpPr txBox="1"/>
          <p:nvPr/>
        </p:nvSpPr>
        <p:spPr>
          <a:xfrm>
            <a:off x="7452360" y="4343400"/>
            <a:ext cx="3657600" cy="1463040"/>
          </a:xfrm>
          <a:prstGeom prst="rect">
            <a:avLst/>
          </a:prstGeom>
          <a:noFill/>
        </p:spPr>
        <p:txBody>
          <a:bodyPr wrap="square" lIns="45720" rIns="45720" anchor="t">
            <a:spAutoFit/>
          </a:bodyPr>
          <a:lstStyle/>
          <a:p>
            <a:pPr algn="l">
              <a:spcAft>
                <a:spcPts val="600"/>
              </a:spcAft>
            </a:pPr>
            <a:r>
              <a:rPr sz="1400" b="1" i="0">
                <a:solidFill>
                  <a:srgbClr val="088A3A"/>
                </a:solidFill>
                <a:latin typeface="+mn-lt"/>
              </a:rPr>
              <a:t>✓ </a:t>
            </a:r>
            <a:r>
              <a:rPr sz="1400" b="0" i="0">
                <a:solidFill>
                  <a:srgbClr val="00323F"/>
                </a:solidFill>
                <a:latin typeface="+mn-lt"/>
              </a:rPr>
              <a:t>Más regulación y supervisión: mayor integridad ambiental</a:t>
            </a:r>
          </a:p>
          <a:p>
            <a:pPr algn="l">
              <a:spcAft>
                <a:spcPts val="600"/>
              </a:spcAft>
            </a:pPr>
            <a:r>
              <a:rPr sz="1400" b="1" i="0">
                <a:solidFill>
                  <a:srgbClr val="C0392B"/>
                </a:solidFill>
                <a:latin typeface="+mn-lt"/>
              </a:rPr>
              <a:t>✗ </a:t>
            </a:r>
            <a:r>
              <a:rPr sz="1400" b="0" i="0">
                <a:solidFill>
                  <a:srgbClr val="00323F"/>
                </a:solidFill>
                <a:latin typeface="+mn-lt"/>
              </a:rPr>
              <a:t>Procesos más burocráticos: certificación más lenta</a:t>
            </a:r>
          </a:p>
        </p:txBody>
      </p:sp>
    </p:spTree>
    <p:extLst>
      <p:ext uri="{BB962C8B-B14F-4D97-AF65-F5344CB8AC3E}">
        <p14:creationId xmlns:p14="http://schemas.microsoft.com/office/powerpoint/2010/main" val="1502036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17"/>
          <p:cNvSpPr/>
          <p:nvPr/>
        </p:nvSpPr>
        <p:spPr>
          <a:xfrm>
            <a:off x="2" y="4877934"/>
            <a:ext cx="12191999" cy="2013933"/>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mn-lt"/>
              <a:sym typeface="Calibri"/>
            </a:endParaRPr>
          </a:p>
        </p:txBody>
      </p:sp>
      <p:pic>
        <p:nvPicPr>
          <p:cNvPr id="487" name="Google Shape;487;p17"/>
          <p:cNvPicPr preferRelativeResize="0"/>
          <p:nvPr/>
        </p:nvPicPr>
        <p:blipFill rotWithShape="1">
          <a:blip r:embed="rId3">
            <a:alphaModFix/>
          </a:blip>
          <a:srcRect l="644" r="4116"/>
          <a:stretch/>
        </p:blipFill>
        <p:spPr>
          <a:xfrm>
            <a:off x="321733" y="385233"/>
            <a:ext cx="11548535" cy="6214535"/>
          </a:xfrm>
          <a:prstGeom prst="rect">
            <a:avLst/>
          </a:prstGeom>
          <a:noFill/>
          <a:ln>
            <a:noFill/>
          </a:ln>
        </p:spPr>
      </p:pic>
      <p:cxnSp>
        <p:nvCxnSpPr>
          <p:cNvPr id="488" name="Google Shape;488;p17"/>
          <p:cNvCxnSpPr/>
          <p:nvPr/>
        </p:nvCxnSpPr>
        <p:spPr>
          <a:xfrm rot="10800000">
            <a:off x="2573867" y="7954559"/>
            <a:ext cx="9499600" cy="0"/>
          </a:xfrm>
          <a:prstGeom prst="straightConnector1">
            <a:avLst/>
          </a:prstGeom>
          <a:noFill/>
          <a:ln w="34925" cap="rnd" cmpd="sng">
            <a:solidFill>
              <a:schemeClr val="accent6"/>
            </a:solidFill>
            <a:prstDash val="solid"/>
            <a:miter lim="800000"/>
            <a:headEnd type="none" w="sm" len="sm"/>
            <a:tailEnd type="none" w="sm" len="sm"/>
          </a:ln>
        </p:spPr>
      </p:cxnSp>
      <p:cxnSp>
        <p:nvCxnSpPr>
          <p:cNvPr id="489" name="Google Shape;489;p17"/>
          <p:cNvCxnSpPr/>
          <p:nvPr/>
        </p:nvCxnSpPr>
        <p:spPr>
          <a:xfrm>
            <a:off x="9364133" y="-1825380"/>
            <a:ext cx="2827867" cy="0"/>
          </a:xfrm>
          <a:prstGeom prst="straightConnector1">
            <a:avLst/>
          </a:prstGeom>
          <a:noFill/>
          <a:ln w="34925" cap="rnd" cmpd="sng">
            <a:solidFill>
              <a:schemeClr val="accent6"/>
            </a:solidFill>
            <a:prstDash val="solid"/>
            <a:miter lim="800000"/>
            <a:headEnd type="none" w="sm" len="sm"/>
            <a:tailEnd type="none" w="sm" len="sm"/>
          </a:ln>
        </p:spPr>
      </p:cxnSp>
      <p:sp>
        <p:nvSpPr>
          <p:cNvPr id="490" name="Google Shape;490;p17"/>
          <p:cNvSpPr txBox="1"/>
          <p:nvPr/>
        </p:nvSpPr>
        <p:spPr>
          <a:xfrm>
            <a:off x="1" y="6584092"/>
            <a:ext cx="12191999"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Calibri"/>
              <a:buNone/>
            </a:pPr>
            <a:r>
              <a:rPr lang="en-US" sz="1200" b="0" i="0" u="none" strike="noStrike" cap="none" dirty="0">
                <a:solidFill>
                  <a:srgbClr val="FFFFFF"/>
                </a:solidFill>
                <a:latin typeface="+mn-lt"/>
                <a:sym typeface="Calibri"/>
              </a:rPr>
              <a:t>Charlotte </a:t>
            </a:r>
            <a:r>
              <a:rPr lang="en-US" sz="1200" b="0" i="0" u="none" strike="noStrike" cap="none" dirty="0" err="1">
                <a:solidFill>
                  <a:srgbClr val="FFFFFF"/>
                </a:solidFill>
                <a:latin typeface="+mn-lt"/>
                <a:sym typeface="Calibri"/>
              </a:rPr>
              <a:t>Streck</a:t>
            </a:r>
            <a:r>
              <a:rPr lang="en-US" sz="1200" b="0" i="0" u="none" strike="noStrike" cap="none" dirty="0">
                <a:solidFill>
                  <a:srgbClr val="FFFFFF"/>
                </a:solidFill>
                <a:latin typeface="+mn-lt"/>
                <a:sym typeface="Calibri"/>
              </a:rPr>
              <a:t>, </a:t>
            </a:r>
            <a:r>
              <a:rPr lang="en-US" sz="1200" b="0" i="0" u="none" strike="noStrike" cap="none" dirty="0" err="1">
                <a:solidFill>
                  <a:srgbClr val="FFFFFF"/>
                </a:solidFill>
                <a:latin typeface="+mn-lt"/>
                <a:sym typeface="Calibri"/>
              </a:rPr>
              <a:t>Melaina</a:t>
            </a:r>
            <a:r>
              <a:rPr lang="en-US" sz="1200" b="0" i="0" u="none" strike="noStrike" cap="none" dirty="0">
                <a:solidFill>
                  <a:srgbClr val="FFFFFF"/>
                </a:solidFill>
                <a:latin typeface="+mn-lt"/>
                <a:sym typeface="Calibri"/>
              </a:rPr>
              <a:t> Dyck and </a:t>
            </a:r>
            <a:r>
              <a:rPr lang="en-US" sz="1200" b="0" i="0" u="none" strike="noStrike" cap="none" dirty="0" err="1">
                <a:solidFill>
                  <a:srgbClr val="FFFFFF"/>
                </a:solidFill>
                <a:latin typeface="+mn-lt"/>
                <a:sym typeface="Calibri"/>
              </a:rPr>
              <a:t>Danick</a:t>
            </a:r>
            <a:r>
              <a:rPr lang="en-US" sz="1200" b="0" i="0" u="none" strike="noStrike" cap="none" dirty="0">
                <a:solidFill>
                  <a:srgbClr val="FFFFFF"/>
                </a:solidFill>
                <a:latin typeface="+mn-lt"/>
                <a:sym typeface="Calibri"/>
              </a:rPr>
              <a:t> </a:t>
            </a:r>
            <a:r>
              <a:rPr lang="en-US" sz="1200" b="0" i="0" u="none" strike="noStrike" cap="none" dirty="0" err="1">
                <a:solidFill>
                  <a:srgbClr val="FFFFFF"/>
                </a:solidFill>
                <a:latin typeface="+mn-lt"/>
                <a:sym typeface="Calibri"/>
              </a:rPr>
              <a:t>Trouwloon</a:t>
            </a:r>
            <a:r>
              <a:rPr lang="en-US" sz="1200" b="0" i="0" u="none" strike="noStrike" cap="none" dirty="0">
                <a:solidFill>
                  <a:srgbClr val="FFFFFF"/>
                </a:solidFill>
                <a:latin typeface="+mn-lt"/>
                <a:sym typeface="Calibri"/>
              </a:rPr>
              <a:t> (2021) VCM Primer https://</a:t>
            </a:r>
            <a:r>
              <a:rPr lang="en-US" sz="1200" b="0" i="0" u="none" strike="noStrike" cap="none" dirty="0" err="1">
                <a:solidFill>
                  <a:srgbClr val="FFFFFF"/>
                </a:solidFill>
                <a:latin typeface="+mn-lt"/>
                <a:sym typeface="Calibri"/>
              </a:rPr>
              <a:t>vcmprimer.org</a:t>
            </a:r>
            <a:r>
              <a:rPr lang="en-US" sz="1200" b="0" i="0" u="none" strike="noStrike" cap="none" dirty="0">
                <a:solidFill>
                  <a:srgbClr val="FFFFFF"/>
                </a:solidFill>
                <a:latin typeface="+mn-lt"/>
                <a:sym typeface="Calibri"/>
              </a:rPr>
              <a:t>/chapter-3-how-does-the-voluntary-carbon-market-link-to-the-paris-agreement-and-article-6/</a:t>
            </a:r>
            <a:endParaRPr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4993F-6AB6-1E96-94F0-742F0D2F28C3}"/>
              </a:ext>
            </a:extLst>
          </p:cNvPr>
          <p:cNvSpPr>
            <a:spLocks noGrp="1"/>
          </p:cNvSpPr>
          <p:nvPr>
            <p:ph type="title"/>
          </p:nvPr>
        </p:nvSpPr>
        <p:spPr/>
        <p:txBody>
          <a:bodyPr/>
          <a:lstStyle/>
          <a:p>
            <a:r>
              <a:rPr lang="es-ES_tradnl" dirty="0"/>
              <a:t>¿Quiénes venden y quienes compran?</a:t>
            </a:r>
          </a:p>
        </p:txBody>
      </p:sp>
      <p:pic>
        <p:nvPicPr>
          <p:cNvPr id="7" name="Picture 6">
            <a:extLst>
              <a:ext uri="{FF2B5EF4-FFF2-40B4-BE49-F238E27FC236}">
                <a16:creationId xmlns:a16="http://schemas.microsoft.com/office/drawing/2014/main" id="{BDC548B0-2704-CD2A-F763-418A59CF7D16}"/>
              </a:ext>
            </a:extLst>
          </p:cNvPr>
          <p:cNvPicPr>
            <a:picLocks noChangeAspect="1"/>
          </p:cNvPicPr>
          <p:nvPr/>
        </p:nvPicPr>
        <p:blipFill>
          <a:blip r:embed="rId3"/>
          <a:stretch>
            <a:fillRect/>
          </a:stretch>
        </p:blipFill>
        <p:spPr>
          <a:xfrm>
            <a:off x="2209800" y="1332531"/>
            <a:ext cx="7772400" cy="5525469"/>
          </a:xfrm>
          <a:prstGeom prst="rect">
            <a:avLst/>
          </a:prstGeom>
        </p:spPr>
      </p:pic>
    </p:spTree>
    <p:extLst>
      <p:ext uri="{BB962C8B-B14F-4D97-AF65-F5344CB8AC3E}">
        <p14:creationId xmlns:p14="http://schemas.microsoft.com/office/powerpoint/2010/main" val="180263397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484EC-522E-6282-7354-367DAAA1A6CD}"/>
              </a:ext>
            </a:extLst>
          </p:cNvPr>
          <p:cNvSpPr>
            <a:spLocks noGrp="1"/>
          </p:cNvSpPr>
          <p:nvPr>
            <p:ph type="title"/>
          </p:nvPr>
        </p:nvSpPr>
        <p:spPr/>
        <p:txBody>
          <a:bodyPr/>
          <a:lstStyle/>
          <a:p>
            <a:r>
              <a:rPr lang="es-ES_tradnl" dirty="0"/>
              <a:t>¿Qué pasó en la COP 26?</a:t>
            </a:r>
          </a:p>
        </p:txBody>
      </p:sp>
      <p:pic>
        <p:nvPicPr>
          <p:cNvPr id="4" name="Picture 3">
            <a:extLst>
              <a:ext uri="{FF2B5EF4-FFF2-40B4-BE49-F238E27FC236}">
                <a16:creationId xmlns:a16="http://schemas.microsoft.com/office/drawing/2014/main" id="{24161519-D29D-83C1-BB3A-C240788D116E}"/>
              </a:ext>
            </a:extLst>
          </p:cNvPr>
          <p:cNvPicPr>
            <a:picLocks noChangeAspect="1"/>
          </p:cNvPicPr>
          <p:nvPr/>
        </p:nvPicPr>
        <p:blipFill>
          <a:blip r:embed="rId3"/>
          <a:stretch>
            <a:fillRect/>
          </a:stretch>
        </p:blipFill>
        <p:spPr>
          <a:xfrm>
            <a:off x="2055795" y="1318413"/>
            <a:ext cx="7772400" cy="5174462"/>
          </a:xfrm>
          <a:prstGeom prst="rect">
            <a:avLst/>
          </a:prstGeom>
        </p:spPr>
      </p:pic>
    </p:spTree>
    <p:extLst>
      <p:ext uri="{BB962C8B-B14F-4D97-AF65-F5344CB8AC3E}">
        <p14:creationId xmlns:p14="http://schemas.microsoft.com/office/powerpoint/2010/main" val="237292759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2697480"/>
            <a:ext cx="10515600" cy="1737360"/>
          </a:xfrm>
        </p:spPr>
        <p:txBody>
          <a:bodyPr anchor="t"/>
          <a:lstStyle/>
          <a:p>
            <a:r>
              <a:rPr sz="5400"/>
              <a:t>Mercados regulados y voluntarios</a:t>
            </a:r>
          </a:p>
        </p:txBody>
      </p:sp>
      <p:sp>
        <p:nvSpPr>
          <p:cNvPr id="3" name="TextBox 2"/>
          <p:cNvSpPr txBox="1"/>
          <p:nvPr/>
        </p:nvSpPr>
        <p:spPr>
          <a:xfrm>
            <a:off x="914400" y="2148840"/>
            <a:ext cx="7315200" cy="457200"/>
          </a:xfrm>
          <a:prstGeom prst="rect">
            <a:avLst/>
          </a:prstGeom>
          <a:noFill/>
        </p:spPr>
        <p:txBody>
          <a:bodyPr wrap="square" anchor="t">
            <a:spAutoFit/>
          </a:bodyPr>
          <a:lstStyle/>
          <a:p>
            <a:pPr algn="l"/>
            <a:r>
              <a:rPr sz="2000" b="1" i="0">
                <a:solidFill>
                  <a:srgbClr val="088A3A"/>
                </a:solidFill>
                <a:latin typeface="+mn-lt"/>
              </a:rPr>
              <a:t>Parte 3</a:t>
            </a:r>
            <a:r>
              <a:rPr sz="2000" b="0" i="0">
                <a:solidFill>
                  <a:srgbClr val="595959"/>
                </a:solidFill>
                <a:latin typeface="+mn-lt"/>
              </a:rPr>
              <a:t>  ·  25 min</a:t>
            </a:r>
          </a:p>
        </p:txBody>
      </p:sp>
      <p:sp>
        <p:nvSpPr>
          <p:cNvPr id="4" name="TextBox 3"/>
          <p:cNvSpPr txBox="1"/>
          <p:nvPr/>
        </p:nvSpPr>
        <p:spPr>
          <a:xfrm>
            <a:off x="914400" y="4434840"/>
            <a:ext cx="9601200" cy="457200"/>
          </a:xfrm>
          <a:prstGeom prst="rect">
            <a:avLst/>
          </a:prstGeom>
          <a:noFill/>
        </p:spPr>
        <p:txBody>
          <a:bodyPr wrap="square" anchor="t">
            <a:spAutoFit/>
          </a:bodyPr>
          <a:lstStyle/>
          <a:p>
            <a:pPr algn="l"/>
            <a:r>
              <a:rPr sz="1800" b="0" i="0">
                <a:solidFill>
                  <a:srgbClr val="595959"/>
                </a:solidFill>
                <a:latin typeface="+mn-lt"/>
              </a:rPr>
              <a:t>Precios, volúmenes y estándares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Tipos de mercados de carbono</a:t>
            </a:r>
          </a:p>
        </p:txBody>
      </p:sp>
      <p:sp>
        <p:nvSpPr>
          <p:cNvPr id="10" name="Rounded Rectangle 9"/>
          <p:cNvSpPr/>
          <p:nvPr/>
        </p:nvSpPr>
        <p:spPr>
          <a:xfrm>
            <a:off x="914400" y="1691640"/>
            <a:ext cx="5074920" cy="406908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43000" y="1783080"/>
            <a:ext cx="4617720" cy="411480"/>
          </a:xfrm>
          <a:prstGeom prst="rect">
            <a:avLst/>
          </a:prstGeom>
          <a:noFill/>
        </p:spPr>
        <p:txBody>
          <a:bodyPr wrap="square" lIns="45720" rIns="45720" anchor="t">
            <a:spAutoFit/>
          </a:bodyPr>
          <a:lstStyle/>
          <a:p>
            <a:pPr algn="l">
              <a:spcAft>
                <a:spcPts val="400"/>
              </a:spcAft>
            </a:pPr>
            <a:r>
              <a:rPr sz="1800" b="1" i="0">
                <a:solidFill>
                  <a:srgbClr val="00323F"/>
                </a:solidFill>
                <a:latin typeface="+mn-lt"/>
              </a:rPr>
              <a:t>Mercado regulado (de cumplimiento)</a:t>
            </a:r>
          </a:p>
        </p:txBody>
      </p:sp>
      <p:pic>
        <p:nvPicPr>
          <p:cNvPr id="12" name="Picture 11" descr="img5_1.png"/>
          <p:cNvPicPr>
            <a:picLocks noChangeAspect="1"/>
          </p:cNvPicPr>
          <p:nvPr/>
        </p:nvPicPr>
        <p:blipFill>
          <a:blip r:embed="rId3"/>
          <a:stretch>
            <a:fillRect/>
          </a:stretch>
        </p:blipFill>
        <p:spPr>
          <a:xfrm>
            <a:off x="1188720" y="2240280"/>
            <a:ext cx="3821446" cy="2651760"/>
          </a:xfrm>
          <a:prstGeom prst="rect">
            <a:avLst/>
          </a:prstGeom>
        </p:spPr>
      </p:pic>
      <p:sp>
        <p:nvSpPr>
          <p:cNvPr id="13" name="TextBox 12"/>
          <p:cNvSpPr txBox="1"/>
          <p:nvPr/>
        </p:nvSpPr>
        <p:spPr>
          <a:xfrm>
            <a:off x="1143000" y="4937760"/>
            <a:ext cx="4617720" cy="777240"/>
          </a:xfrm>
          <a:prstGeom prst="rect">
            <a:avLst/>
          </a:prstGeom>
          <a:noFill/>
        </p:spPr>
        <p:txBody>
          <a:bodyPr wrap="square" lIns="45720" rIns="45720" anchor="t">
            <a:spAutoFit/>
          </a:bodyPr>
          <a:lstStyle/>
          <a:p>
            <a:pPr algn="l">
              <a:spcAft>
                <a:spcPts val="400"/>
              </a:spcAft>
            </a:pPr>
            <a:r>
              <a:rPr sz="1400" b="0" i="0">
                <a:solidFill>
                  <a:srgbClr val="595959"/>
                </a:solidFill>
                <a:latin typeface="+mn-lt"/>
              </a:rPr>
              <a:t>La autoridad fija un tope que baja cada año. Quien emite de más compra créditos; quien reduce de más los vende.</a:t>
            </a:r>
          </a:p>
        </p:txBody>
      </p:sp>
      <p:sp>
        <p:nvSpPr>
          <p:cNvPr id="14" name="Rounded Rectangle 13"/>
          <p:cNvSpPr/>
          <p:nvPr/>
        </p:nvSpPr>
        <p:spPr>
          <a:xfrm>
            <a:off x="6172200" y="1691640"/>
            <a:ext cx="5074920" cy="406908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00800" y="1783080"/>
            <a:ext cx="4617720" cy="411480"/>
          </a:xfrm>
          <a:prstGeom prst="rect">
            <a:avLst/>
          </a:prstGeom>
          <a:noFill/>
        </p:spPr>
        <p:txBody>
          <a:bodyPr wrap="square" lIns="45720" rIns="45720" anchor="t">
            <a:spAutoFit/>
          </a:bodyPr>
          <a:lstStyle/>
          <a:p>
            <a:pPr algn="l">
              <a:spcAft>
                <a:spcPts val="400"/>
              </a:spcAft>
            </a:pPr>
            <a:r>
              <a:rPr sz="1800" b="1" i="0">
                <a:solidFill>
                  <a:srgbClr val="088A3A"/>
                </a:solidFill>
                <a:latin typeface="+mn-lt"/>
              </a:rPr>
              <a:t>Mercado voluntario</a:t>
            </a:r>
          </a:p>
        </p:txBody>
      </p:sp>
      <p:pic>
        <p:nvPicPr>
          <p:cNvPr id="16" name="Picture 15" descr="img5_2.png"/>
          <p:cNvPicPr>
            <a:picLocks noChangeAspect="1"/>
          </p:cNvPicPr>
          <p:nvPr/>
        </p:nvPicPr>
        <p:blipFill>
          <a:blip r:embed="rId4"/>
          <a:stretch>
            <a:fillRect/>
          </a:stretch>
        </p:blipFill>
        <p:spPr>
          <a:xfrm>
            <a:off x="6446520" y="2240280"/>
            <a:ext cx="4011697" cy="2651760"/>
          </a:xfrm>
          <a:prstGeom prst="rect">
            <a:avLst/>
          </a:prstGeom>
        </p:spPr>
      </p:pic>
      <p:sp>
        <p:nvSpPr>
          <p:cNvPr id="17" name="TextBox 16"/>
          <p:cNvSpPr txBox="1"/>
          <p:nvPr/>
        </p:nvSpPr>
        <p:spPr>
          <a:xfrm>
            <a:off x="6400800" y="4937760"/>
            <a:ext cx="4617720" cy="777240"/>
          </a:xfrm>
          <a:prstGeom prst="rect">
            <a:avLst/>
          </a:prstGeom>
          <a:noFill/>
        </p:spPr>
        <p:txBody>
          <a:bodyPr wrap="square" lIns="45720" rIns="45720" anchor="t">
            <a:spAutoFit/>
          </a:bodyPr>
          <a:lstStyle/>
          <a:p>
            <a:pPr algn="l">
              <a:spcAft>
                <a:spcPts val="400"/>
              </a:spcAft>
            </a:pPr>
            <a:r>
              <a:rPr sz="1400" b="0" i="0">
                <a:solidFill>
                  <a:srgbClr val="595959"/>
                </a:solidFill>
                <a:latin typeface="+mn-lt"/>
              </a:rPr>
              <a:t>Sin tope legal: la presión de accionistas y clientes lleva a comprar créditos de proyectos que evitan emisiones.</a:t>
            </a:r>
          </a:p>
        </p:txBody>
      </p:sp>
      <p:sp>
        <p:nvSpPr>
          <p:cNvPr id="18"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Los créditos del mercado regulado también pueden venderse en el voluntario.</a:t>
            </a:r>
          </a:p>
        </p:txBody>
      </p:sp>
    </p:spTree>
    <p:extLst>
      <p:ext uri="{BB962C8B-B14F-4D97-AF65-F5344CB8AC3E}">
        <p14:creationId xmlns:p14="http://schemas.microsoft.com/office/powerpoint/2010/main" val="917244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6FD0B-F1A7-7744-28AE-1280D348D236}"/>
              </a:ext>
            </a:extLst>
          </p:cNvPr>
          <p:cNvSpPr>
            <a:spLocks noGrp="1"/>
          </p:cNvSpPr>
          <p:nvPr>
            <p:ph type="title"/>
          </p:nvPr>
        </p:nvSpPr>
        <p:spPr>
          <a:xfrm>
            <a:off x="838200" y="2511425"/>
            <a:ext cx="10515600" cy="1325563"/>
          </a:xfrm>
        </p:spPr>
        <p:txBody>
          <a:bodyPr>
            <a:normAutofit/>
          </a:bodyPr>
          <a:lstStyle/>
          <a:p>
            <a:pPr algn="ctr"/>
            <a:r>
              <a:rPr lang="es-ES_tradnl" sz="6000" dirty="0"/>
              <a:t>Mercados Regulados</a:t>
            </a:r>
          </a:p>
        </p:txBody>
      </p:sp>
    </p:spTree>
    <p:extLst>
      <p:ext uri="{BB962C8B-B14F-4D97-AF65-F5344CB8AC3E}">
        <p14:creationId xmlns:p14="http://schemas.microsoft.com/office/powerpoint/2010/main" val="4109539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E3CD91-E09C-47FC-8DF5-4706C962C458}"/>
              </a:ext>
            </a:extLst>
          </p:cNvPr>
          <p:cNvSpPr>
            <a:spLocks noGrp="1"/>
          </p:cNvSpPr>
          <p:nvPr>
            <p:ph type="title"/>
          </p:nvPr>
        </p:nvSpPr>
        <p:spPr>
          <a:xfrm>
            <a:off x="838200" y="365126"/>
            <a:ext cx="10515600" cy="726696"/>
          </a:xfrm>
        </p:spPr>
        <p:txBody>
          <a:bodyPr>
            <a:normAutofit fontScale="90000"/>
          </a:bodyPr>
          <a:lstStyle/>
          <a:p>
            <a:r>
              <a:rPr lang="es-ES" sz="4000" dirty="0"/>
              <a:t>Instrumentos de precios de carbono en el mercado regulado, 2024.</a:t>
            </a:r>
            <a:endParaRPr lang="es-CO" sz="4000" dirty="0"/>
          </a:p>
        </p:txBody>
      </p:sp>
      <p:pic>
        <p:nvPicPr>
          <p:cNvPr id="4" name="Marcador de contenido 3">
            <a:extLst>
              <a:ext uri="{FF2B5EF4-FFF2-40B4-BE49-F238E27FC236}">
                <a16:creationId xmlns:a16="http://schemas.microsoft.com/office/drawing/2014/main" id="{90474983-2C45-4ED5-8B62-42E4059C287F}"/>
              </a:ext>
            </a:extLst>
          </p:cNvPr>
          <p:cNvPicPr>
            <a:picLocks noGrp="1"/>
          </p:cNvPicPr>
          <p:nvPr>
            <p:ph idx="1"/>
          </p:nvPr>
        </p:nvPicPr>
        <p:blipFill>
          <a:blip r:embed="rId2"/>
          <a:stretch>
            <a:fillRect/>
          </a:stretch>
        </p:blipFill>
        <p:spPr>
          <a:xfrm>
            <a:off x="562401" y="1269242"/>
            <a:ext cx="11067197" cy="4650427"/>
          </a:xfrm>
          <a:prstGeom prst="rect">
            <a:avLst/>
          </a:prstGeom>
        </p:spPr>
      </p:pic>
      <p:sp>
        <p:nvSpPr>
          <p:cNvPr id="6" name="CuadroTexto 5">
            <a:extLst>
              <a:ext uri="{FF2B5EF4-FFF2-40B4-BE49-F238E27FC236}">
                <a16:creationId xmlns:a16="http://schemas.microsoft.com/office/drawing/2014/main" id="{48E522CA-CC95-4B1B-9AF6-322C50F92997}"/>
              </a:ext>
            </a:extLst>
          </p:cNvPr>
          <p:cNvSpPr txBox="1"/>
          <p:nvPr/>
        </p:nvSpPr>
        <p:spPr>
          <a:xfrm>
            <a:off x="562401" y="6177455"/>
            <a:ext cx="10123227" cy="276999"/>
          </a:xfrm>
          <a:prstGeom prst="rect">
            <a:avLst/>
          </a:prstGeom>
          <a:noFill/>
        </p:spPr>
        <p:txBody>
          <a:bodyPr wrap="square">
            <a:spAutoFit/>
          </a:bodyPr>
          <a:lstStyle/>
          <a:p>
            <a:pPr>
              <a:spcAft>
                <a:spcPts val="1000"/>
              </a:spcAft>
            </a:pPr>
            <a:r>
              <a:rPr lang="es-ES" sz="1200" i="1" kern="100" dirty="0">
                <a:solidFill>
                  <a:srgbClr val="0E2841"/>
                </a:solidFill>
                <a:effectLst/>
                <a:latin typeface="+mn-lt" panose="020B0604020202020204" pitchFamily="34" charset="0"/>
                <a:ea typeface="Aptos"/>
              </a:rPr>
              <a:t>Fuente: </a:t>
            </a:r>
            <a:r>
              <a:rPr lang="es-ES" sz="1200" i="1" kern="100" dirty="0" err="1">
                <a:solidFill>
                  <a:srgbClr val="0E2841"/>
                </a:solidFill>
                <a:effectLst/>
                <a:latin typeface="+mn-lt" panose="020B0604020202020204" pitchFamily="34" charset="0"/>
                <a:ea typeface="Aptos"/>
              </a:rPr>
              <a:t>Carbon</a:t>
            </a:r>
            <a:r>
              <a:rPr lang="es-ES" sz="1200" i="1" kern="100" dirty="0">
                <a:solidFill>
                  <a:srgbClr val="0E2841"/>
                </a:solidFill>
                <a:effectLst/>
                <a:latin typeface="+mn-lt" panose="020B0604020202020204" pitchFamily="34" charset="0"/>
                <a:ea typeface="Aptos"/>
              </a:rPr>
              <a:t> </a:t>
            </a:r>
            <a:r>
              <a:rPr lang="es-ES" sz="1200" i="1" kern="100" dirty="0" err="1">
                <a:solidFill>
                  <a:srgbClr val="0E2841"/>
                </a:solidFill>
                <a:effectLst/>
                <a:latin typeface="+mn-lt" panose="020B0604020202020204" pitchFamily="34" charset="0"/>
                <a:ea typeface="Aptos"/>
              </a:rPr>
              <a:t>Pricing</a:t>
            </a:r>
            <a:r>
              <a:rPr lang="es-ES" sz="1200" i="1" kern="100" dirty="0">
                <a:solidFill>
                  <a:srgbClr val="0E2841"/>
                </a:solidFill>
                <a:effectLst/>
                <a:latin typeface="+mn-lt" panose="020B0604020202020204" pitchFamily="34" charset="0"/>
                <a:ea typeface="Aptos"/>
              </a:rPr>
              <a:t> </a:t>
            </a:r>
            <a:r>
              <a:rPr lang="es-ES" sz="1200" i="1" kern="100" dirty="0" err="1">
                <a:solidFill>
                  <a:srgbClr val="0E2841"/>
                </a:solidFill>
                <a:effectLst/>
                <a:latin typeface="+mn-lt" panose="020B0604020202020204" pitchFamily="34" charset="0"/>
                <a:ea typeface="Aptos"/>
              </a:rPr>
              <a:t>Dashboard</a:t>
            </a:r>
            <a:r>
              <a:rPr lang="es-ES" sz="1200" i="1" kern="100" dirty="0">
                <a:solidFill>
                  <a:srgbClr val="0E2841"/>
                </a:solidFill>
                <a:effectLst/>
                <a:latin typeface="+mn-lt" panose="020B0604020202020204" pitchFamily="34" charset="0"/>
                <a:ea typeface="Aptos"/>
              </a:rPr>
              <a:t> (</a:t>
            </a:r>
            <a:r>
              <a:rPr lang="es-ES" sz="1200" i="1" kern="100" dirty="0" err="1">
                <a:solidFill>
                  <a:srgbClr val="0E2841"/>
                </a:solidFill>
                <a:effectLst/>
                <a:latin typeface="+mn-lt" panose="020B0604020202020204" pitchFamily="34" charset="0"/>
                <a:ea typeface="Aptos"/>
              </a:rPr>
              <a:t>WorldBank</a:t>
            </a:r>
            <a:r>
              <a:rPr lang="es-ES" sz="1200" i="1" kern="100" dirty="0">
                <a:solidFill>
                  <a:srgbClr val="0E2841"/>
                </a:solidFill>
                <a:effectLst/>
                <a:latin typeface="+mn-lt" panose="020B0604020202020204" pitchFamily="34" charset="0"/>
                <a:ea typeface="Aptos"/>
              </a:rPr>
              <a:t>)</a:t>
            </a:r>
            <a:endParaRPr lang="es-CO" sz="1200" i="1" kern="100" dirty="0">
              <a:solidFill>
                <a:srgbClr val="0E2841"/>
              </a:solidFill>
              <a:effectLst/>
              <a:latin typeface="+mn-lt" panose="020B0604020202020204" pitchFamily="34" charset="0"/>
              <a:ea typeface="Aptos"/>
            </a:endParaRPr>
          </a:p>
        </p:txBody>
      </p:sp>
    </p:spTree>
    <p:extLst>
      <p:ext uri="{BB962C8B-B14F-4D97-AF65-F5344CB8AC3E}">
        <p14:creationId xmlns:p14="http://schemas.microsoft.com/office/powerpoint/2010/main" val="3196632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0C4C5-F20C-68DF-0B97-E7485D9EBCBC}"/>
              </a:ext>
            </a:extLst>
          </p:cNvPr>
          <p:cNvSpPr>
            <a:spLocks noGrp="1"/>
          </p:cNvSpPr>
          <p:nvPr>
            <p:ph type="title"/>
          </p:nvPr>
        </p:nvSpPr>
        <p:spPr/>
        <p:txBody>
          <a:bodyPr>
            <a:normAutofit/>
          </a:bodyPr>
          <a:lstStyle/>
          <a:p>
            <a:r>
              <a:rPr lang="es-ES_tradnl" sz="4000" dirty="0"/>
              <a:t>Precios del carbono en el mercado de </a:t>
            </a:r>
            <a:r>
              <a:rPr lang="es-ES" sz="4000" dirty="0"/>
              <a:t>regulado</a:t>
            </a:r>
            <a:endParaRPr lang="es-ES_tradnl" sz="4000" dirty="0"/>
          </a:p>
        </p:txBody>
      </p:sp>
      <p:pic>
        <p:nvPicPr>
          <p:cNvPr id="4" name="Picture 3">
            <a:extLst>
              <a:ext uri="{FF2B5EF4-FFF2-40B4-BE49-F238E27FC236}">
                <a16:creationId xmlns:a16="http://schemas.microsoft.com/office/drawing/2014/main" id="{87C1714F-1283-90E2-B2AD-62C0973AAA53}"/>
              </a:ext>
            </a:extLst>
          </p:cNvPr>
          <p:cNvPicPr>
            <a:picLocks noChangeAspect="1"/>
          </p:cNvPicPr>
          <p:nvPr/>
        </p:nvPicPr>
        <p:blipFill>
          <a:blip r:embed="rId3"/>
          <a:stretch>
            <a:fillRect/>
          </a:stretch>
        </p:blipFill>
        <p:spPr>
          <a:xfrm>
            <a:off x="1401916" y="1568759"/>
            <a:ext cx="8747099" cy="5072398"/>
          </a:xfrm>
          <a:prstGeom prst="rect">
            <a:avLst/>
          </a:prstGeom>
        </p:spPr>
      </p:pic>
      <p:sp>
        <p:nvSpPr>
          <p:cNvPr id="5" name="TextBox 4">
            <a:extLst>
              <a:ext uri="{FF2B5EF4-FFF2-40B4-BE49-F238E27FC236}">
                <a16:creationId xmlns:a16="http://schemas.microsoft.com/office/drawing/2014/main" id="{E2CB8AEA-46EA-74EC-EF71-13D9EEEED64B}"/>
              </a:ext>
            </a:extLst>
          </p:cNvPr>
          <p:cNvSpPr txBox="1"/>
          <p:nvPr/>
        </p:nvSpPr>
        <p:spPr>
          <a:xfrm>
            <a:off x="0" y="6558294"/>
            <a:ext cx="4258393" cy="299706"/>
          </a:xfrm>
          <a:prstGeom prst="rect">
            <a:avLst/>
          </a:prstGeom>
        </p:spPr>
        <p:txBody>
          <a:bodyPr vert="horz" lIns="91440" tIns="45720" rIns="91440" bIns="45720" rtlCol="0">
            <a:normAutofit/>
          </a:bodyPr>
          <a:lstStyle/>
          <a:p>
            <a:pPr marL="182880">
              <a:lnSpc>
                <a:spcPct val="110000"/>
              </a:lnSpc>
              <a:spcBef>
                <a:spcPts val="400"/>
              </a:spcBef>
              <a:spcAft>
                <a:spcPts val="400"/>
              </a:spcAft>
              <a:buFont typeface="Arial" panose="020B0604020202020204" pitchFamily="34" charset="0"/>
            </a:pPr>
            <a:r>
              <a:rPr lang="en-US" sz="1050" dirty="0">
                <a:solidFill>
                  <a:schemeClr val="tx1">
                    <a:lumMod val="85000"/>
                    <a:lumOff val="15000"/>
                  </a:schemeClr>
                </a:solidFill>
              </a:rPr>
              <a:t>Fuente: </a:t>
            </a:r>
            <a:r>
              <a:rPr lang="en-US" sz="1050" i="1" dirty="0">
                <a:solidFill>
                  <a:schemeClr val="tx1">
                    <a:lumMod val="85000"/>
                    <a:lumOff val="15000"/>
                  </a:schemeClr>
                </a:solidFill>
              </a:rPr>
              <a:t>State and Trends of Carbon Pricing 2023. World Bank Group</a:t>
            </a:r>
            <a:endParaRPr lang="en-US" sz="1050" dirty="0">
              <a:solidFill>
                <a:schemeClr val="tx1">
                  <a:lumMod val="85000"/>
                  <a:lumOff val="15000"/>
                </a:schemeClr>
              </a:solidFill>
            </a:endParaRPr>
          </a:p>
        </p:txBody>
      </p:sp>
    </p:spTree>
    <p:extLst>
      <p:ext uri="{BB962C8B-B14F-4D97-AF65-F5344CB8AC3E}">
        <p14:creationId xmlns:p14="http://schemas.microsoft.com/office/powerpoint/2010/main" val="329858207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7141B-BD61-927C-526D-F881177B362A}"/>
              </a:ext>
            </a:extLst>
          </p:cNvPr>
          <p:cNvSpPr>
            <a:spLocks noGrp="1"/>
          </p:cNvSpPr>
          <p:nvPr>
            <p:ph type="title"/>
          </p:nvPr>
        </p:nvSpPr>
        <p:spPr>
          <a:xfrm>
            <a:off x="841248" y="365760"/>
            <a:ext cx="10515600" cy="1188720"/>
          </a:xfrm>
        </p:spPr>
        <p:txBody>
          <a:bodyPr/>
          <a:lstStyle/>
          <a:p>
            <a:r>
              <a:rPr lang="es-ES_tradnl" dirty="0"/>
              <a:t>Precios internos del carbono </a:t>
            </a:r>
          </a:p>
        </p:txBody>
      </p:sp>
      <p:pic>
        <p:nvPicPr>
          <p:cNvPr id="5" name="Picture 4">
            <a:extLst>
              <a:ext uri="{FF2B5EF4-FFF2-40B4-BE49-F238E27FC236}">
                <a16:creationId xmlns:a16="http://schemas.microsoft.com/office/drawing/2014/main" id="{4B2DEB35-521C-8449-028D-F44AC2089165}"/>
              </a:ext>
            </a:extLst>
          </p:cNvPr>
          <p:cNvPicPr>
            <a:picLocks noChangeAspect="1"/>
          </p:cNvPicPr>
          <p:nvPr/>
        </p:nvPicPr>
        <p:blipFill>
          <a:blip r:embed="rId3"/>
          <a:stretch>
            <a:fillRect/>
          </a:stretch>
        </p:blipFill>
        <p:spPr>
          <a:xfrm>
            <a:off x="841248" y="1600200"/>
            <a:ext cx="3764279" cy="4343400"/>
          </a:xfrm>
          <a:prstGeom prst="rect">
            <a:avLst/>
          </a:prstGeom>
        </p:spPr>
      </p:pic>
      <p:sp>
        <p:nvSpPr>
          <p:cNvPr id="6" name="TextBox 5">
            <a:extLst>
              <a:ext uri="{FF2B5EF4-FFF2-40B4-BE49-F238E27FC236}">
                <a16:creationId xmlns:a16="http://schemas.microsoft.com/office/drawing/2014/main" id="{1B084745-FE39-C0B2-F7A6-DEA1543FFADE}"/>
              </a:ext>
            </a:extLst>
          </p:cNvPr>
          <p:cNvSpPr txBox="1"/>
          <p:nvPr/>
        </p:nvSpPr>
        <p:spPr>
          <a:xfrm>
            <a:off x="841248" y="6035040"/>
            <a:ext cx="5486400" cy="301752"/>
          </a:xfrm>
          <a:prstGeom prst="rect">
            <a:avLst/>
          </a:prstGeom>
        </p:spPr>
        <p:txBody>
          <a:bodyPr vert="horz" lIns="91440" tIns="45720" rIns="91440" bIns="45720" rtlCol="0">
            <a:normAutofit/>
          </a:bodyPr>
          <a:lstStyle/>
          <a:p>
            <a:pPr marL="182880">
              <a:lnSpc>
                <a:spcPct val="110000"/>
              </a:lnSpc>
              <a:spcBef>
                <a:spcPts val="400"/>
              </a:spcBef>
              <a:spcAft>
                <a:spcPts val="400"/>
              </a:spcAft>
              <a:buFont typeface="Arial" panose="020B0604020202020204" pitchFamily="34" charset="0"/>
            </a:pPr>
            <a:r>
              <a:rPr lang="en-US" sz="1000" dirty="0">
                <a:solidFill>
                  <a:srgbClr val="595959"/>
                </a:solidFill>
              </a:rPr>
              <a:t>Fuente: </a:t>
            </a:r>
            <a:r>
              <a:rPr lang="en-US" sz="1000" i="1" dirty="0">
                <a:solidFill>
                  <a:srgbClr val="595959"/>
                </a:solidFill>
              </a:rPr>
              <a:t>State and Trends of Carbon Pricing 2023. World Bank Group</a:t>
            </a:r>
            <a:endParaRPr lang="en-US" sz="1050" dirty="0">
              <a:solidFill>
                <a:schemeClr val="tx1">
                  <a:lumMod val="85000"/>
                  <a:lumOff val="15000"/>
                </a:schemeClr>
              </a:solidFill>
            </a:endParaRPr>
          </a:p>
        </p:txBody>
      </p:sp>
      <p:sp>
        <p:nvSpPr>
          <p:cNvPr id="7" name="TextBox 6"/>
          <p:cNvSpPr txBox="1"/>
          <p:nvPr/>
        </p:nvSpPr>
        <p:spPr>
          <a:xfrm>
            <a:off x="4937760" y="1600200"/>
            <a:ext cx="6400800" cy="777240"/>
          </a:xfrm>
          <a:prstGeom prst="rect">
            <a:avLst/>
          </a:prstGeom>
          <a:noFill/>
        </p:spPr>
        <p:txBody>
          <a:bodyPr wrap="square" anchor="t">
            <a:spAutoFit/>
          </a:bodyPr>
          <a:lstStyle/>
          <a:p>
            <a:pPr algn="l"/>
            <a:r>
              <a:rPr sz="1600" b="0" i="0">
                <a:solidFill>
                  <a:srgbClr val="333333"/>
                </a:solidFill>
                <a:latin typeface="+mn-lt"/>
              </a:rPr>
              <a:t>Precio que una empresa se asigna voluntariamente por tonelada de CO₂e para decidir inversiones y gestionar el riesgo climático.</a:t>
            </a:r>
          </a:p>
        </p:txBody>
      </p:sp>
      <p:sp>
        <p:nvSpPr>
          <p:cNvPr id="8" name="Rounded Rectangle 7"/>
          <p:cNvSpPr/>
          <p:nvPr/>
        </p:nvSpPr>
        <p:spPr>
          <a:xfrm>
            <a:off x="4937760" y="2514600"/>
            <a:ext cx="3108960" cy="1234440"/>
          </a:xfrm>
          <a:prstGeom prst="roundRect">
            <a:avLst>
              <a:gd name="adj" fmla="val 6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20640" y="2606040"/>
            <a:ext cx="2743200" cy="365760"/>
          </a:xfrm>
          <a:prstGeom prst="rect">
            <a:avLst/>
          </a:prstGeom>
          <a:noFill/>
        </p:spPr>
        <p:txBody>
          <a:bodyPr wrap="square" anchor="t">
            <a:spAutoFit/>
          </a:bodyPr>
          <a:lstStyle/>
          <a:p>
            <a:pPr algn="l"/>
            <a:r>
              <a:rPr sz="1600" b="1" i="0">
                <a:solidFill>
                  <a:srgbClr val="00323F"/>
                </a:solidFill>
                <a:latin typeface="+mn-lt"/>
              </a:rPr>
              <a:t>Precio sombra</a:t>
            </a:r>
          </a:p>
        </p:txBody>
      </p:sp>
      <p:sp>
        <p:nvSpPr>
          <p:cNvPr id="10" name="TextBox 9"/>
          <p:cNvSpPr txBox="1"/>
          <p:nvPr/>
        </p:nvSpPr>
        <p:spPr>
          <a:xfrm>
            <a:off x="5120640" y="2971800"/>
            <a:ext cx="2743200" cy="731520"/>
          </a:xfrm>
          <a:prstGeom prst="rect">
            <a:avLst/>
          </a:prstGeom>
          <a:noFill/>
        </p:spPr>
        <p:txBody>
          <a:bodyPr wrap="square" anchor="t">
            <a:spAutoFit/>
          </a:bodyPr>
          <a:lstStyle/>
          <a:p>
            <a:pPr algn="l"/>
            <a:r>
              <a:rPr sz="1300" b="0" i="0">
                <a:solidFill>
                  <a:srgbClr val="333333"/>
                </a:solidFill>
                <a:latin typeface="+mn-lt"/>
              </a:rPr>
              <a:t>Precio teórico que se incluye en la evaluación de proyectos; no hay pago.</a:t>
            </a:r>
          </a:p>
        </p:txBody>
      </p:sp>
      <p:sp>
        <p:nvSpPr>
          <p:cNvPr id="11" name="Rounded Rectangle 10"/>
          <p:cNvSpPr/>
          <p:nvPr/>
        </p:nvSpPr>
        <p:spPr>
          <a:xfrm>
            <a:off x="8229600" y="2514600"/>
            <a:ext cx="3108960" cy="1234440"/>
          </a:xfrm>
          <a:prstGeom prst="roundRect">
            <a:avLst>
              <a:gd name="adj" fmla="val 6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2606040"/>
            <a:ext cx="2743200" cy="365760"/>
          </a:xfrm>
          <a:prstGeom prst="rect">
            <a:avLst/>
          </a:prstGeom>
          <a:noFill/>
        </p:spPr>
        <p:txBody>
          <a:bodyPr wrap="square" anchor="t">
            <a:spAutoFit/>
          </a:bodyPr>
          <a:lstStyle/>
          <a:p>
            <a:pPr algn="l"/>
            <a:r>
              <a:rPr sz="1600" b="1" i="0">
                <a:solidFill>
                  <a:srgbClr val="00323F"/>
                </a:solidFill>
                <a:latin typeface="+mn-lt"/>
              </a:rPr>
              <a:t>Tarifa interna</a:t>
            </a:r>
          </a:p>
        </p:txBody>
      </p:sp>
      <p:sp>
        <p:nvSpPr>
          <p:cNvPr id="13" name="TextBox 12"/>
          <p:cNvSpPr txBox="1"/>
          <p:nvPr/>
        </p:nvSpPr>
        <p:spPr>
          <a:xfrm>
            <a:off x="8412480" y="2971800"/>
            <a:ext cx="2743200" cy="731520"/>
          </a:xfrm>
          <a:prstGeom prst="rect">
            <a:avLst/>
          </a:prstGeom>
          <a:noFill/>
        </p:spPr>
        <p:txBody>
          <a:bodyPr wrap="square" anchor="t">
            <a:spAutoFit/>
          </a:bodyPr>
          <a:lstStyle/>
          <a:p>
            <a:pPr algn="l"/>
            <a:r>
              <a:rPr sz="1300" b="0" i="0">
                <a:solidFill>
                  <a:srgbClr val="333333"/>
                </a:solidFill>
                <a:latin typeface="+mn-lt"/>
              </a:rPr>
              <a:t>Cobro real a las unidades de negocio; lo recaudado financia reducciones.</a:t>
            </a:r>
          </a:p>
        </p:txBody>
      </p:sp>
      <p:sp>
        <p:nvSpPr>
          <p:cNvPr id="14" name="Rounded Rectangle 13"/>
          <p:cNvSpPr/>
          <p:nvPr/>
        </p:nvSpPr>
        <p:spPr>
          <a:xfrm>
            <a:off x="4937760" y="3886200"/>
            <a:ext cx="2011680" cy="1325880"/>
          </a:xfrm>
          <a:prstGeom prst="roundRect">
            <a:avLst>
              <a:gd name="adj" fmla="val 6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74920" y="3959352"/>
            <a:ext cx="1737360" cy="457200"/>
          </a:xfrm>
          <a:prstGeom prst="rect">
            <a:avLst/>
          </a:prstGeom>
          <a:noFill/>
        </p:spPr>
        <p:txBody>
          <a:bodyPr wrap="square" anchor="t">
            <a:spAutoFit/>
          </a:bodyPr>
          <a:lstStyle/>
          <a:p>
            <a:pPr algn="l"/>
            <a:r>
              <a:rPr sz="2200" b="1" i="0">
                <a:solidFill>
                  <a:srgbClr val="088A3A"/>
                </a:solidFill>
                <a:latin typeface="+mj-lt"/>
              </a:rPr>
              <a:t>52 %</a:t>
            </a:r>
          </a:p>
        </p:txBody>
      </p:sp>
      <p:sp>
        <p:nvSpPr>
          <p:cNvPr id="16" name="TextBox 15"/>
          <p:cNvSpPr txBox="1"/>
          <p:nvPr/>
        </p:nvSpPr>
        <p:spPr>
          <a:xfrm>
            <a:off x="5074920" y="4434840"/>
            <a:ext cx="1737360" cy="731520"/>
          </a:xfrm>
          <a:prstGeom prst="rect">
            <a:avLst/>
          </a:prstGeom>
          <a:noFill/>
        </p:spPr>
        <p:txBody>
          <a:bodyPr wrap="square" anchor="t">
            <a:spAutoFit/>
          </a:bodyPr>
          <a:lstStyle/>
          <a:p>
            <a:pPr algn="l"/>
            <a:r>
              <a:rPr sz="1200" b="0" i="0">
                <a:solidFill>
                  <a:srgbClr val="333333"/>
                </a:solidFill>
                <a:latin typeface="+mn-lt"/>
              </a:rPr>
              <a:t>de estas empresas ya enfrenta un impuesto o un ETS</a:t>
            </a:r>
          </a:p>
        </p:txBody>
      </p:sp>
      <p:sp>
        <p:nvSpPr>
          <p:cNvPr id="17" name="Rounded Rectangle 16"/>
          <p:cNvSpPr/>
          <p:nvPr/>
        </p:nvSpPr>
        <p:spPr>
          <a:xfrm>
            <a:off x="7132320" y="3886200"/>
            <a:ext cx="2011680" cy="1325880"/>
          </a:xfrm>
          <a:prstGeom prst="roundRect">
            <a:avLst>
              <a:gd name="adj" fmla="val 6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69480" y="3959352"/>
            <a:ext cx="1737360" cy="457200"/>
          </a:xfrm>
          <a:prstGeom prst="rect">
            <a:avLst/>
          </a:prstGeom>
          <a:noFill/>
        </p:spPr>
        <p:txBody>
          <a:bodyPr wrap="square" anchor="t">
            <a:spAutoFit/>
          </a:bodyPr>
          <a:lstStyle/>
          <a:p>
            <a:pPr algn="l"/>
            <a:r>
              <a:rPr sz="2200" b="1" i="0">
                <a:solidFill>
                  <a:srgbClr val="088A3A"/>
                </a:solidFill>
                <a:latin typeface="+mj-lt"/>
              </a:rPr>
              <a:t>USD 130</a:t>
            </a:r>
          </a:p>
        </p:txBody>
      </p:sp>
      <p:sp>
        <p:nvSpPr>
          <p:cNvPr id="19" name="TextBox 18"/>
          <p:cNvSpPr txBox="1"/>
          <p:nvPr/>
        </p:nvSpPr>
        <p:spPr>
          <a:xfrm>
            <a:off x="7269480" y="4434840"/>
            <a:ext cx="1737360" cy="731520"/>
          </a:xfrm>
          <a:prstGeom prst="rect">
            <a:avLst/>
          </a:prstGeom>
          <a:noFill/>
        </p:spPr>
        <p:txBody>
          <a:bodyPr wrap="square" anchor="t">
            <a:spAutoFit/>
          </a:bodyPr>
          <a:lstStyle/>
          <a:p>
            <a:pPr algn="l"/>
            <a:r>
              <a:rPr sz="1200" b="0" i="0">
                <a:solidFill>
                  <a:srgbClr val="333333"/>
                </a:solidFill>
                <a:latin typeface="+mn-lt"/>
              </a:rPr>
              <a:t>tope de casi todos los precios internos reportados</a:t>
            </a:r>
          </a:p>
        </p:txBody>
      </p:sp>
      <p:sp>
        <p:nvSpPr>
          <p:cNvPr id="20" name="Rounded Rectangle 19"/>
          <p:cNvSpPr/>
          <p:nvPr/>
        </p:nvSpPr>
        <p:spPr>
          <a:xfrm>
            <a:off x="9326880" y="3886200"/>
            <a:ext cx="2011680" cy="1325880"/>
          </a:xfrm>
          <a:prstGeom prst="roundRect">
            <a:avLst>
              <a:gd name="adj" fmla="val 6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3959352"/>
            <a:ext cx="1737360" cy="457200"/>
          </a:xfrm>
          <a:prstGeom prst="rect">
            <a:avLst/>
          </a:prstGeom>
          <a:noFill/>
        </p:spPr>
        <p:txBody>
          <a:bodyPr wrap="square" anchor="t">
            <a:spAutoFit/>
          </a:bodyPr>
          <a:lstStyle/>
          <a:p>
            <a:pPr algn="l"/>
            <a:r>
              <a:rPr sz="2200" b="1" i="0">
                <a:solidFill>
                  <a:srgbClr val="088A3A"/>
                </a:solidFill>
                <a:latin typeface="+mj-lt"/>
              </a:rPr>
              <a:t>13 %</a:t>
            </a:r>
          </a:p>
        </p:txBody>
      </p:sp>
      <p:sp>
        <p:nvSpPr>
          <p:cNvPr id="22" name="TextBox 21"/>
          <p:cNvSpPr txBox="1"/>
          <p:nvPr/>
        </p:nvSpPr>
        <p:spPr>
          <a:xfrm>
            <a:off x="9464040" y="4434840"/>
            <a:ext cx="1737360" cy="731520"/>
          </a:xfrm>
          <a:prstGeom prst="rect">
            <a:avLst/>
          </a:prstGeom>
          <a:noFill/>
        </p:spPr>
        <p:txBody>
          <a:bodyPr wrap="square" anchor="t">
            <a:spAutoFit/>
          </a:bodyPr>
          <a:lstStyle/>
          <a:p>
            <a:pPr algn="l"/>
            <a:r>
              <a:rPr sz="1200" b="0" i="0">
                <a:solidFill>
                  <a:srgbClr val="333333"/>
                </a:solidFill>
                <a:latin typeface="+mn-lt"/>
              </a:rPr>
              <a:t>reporta un precio interno mayor a USD 100/t</a:t>
            </a:r>
          </a:p>
        </p:txBody>
      </p:sp>
      <p:sp>
        <p:nvSpPr>
          <p:cNvPr id="23" name="Rounded Rectangle 22"/>
          <p:cNvSpPr/>
          <p:nvPr/>
        </p:nvSpPr>
        <p:spPr>
          <a:xfrm>
            <a:off x="4937760" y="5349240"/>
            <a:ext cx="6400800" cy="640080"/>
          </a:xfrm>
          <a:prstGeom prst="roundRect">
            <a:avLst>
              <a:gd name="adj" fmla="val 6000"/>
            </a:avLst>
          </a:prstGeom>
          <a:solidFill>
            <a:srgbClr val="00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0640" y="5349240"/>
            <a:ext cx="6035040" cy="640080"/>
          </a:xfrm>
          <a:prstGeom prst="rect">
            <a:avLst/>
          </a:prstGeom>
          <a:noFill/>
        </p:spPr>
        <p:txBody>
          <a:bodyPr wrap="square" anchor="ctr">
            <a:spAutoFit/>
          </a:bodyPr>
          <a:lstStyle/>
          <a:p>
            <a:pPr algn="l"/>
            <a:r>
              <a:rPr sz="1400" b="1" i="0">
                <a:solidFill>
                  <a:srgbClr val="04CF74"/>
                </a:solidFill>
                <a:latin typeface="+mn-lt"/>
              </a:rPr>
              <a:t>Para discutir: </a:t>
            </a:r>
            <a:r>
              <a:rPr sz="1400" b="0" i="0">
                <a:solidFill>
                  <a:srgbClr val="FFFFFF"/>
                </a:solidFill>
                <a:latin typeface="+mn-lt"/>
              </a:rPr>
              <a:t>¿por qué una empresa se pone un precio sin estar obligada?</a:t>
            </a:r>
          </a:p>
        </p:txBody>
      </p:sp>
    </p:spTree>
    <p:extLst>
      <p:ext uri="{BB962C8B-B14F-4D97-AF65-F5344CB8AC3E}">
        <p14:creationId xmlns:p14="http://schemas.microsoft.com/office/powerpoint/2010/main" val="4180479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1C32D-BB30-A789-3E6D-D5BBCCC90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4ADAE-D8C0-DF01-1F2F-FF46E24CF68C}"/>
              </a:ext>
            </a:extLst>
          </p:cNvPr>
          <p:cNvSpPr>
            <a:spLocks noGrp="1"/>
          </p:cNvSpPr>
          <p:nvPr>
            <p:ph type="title"/>
          </p:nvPr>
        </p:nvSpPr>
        <p:spPr>
          <a:xfrm>
            <a:off x="838200" y="2511425"/>
            <a:ext cx="10515600" cy="1325563"/>
          </a:xfrm>
        </p:spPr>
        <p:txBody>
          <a:bodyPr>
            <a:normAutofit/>
          </a:bodyPr>
          <a:lstStyle/>
          <a:p>
            <a:pPr algn="ctr"/>
            <a:r>
              <a:rPr lang="es-ES_tradnl" sz="6000" dirty="0"/>
              <a:t>Mercados Voluntarios</a:t>
            </a:r>
          </a:p>
        </p:txBody>
      </p:sp>
    </p:spTree>
    <p:extLst>
      <p:ext uri="{BB962C8B-B14F-4D97-AF65-F5344CB8AC3E}">
        <p14:creationId xmlns:p14="http://schemas.microsoft.com/office/powerpoint/2010/main" val="2623242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B0A3-103B-61FD-8E93-0B1F3AC0DFBE}"/>
              </a:ext>
            </a:extLst>
          </p:cNvPr>
          <p:cNvSpPr>
            <a:spLocks noGrp="1"/>
          </p:cNvSpPr>
          <p:nvPr>
            <p:ph type="title"/>
          </p:nvPr>
        </p:nvSpPr>
        <p:spPr/>
        <p:txBody>
          <a:bodyPr/>
          <a:lstStyle/>
          <a:p>
            <a:r>
              <a:rPr lang="es-ES_tradnl" dirty="0"/>
              <a:t>Mercado voluntario de carbono</a:t>
            </a:r>
          </a:p>
        </p:txBody>
      </p:sp>
      <p:pic>
        <p:nvPicPr>
          <p:cNvPr id="4" name="Google Shape;498;p18">
            <a:extLst>
              <a:ext uri="{FF2B5EF4-FFF2-40B4-BE49-F238E27FC236}">
                <a16:creationId xmlns:a16="http://schemas.microsoft.com/office/drawing/2014/main" id="{98A11060-09B4-8208-C449-37C2ECBDC504}"/>
              </a:ext>
            </a:extLst>
          </p:cNvPr>
          <p:cNvPicPr preferRelativeResize="0"/>
          <p:nvPr/>
        </p:nvPicPr>
        <p:blipFill rotWithShape="1">
          <a:blip r:embed="rId3">
            <a:alphaModFix/>
          </a:blip>
          <a:srcRect/>
          <a:stretch/>
        </p:blipFill>
        <p:spPr>
          <a:xfrm>
            <a:off x="452176" y="1430292"/>
            <a:ext cx="11264202" cy="4545204"/>
          </a:xfrm>
          <a:prstGeom prst="rect">
            <a:avLst/>
          </a:prstGeom>
          <a:noFill/>
          <a:ln>
            <a:noFill/>
          </a:ln>
        </p:spPr>
      </p:pic>
    </p:spTree>
    <p:extLst>
      <p:ext uri="{BB962C8B-B14F-4D97-AF65-F5344CB8AC3E}">
        <p14:creationId xmlns:p14="http://schemas.microsoft.com/office/powerpoint/2010/main" val="121474129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9DCBF-4DB5-4A4A-A685-2570245CB0E8}"/>
              </a:ext>
            </a:extLst>
          </p:cNvPr>
          <p:cNvSpPr>
            <a:spLocks noGrp="1"/>
          </p:cNvSpPr>
          <p:nvPr>
            <p:ph type="title"/>
          </p:nvPr>
        </p:nvSpPr>
        <p:spPr/>
        <p:txBody>
          <a:bodyPr/>
          <a:lstStyle/>
          <a:p>
            <a:r>
              <a:rPr lang="es-CO" dirty="0"/>
              <a:t>Precios de los créditos de carbono en 2019 por tipo de proyecto</a:t>
            </a:r>
          </a:p>
        </p:txBody>
      </p:sp>
      <p:sp>
        <p:nvSpPr>
          <p:cNvPr id="8" name="Rectangle 7">
            <a:extLst>
              <a:ext uri="{FF2B5EF4-FFF2-40B4-BE49-F238E27FC236}">
                <a16:creationId xmlns:a16="http://schemas.microsoft.com/office/drawing/2014/main" id="{2856F4C0-8DB2-4845-98B7-4B936502EF28}"/>
              </a:ext>
            </a:extLst>
          </p:cNvPr>
          <p:cNvSpPr>
            <a:spLocks noChangeArrowheads="1"/>
          </p:cNvSpPr>
          <p:nvPr/>
        </p:nvSpPr>
        <p:spPr bwMode="auto">
          <a:xfrm>
            <a:off x="280917" y="-945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pic>
        <p:nvPicPr>
          <p:cNvPr id="5126" name="Imagen 5" descr="A graph showing a line of dots&#10;&#10;Description automatically generated with medium confidence">
            <a:extLst>
              <a:ext uri="{FF2B5EF4-FFF2-40B4-BE49-F238E27FC236}">
                <a16:creationId xmlns:a16="http://schemas.microsoft.com/office/drawing/2014/main" id="{A61BA5BB-24FD-43E1-9A0F-7E724AB641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094"/>
          <a:stretch>
            <a:fillRect/>
          </a:stretch>
        </p:blipFill>
        <p:spPr bwMode="auto">
          <a:xfrm>
            <a:off x="357117" y="1690688"/>
            <a:ext cx="11367343" cy="430608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8D95B17-3B41-4CB7-81B4-57CCA599DF78}"/>
              </a:ext>
            </a:extLst>
          </p:cNvPr>
          <p:cNvSpPr>
            <a:spLocks noChangeArrowheads="1"/>
          </p:cNvSpPr>
          <p:nvPr/>
        </p:nvSpPr>
        <p:spPr bwMode="auto">
          <a:xfrm>
            <a:off x="466299" y="6473279"/>
            <a:ext cx="929185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CO" sz="1200" b="0" u="none" strike="noStrike" cap="none" normalizeH="0" baseline="0" dirty="0">
                <a:ln>
                  <a:noFill/>
                </a:ln>
                <a:solidFill>
                  <a:srgbClr val="0E2841"/>
                </a:solidFill>
                <a:effectLst/>
                <a:latin typeface="+mn-lt" panose="020B0604020202020204" pitchFamily="34" charset="0"/>
                <a:ea typeface="Aptos" charset="0"/>
              </a:rPr>
              <a:t>Fuente: Ecosystem Marketplace’s Global Carbon Markets Data Intelligence and Analytics Dashboard (Nov, 2024).</a:t>
            </a:r>
            <a:endParaRPr kumimoji="0" lang="es-CO" altLang="es-CO" sz="1100" b="0" u="none" strike="noStrike" cap="none" normalizeH="0" baseline="0" dirty="0">
              <a:ln>
                <a:noFill/>
              </a:ln>
              <a:solidFill>
                <a:schemeClr val="tx1"/>
              </a:solidFill>
              <a:effectLst/>
              <a:latin typeface="+mn-lt"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3200" b="0" u="none" strike="noStrike" cap="none" normalizeH="0" baseline="0" dirty="0">
              <a:ln>
                <a:noFill/>
              </a:ln>
              <a:solidFill>
                <a:schemeClr val="tx1"/>
              </a:solidFill>
              <a:effectLst/>
              <a:latin typeface="+mn-lt" panose="020B0604020202020204" pitchFamily="34" charset="0"/>
            </a:endParaRPr>
          </a:p>
        </p:txBody>
      </p:sp>
    </p:spTree>
    <p:extLst>
      <p:ext uri="{BB962C8B-B14F-4D97-AF65-F5344CB8AC3E}">
        <p14:creationId xmlns:p14="http://schemas.microsoft.com/office/powerpoint/2010/main" val="3923052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7ED9A4-8ED7-4EF8-AC5D-E2E1FEC1676E}"/>
              </a:ext>
            </a:extLst>
          </p:cNvPr>
          <p:cNvSpPr>
            <a:spLocks noGrp="1"/>
          </p:cNvSpPr>
          <p:nvPr>
            <p:ph type="title"/>
          </p:nvPr>
        </p:nvSpPr>
        <p:spPr/>
        <p:txBody>
          <a:bodyPr>
            <a:normAutofit/>
          </a:bodyPr>
          <a:lstStyle/>
          <a:p>
            <a:r>
              <a:rPr lang="es-CO" sz="4000" dirty="0"/>
              <a:t>Volumen de créditos negociados en tCO2.</a:t>
            </a:r>
          </a:p>
        </p:txBody>
      </p:sp>
      <p:pic>
        <p:nvPicPr>
          <p:cNvPr id="5" name="Marcador de contenido 4">
            <a:extLst>
              <a:ext uri="{FF2B5EF4-FFF2-40B4-BE49-F238E27FC236}">
                <a16:creationId xmlns:a16="http://schemas.microsoft.com/office/drawing/2014/main" id="{D681B071-4554-44D4-ADED-E9A15700207A}"/>
              </a:ext>
            </a:extLst>
          </p:cNvPr>
          <p:cNvPicPr>
            <a:picLocks noGrp="1" noChangeAspect="1"/>
          </p:cNvPicPr>
          <p:nvPr>
            <p:ph idx="1"/>
          </p:nvPr>
        </p:nvPicPr>
        <p:blipFill>
          <a:blip r:embed="rId2"/>
          <a:stretch>
            <a:fillRect/>
          </a:stretch>
        </p:blipFill>
        <p:spPr>
          <a:xfrm>
            <a:off x="762588" y="1351128"/>
            <a:ext cx="10087382" cy="5012408"/>
          </a:xfrm>
        </p:spPr>
      </p:pic>
    </p:spTree>
    <p:extLst>
      <p:ext uri="{BB962C8B-B14F-4D97-AF65-F5344CB8AC3E}">
        <p14:creationId xmlns:p14="http://schemas.microsoft.com/office/powerpoint/2010/main" val="1945181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E021E-24A4-D53D-4D04-E43815FFFFA2}"/>
            </a:ext>
          </a:extLst>
        </p:cNvPr>
        <p:cNvGrpSpPr/>
        <p:nvPr/>
      </p:nvGrpSpPr>
      <p:grpSpPr>
        <a:xfrm>
          <a:off x="0" y="0"/>
          <a:ext cx="0" cy="0"/>
          <a:chOff x="0" y="0"/>
          <a:chExt cx="0" cy="0"/>
        </a:xfrm>
      </p:grpSpPr>
      <p:pic>
        <p:nvPicPr>
          <p:cNvPr id="5" name="Marcador de contenido 3" descr="A close-up of a chart&#10;&#10;Description automatically generated">
            <a:extLst>
              <a:ext uri="{FF2B5EF4-FFF2-40B4-BE49-F238E27FC236}">
                <a16:creationId xmlns:a16="http://schemas.microsoft.com/office/drawing/2014/main" id="{FB7CF582-7A8C-EF7D-EF64-F7DDD6E53767}"/>
              </a:ext>
            </a:extLst>
          </p:cNvPr>
          <p:cNvPicPr>
            <a:picLocks noChangeAspect="1"/>
          </p:cNvPicPr>
          <p:nvPr/>
        </p:nvPicPr>
        <p:blipFill>
          <a:blip r:embed="rId3"/>
          <a:stretch>
            <a:fillRect/>
          </a:stretch>
        </p:blipFill>
        <p:spPr>
          <a:xfrm>
            <a:off x="1460500" y="1844675"/>
            <a:ext cx="2724150" cy="4449763"/>
          </a:xfrm>
          <a:prstGeom prst="rect">
            <a:avLst/>
          </a:prstGeom>
        </p:spPr>
      </p:pic>
      <p:pic>
        <p:nvPicPr>
          <p:cNvPr id="3" name="Picture 2" descr="A graph of blue and green bars&#10;&#10;Description automatically generated">
            <a:extLst>
              <a:ext uri="{FF2B5EF4-FFF2-40B4-BE49-F238E27FC236}">
                <a16:creationId xmlns:a16="http://schemas.microsoft.com/office/drawing/2014/main" id="{C6F07070-E7AA-60F6-09F6-E2D19462B000}"/>
              </a:ext>
            </a:extLst>
          </p:cNvPr>
          <p:cNvPicPr>
            <a:picLocks noChangeAspect="1"/>
          </p:cNvPicPr>
          <p:nvPr/>
        </p:nvPicPr>
        <p:blipFill>
          <a:blip r:embed="rId4"/>
          <a:stretch>
            <a:fillRect/>
          </a:stretch>
        </p:blipFill>
        <p:spPr>
          <a:xfrm>
            <a:off x="4246563" y="1844675"/>
            <a:ext cx="6480175" cy="4449763"/>
          </a:xfrm>
          <a:prstGeom prst="rect">
            <a:avLst/>
          </a:prstGeom>
        </p:spPr>
      </p:pic>
      <p:sp>
        <p:nvSpPr>
          <p:cNvPr id="2" name="Title 1">
            <a:extLst>
              <a:ext uri="{FF2B5EF4-FFF2-40B4-BE49-F238E27FC236}">
                <a16:creationId xmlns:a16="http://schemas.microsoft.com/office/drawing/2014/main" id="{D83BC10A-63BE-CDE9-5D0E-81AF525FA33C}"/>
              </a:ext>
            </a:extLst>
          </p:cNvPr>
          <p:cNvSpPr>
            <a:spLocks noGrp="1"/>
          </p:cNvSpPr>
          <p:nvPr>
            <p:ph type="title"/>
          </p:nvPr>
        </p:nvSpPr>
        <p:spPr>
          <a:xfrm>
            <a:off x="838200" y="184805"/>
            <a:ext cx="10515600" cy="1505883"/>
          </a:xfrm>
        </p:spPr>
        <p:txBody>
          <a:bodyPr vert="horz" lIns="91440" tIns="45720" rIns="91440" bIns="45720" rtlCol="0" anchor="ctr">
            <a:normAutofit/>
          </a:bodyPr>
          <a:lstStyle/>
          <a:p>
            <a:pPr>
              <a:spcBef>
                <a:spcPct val="0"/>
              </a:spcBef>
            </a:pPr>
            <a:r>
              <a:rPr lang="en-US" sz="4800" kern="1200">
                <a:solidFill>
                  <a:schemeClr val="tx1"/>
                </a:solidFill>
                <a:latin typeface="+mj-lt"/>
                <a:ea typeface="+mj-ea"/>
                <a:cs typeface="+mj-cs"/>
              </a:rPr>
              <a:t>Mecanismos y estándares de acreditación independientes.</a:t>
            </a:r>
          </a:p>
        </p:txBody>
      </p:sp>
    </p:spTree>
    <p:extLst>
      <p:ext uri="{BB962C8B-B14F-4D97-AF65-F5344CB8AC3E}">
        <p14:creationId xmlns:p14="http://schemas.microsoft.com/office/powerpoint/2010/main" val="61994701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2697480"/>
            <a:ext cx="10515600" cy="1737360"/>
          </a:xfrm>
        </p:spPr>
        <p:txBody>
          <a:bodyPr anchor="t"/>
          <a:lstStyle/>
          <a:p>
            <a:r>
              <a:rPr sz="5400"/>
              <a:t>Colombia</a:t>
            </a:r>
          </a:p>
        </p:txBody>
      </p:sp>
      <p:sp>
        <p:nvSpPr>
          <p:cNvPr id="3" name="TextBox 2"/>
          <p:cNvSpPr txBox="1"/>
          <p:nvPr/>
        </p:nvSpPr>
        <p:spPr>
          <a:xfrm>
            <a:off x="914400" y="2148840"/>
            <a:ext cx="7315200" cy="457200"/>
          </a:xfrm>
          <a:prstGeom prst="rect">
            <a:avLst/>
          </a:prstGeom>
          <a:noFill/>
        </p:spPr>
        <p:txBody>
          <a:bodyPr wrap="square" anchor="t">
            <a:spAutoFit/>
          </a:bodyPr>
          <a:lstStyle/>
          <a:p>
            <a:pPr algn="l"/>
            <a:r>
              <a:rPr sz="2000" b="1" i="0">
                <a:solidFill>
                  <a:srgbClr val="088A3A"/>
                </a:solidFill>
                <a:latin typeface="+mn-lt"/>
              </a:rPr>
              <a:t>Parte 4</a:t>
            </a:r>
            <a:r>
              <a:rPr sz="2000" b="0" i="0">
                <a:solidFill>
                  <a:srgbClr val="595959"/>
                </a:solidFill>
                <a:latin typeface="+mn-lt"/>
              </a:rPr>
              <a:t>  ·  20 min</a:t>
            </a:r>
          </a:p>
        </p:txBody>
      </p:sp>
      <p:sp>
        <p:nvSpPr>
          <p:cNvPr id="4" name="TextBox 3"/>
          <p:cNvSpPr txBox="1"/>
          <p:nvPr/>
        </p:nvSpPr>
        <p:spPr>
          <a:xfrm>
            <a:off x="914400" y="4434840"/>
            <a:ext cx="9601200" cy="457200"/>
          </a:xfrm>
          <a:prstGeom prst="rect">
            <a:avLst/>
          </a:prstGeom>
          <a:noFill/>
        </p:spPr>
        <p:txBody>
          <a:bodyPr wrap="square" anchor="t">
            <a:spAutoFit/>
          </a:bodyPr>
          <a:lstStyle/>
          <a:p>
            <a:pPr algn="l"/>
            <a:r>
              <a:rPr sz="1800" b="0" i="0">
                <a:solidFill>
                  <a:srgbClr val="595959"/>
                </a:solidFill>
                <a:latin typeface="+mn-lt"/>
              </a:rPr>
              <a:t>Emisiones, metas, impuesto y PNCTE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Energía: el sector que más emite y el que más crece</a:t>
            </a:r>
          </a:p>
        </p:txBody>
      </p:sp>
      <p:sp>
        <p:nvSpPr>
          <p:cNvPr id="10" name="Rounded Rectangle 9"/>
          <p:cNvSpPr/>
          <p:nvPr/>
        </p:nvSpPr>
        <p:spPr>
          <a:xfrm>
            <a:off x="914400" y="1645920"/>
            <a:ext cx="3429000" cy="411480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97280" y="1719072"/>
            <a:ext cx="3063240" cy="548640"/>
          </a:xfrm>
          <a:prstGeom prst="rect">
            <a:avLst/>
          </a:prstGeom>
          <a:noFill/>
        </p:spPr>
        <p:txBody>
          <a:bodyPr wrap="square" lIns="45720" rIns="45720" anchor="t">
            <a:spAutoFit/>
          </a:bodyPr>
          <a:lstStyle/>
          <a:p>
            <a:pPr algn="l">
              <a:spcAft>
                <a:spcPts val="400"/>
              </a:spcAft>
            </a:pPr>
            <a:r>
              <a:rPr sz="1400" b="1" i="0">
                <a:solidFill>
                  <a:srgbClr val="00323F"/>
                </a:solidFill>
                <a:latin typeface="+mn-lt"/>
              </a:rPr>
              <a:t>Participación en las emisiones netas, 2024</a:t>
            </a:r>
          </a:p>
        </p:txBody>
      </p:sp>
      <p:graphicFrame>
        <p:nvGraphicFramePr>
          <p:cNvPr id="12" name="Chart 11"/>
          <p:cNvGraphicFramePr>
            <a:graphicFrameLocks noGrp="1"/>
          </p:cNvGraphicFramePr>
          <p:nvPr/>
        </p:nvGraphicFramePr>
        <p:xfrm>
          <a:off x="1463040" y="2240280"/>
          <a:ext cx="233172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1463040" y="3017520"/>
            <a:ext cx="2331720" cy="548640"/>
          </a:xfrm>
          <a:prstGeom prst="rect">
            <a:avLst/>
          </a:prstGeom>
          <a:noFill/>
        </p:spPr>
        <p:txBody>
          <a:bodyPr wrap="square" lIns="45720" rIns="45720" anchor="ctr">
            <a:spAutoFit/>
          </a:bodyPr>
          <a:lstStyle/>
          <a:p>
            <a:pPr algn="ctr">
              <a:spcAft>
                <a:spcPts val="0"/>
              </a:spcAft>
            </a:pPr>
            <a:r>
              <a:rPr sz="2000" b="1" i="0">
                <a:solidFill>
                  <a:srgbClr val="00323F"/>
                </a:solidFill>
                <a:latin typeface="+mj-lt"/>
              </a:rPr>
              <a:t>38,1 %</a:t>
            </a:r>
          </a:p>
          <a:p>
            <a:pPr algn="ctr">
              <a:spcAft>
                <a:spcPts val="0"/>
              </a:spcAft>
            </a:pPr>
            <a:r>
              <a:rPr sz="1200" b="0" i="0">
                <a:solidFill>
                  <a:srgbClr val="595959"/>
                </a:solidFill>
                <a:latin typeface="+mn-lt"/>
              </a:rPr>
              <a:t>Energía</a:t>
            </a:r>
          </a:p>
        </p:txBody>
      </p:sp>
      <p:sp>
        <p:nvSpPr>
          <p:cNvPr id="14" name="Oval 13"/>
          <p:cNvSpPr/>
          <p:nvPr/>
        </p:nvSpPr>
        <p:spPr>
          <a:xfrm>
            <a:off x="1097280" y="4590288"/>
            <a:ext cx="164592" cy="164592"/>
          </a:xfrm>
          <a:prstGeom prst="ellipse">
            <a:avLst/>
          </a:prstGeom>
          <a:solidFill>
            <a:srgbClr val="F5C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325880" y="4480560"/>
            <a:ext cx="1417320" cy="384048"/>
          </a:xfrm>
          <a:prstGeom prst="rect">
            <a:avLst/>
          </a:prstGeom>
          <a:noFill/>
        </p:spPr>
        <p:txBody>
          <a:bodyPr wrap="square" lIns="45720" rIns="45720" anchor="ctr">
            <a:spAutoFit/>
          </a:bodyPr>
          <a:lstStyle/>
          <a:p>
            <a:pPr algn="l">
              <a:spcAft>
                <a:spcPts val="400"/>
              </a:spcAft>
            </a:pPr>
            <a:r>
              <a:rPr sz="1200" b="1" i="0">
                <a:solidFill>
                  <a:srgbClr val="00323F"/>
                </a:solidFill>
                <a:latin typeface="+mn-lt"/>
              </a:rPr>
              <a:t>38,1 % </a:t>
            </a:r>
            <a:r>
              <a:rPr sz="1200" b="0" i="0">
                <a:solidFill>
                  <a:srgbClr val="595959"/>
                </a:solidFill>
                <a:latin typeface="+mn-lt"/>
              </a:rPr>
              <a:t>Energía</a:t>
            </a:r>
          </a:p>
        </p:txBody>
      </p:sp>
      <p:sp>
        <p:nvSpPr>
          <p:cNvPr id="16" name="Oval 15"/>
          <p:cNvSpPr/>
          <p:nvPr/>
        </p:nvSpPr>
        <p:spPr>
          <a:xfrm>
            <a:off x="2788920" y="4590288"/>
            <a:ext cx="164592" cy="164592"/>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017520" y="4480560"/>
            <a:ext cx="1298448" cy="384048"/>
          </a:xfrm>
          <a:prstGeom prst="rect">
            <a:avLst/>
          </a:prstGeom>
          <a:noFill/>
        </p:spPr>
        <p:txBody>
          <a:bodyPr wrap="square" lIns="45720" rIns="45720" anchor="ctr">
            <a:spAutoFit/>
          </a:bodyPr>
          <a:lstStyle/>
          <a:p>
            <a:pPr algn="l">
              <a:spcAft>
                <a:spcPts val="400"/>
              </a:spcAft>
            </a:pPr>
            <a:r>
              <a:rPr sz="1200" b="1" i="0">
                <a:solidFill>
                  <a:srgbClr val="00323F"/>
                </a:solidFill>
                <a:latin typeface="+mn-lt"/>
              </a:rPr>
              <a:t>27,4 % </a:t>
            </a:r>
            <a:r>
              <a:rPr sz="1200" b="0" i="0">
                <a:solidFill>
                  <a:srgbClr val="595959"/>
                </a:solidFill>
                <a:latin typeface="+mn-lt"/>
              </a:rPr>
              <a:t>LULUCF</a:t>
            </a:r>
          </a:p>
        </p:txBody>
      </p:sp>
      <p:sp>
        <p:nvSpPr>
          <p:cNvPr id="18" name="Oval 17"/>
          <p:cNvSpPr/>
          <p:nvPr/>
        </p:nvSpPr>
        <p:spPr>
          <a:xfrm>
            <a:off x="1097280" y="5001768"/>
            <a:ext cx="164592" cy="164592"/>
          </a:xfrm>
          <a:prstGeom prst="ellipse">
            <a:avLst/>
          </a:prstGeom>
          <a:solidFill>
            <a:srgbClr val="E8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25880" y="4892040"/>
            <a:ext cx="1417320" cy="384048"/>
          </a:xfrm>
          <a:prstGeom prst="rect">
            <a:avLst/>
          </a:prstGeom>
          <a:noFill/>
        </p:spPr>
        <p:txBody>
          <a:bodyPr wrap="square" lIns="45720" rIns="45720" anchor="ctr">
            <a:spAutoFit/>
          </a:bodyPr>
          <a:lstStyle/>
          <a:p>
            <a:pPr algn="l">
              <a:spcAft>
                <a:spcPts val="400"/>
              </a:spcAft>
            </a:pPr>
            <a:r>
              <a:rPr sz="1200" b="1" i="0">
                <a:solidFill>
                  <a:srgbClr val="00323F"/>
                </a:solidFill>
                <a:latin typeface="+mn-lt"/>
              </a:rPr>
              <a:t>21,0 % </a:t>
            </a:r>
            <a:r>
              <a:rPr sz="1200" b="0" i="0">
                <a:solidFill>
                  <a:srgbClr val="595959"/>
                </a:solidFill>
                <a:latin typeface="+mn-lt"/>
              </a:rPr>
              <a:t>Agricultura</a:t>
            </a:r>
          </a:p>
        </p:txBody>
      </p:sp>
      <p:sp>
        <p:nvSpPr>
          <p:cNvPr id="20" name="Oval 19"/>
          <p:cNvSpPr/>
          <p:nvPr/>
        </p:nvSpPr>
        <p:spPr>
          <a:xfrm>
            <a:off x="2788920" y="5001768"/>
            <a:ext cx="164592" cy="164592"/>
          </a:xfrm>
          <a:prstGeom prst="ellipse">
            <a:avLst/>
          </a:prstGeom>
          <a:solidFill>
            <a:srgbClr val="7D2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017520" y="4892040"/>
            <a:ext cx="1298448" cy="384048"/>
          </a:xfrm>
          <a:prstGeom prst="rect">
            <a:avLst/>
          </a:prstGeom>
          <a:noFill/>
        </p:spPr>
        <p:txBody>
          <a:bodyPr wrap="square" lIns="45720" rIns="45720" anchor="ctr">
            <a:spAutoFit/>
          </a:bodyPr>
          <a:lstStyle/>
          <a:p>
            <a:pPr algn="l">
              <a:spcAft>
                <a:spcPts val="400"/>
              </a:spcAft>
            </a:pPr>
            <a:r>
              <a:rPr sz="1200" b="1" i="0">
                <a:solidFill>
                  <a:srgbClr val="00323F"/>
                </a:solidFill>
                <a:latin typeface="+mn-lt"/>
              </a:rPr>
              <a:t>9,4 % </a:t>
            </a:r>
            <a:r>
              <a:rPr sz="1200" b="0" i="0">
                <a:solidFill>
                  <a:srgbClr val="595959"/>
                </a:solidFill>
                <a:latin typeface="+mn-lt"/>
              </a:rPr>
              <a:t>Residuos</a:t>
            </a:r>
          </a:p>
        </p:txBody>
      </p:sp>
      <p:sp>
        <p:nvSpPr>
          <p:cNvPr id="22" name="Oval 21"/>
          <p:cNvSpPr/>
          <p:nvPr/>
        </p:nvSpPr>
        <p:spPr>
          <a:xfrm>
            <a:off x="1097280" y="5413248"/>
            <a:ext cx="164592" cy="164592"/>
          </a:xfrm>
          <a:prstGeom prst="ellipse">
            <a:avLst/>
          </a:prstGeom>
          <a:solidFill>
            <a:srgbClr val="4A7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25880" y="5303520"/>
            <a:ext cx="1417320" cy="384048"/>
          </a:xfrm>
          <a:prstGeom prst="rect">
            <a:avLst/>
          </a:prstGeom>
          <a:noFill/>
        </p:spPr>
        <p:txBody>
          <a:bodyPr wrap="square" lIns="45720" rIns="45720" anchor="ctr">
            <a:spAutoFit/>
          </a:bodyPr>
          <a:lstStyle/>
          <a:p>
            <a:pPr algn="l">
              <a:spcAft>
                <a:spcPts val="400"/>
              </a:spcAft>
            </a:pPr>
            <a:r>
              <a:rPr sz="1200" b="1" i="0">
                <a:solidFill>
                  <a:srgbClr val="00323F"/>
                </a:solidFill>
                <a:latin typeface="+mn-lt"/>
              </a:rPr>
              <a:t>4,2 % </a:t>
            </a:r>
            <a:r>
              <a:rPr sz="1200" b="0" i="0">
                <a:solidFill>
                  <a:srgbClr val="595959"/>
                </a:solidFill>
                <a:latin typeface="+mn-lt"/>
              </a:rPr>
              <a:t>IPPU</a:t>
            </a:r>
          </a:p>
        </p:txBody>
      </p:sp>
      <p:sp>
        <p:nvSpPr>
          <p:cNvPr id="24" name="Rounded Rectangle 23"/>
          <p:cNvSpPr/>
          <p:nvPr/>
        </p:nvSpPr>
        <p:spPr>
          <a:xfrm>
            <a:off x="4572000" y="1645920"/>
            <a:ext cx="6675120" cy="411480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754880" y="1719072"/>
            <a:ext cx="6309360" cy="365760"/>
          </a:xfrm>
          <a:prstGeom prst="rect">
            <a:avLst/>
          </a:prstGeom>
          <a:noFill/>
        </p:spPr>
        <p:txBody>
          <a:bodyPr wrap="square" lIns="45720" rIns="45720" anchor="t">
            <a:spAutoFit/>
          </a:bodyPr>
          <a:lstStyle/>
          <a:p>
            <a:pPr algn="l">
              <a:spcAft>
                <a:spcPts val="400"/>
              </a:spcAft>
            </a:pPr>
            <a:r>
              <a:rPr sz="1400" b="1" i="0">
                <a:solidFill>
                  <a:srgbClr val="00323F"/>
                </a:solidFill>
                <a:latin typeface="+mn-lt"/>
              </a:rPr>
              <a:t>Evolución de emisiones y absorciones, 1990–2024 [kt CO₂eq]</a:t>
            </a:r>
          </a:p>
        </p:txBody>
      </p:sp>
      <p:pic>
        <p:nvPicPr>
          <p:cNvPr id="26" name="Picture 25" descr="evol.png"/>
          <p:cNvPicPr>
            <a:picLocks noChangeAspect="1"/>
          </p:cNvPicPr>
          <p:nvPr/>
        </p:nvPicPr>
        <p:blipFill>
          <a:blip r:embed="rId4"/>
          <a:stretch>
            <a:fillRect/>
          </a:stretch>
        </p:blipFill>
        <p:spPr>
          <a:xfrm>
            <a:off x="4754880" y="2103120"/>
            <a:ext cx="6309360" cy="3461040"/>
          </a:xfrm>
          <a:prstGeom prst="rect">
            <a:avLst/>
          </a:prstGeom>
        </p:spPr>
      </p:pic>
      <p:sp>
        <p:nvSpPr>
          <p:cNvPr id="27"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Fuente: Cuarta Comunicación Nacional de Cambio Climático y Segundo Informe Bienal de Transparencia de Colombia, figura 2-1.</a:t>
            </a:r>
          </a:p>
        </p:txBody>
      </p:sp>
    </p:spTree>
    <p:extLst>
      <p:ext uri="{BB962C8B-B14F-4D97-AF65-F5344CB8AC3E}">
        <p14:creationId xmlns:p14="http://schemas.microsoft.com/office/powerpoint/2010/main" val="1357596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dirty="0">
                <a:solidFill>
                  <a:schemeClr val="tx1"/>
                </a:solidFill>
                <a:latin typeface="+mj-lt"/>
              </a:rPr>
              <a:t>Colombia </a:t>
            </a:r>
            <a:r>
              <a:rPr lang="en-US" sz="3600" b="0" i="0" dirty="0" err="1">
                <a:solidFill>
                  <a:schemeClr val="tx1"/>
                </a:solidFill>
                <a:latin typeface="+mj-lt"/>
              </a:rPr>
              <a:t>tiene</a:t>
            </a:r>
            <a:r>
              <a:rPr lang="en-US" sz="3600" b="0" i="0" dirty="0">
                <a:solidFill>
                  <a:schemeClr val="tx1"/>
                </a:solidFill>
                <a:latin typeface="+mj-lt"/>
              </a:rPr>
              <a:t> </a:t>
            </a:r>
            <a:r>
              <a:rPr lang="en-US" sz="3600" b="0" i="0" dirty="0" err="1">
                <a:solidFill>
                  <a:schemeClr val="tx1"/>
                </a:solidFill>
                <a:latin typeface="+mj-lt"/>
              </a:rPr>
              <a:t>varias</a:t>
            </a:r>
            <a:r>
              <a:rPr lang="en-US" sz="3600" b="0" i="0" dirty="0">
                <a:solidFill>
                  <a:schemeClr val="tx1"/>
                </a:solidFill>
                <a:latin typeface="+mj-lt"/>
              </a:rPr>
              <a:t> </a:t>
            </a:r>
            <a:r>
              <a:rPr lang="en-US" sz="3600" b="0" i="0" dirty="0" err="1">
                <a:solidFill>
                  <a:schemeClr val="tx1"/>
                </a:solidFill>
                <a:latin typeface="+mj-lt"/>
              </a:rPr>
              <a:t>metas</a:t>
            </a:r>
            <a:r>
              <a:rPr lang="en-US" sz="3600" b="0" i="0" dirty="0">
                <a:solidFill>
                  <a:schemeClr val="tx1"/>
                </a:solidFill>
                <a:latin typeface="+mj-lt"/>
              </a:rPr>
              <a:t> de</a:t>
            </a:r>
            <a:r>
              <a:rPr sz="3600" b="0" i="0" dirty="0">
                <a:solidFill>
                  <a:schemeClr val="tx1"/>
                </a:solidFill>
                <a:latin typeface="+mj-lt"/>
              </a:rPr>
              <a:t> </a:t>
            </a:r>
            <a:r>
              <a:rPr sz="3600" b="0" i="0" dirty="0" err="1">
                <a:solidFill>
                  <a:schemeClr val="tx1"/>
                </a:solidFill>
                <a:latin typeface="+mj-lt"/>
              </a:rPr>
              <a:t>emisiones</a:t>
            </a:r>
            <a:endParaRPr sz="2800" b="1" i="0" dirty="0">
              <a:solidFill>
                <a:srgbClr val="00323F"/>
              </a:solidFill>
              <a:latin typeface="+mj-lt"/>
            </a:endParaRPr>
          </a:p>
        </p:txBody>
      </p:sp>
      <p:sp>
        <p:nvSpPr>
          <p:cNvPr id="10" name="Rounded Rectangle 9"/>
          <p:cNvSpPr/>
          <p:nvPr/>
        </p:nvSpPr>
        <p:spPr>
          <a:xfrm>
            <a:off x="914400" y="1783080"/>
            <a:ext cx="3200400" cy="214884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43000" y="1920240"/>
            <a:ext cx="2743200" cy="830997"/>
          </a:xfrm>
          <a:prstGeom prst="rect">
            <a:avLst/>
          </a:prstGeom>
          <a:noFill/>
        </p:spPr>
        <p:txBody>
          <a:bodyPr wrap="square" lIns="45720" rIns="45720" anchor="t">
            <a:spAutoFit/>
          </a:bodyPr>
          <a:lstStyle/>
          <a:p>
            <a:pPr algn="l">
              <a:spcAft>
                <a:spcPts val="400"/>
              </a:spcAft>
            </a:pPr>
            <a:r>
              <a:rPr sz="4800" b="1" i="0" dirty="0">
                <a:solidFill>
                  <a:srgbClr val="00323F"/>
                </a:solidFill>
                <a:latin typeface="+mj-lt"/>
              </a:rPr>
              <a:t>2</a:t>
            </a:r>
            <a:r>
              <a:rPr lang="en-US" sz="4800" b="1" i="0" dirty="0">
                <a:solidFill>
                  <a:srgbClr val="00323F"/>
                </a:solidFill>
                <a:latin typeface="+mj-lt"/>
              </a:rPr>
              <a:t>77</a:t>
            </a:r>
            <a:endParaRPr sz="4800" b="1" i="0" dirty="0">
              <a:solidFill>
                <a:srgbClr val="00323F"/>
              </a:solidFill>
              <a:latin typeface="+mj-lt"/>
            </a:endParaRPr>
          </a:p>
        </p:txBody>
      </p:sp>
      <p:sp>
        <p:nvSpPr>
          <p:cNvPr id="12" name="TextBox 11"/>
          <p:cNvSpPr txBox="1"/>
          <p:nvPr/>
        </p:nvSpPr>
        <p:spPr>
          <a:xfrm>
            <a:off x="1143000" y="2880360"/>
            <a:ext cx="2743200" cy="338554"/>
          </a:xfrm>
          <a:prstGeom prst="rect">
            <a:avLst/>
          </a:prstGeom>
          <a:noFill/>
        </p:spPr>
        <p:txBody>
          <a:bodyPr wrap="square" lIns="45720" rIns="45720" anchor="t">
            <a:spAutoFit/>
          </a:bodyPr>
          <a:lstStyle/>
          <a:p>
            <a:pPr algn="l">
              <a:spcAft>
                <a:spcPts val="400"/>
              </a:spcAft>
            </a:pPr>
            <a:r>
              <a:rPr sz="1600" b="0" i="0" dirty="0" err="1">
                <a:solidFill>
                  <a:srgbClr val="00323F"/>
                </a:solidFill>
                <a:latin typeface="+mn-lt"/>
              </a:rPr>
              <a:t>MtCO₂e</a:t>
            </a:r>
            <a:r>
              <a:rPr sz="1600" b="0" i="0" dirty="0">
                <a:solidFill>
                  <a:srgbClr val="00323F"/>
                </a:solidFill>
                <a:latin typeface="+mn-lt"/>
              </a:rPr>
              <a:t> </a:t>
            </a:r>
            <a:r>
              <a:rPr sz="1600" b="0" i="0" dirty="0" err="1">
                <a:solidFill>
                  <a:srgbClr val="00323F"/>
                </a:solidFill>
                <a:latin typeface="+mn-lt"/>
              </a:rPr>
              <a:t>emitidas</a:t>
            </a:r>
            <a:r>
              <a:rPr sz="1600" b="0" i="0" dirty="0">
                <a:solidFill>
                  <a:srgbClr val="00323F"/>
                </a:solidFill>
                <a:latin typeface="+mn-lt"/>
              </a:rPr>
              <a:t> </a:t>
            </a:r>
            <a:r>
              <a:rPr sz="1600" b="0" i="0" dirty="0" err="1">
                <a:solidFill>
                  <a:srgbClr val="00323F"/>
                </a:solidFill>
                <a:latin typeface="+mn-lt"/>
              </a:rPr>
              <a:t>en</a:t>
            </a:r>
            <a:r>
              <a:rPr sz="1600" b="0" i="0" dirty="0">
                <a:solidFill>
                  <a:srgbClr val="00323F"/>
                </a:solidFill>
                <a:latin typeface="+mn-lt"/>
              </a:rPr>
              <a:t> 202</a:t>
            </a:r>
            <a:r>
              <a:rPr lang="en-US" sz="1600" b="0" i="0" dirty="0">
                <a:solidFill>
                  <a:srgbClr val="00323F"/>
                </a:solidFill>
                <a:latin typeface="+mn-lt"/>
              </a:rPr>
              <a:t>4</a:t>
            </a:r>
            <a:endParaRPr sz="1600" b="0" i="0" dirty="0">
              <a:solidFill>
                <a:srgbClr val="00323F"/>
              </a:solidFill>
              <a:latin typeface="+mn-lt"/>
            </a:endParaRPr>
          </a:p>
        </p:txBody>
      </p:sp>
      <p:sp>
        <p:nvSpPr>
          <p:cNvPr id="13" name="Right Arrow 12"/>
          <p:cNvSpPr/>
          <p:nvPr/>
        </p:nvSpPr>
        <p:spPr>
          <a:xfrm>
            <a:off x="4160520" y="2697480"/>
            <a:ext cx="228600" cy="320040"/>
          </a:xfrm>
          <a:prstGeom prst="rightArrow">
            <a:avLst/>
          </a:prstGeom>
          <a:solidFill>
            <a:srgbClr val="04C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434840" y="1783080"/>
            <a:ext cx="3200400" cy="214884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63440" y="1920240"/>
            <a:ext cx="2743200" cy="914400"/>
          </a:xfrm>
          <a:prstGeom prst="rect">
            <a:avLst/>
          </a:prstGeom>
          <a:noFill/>
        </p:spPr>
        <p:txBody>
          <a:bodyPr wrap="square" lIns="45720" rIns="45720" anchor="t">
            <a:spAutoFit/>
          </a:bodyPr>
          <a:lstStyle/>
          <a:p>
            <a:pPr algn="l">
              <a:spcAft>
                <a:spcPts val="400"/>
              </a:spcAft>
            </a:pPr>
            <a:r>
              <a:rPr sz="4800" b="1" i="0">
                <a:solidFill>
                  <a:srgbClr val="088A3A"/>
                </a:solidFill>
                <a:latin typeface="+mj-lt"/>
              </a:rPr>
              <a:t>169</a:t>
            </a:r>
          </a:p>
        </p:txBody>
      </p:sp>
      <p:sp>
        <p:nvSpPr>
          <p:cNvPr id="16" name="TextBox 15"/>
          <p:cNvSpPr txBox="1"/>
          <p:nvPr/>
        </p:nvSpPr>
        <p:spPr>
          <a:xfrm>
            <a:off x="4663440" y="2880360"/>
            <a:ext cx="2743200" cy="822960"/>
          </a:xfrm>
          <a:prstGeom prst="rect">
            <a:avLst/>
          </a:prstGeom>
          <a:noFill/>
        </p:spPr>
        <p:txBody>
          <a:bodyPr wrap="square" lIns="45720" rIns="45720" anchor="t">
            <a:spAutoFit/>
          </a:bodyPr>
          <a:lstStyle/>
          <a:p>
            <a:pPr algn="l">
              <a:spcAft>
                <a:spcPts val="400"/>
              </a:spcAft>
            </a:pPr>
            <a:r>
              <a:rPr sz="1600" b="0" i="0">
                <a:solidFill>
                  <a:srgbClr val="00323F"/>
                </a:solidFill>
                <a:latin typeface="+mn-lt"/>
              </a:rPr>
              <a:t>MtCO₂e como máximo en 2030</a:t>
            </a:r>
          </a:p>
          <a:p>
            <a:pPr algn="l">
              <a:spcAft>
                <a:spcPts val="400"/>
              </a:spcAft>
            </a:pPr>
            <a:r>
              <a:rPr sz="1200" b="0" i="1">
                <a:solidFill>
                  <a:srgbClr val="00323F"/>
                </a:solidFill>
                <a:latin typeface="+mn-lt"/>
              </a:rPr>
              <a:t>NDC 2.0 (2020)</a:t>
            </a:r>
          </a:p>
        </p:txBody>
      </p:sp>
      <p:sp>
        <p:nvSpPr>
          <p:cNvPr id="17" name="Right Arrow 16"/>
          <p:cNvSpPr/>
          <p:nvPr/>
        </p:nvSpPr>
        <p:spPr>
          <a:xfrm>
            <a:off x="7680959" y="2697480"/>
            <a:ext cx="228600" cy="320040"/>
          </a:xfrm>
          <a:prstGeom prst="rightArrow">
            <a:avLst/>
          </a:prstGeom>
          <a:solidFill>
            <a:srgbClr val="04C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955279" y="1783080"/>
            <a:ext cx="3200400" cy="214884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83879" y="1920240"/>
            <a:ext cx="3572692" cy="830997"/>
          </a:xfrm>
          <a:prstGeom prst="rect">
            <a:avLst/>
          </a:prstGeom>
          <a:noFill/>
        </p:spPr>
        <p:txBody>
          <a:bodyPr wrap="square" lIns="45720" rIns="45720" anchor="t">
            <a:spAutoFit/>
          </a:bodyPr>
          <a:lstStyle/>
          <a:p>
            <a:pPr algn="l">
              <a:spcAft>
                <a:spcPts val="400"/>
              </a:spcAft>
            </a:pPr>
            <a:r>
              <a:rPr sz="4800" b="1" i="0" dirty="0">
                <a:solidFill>
                  <a:srgbClr val="088A3A"/>
                </a:solidFill>
                <a:latin typeface="+mj-lt"/>
              </a:rPr>
              <a:t>155–161</a:t>
            </a:r>
          </a:p>
        </p:txBody>
      </p:sp>
      <p:sp>
        <p:nvSpPr>
          <p:cNvPr id="20" name="TextBox 19"/>
          <p:cNvSpPr txBox="1"/>
          <p:nvPr/>
        </p:nvSpPr>
        <p:spPr>
          <a:xfrm>
            <a:off x="8183879" y="2880360"/>
            <a:ext cx="2743200" cy="822960"/>
          </a:xfrm>
          <a:prstGeom prst="rect">
            <a:avLst/>
          </a:prstGeom>
          <a:noFill/>
        </p:spPr>
        <p:txBody>
          <a:bodyPr wrap="square" lIns="45720" rIns="45720" anchor="t">
            <a:spAutoFit/>
          </a:bodyPr>
          <a:lstStyle/>
          <a:p>
            <a:pPr algn="l">
              <a:spcAft>
                <a:spcPts val="400"/>
              </a:spcAft>
            </a:pPr>
            <a:r>
              <a:rPr sz="1600" b="0" i="0">
                <a:solidFill>
                  <a:srgbClr val="00323F"/>
                </a:solidFill>
                <a:latin typeface="+mn-lt"/>
              </a:rPr>
              <a:t>MtCO₂e como máximo en 2035</a:t>
            </a:r>
          </a:p>
          <a:p>
            <a:pPr algn="l">
              <a:spcAft>
                <a:spcPts val="400"/>
              </a:spcAft>
            </a:pPr>
            <a:r>
              <a:rPr sz="1200" b="0" i="1">
                <a:solidFill>
                  <a:srgbClr val="00323F"/>
                </a:solidFill>
                <a:latin typeface="+mn-lt"/>
              </a:rPr>
              <a:t>NDC 3.0 (2025)</a:t>
            </a:r>
          </a:p>
        </p:txBody>
      </p:sp>
      <p:sp>
        <p:nvSpPr>
          <p:cNvPr id="21" name="Rounded Rectangle 20"/>
          <p:cNvSpPr/>
          <p:nvPr/>
        </p:nvSpPr>
        <p:spPr>
          <a:xfrm>
            <a:off x="914400" y="4251960"/>
            <a:ext cx="10332720" cy="1417320"/>
          </a:xfrm>
          <a:prstGeom prst="roundRect">
            <a:avLst>
              <a:gd name="adj" fmla="val 8000"/>
            </a:avLst>
          </a:prstGeom>
          <a:solidFill>
            <a:srgbClr val="00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1108252" y="4326940"/>
            <a:ext cx="1212494" cy="121249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12_154.png"/>
          <p:cNvPicPr>
            <a:picLocks noChangeAspect="1"/>
          </p:cNvPicPr>
          <p:nvPr/>
        </p:nvPicPr>
        <p:blipFill>
          <a:blip r:embed="rId3"/>
          <a:stretch>
            <a:fillRect/>
          </a:stretch>
        </p:blipFill>
        <p:spPr>
          <a:xfrm>
            <a:off x="1325880" y="4544568"/>
            <a:ext cx="777240" cy="777240"/>
          </a:xfrm>
          <a:prstGeom prst="rect">
            <a:avLst/>
          </a:prstGeom>
        </p:spPr>
      </p:pic>
      <p:sp>
        <p:nvSpPr>
          <p:cNvPr id="24" name="TextBox 23"/>
          <p:cNvSpPr txBox="1"/>
          <p:nvPr/>
        </p:nvSpPr>
        <p:spPr>
          <a:xfrm>
            <a:off x="2606040" y="4343400"/>
            <a:ext cx="8412480" cy="1234440"/>
          </a:xfrm>
          <a:prstGeom prst="rect">
            <a:avLst/>
          </a:prstGeom>
          <a:noFill/>
        </p:spPr>
        <p:txBody>
          <a:bodyPr wrap="square" lIns="45720" rIns="45720" anchor="ctr">
            <a:spAutoFit/>
          </a:bodyPr>
          <a:lstStyle/>
          <a:p>
            <a:pPr algn="l">
              <a:spcAft>
                <a:spcPts val="400"/>
              </a:spcAft>
            </a:pPr>
            <a:r>
              <a:rPr sz="1400" b="1" i="0" dirty="0" err="1">
                <a:solidFill>
                  <a:srgbClr val="04CF74"/>
                </a:solidFill>
                <a:latin typeface="+mn-lt"/>
              </a:rPr>
              <a:t>Pregunta para discutir</a:t>
            </a:r>
          </a:p>
          <a:p>
            <a:pPr algn="l">
              <a:spcAft>
                <a:spcPts val="400"/>
              </a:spcAft>
            </a:pPr>
            <a:r>
              <a:rPr sz="2400" b="1" i="0" dirty="0">
                <a:solidFill>
                  <a:srgbClr val="FFFFFF"/>
                </a:solidFill>
                <a:latin typeface="+mn-lt"/>
              </a:rPr>
              <a:t>¿Con qué instrumento se cumple esta meta al menor costo?</a:t>
            </a:r>
          </a:p>
        </p:txBody>
      </p:sp>
      <p:sp>
        <p:nvSpPr>
          <p:cNvPr id="25"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Fuentes: MinAmbiente, NDC 3.0 (dic. 2025); Enerdata (2025).</a:t>
            </a:r>
          </a:p>
        </p:txBody>
      </p:sp>
    </p:spTree>
    <p:extLst>
      <p:ext uri="{BB962C8B-B14F-4D97-AF65-F5344CB8AC3E}">
        <p14:creationId xmlns:p14="http://schemas.microsoft.com/office/powerpoint/2010/main" val="13985486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Lo que hoy cuesta emitir en Colombia</a:t>
            </a:r>
          </a:p>
        </p:txBody>
      </p:sp>
      <p:sp>
        <p:nvSpPr>
          <p:cNvPr id="10" name="Rounded Rectangle 9"/>
          <p:cNvSpPr/>
          <p:nvPr/>
        </p:nvSpPr>
        <p:spPr>
          <a:xfrm>
            <a:off x="914400" y="1783080"/>
            <a:ext cx="3017520" cy="3931920"/>
          </a:xfrm>
          <a:prstGeom prst="roundRect">
            <a:avLst>
              <a:gd name="adj" fmla="val 8000"/>
            </a:avLst>
          </a:prstGeom>
          <a:solidFill>
            <a:srgbClr val="00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43000" y="1965960"/>
            <a:ext cx="2651760" cy="365760"/>
          </a:xfrm>
          <a:prstGeom prst="rect">
            <a:avLst/>
          </a:prstGeom>
          <a:noFill/>
        </p:spPr>
        <p:txBody>
          <a:bodyPr wrap="square" lIns="45720" rIns="45720" anchor="t">
            <a:spAutoFit/>
          </a:bodyPr>
          <a:lstStyle/>
          <a:p>
            <a:pPr algn="l">
              <a:spcAft>
                <a:spcPts val="400"/>
              </a:spcAft>
            </a:pPr>
            <a:r>
              <a:rPr sz="1400" b="1" i="0">
                <a:solidFill>
                  <a:srgbClr val="04CF74"/>
                </a:solidFill>
                <a:latin typeface="+mn-lt"/>
              </a:rPr>
              <a:t>Tarifa 2026</a:t>
            </a:r>
          </a:p>
        </p:txBody>
      </p:sp>
      <p:sp>
        <p:nvSpPr>
          <p:cNvPr id="12" name="TextBox 11"/>
          <p:cNvSpPr txBox="1"/>
          <p:nvPr/>
        </p:nvSpPr>
        <p:spPr>
          <a:xfrm>
            <a:off x="1143000" y="2331720"/>
            <a:ext cx="2651760" cy="822960"/>
          </a:xfrm>
          <a:prstGeom prst="rect">
            <a:avLst/>
          </a:prstGeom>
          <a:noFill/>
        </p:spPr>
        <p:txBody>
          <a:bodyPr wrap="square" lIns="45720" rIns="45720" anchor="t">
            <a:spAutoFit/>
          </a:bodyPr>
          <a:lstStyle/>
          <a:p>
            <a:pPr algn="l">
              <a:spcAft>
                <a:spcPts val="400"/>
              </a:spcAft>
            </a:pPr>
            <a:r>
              <a:rPr sz="3600" b="1" i="0">
                <a:solidFill>
                  <a:srgbClr val="FFFFFF"/>
                </a:solidFill>
                <a:latin typeface="+mj-lt"/>
              </a:rPr>
              <a:t>$29.070</a:t>
            </a:r>
          </a:p>
        </p:txBody>
      </p:sp>
      <p:sp>
        <p:nvSpPr>
          <p:cNvPr id="13" name="TextBox 12"/>
          <p:cNvSpPr txBox="1"/>
          <p:nvPr/>
        </p:nvSpPr>
        <p:spPr>
          <a:xfrm>
            <a:off x="1143000" y="3108960"/>
            <a:ext cx="2651760" cy="457200"/>
          </a:xfrm>
          <a:prstGeom prst="rect">
            <a:avLst/>
          </a:prstGeom>
          <a:noFill/>
        </p:spPr>
        <p:txBody>
          <a:bodyPr wrap="square" lIns="45720" rIns="45720" anchor="t">
            <a:spAutoFit/>
          </a:bodyPr>
          <a:lstStyle/>
          <a:p>
            <a:pPr algn="l">
              <a:spcAft>
                <a:spcPts val="400"/>
              </a:spcAft>
            </a:pPr>
            <a:r>
              <a:rPr sz="1600" b="0" i="0">
                <a:solidFill>
                  <a:srgbClr val="FFFFFF"/>
                </a:solidFill>
                <a:latin typeface="+mn-lt"/>
              </a:rPr>
              <a:t>por tonelada de CO₂e</a:t>
            </a:r>
          </a:p>
        </p:txBody>
      </p:sp>
      <p:sp>
        <p:nvSpPr>
          <p:cNvPr id="14" name="TextBox 13"/>
          <p:cNvSpPr txBox="1"/>
          <p:nvPr/>
        </p:nvSpPr>
        <p:spPr>
          <a:xfrm>
            <a:off x="1143000" y="3794760"/>
            <a:ext cx="2651760" cy="1737360"/>
          </a:xfrm>
          <a:prstGeom prst="rect">
            <a:avLst/>
          </a:prstGeom>
          <a:noFill/>
        </p:spPr>
        <p:txBody>
          <a:bodyPr wrap="square" lIns="45720" rIns="45720" anchor="t">
            <a:spAutoFit/>
          </a:bodyPr>
          <a:lstStyle/>
          <a:p>
            <a:pPr algn="l">
              <a:spcAft>
                <a:spcPts val="600"/>
              </a:spcAft>
            </a:pPr>
            <a:r>
              <a:rPr sz="1400" b="0" i="0">
                <a:solidFill>
                  <a:srgbClr val="FFFFFF"/>
                </a:solidFill>
                <a:latin typeface="+mn-lt"/>
              </a:rPr>
              <a:t>Gas natural: $44,73/m³</a:t>
            </a:r>
          </a:p>
          <a:p>
            <a:pPr algn="l">
              <a:spcAft>
                <a:spcPts val="600"/>
              </a:spcAft>
            </a:pPr>
            <a:r>
              <a:rPr sz="1400" b="0" i="0">
                <a:solidFill>
                  <a:srgbClr val="FFFFFF"/>
                </a:solidFill>
                <a:latin typeface="+mn-lt"/>
              </a:rPr>
              <a:t>ACPM: $237,34/gal</a:t>
            </a:r>
          </a:p>
          <a:p>
            <a:pPr algn="l">
              <a:spcAft>
                <a:spcPts val="600"/>
              </a:spcAft>
            </a:pPr>
            <a:r>
              <a:rPr sz="1400" b="0" i="0">
                <a:solidFill>
                  <a:srgbClr val="FFFFFF"/>
                </a:solidFill>
                <a:latin typeface="+mn-lt"/>
              </a:rPr>
              <a:t>Fuel oil: $337,50/gal</a:t>
            </a:r>
          </a:p>
        </p:txBody>
      </p:sp>
      <p:graphicFrame>
        <p:nvGraphicFramePr>
          <p:cNvPr id="15" name="Table 14"/>
          <p:cNvGraphicFramePr>
            <a:graphicFrameLocks noGrp="1"/>
          </p:cNvGraphicFramePr>
          <p:nvPr>
            <p:extLst>
              <p:ext uri="{D42A27DB-BD31-4B8C-83A1-F6EECF244321}">
                <p14:modId xmlns:p14="http://schemas.microsoft.com/office/powerpoint/2010/main" val="1053886001"/>
              </p:ext>
            </p:extLst>
          </p:nvPr>
        </p:nvGraphicFramePr>
        <p:xfrm>
          <a:off x="4206240" y="1783080"/>
          <a:ext cx="7040880" cy="3566160"/>
        </p:xfrm>
        <a:graphic>
          <a:graphicData uri="http://schemas.openxmlformats.org/drawingml/2006/table">
            <a:tbl>
              <a:tblPr firstRow="1">
                <a:tableStyleId>{5940675A-B579-460E-94D1-54222C63F5DA}</a:tableStyleId>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713232">
                <a:tc>
                  <a:txBody>
                    <a:bodyPr/>
                    <a:lstStyle/>
                    <a:p>
                      <a:r>
                        <a:rPr sz="1400" b="1">
                          <a:solidFill>
                            <a:srgbClr val="FFFFFF"/>
                          </a:solidFill>
                          <a:latin typeface="+mn-lt"/>
                        </a:rPr>
                        <a:t>Instrumento</a:t>
                      </a:r>
                    </a:p>
                  </a:txBody>
                  <a:tcPr anchor="ctr">
                    <a:solidFill>
                      <a:srgbClr val="00323F"/>
                    </a:solidFill>
                  </a:tcPr>
                </a:tc>
                <a:tc>
                  <a:txBody>
                    <a:bodyPr/>
                    <a:lstStyle/>
                    <a:p>
                      <a:r>
                        <a:rPr sz="1400" b="1">
                          <a:solidFill>
                            <a:srgbClr val="FFFFFF"/>
                          </a:solidFill>
                          <a:latin typeface="+mn-lt"/>
                        </a:rPr>
                        <a:t>Norma</a:t>
                      </a:r>
                    </a:p>
                  </a:txBody>
                  <a:tcPr anchor="ctr">
                    <a:solidFill>
                      <a:srgbClr val="00323F"/>
                    </a:solidFill>
                  </a:tcPr>
                </a:tc>
                <a:tc>
                  <a:txBody>
                    <a:bodyPr/>
                    <a:lstStyle/>
                    <a:p>
                      <a:r>
                        <a:rPr sz="1400" b="1">
                          <a:solidFill>
                            <a:srgbClr val="FFFFFF"/>
                          </a:solidFill>
                          <a:latin typeface="+mn-lt"/>
                        </a:rPr>
                        <a:t>Estado</a:t>
                      </a:r>
                    </a:p>
                  </a:txBody>
                  <a:tcPr anchor="ctr">
                    <a:solidFill>
                      <a:srgbClr val="00323F"/>
                    </a:solidFill>
                  </a:tcPr>
                </a:tc>
                <a:extLst>
                  <a:ext uri="{0D108BD9-81ED-4DB2-BD59-A6C34878D82A}">
                    <a16:rowId xmlns:a16="http://schemas.microsoft.com/office/drawing/2014/main" val="10000"/>
                  </a:ext>
                </a:extLst>
              </a:tr>
              <a:tr h="713232">
                <a:tc>
                  <a:txBody>
                    <a:bodyPr/>
                    <a:lstStyle/>
                    <a:p>
                      <a:r>
                        <a:rPr sz="1400" b="1">
                          <a:solidFill>
                            <a:srgbClr val="00323F"/>
                          </a:solidFill>
                          <a:latin typeface="+mn-lt"/>
                        </a:rPr>
                        <a:t>Impuesto al carbono</a:t>
                      </a:r>
                    </a:p>
                  </a:txBody>
                  <a:tcPr anchor="ctr">
                    <a:solidFill>
                      <a:srgbClr val="FFFFFF"/>
                    </a:solidFill>
                  </a:tcPr>
                </a:tc>
                <a:tc>
                  <a:txBody>
                    <a:bodyPr/>
                    <a:lstStyle/>
                    <a:p>
                      <a:r>
                        <a:rPr sz="1400" b="0">
                          <a:solidFill>
                            <a:srgbClr val="595959"/>
                          </a:solidFill>
                          <a:latin typeface="+mn-lt"/>
                        </a:rPr>
                        <a:t>Ley 1819/2016 y Ley 2277/2022</a:t>
                      </a:r>
                    </a:p>
                  </a:txBody>
                  <a:tcPr anchor="ctr">
                    <a:solidFill>
                      <a:srgbClr val="FFFFFF"/>
                    </a:solidFill>
                  </a:tcPr>
                </a:tc>
                <a:tc>
                  <a:txBody>
                    <a:bodyPr/>
                    <a:lstStyle/>
                    <a:p>
                      <a:r>
                        <a:rPr sz="1400" b="0">
                          <a:solidFill>
                            <a:srgbClr val="595959"/>
                          </a:solidFill>
                          <a:latin typeface="+mn-lt"/>
                        </a:rPr>
                        <a:t>Vigente</a:t>
                      </a:r>
                    </a:p>
                  </a:txBody>
                  <a:tcPr anchor="ctr">
                    <a:solidFill>
                      <a:srgbClr val="FFFFFF"/>
                    </a:solidFill>
                  </a:tcPr>
                </a:tc>
                <a:extLst>
                  <a:ext uri="{0D108BD9-81ED-4DB2-BD59-A6C34878D82A}">
                    <a16:rowId xmlns:a16="http://schemas.microsoft.com/office/drawing/2014/main" val="10001"/>
                  </a:ext>
                </a:extLst>
              </a:tr>
              <a:tr h="713232">
                <a:tc>
                  <a:txBody>
                    <a:bodyPr/>
                    <a:lstStyle/>
                    <a:p>
                      <a:r>
                        <a:rPr sz="1400" b="1">
                          <a:solidFill>
                            <a:srgbClr val="00323F"/>
                          </a:solidFill>
                          <a:latin typeface="+mn-lt"/>
                        </a:rPr>
                        <a:t>No causación</a:t>
                      </a:r>
                    </a:p>
                  </a:txBody>
                  <a:tcPr anchor="ctr">
                    <a:solidFill>
                      <a:srgbClr val="F4F6F8"/>
                    </a:solidFill>
                  </a:tcPr>
                </a:tc>
                <a:tc>
                  <a:txBody>
                    <a:bodyPr/>
                    <a:lstStyle/>
                    <a:p>
                      <a:r>
                        <a:rPr sz="1400" b="0">
                          <a:solidFill>
                            <a:srgbClr val="595959"/>
                          </a:solidFill>
                          <a:latin typeface="+mn-lt"/>
                        </a:rPr>
                        <a:t>Dec. 926/2017, mod. Dec. 446/2020</a:t>
                      </a:r>
                    </a:p>
                  </a:txBody>
                  <a:tcPr anchor="ctr">
                    <a:solidFill>
                      <a:srgbClr val="F4F6F8"/>
                    </a:solidFill>
                  </a:tcPr>
                </a:tc>
                <a:tc>
                  <a:txBody>
                    <a:bodyPr/>
                    <a:lstStyle/>
                    <a:p>
                      <a:r>
                        <a:rPr sz="1400" b="0">
                          <a:solidFill>
                            <a:srgbClr val="595959"/>
                          </a:solidFill>
                          <a:latin typeface="+mn-lt"/>
                        </a:rPr>
                        <a:t>Vigente, tope 50 %</a:t>
                      </a:r>
                    </a:p>
                  </a:txBody>
                  <a:tcPr anchor="ctr">
                    <a:solidFill>
                      <a:srgbClr val="F4F6F8"/>
                    </a:solidFill>
                  </a:tcPr>
                </a:tc>
                <a:extLst>
                  <a:ext uri="{0D108BD9-81ED-4DB2-BD59-A6C34878D82A}">
                    <a16:rowId xmlns:a16="http://schemas.microsoft.com/office/drawing/2014/main" val="10002"/>
                  </a:ext>
                </a:extLst>
              </a:tr>
              <a:tr h="713232">
                <a:tc>
                  <a:txBody>
                    <a:bodyPr/>
                    <a:lstStyle/>
                    <a:p>
                      <a:r>
                        <a:rPr sz="1400" b="1" dirty="0">
                          <a:solidFill>
                            <a:srgbClr val="00323F"/>
                          </a:solidFill>
                          <a:latin typeface="+mn-lt"/>
                        </a:rPr>
                        <a:t>PNCTE (cap and trade)</a:t>
                      </a:r>
                    </a:p>
                  </a:txBody>
                  <a:tcPr anchor="ctr">
                    <a:solidFill>
                      <a:srgbClr val="FFFFFF"/>
                    </a:solidFill>
                  </a:tcPr>
                </a:tc>
                <a:tc>
                  <a:txBody>
                    <a:bodyPr/>
                    <a:lstStyle/>
                    <a:p>
                      <a:r>
                        <a:rPr sz="1400" b="0" dirty="0">
                          <a:solidFill>
                            <a:srgbClr val="595959"/>
                          </a:solidFill>
                          <a:latin typeface="+mn-lt"/>
                        </a:rPr>
                        <a:t>Ley 1931/2018 y Dec. 969/2026</a:t>
                      </a:r>
                    </a:p>
                  </a:txBody>
                  <a:tcPr anchor="ctr">
                    <a:solidFill>
                      <a:srgbClr val="FFFFFF"/>
                    </a:solidFill>
                  </a:tcPr>
                </a:tc>
                <a:tc>
                  <a:txBody>
                    <a:bodyPr/>
                    <a:lstStyle/>
                    <a:p>
                      <a:r>
                        <a:rPr sz="1400" b="0" dirty="0">
                          <a:solidFill>
                            <a:srgbClr val="595959"/>
                          </a:solidFill>
                          <a:latin typeface="+mn-lt"/>
                        </a:rPr>
                        <a:t>Reglas </a:t>
                      </a:r>
                      <a:r>
                        <a:rPr sz="1400" b="0" dirty="0" err="1">
                          <a:solidFill>
                            <a:srgbClr val="595959"/>
                          </a:solidFill>
                          <a:latin typeface="+mn-lt"/>
                        </a:rPr>
                        <a:t>operativas</a:t>
                      </a:r>
                      <a:r>
                        <a:rPr sz="1400" b="0" dirty="0">
                          <a:solidFill>
                            <a:srgbClr val="595959"/>
                          </a:solidFill>
                          <a:latin typeface="+mn-lt"/>
                        </a:rPr>
                        <a:t> </a:t>
                      </a:r>
                      <a:r>
                        <a:rPr sz="1400" b="0" dirty="0" err="1">
                          <a:solidFill>
                            <a:srgbClr val="595959"/>
                          </a:solidFill>
                          <a:latin typeface="+mn-lt"/>
                        </a:rPr>
                        <a:t>pendientes</a:t>
                      </a:r>
                      <a:endParaRPr sz="1400" b="0" dirty="0">
                        <a:solidFill>
                          <a:srgbClr val="595959"/>
                        </a:solidFill>
                        <a:latin typeface="+mn-lt"/>
                      </a:endParaRPr>
                    </a:p>
                  </a:txBody>
                  <a:tcPr anchor="ctr">
                    <a:solidFill>
                      <a:srgbClr val="FFFFFF"/>
                    </a:solidFill>
                  </a:tcPr>
                </a:tc>
                <a:extLst>
                  <a:ext uri="{0D108BD9-81ED-4DB2-BD59-A6C34878D82A}">
                    <a16:rowId xmlns:a16="http://schemas.microsoft.com/office/drawing/2014/main" val="10003"/>
                  </a:ext>
                </a:extLst>
              </a:tr>
              <a:tr h="713232">
                <a:tc>
                  <a:txBody>
                    <a:bodyPr/>
                    <a:lstStyle/>
                    <a:p>
                      <a:r>
                        <a:rPr sz="1400" b="1">
                          <a:solidFill>
                            <a:srgbClr val="00323F"/>
                          </a:solidFill>
                          <a:latin typeface="+mn-lt"/>
                        </a:rPr>
                        <a:t>MRV y RENARE</a:t>
                      </a:r>
                    </a:p>
                  </a:txBody>
                  <a:tcPr anchor="ctr">
                    <a:solidFill>
                      <a:srgbClr val="F4F6F8"/>
                    </a:solidFill>
                  </a:tcPr>
                </a:tc>
                <a:tc>
                  <a:txBody>
                    <a:bodyPr/>
                    <a:lstStyle/>
                    <a:p>
                      <a:r>
                        <a:rPr sz="1400" b="0">
                          <a:solidFill>
                            <a:srgbClr val="595959"/>
                          </a:solidFill>
                          <a:latin typeface="+mn-lt"/>
                        </a:rPr>
                        <a:t>Res. 1447/2018</a:t>
                      </a:r>
                    </a:p>
                  </a:txBody>
                  <a:tcPr anchor="ctr">
                    <a:solidFill>
                      <a:srgbClr val="F4F6F8"/>
                    </a:solidFill>
                  </a:tcPr>
                </a:tc>
                <a:tc>
                  <a:txBody>
                    <a:bodyPr/>
                    <a:lstStyle/>
                    <a:p>
                      <a:r>
                        <a:rPr lang="es-419" sz="1400" b="0" dirty="0">
                          <a:solidFill>
                            <a:srgbClr val="FF0000"/>
                          </a:solidFill>
                          <a:latin typeface="+mn-lt"/>
                        </a:rPr>
                        <a:t>Revocado oct. 2026</a:t>
                      </a:r>
                      <a:endParaRPr sz="1400" b="0" dirty="0">
                        <a:solidFill>
                          <a:srgbClr val="FF0000"/>
                        </a:solidFill>
                        <a:latin typeface="+mn-lt"/>
                      </a:endParaRPr>
                    </a:p>
                  </a:txBody>
                  <a:tcPr anchor="ctr">
                    <a:solidFill>
                      <a:srgbClr val="F4F6F8"/>
                    </a:solidFill>
                  </a:tcPr>
                </a:tc>
                <a:extLst>
                  <a:ext uri="{0D108BD9-81ED-4DB2-BD59-A6C34878D82A}">
                    <a16:rowId xmlns:a16="http://schemas.microsoft.com/office/drawing/2014/main" val="10004"/>
                  </a:ext>
                </a:extLst>
              </a:tr>
            </a:tbl>
          </a:graphicData>
        </a:graphic>
      </p:graphicFrame>
      <p:sp>
        <p:nvSpPr>
          <p:cNvPr id="16"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Fuentes: DIAN Res. 000003/2026; Dec. 0969/2026; ICAP (2026). El nuevo Gobierno anunció revisión de las normas de mercados.</a:t>
            </a:r>
          </a:p>
        </p:txBody>
      </p:sp>
    </p:spTree>
    <p:extLst>
      <p:ext uri="{BB962C8B-B14F-4D97-AF65-F5344CB8AC3E}">
        <p14:creationId xmlns:p14="http://schemas.microsoft.com/office/powerpoint/2010/main" val="2317772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¿En qué va la regulación del mercado de carbono?</a:t>
            </a:r>
          </a:p>
        </p:txBody>
      </p:sp>
      <p:sp>
        <p:nvSpPr>
          <p:cNvPr id="3" name="Rectangle 2"/>
          <p:cNvSpPr/>
          <p:nvPr/>
        </p:nvSpPr>
        <p:spPr>
          <a:xfrm>
            <a:off x="1463040" y="2011680"/>
            <a:ext cx="9372600" cy="45720"/>
          </a:xfrm>
          <a:prstGeom prst="rect">
            <a:avLst/>
          </a:prstGeom>
          <a:solidFill>
            <a:srgbClr val="D5DB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325880" y="1897380"/>
            <a:ext cx="274320" cy="274320"/>
          </a:xfrm>
          <a:prstGeom prst="ellipse">
            <a:avLst/>
          </a:prstGeom>
          <a:solidFill>
            <a:srgbClr val="088A3A"/>
          </a:solidFill>
          <a:ln w="25400">
            <a:solidFill>
              <a:srgbClr val="088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2286000"/>
            <a:ext cx="1737360" cy="320040"/>
          </a:xfrm>
          <a:prstGeom prst="rect">
            <a:avLst/>
          </a:prstGeom>
          <a:noFill/>
        </p:spPr>
        <p:txBody>
          <a:bodyPr wrap="square" anchor="t">
            <a:spAutoFit/>
          </a:bodyPr>
          <a:lstStyle/>
          <a:p>
            <a:pPr algn="ctr"/>
            <a:r>
              <a:rPr sz="1500" b="1" i="0">
                <a:solidFill>
                  <a:srgbClr val="088A3A"/>
                </a:solidFill>
                <a:latin typeface="+mn-lt"/>
              </a:rPr>
              <a:t>2018</a:t>
            </a:r>
          </a:p>
        </p:txBody>
      </p:sp>
      <p:sp>
        <p:nvSpPr>
          <p:cNvPr id="6" name="TextBox 5"/>
          <p:cNvSpPr txBox="1"/>
          <p:nvPr/>
        </p:nvSpPr>
        <p:spPr>
          <a:xfrm>
            <a:off x="594360" y="2606040"/>
            <a:ext cx="1737360" cy="777240"/>
          </a:xfrm>
          <a:prstGeom prst="rect">
            <a:avLst/>
          </a:prstGeom>
          <a:noFill/>
        </p:spPr>
        <p:txBody>
          <a:bodyPr wrap="square" anchor="t">
            <a:spAutoFit/>
          </a:bodyPr>
          <a:lstStyle/>
          <a:p>
            <a:pPr algn="ctr"/>
            <a:r>
              <a:rPr sz="1200" b="0" i="0">
                <a:solidFill>
                  <a:srgbClr val="333333"/>
                </a:solidFill>
                <a:latin typeface="+mn-lt"/>
              </a:rPr>
              <a:t>Ley 1931 crea el PNCTE</a:t>
            </a:r>
          </a:p>
        </p:txBody>
      </p:sp>
      <p:sp>
        <p:nvSpPr>
          <p:cNvPr id="7" name="Oval 6"/>
          <p:cNvSpPr/>
          <p:nvPr/>
        </p:nvSpPr>
        <p:spPr>
          <a:xfrm>
            <a:off x="3200400" y="1897380"/>
            <a:ext cx="274320" cy="274320"/>
          </a:xfrm>
          <a:prstGeom prst="ellipse">
            <a:avLst/>
          </a:prstGeom>
          <a:solidFill>
            <a:srgbClr val="088A3A"/>
          </a:solidFill>
          <a:ln w="25400">
            <a:solidFill>
              <a:srgbClr val="088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68880" y="2286000"/>
            <a:ext cx="1737360" cy="320040"/>
          </a:xfrm>
          <a:prstGeom prst="rect">
            <a:avLst/>
          </a:prstGeom>
          <a:noFill/>
        </p:spPr>
        <p:txBody>
          <a:bodyPr wrap="square" anchor="t">
            <a:spAutoFit/>
          </a:bodyPr>
          <a:lstStyle/>
          <a:p>
            <a:pPr algn="ctr"/>
            <a:r>
              <a:rPr sz="1500" b="1" i="0">
                <a:solidFill>
                  <a:srgbClr val="088A3A"/>
                </a:solidFill>
                <a:latin typeface="+mn-lt"/>
              </a:rPr>
              <a:t>Sep. 2024</a:t>
            </a:r>
          </a:p>
        </p:txBody>
      </p:sp>
      <p:sp>
        <p:nvSpPr>
          <p:cNvPr id="9" name="TextBox 8"/>
          <p:cNvSpPr txBox="1"/>
          <p:nvPr/>
        </p:nvSpPr>
        <p:spPr>
          <a:xfrm>
            <a:off x="2468880" y="2606040"/>
            <a:ext cx="1737360" cy="777240"/>
          </a:xfrm>
          <a:prstGeom prst="rect">
            <a:avLst/>
          </a:prstGeom>
          <a:noFill/>
        </p:spPr>
        <p:txBody>
          <a:bodyPr wrap="square" anchor="t">
            <a:spAutoFit/>
          </a:bodyPr>
          <a:lstStyle/>
          <a:p>
            <a:pPr algn="ctr"/>
            <a:r>
              <a:rPr sz="1200" b="0" i="0">
                <a:solidFill>
                  <a:srgbClr val="333333"/>
                </a:solidFill>
                <a:latin typeface="+mn-lt"/>
              </a:rPr>
              <a:t>Borrador del decreto del PNCTE a consulta</a:t>
            </a:r>
          </a:p>
        </p:txBody>
      </p:sp>
      <p:sp>
        <p:nvSpPr>
          <p:cNvPr id="10" name="Oval 9"/>
          <p:cNvSpPr/>
          <p:nvPr/>
        </p:nvSpPr>
        <p:spPr>
          <a:xfrm>
            <a:off x="5074919" y="1897380"/>
            <a:ext cx="274320" cy="274320"/>
          </a:xfrm>
          <a:prstGeom prst="ellipse">
            <a:avLst/>
          </a:prstGeom>
          <a:solidFill>
            <a:srgbClr val="088A3A"/>
          </a:solidFill>
          <a:ln w="25400">
            <a:solidFill>
              <a:srgbClr val="088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399" y="2286000"/>
            <a:ext cx="1737360" cy="320040"/>
          </a:xfrm>
          <a:prstGeom prst="rect">
            <a:avLst/>
          </a:prstGeom>
          <a:noFill/>
        </p:spPr>
        <p:txBody>
          <a:bodyPr wrap="square" anchor="t">
            <a:spAutoFit/>
          </a:bodyPr>
          <a:lstStyle/>
          <a:p>
            <a:pPr algn="ctr"/>
            <a:r>
              <a:rPr sz="1500" b="1" i="0">
                <a:solidFill>
                  <a:srgbClr val="088A3A"/>
                </a:solidFill>
                <a:latin typeface="+mn-lt"/>
              </a:rPr>
              <a:t>4 ago. 2026</a:t>
            </a:r>
          </a:p>
        </p:txBody>
      </p:sp>
      <p:sp>
        <p:nvSpPr>
          <p:cNvPr id="12" name="TextBox 11"/>
          <p:cNvSpPr txBox="1"/>
          <p:nvPr/>
        </p:nvSpPr>
        <p:spPr>
          <a:xfrm>
            <a:off x="4343399" y="2606040"/>
            <a:ext cx="1737360" cy="777240"/>
          </a:xfrm>
          <a:prstGeom prst="rect">
            <a:avLst/>
          </a:prstGeom>
          <a:noFill/>
        </p:spPr>
        <p:txBody>
          <a:bodyPr wrap="square" anchor="t">
            <a:spAutoFit/>
          </a:bodyPr>
          <a:lstStyle/>
          <a:p>
            <a:pPr algn="ctr"/>
            <a:r>
              <a:rPr sz="1200" b="0" i="0">
                <a:solidFill>
                  <a:srgbClr val="333333"/>
                </a:solidFill>
                <a:latin typeface="+mn-lt"/>
              </a:rPr>
              <a:t>Dec. 969 (PNCTE) y Dec. 973 (mercados)</a:t>
            </a:r>
          </a:p>
        </p:txBody>
      </p:sp>
      <p:sp>
        <p:nvSpPr>
          <p:cNvPr id="13" name="Oval 12"/>
          <p:cNvSpPr/>
          <p:nvPr/>
        </p:nvSpPr>
        <p:spPr>
          <a:xfrm>
            <a:off x="6949440" y="1897380"/>
            <a:ext cx="274320" cy="274320"/>
          </a:xfrm>
          <a:prstGeom prst="ellipse">
            <a:avLst/>
          </a:prstGeom>
          <a:solidFill>
            <a:srgbClr val="B43C3C"/>
          </a:solidFill>
          <a:ln w="25400">
            <a:solidFill>
              <a:srgbClr val="B4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2286000"/>
            <a:ext cx="1737360" cy="320040"/>
          </a:xfrm>
          <a:prstGeom prst="rect">
            <a:avLst/>
          </a:prstGeom>
          <a:noFill/>
        </p:spPr>
        <p:txBody>
          <a:bodyPr wrap="square" anchor="t">
            <a:spAutoFit/>
          </a:bodyPr>
          <a:lstStyle/>
          <a:p>
            <a:pPr algn="ctr"/>
            <a:r>
              <a:rPr sz="1500" b="1" i="0">
                <a:solidFill>
                  <a:srgbClr val="B43C3C"/>
                </a:solidFill>
                <a:latin typeface="+mn-lt"/>
              </a:rPr>
              <a:t>Oct. 2026</a:t>
            </a:r>
          </a:p>
        </p:txBody>
      </p:sp>
      <p:sp>
        <p:nvSpPr>
          <p:cNvPr id="15" name="TextBox 14"/>
          <p:cNvSpPr txBox="1"/>
          <p:nvPr/>
        </p:nvSpPr>
        <p:spPr>
          <a:xfrm>
            <a:off x="6217920" y="2606040"/>
            <a:ext cx="1737360" cy="777240"/>
          </a:xfrm>
          <a:prstGeom prst="rect">
            <a:avLst/>
          </a:prstGeom>
          <a:noFill/>
        </p:spPr>
        <p:txBody>
          <a:bodyPr wrap="square" anchor="t">
            <a:spAutoFit/>
          </a:bodyPr>
          <a:lstStyle/>
          <a:p>
            <a:pPr algn="ctr"/>
            <a:r>
              <a:rPr sz="1200" b="0" i="0">
                <a:solidFill>
                  <a:srgbClr val="333333"/>
                </a:solidFill>
                <a:latin typeface="+mn-lt"/>
              </a:rPr>
              <a:t>Se revoca el Dec. 973; el 969 sigue vigente</a:t>
            </a:r>
          </a:p>
        </p:txBody>
      </p:sp>
      <p:sp>
        <p:nvSpPr>
          <p:cNvPr id="16" name="Oval 15"/>
          <p:cNvSpPr/>
          <p:nvPr/>
        </p:nvSpPr>
        <p:spPr>
          <a:xfrm>
            <a:off x="8823959" y="1897380"/>
            <a:ext cx="274320" cy="274320"/>
          </a:xfrm>
          <a:prstGeom prst="ellipse">
            <a:avLst/>
          </a:prstGeom>
          <a:solidFill>
            <a:srgbClr val="FFFFFF"/>
          </a:solidFill>
          <a:ln w="25400">
            <a:solidFill>
              <a:srgbClr val="088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92440" y="2286000"/>
            <a:ext cx="1737360" cy="320040"/>
          </a:xfrm>
          <a:prstGeom prst="rect">
            <a:avLst/>
          </a:prstGeom>
          <a:noFill/>
        </p:spPr>
        <p:txBody>
          <a:bodyPr wrap="square" anchor="t">
            <a:spAutoFit/>
          </a:bodyPr>
          <a:lstStyle/>
          <a:p>
            <a:pPr algn="ctr"/>
            <a:r>
              <a:rPr sz="1500" b="1" i="0">
                <a:solidFill>
                  <a:srgbClr val="088A3A"/>
                </a:solidFill>
                <a:latin typeface="+mn-lt"/>
              </a:rPr>
              <a:t>2027–2029</a:t>
            </a:r>
          </a:p>
        </p:txBody>
      </p:sp>
      <p:sp>
        <p:nvSpPr>
          <p:cNvPr id="18" name="TextBox 17"/>
          <p:cNvSpPr txBox="1"/>
          <p:nvPr/>
        </p:nvSpPr>
        <p:spPr>
          <a:xfrm>
            <a:off x="8092440" y="2606040"/>
            <a:ext cx="1737360" cy="777240"/>
          </a:xfrm>
          <a:prstGeom prst="rect">
            <a:avLst/>
          </a:prstGeom>
          <a:noFill/>
        </p:spPr>
        <p:txBody>
          <a:bodyPr wrap="square" anchor="t">
            <a:spAutoFit/>
          </a:bodyPr>
          <a:lstStyle/>
          <a:p>
            <a:pPr algn="ctr"/>
            <a:r>
              <a:rPr sz="1200" b="0" i="0">
                <a:solidFill>
                  <a:srgbClr val="333333"/>
                </a:solidFill>
                <a:latin typeface="+mn-lt"/>
              </a:rPr>
              <a:t>Fase 1 piloto (inicio en duda)</a:t>
            </a:r>
          </a:p>
        </p:txBody>
      </p:sp>
      <p:sp>
        <p:nvSpPr>
          <p:cNvPr id="19" name="Oval 18"/>
          <p:cNvSpPr/>
          <p:nvPr/>
        </p:nvSpPr>
        <p:spPr>
          <a:xfrm>
            <a:off x="10698480" y="1897380"/>
            <a:ext cx="274320" cy="274320"/>
          </a:xfrm>
          <a:prstGeom prst="ellipse">
            <a:avLst/>
          </a:prstGeom>
          <a:solidFill>
            <a:srgbClr val="FFFFFF"/>
          </a:solidFill>
          <a:ln w="25400">
            <a:solidFill>
              <a:srgbClr val="088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66960" y="2286000"/>
            <a:ext cx="1737360" cy="320040"/>
          </a:xfrm>
          <a:prstGeom prst="rect">
            <a:avLst/>
          </a:prstGeom>
          <a:noFill/>
        </p:spPr>
        <p:txBody>
          <a:bodyPr wrap="square" anchor="t">
            <a:spAutoFit/>
          </a:bodyPr>
          <a:lstStyle/>
          <a:p>
            <a:pPr algn="ctr"/>
            <a:r>
              <a:rPr sz="1500" b="1" i="0">
                <a:solidFill>
                  <a:srgbClr val="088A3A"/>
                </a:solidFill>
                <a:latin typeface="+mn-lt"/>
              </a:rPr>
              <a:t>2030–2031</a:t>
            </a:r>
          </a:p>
        </p:txBody>
      </p:sp>
      <p:sp>
        <p:nvSpPr>
          <p:cNvPr id="21" name="TextBox 20"/>
          <p:cNvSpPr txBox="1"/>
          <p:nvPr/>
        </p:nvSpPr>
        <p:spPr>
          <a:xfrm>
            <a:off x="9966960" y="2606040"/>
            <a:ext cx="1737360" cy="777240"/>
          </a:xfrm>
          <a:prstGeom prst="rect">
            <a:avLst/>
          </a:prstGeom>
          <a:noFill/>
        </p:spPr>
        <p:txBody>
          <a:bodyPr wrap="square" anchor="t">
            <a:spAutoFit/>
          </a:bodyPr>
          <a:lstStyle/>
          <a:p>
            <a:pPr algn="ctr"/>
            <a:r>
              <a:rPr sz="1200" b="0" i="0">
                <a:solidFill>
                  <a:srgbClr val="333333"/>
                </a:solidFill>
                <a:latin typeface="+mn-lt"/>
              </a:rPr>
              <a:t>Fase 2: 100 % de las reglas</a:t>
            </a:r>
          </a:p>
        </p:txBody>
      </p:sp>
      <p:sp>
        <p:nvSpPr>
          <p:cNvPr id="22" name="Rounded Rectangle 21"/>
          <p:cNvSpPr/>
          <p:nvPr/>
        </p:nvSpPr>
        <p:spPr>
          <a:xfrm>
            <a:off x="841248" y="3657600"/>
            <a:ext cx="5120640" cy="2240280"/>
          </a:xfrm>
          <a:prstGeom prst="roundRect">
            <a:avLst>
              <a:gd name="adj" fmla="val 6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1560" y="3767328"/>
            <a:ext cx="4754880" cy="365760"/>
          </a:xfrm>
          <a:prstGeom prst="rect">
            <a:avLst/>
          </a:prstGeom>
          <a:noFill/>
        </p:spPr>
        <p:txBody>
          <a:bodyPr wrap="square" anchor="t">
            <a:spAutoFit/>
          </a:bodyPr>
          <a:lstStyle/>
          <a:p>
            <a:pPr algn="l"/>
            <a:r>
              <a:rPr sz="1600" b="1" i="0">
                <a:solidFill>
                  <a:srgbClr val="00323F"/>
                </a:solidFill>
                <a:latin typeface="+mn-lt"/>
              </a:rPr>
              <a:t>Lo que falta para que el PNCTE opere</a:t>
            </a:r>
          </a:p>
        </p:txBody>
      </p:sp>
      <p:sp>
        <p:nvSpPr>
          <p:cNvPr id="24" name="TextBox 23"/>
          <p:cNvSpPr txBox="1"/>
          <p:nvPr/>
        </p:nvSpPr>
        <p:spPr>
          <a:xfrm>
            <a:off x="1051560" y="4206240"/>
            <a:ext cx="4754880" cy="1645920"/>
          </a:xfrm>
          <a:prstGeom prst="rect">
            <a:avLst/>
          </a:prstGeom>
          <a:noFill/>
        </p:spPr>
        <p:txBody>
          <a:bodyPr wrap="square" anchor="t">
            <a:spAutoFit/>
          </a:bodyPr>
          <a:lstStyle/>
          <a:p>
            <a:pPr marL="201168" indent="-201168" algn="l">
              <a:spcAft>
                <a:spcPts val="600"/>
              </a:spcAft>
              <a:buClr>
                <a:srgbClr val="088A3A"/>
              </a:buClr>
              <a:buChar char="•"/>
            </a:pPr>
            <a:r>
              <a:rPr sz="1300" b="0" i="0">
                <a:solidFill>
                  <a:srgbClr val="333333"/>
                </a:solidFill>
                <a:latin typeface="+mn-lt"/>
              </a:rPr>
              <a:t>Definir agentes regulados y umbral (debía salir 6 meses antes de la fase 1)</a:t>
            </a:r>
          </a:p>
          <a:p>
            <a:pPr marL="201168" indent="-201168" algn="l">
              <a:spcAft>
                <a:spcPts val="600"/>
              </a:spcAft>
              <a:buClr>
                <a:srgbClr val="088A3A"/>
              </a:buClr>
              <a:buChar char="•"/>
            </a:pPr>
            <a:r>
              <a:rPr sz="1300" b="0" i="0">
                <a:solidFill>
                  <a:srgbClr val="333333"/>
                </a:solidFill>
                <a:latin typeface="+mn-lt"/>
              </a:rPr>
              <a:t>Cronograma de la fase 1 (segundo semestre de 2026)</a:t>
            </a:r>
          </a:p>
          <a:p>
            <a:pPr marL="201168" indent="-201168" algn="l">
              <a:spcAft>
                <a:spcPts val="600"/>
              </a:spcAft>
              <a:buClr>
                <a:srgbClr val="088A3A"/>
              </a:buClr>
              <a:buChar char="•"/>
            </a:pPr>
            <a:r>
              <a:rPr sz="1300" b="0" i="0">
                <a:solidFill>
                  <a:srgbClr val="333333"/>
                </a:solidFill>
                <a:latin typeface="+mn-lt"/>
              </a:rPr>
              <a:t>Tope anual, reglas de subasta y precio inicial</a:t>
            </a:r>
          </a:p>
          <a:p>
            <a:pPr marL="201168" indent="-201168" algn="l">
              <a:spcAft>
                <a:spcPts val="600"/>
              </a:spcAft>
              <a:buClr>
                <a:srgbClr val="088A3A"/>
              </a:buClr>
              <a:buChar char="•"/>
            </a:pPr>
            <a:r>
              <a:rPr sz="1300" b="0" i="0">
                <a:solidFill>
                  <a:srgbClr val="333333"/>
                </a:solidFill>
                <a:latin typeface="+mn-lt"/>
              </a:rPr>
              <a:t>Reglas para el 3,3 % de cupos a proyectos de no regulados</a:t>
            </a:r>
          </a:p>
        </p:txBody>
      </p:sp>
      <p:sp>
        <p:nvSpPr>
          <p:cNvPr id="25" name="Rounded Rectangle 24"/>
          <p:cNvSpPr/>
          <p:nvPr/>
        </p:nvSpPr>
        <p:spPr>
          <a:xfrm>
            <a:off x="6236208" y="3657600"/>
            <a:ext cx="5120640" cy="2240280"/>
          </a:xfrm>
          <a:prstGeom prst="roundRect">
            <a:avLst>
              <a:gd name="adj" fmla="val 6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3767328"/>
            <a:ext cx="4754880" cy="365760"/>
          </a:xfrm>
          <a:prstGeom prst="rect">
            <a:avLst/>
          </a:prstGeom>
          <a:noFill/>
        </p:spPr>
        <p:txBody>
          <a:bodyPr wrap="square" anchor="t">
            <a:spAutoFit/>
          </a:bodyPr>
          <a:lstStyle/>
          <a:p>
            <a:pPr algn="l"/>
            <a:r>
              <a:rPr sz="1600" b="1" i="0">
                <a:solidFill>
                  <a:srgbClr val="00323F"/>
                </a:solidFill>
                <a:latin typeface="+mn-lt"/>
              </a:rPr>
              <a:t>Lo que anunció el nuevo Gobierno</a:t>
            </a:r>
          </a:p>
        </p:txBody>
      </p:sp>
      <p:sp>
        <p:nvSpPr>
          <p:cNvPr id="27" name="TextBox 26"/>
          <p:cNvSpPr txBox="1"/>
          <p:nvPr/>
        </p:nvSpPr>
        <p:spPr>
          <a:xfrm>
            <a:off x="6446520" y="4206240"/>
            <a:ext cx="4754880" cy="1645920"/>
          </a:xfrm>
          <a:prstGeom prst="rect">
            <a:avLst/>
          </a:prstGeom>
          <a:noFill/>
        </p:spPr>
        <p:txBody>
          <a:bodyPr wrap="square" anchor="t">
            <a:spAutoFit/>
          </a:bodyPr>
          <a:lstStyle/>
          <a:p>
            <a:pPr marL="201168" indent="-201168" algn="l">
              <a:spcAft>
                <a:spcPts val="600"/>
              </a:spcAft>
              <a:buClr>
                <a:srgbClr val="088A3A"/>
              </a:buClr>
              <a:buChar char="•"/>
            </a:pPr>
            <a:r>
              <a:rPr sz="1300" b="0" i="0">
                <a:solidFill>
                  <a:srgbClr val="333333"/>
                </a:solidFill>
                <a:latin typeface="+mn-lt"/>
              </a:rPr>
              <a:t>Revocó el Dec. 973 por fallas de procedimiento y hará un nuevo marco con consulta pública</a:t>
            </a:r>
          </a:p>
          <a:p>
            <a:pPr marL="201168" indent="-201168" algn="l">
              <a:spcAft>
                <a:spcPts val="600"/>
              </a:spcAft>
              <a:buClr>
                <a:srgbClr val="088A3A"/>
              </a:buClr>
              <a:buChar char="•"/>
            </a:pPr>
            <a:r>
              <a:rPr sz="1300" b="0" i="0">
                <a:solidFill>
                  <a:srgbClr val="333333"/>
                </a:solidFill>
                <a:latin typeface="+mn-lt"/>
              </a:rPr>
              <a:t>Propondrá al Congreso volver al 100 % de no causación del impuesto</a:t>
            </a:r>
          </a:p>
          <a:p>
            <a:pPr marL="201168" indent="-201168" algn="l">
              <a:spcAft>
                <a:spcPts val="600"/>
              </a:spcAft>
              <a:buClr>
                <a:srgbClr val="088A3A"/>
              </a:buClr>
              <a:buChar char="•"/>
            </a:pPr>
            <a:r>
              <a:rPr sz="1300" b="0" i="0">
                <a:solidFill>
                  <a:srgbClr val="333333"/>
                </a:solidFill>
                <a:latin typeface="+mn-lt"/>
              </a:rPr>
              <a:t>Sin anuncio oficial sobre el Dec. 969 (a octubre de 2026)</a:t>
            </a:r>
          </a:p>
        </p:txBody>
      </p:sp>
      <p:sp>
        <p:nvSpPr>
          <p:cNvPr id="28" name="TextBox 27"/>
          <p:cNvSpPr txBox="1"/>
          <p:nvPr/>
        </p:nvSpPr>
        <p:spPr>
          <a:xfrm>
            <a:off x="841248" y="6035040"/>
            <a:ext cx="10515600" cy="320040"/>
          </a:xfrm>
          <a:prstGeom prst="rect">
            <a:avLst/>
          </a:prstGeom>
          <a:noFill/>
        </p:spPr>
        <p:txBody>
          <a:bodyPr wrap="square" anchor="t">
            <a:spAutoFit/>
          </a:bodyPr>
          <a:lstStyle/>
          <a:p>
            <a:pPr algn="l"/>
            <a:r>
              <a:rPr sz="1000" b="0" i="1">
                <a:solidFill>
                  <a:srgbClr val="595959"/>
                </a:solidFill>
                <a:latin typeface="+mn-lt"/>
              </a:rPr>
              <a:t>Fuentes: Decreto 0969 de 2026 (arts. 2.2.9.14.10, .16, .20, .22, .25, .26); MinAmbiente, 29 sep. 2026; Ámbito Jurídico, 9 oct. 2026.</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¿Cómo se demuestra una tonelada reducida?</a:t>
            </a:r>
          </a:p>
        </p:txBody>
      </p:sp>
      <p:sp>
        <p:nvSpPr>
          <p:cNvPr id="10" name="Rounded Rectangle 9"/>
          <p:cNvSpPr/>
          <p:nvPr/>
        </p:nvSpPr>
        <p:spPr>
          <a:xfrm>
            <a:off x="914400" y="1691640"/>
            <a:ext cx="2240280" cy="105156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5840" y="1737360"/>
            <a:ext cx="2057400" cy="640080"/>
          </a:xfrm>
          <a:prstGeom prst="rect">
            <a:avLst/>
          </a:prstGeom>
          <a:noFill/>
        </p:spPr>
        <p:txBody>
          <a:bodyPr wrap="square" lIns="45720" rIns="45720" anchor="ctr">
            <a:spAutoFit/>
          </a:bodyPr>
          <a:lstStyle/>
          <a:p>
            <a:pPr algn="ctr">
              <a:spcAft>
                <a:spcPts val="0"/>
              </a:spcAft>
            </a:pPr>
            <a:r>
              <a:rPr sz="1500" b="1" i="0">
                <a:solidFill>
                  <a:srgbClr val="00323F"/>
                </a:solidFill>
                <a:latin typeface="+mn-lt"/>
              </a:rPr>
              <a:t>Emisiones de</a:t>
            </a:r>
          </a:p>
          <a:p>
            <a:pPr algn="ctr">
              <a:spcAft>
                <a:spcPts val="0"/>
              </a:spcAft>
            </a:pPr>
            <a:r>
              <a:rPr sz="1500" b="1" i="0">
                <a:solidFill>
                  <a:srgbClr val="00323F"/>
                </a:solidFill>
                <a:latin typeface="+mn-lt"/>
              </a:rPr>
              <a:t>línea base</a:t>
            </a:r>
          </a:p>
        </p:txBody>
      </p:sp>
      <p:sp>
        <p:nvSpPr>
          <p:cNvPr id="12" name="TextBox 11"/>
          <p:cNvSpPr txBox="1"/>
          <p:nvPr/>
        </p:nvSpPr>
        <p:spPr>
          <a:xfrm>
            <a:off x="1005840" y="2377440"/>
            <a:ext cx="2057400" cy="320040"/>
          </a:xfrm>
          <a:prstGeom prst="rect">
            <a:avLst/>
          </a:prstGeom>
          <a:noFill/>
        </p:spPr>
        <p:txBody>
          <a:bodyPr wrap="square" lIns="45720" rIns="45720" anchor="t">
            <a:spAutoFit/>
          </a:bodyPr>
          <a:lstStyle/>
          <a:p>
            <a:pPr algn="ctr">
              <a:spcAft>
                <a:spcPts val="400"/>
              </a:spcAft>
            </a:pPr>
            <a:r>
              <a:rPr sz="1200" b="0" i="1">
                <a:solidFill>
                  <a:srgbClr val="595959"/>
                </a:solidFill>
                <a:latin typeface="+mn-lt"/>
              </a:rPr>
              <a:t>antes del cambio</a:t>
            </a:r>
          </a:p>
        </p:txBody>
      </p:sp>
      <p:sp>
        <p:nvSpPr>
          <p:cNvPr id="13" name="TextBox 12"/>
          <p:cNvSpPr txBox="1"/>
          <p:nvPr/>
        </p:nvSpPr>
        <p:spPr>
          <a:xfrm>
            <a:off x="3154680" y="1691640"/>
            <a:ext cx="457200" cy="1051560"/>
          </a:xfrm>
          <a:prstGeom prst="rect">
            <a:avLst/>
          </a:prstGeom>
          <a:noFill/>
        </p:spPr>
        <p:txBody>
          <a:bodyPr wrap="square" lIns="0" tIns="0" rIns="0" bIns="0" anchor="ctr">
            <a:spAutoFit/>
          </a:bodyPr>
          <a:lstStyle/>
          <a:p>
            <a:pPr algn="ctr">
              <a:spcAft>
                <a:spcPts val="400"/>
              </a:spcAft>
            </a:pPr>
            <a:r>
              <a:rPr sz="3200" b="1" i="0">
                <a:solidFill>
                  <a:srgbClr val="088A3A"/>
                </a:solidFill>
                <a:latin typeface="+mn-lt"/>
              </a:rPr>
              <a:t>−</a:t>
            </a:r>
          </a:p>
        </p:txBody>
      </p:sp>
      <p:sp>
        <p:nvSpPr>
          <p:cNvPr id="14" name="Rounded Rectangle 13"/>
          <p:cNvSpPr/>
          <p:nvPr/>
        </p:nvSpPr>
        <p:spPr>
          <a:xfrm>
            <a:off x="3611880" y="1691640"/>
            <a:ext cx="2240280" cy="105156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703320" y="1737360"/>
            <a:ext cx="2057400" cy="640080"/>
          </a:xfrm>
          <a:prstGeom prst="rect">
            <a:avLst/>
          </a:prstGeom>
          <a:noFill/>
        </p:spPr>
        <p:txBody>
          <a:bodyPr wrap="square" lIns="45720" rIns="45720" anchor="ctr">
            <a:spAutoFit/>
          </a:bodyPr>
          <a:lstStyle/>
          <a:p>
            <a:pPr algn="ctr">
              <a:spcAft>
                <a:spcPts val="0"/>
              </a:spcAft>
            </a:pPr>
            <a:r>
              <a:rPr sz="1500" b="1" i="0">
                <a:solidFill>
                  <a:srgbClr val="00323F"/>
                </a:solidFill>
                <a:latin typeface="+mn-lt"/>
              </a:rPr>
              <a:t>Emisiones del</a:t>
            </a:r>
          </a:p>
          <a:p>
            <a:pPr algn="ctr">
              <a:spcAft>
                <a:spcPts val="0"/>
              </a:spcAft>
            </a:pPr>
            <a:r>
              <a:rPr sz="1500" b="1" i="0">
                <a:solidFill>
                  <a:srgbClr val="00323F"/>
                </a:solidFill>
                <a:latin typeface="+mn-lt"/>
              </a:rPr>
              <a:t>proyecto</a:t>
            </a:r>
          </a:p>
        </p:txBody>
      </p:sp>
      <p:sp>
        <p:nvSpPr>
          <p:cNvPr id="16" name="TextBox 15"/>
          <p:cNvSpPr txBox="1"/>
          <p:nvPr/>
        </p:nvSpPr>
        <p:spPr>
          <a:xfrm>
            <a:off x="3703320" y="2377440"/>
            <a:ext cx="2057400" cy="320040"/>
          </a:xfrm>
          <a:prstGeom prst="rect">
            <a:avLst/>
          </a:prstGeom>
          <a:noFill/>
        </p:spPr>
        <p:txBody>
          <a:bodyPr wrap="square" lIns="45720" rIns="45720" anchor="t">
            <a:spAutoFit/>
          </a:bodyPr>
          <a:lstStyle/>
          <a:p>
            <a:pPr algn="ctr">
              <a:spcAft>
                <a:spcPts val="400"/>
              </a:spcAft>
            </a:pPr>
            <a:r>
              <a:rPr sz="1200" b="0" i="1">
                <a:solidFill>
                  <a:srgbClr val="595959"/>
                </a:solidFill>
                <a:latin typeface="+mn-lt"/>
              </a:rPr>
              <a:t>después del cambio</a:t>
            </a:r>
          </a:p>
        </p:txBody>
      </p:sp>
      <p:sp>
        <p:nvSpPr>
          <p:cNvPr id="17" name="TextBox 16"/>
          <p:cNvSpPr txBox="1"/>
          <p:nvPr/>
        </p:nvSpPr>
        <p:spPr>
          <a:xfrm>
            <a:off x="5852160" y="1691640"/>
            <a:ext cx="457200" cy="1051560"/>
          </a:xfrm>
          <a:prstGeom prst="rect">
            <a:avLst/>
          </a:prstGeom>
          <a:noFill/>
        </p:spPr>
        <p:txBody>
          <a:bodyPr wrap="square" lIns="0" tIns="0" rIns="0" bIns="0" anchor="ctr">
            <a:spAutoFit/>
          </a:bodyPr>
          <a:lstStyle/>
          <a:p>
            <a:pPr algn="ctr">
              <a:spcAft>
                <a:spcPts val="400"/>
              </a:spcAft>
            </a:pPr>
            <a:r>
              <a:rPr sz="3200" b="1" i="0">
                <a:solidFill>
                  <a:srgbClr val="088A3A"/>
                </a:solidFill>
                <a:latin typeface="+mn-lt"/>
              </a:rPr>
              <a:t>−</a:t>
            </a:r>
          </a:p>
        </p:txBody>
      </p:sp>
      <p:sp>
        <p:nvSpPr>
          <p:cNvPr id="18" name="Rounded Rectangle 17"/>
          <p:cNvSpPr/>
          <p:nvPr/>
        </p:nvSpPr>
        <p:spPr>
          <a:xfrm>
            <a:off x="6309360" y="1691640"/>
            <a:ext cx="2240280" cy="105156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00800" y="1737360"/>
            <a:ext cx="2057400" cy="640080"/>
          </a:xfrm>
          <a:prstGeom prst="rect">
            <a:avLst/>
          </a:prstGeom>
          <a:noFill/>
        </p:spPr>
        <p:txBody>
          <a:bodyPr wrap="square" lIns="45720" rIns="45720" anchor="ctr">
            <a:spAutoFit/>
          </a:bodyPr>
          <a:lstStyle/>
          <a:p>
            <a:pPr algn="ctr">
              <a:spcAft>
                <a:spcPts val="0"/>
              </a:spcAft>
            </a:pPr>
            <a:r>
              <a:rPr sz="1500" b="1" i="0">
                <a:solidFill>
                  <a:srgbClr val="00323F"/>
                </a:solidFill>
                <a:latin typeface="+mn-lt"/>
              </a:rPr>
              <a:t>Emisiones</a:t>
            </a:r>
          </a:p>
          <a:p>
            <a:pPr algn="ctr">
              <a:spcAft>
                <a:spcPts val="0"/>
              </a:spcAft>
            </a:pPr>
            <a:r>
              <a:rPr sz="1500" b="1" i="0">
                <a:solidFill>
                  <a:srgbClr val="00323F"/>
                </a:solidFill>
                <a:latin typeface="+mn-lt"/>
              </a:rPr>
              <a:t>desplazadas</a:t>
            </a:r>
          </a:p>
        </p:txBody>
      </p:sp>
      <p:sp>
        <p:nvSpPr>
          <p:cNvPr id="20" name="TextBox 19"/>
          <p:cNvSpPr txBox="1"/>
          <p:nvPr/>
        </p:nvSpPr>
        <p:spPr>
          <a:xfrm>
            <a:off x="6400800" y="2377440"/>
            <a:ext cx="2057400" cy="320040"/>
          </a:xfrm>
          <a:prstGeom prst="rect">
            <a:avLst/>
          </a:prstGeom>
          <a:noFill/>
        </p:spPr>
        <p:txBody>
          <a:bodyPr wrap="square" lIns="45720" rIns="45720" anchor="t">
            <a:spAutoFit/>
          </a:bodyPr>
          <a:lstStyle/>
          <a:p>
            <a:pPr algn="ctr">
              <a:spcAft>
                <a:spcPts val="400"/>
              </a:spcAft>
            </a:pPr>
            <a:r>
              <a:rPr sz="1200" b="0" i="1">
                <a:solidFill>
                  <a:srgbClr val="595959"/>
                </a:solidFill>
                <a:latin typeface="+mn-lt"/>
              </a:rPr>
              <a:t>leakage: fuera del proyecto</a:t>
            </a:r>
          </a:p>
        </p:txBody>
      </p:sp>
      <p:sp>
        <p:nvSpPr>
          <p:cNvPr id="21" name="TextBox 20"/>
          <p:cNvSpPr txBox="1"/>
          <p:nvPr/>
        </p:nvSpPr>
        <p:spPr>
          <a:xfrm>
            <a:off x="8549640" y="1691640"/>
            <a:ext cx="457200" cy="1051560"/>
          </a:xfrm>
          <a:prstGeom prst="rect">
            <a:avLst/>
          </a:prstGeom>
          <a:noFill/>
        </p:spPr>
        <p:txBody>
          <a:bodyPr wrap="square" lIns="0" tIns="0" rIns="0" bIns="0" anchor="ctr">
            <a:spAutoFit/>
          </a:bodyPr>
          <a:lstStyle/>
          <a:p>
            <a:pPr algn="ctr">
              <a:spcAft>
                <a:spcPts val="400"/>
              </a:spcAft>
            </a:pPr>
            <a:r>
              <a:rPr sz="3200" b="1" i="0">
                <a:solidFill>
                  <a:srgbClr val="088A3A"/>
                </a:solidFill>
                <a:latin typeface="+mn-lt"/>
              </a:rPr>
              <a:t>=</a:t>
            </a:r>
          </a:p>
        </p:txBody>
      </p:sp>
      <p:sp>
        <p:nvSpPr>
          <p:cNvPr id="22" name="Rounded Rectangle 21"/>
          <p:cNvSpPr/>
          <p:nvPr/>
        </p:nvSpPr>
        <p:spPr>
          <a:xfrm>
            <a:off x="9006840" y="1691640"/>
            <a:ext cx="2240280" cy="1051560"/>
          </a:xfrm>
          <a:prstGeom prst="roundRect">
            <a:avLst>
              <a:gd name="adj" fmla="val 8000"/>
            </a:avLst>
          </a:prstGeom>
          <a:solidFill>
            <a:srgbClr val="00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098280" y="1737360"/>
            <a:ext cx="2057400" cy="640080"/>
          </a:xfrm>
          <a:prstGeom prst="rect">
            <a:avLst/>
          </a:prstGeom>
          <a:noFill/>
        </p:spPr>
        <p:txBody>
          <a:bodyPr wrap="square" lIns="45720" rIns="45720" anchor="ctr">
            <a:spAutoFit/>
          </a:bodyPr>
          <a:lstStyle/>
          <a:p>
            <a:pPr algn="ctr">
              <a:spcAft>
                <a:spcPts val="0"/>
              </a:spcAft>
            </a:pPr>
            <a:r>
              <a:rPr sz="1500" b="1" i="0">
                <a:solidFill>
                  <a:srgbClr val="04CF74"/>
                </a:solidFill>
                <a:latin typeface="+mn-lt"/>
              </a:rPr>
              <a:t>Reducción</a:t>
            </a:r>
          </a:p>
          <a:p>
            <a:pPr algn="ctr">
              <a:spcAft>
                <a:spcPts val="0"/>
              </a:spcAft>
            </a:pPr>
            <a:r>
              <a:rPr sz="1500" b="1" i="0">
                <a:solidFill>
                  <a:srgbClr val="04CF74"/>
                </a:solidFill>
                <a:latin typeface="+mn-lt"/>
              </a:rPr>
              <a:t>verificable</a:t>
            </a:r>
          </a:p>
        </p:txBody>
      </p:sp>
      <p:sp>
        <p:nvSpPr>
          <p:cNvPr id="24" name="TextBox 23"/>
          <p:cNvSpPr txBox="1"/>
          <p:nvPr/>
        </p:nvSpPr>
        <p:spPr>
          <a:xfrm>
            <a:off x="9098280" y="2377440"/>
            <a:ext cx="2057400" cy="320040"/>
          </a:xfrm>
          <a:prstGeom prst="rect">
            <a:avLst/>
          </a:prstGeom>
          <a:noFill/>
        </p:spPr>
        <p:txBody>
          <a:bodyPr wrap="square" lIns="45720" rIns="45720" anchor="t">
            <a:spAutoFit/>
          </a:bodyPr>
          <a:lstStyle/>
          <a:p>
            <a:pPr algn="ctr">
              <a:spcAft>
                <a:spcPts val="400"/>
              </a:spcAft>
            </a:pPr>
            <a:r>
              <a:rPr sz="1200" b="0" i="1">
                <a:solidFill>
                  <a:srgbClr val="FFFFFF"/>
                </a:solidFill>
                <a:latin typeface="+mn-lt"/>
              </a:rPr>
              <a:t>tCO₂e</a:t>
            </a:r>
          </a:p>
        </p:txBody>
      </p:sp>
      <p:graphicFrame>
        <p:nvGraphicFramePr>
          <p:cNvPr id="25" name="Table 24"/>
          <p:cNvGraphicFramePr>
            <a:graphicFrameLocks noGrp="1"/>
          </p:cNvGraphicFramePr>
          <p:nvPr/>
        </p:nvGraphicFramePr>
        <p:xfrm>
          <a:off x="914400" y="2971800"/>
          <a:ext cx="10332720" cy="2194560"/>
        </p:xfrm>
        <a:graphic>
          <a:graphicData uri="http://schemas.openxmlformats.org/drawingml/2006/table">
            <a:tbl>
              <a:tblPr firstRow="1">
                <a:tableStyleId>{5940675A-B579-460E-94D1-54222C63F5DA}</a:tableStyleId>
              </a:tblPr>
              <a:tblGrid>
                <a:gridCol w="29260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38912">
                <a:tc>
                  <a:txBody>
                    <a:bodyPr/>
                    <a:lstStyle/>
                    <a:p>
                      <a:r>
                        <a:rPr sz="1400" b="1">
                          <a:solidFill>
                            <a:srgbClr val="FFFFFF"/>
                          </a:solidFill>
                          <a:latin typeface="+mn-lt"/>
                        </a:rPr>
                        <a:t>Tipo de proyecto</a:t>
                      </a:r>
                    </a:p>
                  </a:txBody>
                  <a:tcPr anchor="ctr">
                    <a:solidFill>
                      <a:srgbClr val="00323F"/>
                    </a:solidFill>
                  </a:tcPr>
                </a:tc>
                <a:tc>
                  <a:txBody>
                    <a:bodyPr/>
                    <a:lstStyle/>
                    <a:p>
                      <a:r>
                        <a:rPr sz="1400" b="1">
                          <a:solidFill>
                            <a:srgbClr val="FFFFFF"/>
                          </a:solidFill>
                          <a:latin typeface="+mn-lt"/>
                        </a:rPr>
                        <a:t>Metodología (MDL, UNFCCC)</a:t>
                      </a:r>
                    </a:p>
                  </a:txBody>
                  <a:tcPr anchor="ctr">
                    <a:solidFill>
                      <a:srgbClr val="00323F"/>
                    </a:solidFill>
                  </a:tcPr>
                </a:tc>
                <a:tc>
                  <a:txBody>
                    <a:bodyPr/>
                    <a:lstStyle/>
                    <a:p>
                      <a:r>
                        <a:rPr sz="1400" b="1">
                          <a:solidFill>
                            <a:srgbClr val="FFFFFF"/>
                          </a:solidFill>
                          <a:latin typeface="+mn-lt"/>
                        </a:rPr>
                        <a:t>Qué dato necesita</a:t>
                      </a:r>
                    </a:p>
                  </a:txBody>
                  <a:tcPr anchor="ctr">
                    <a:solidFill>
                      <a:srgbClr val="00323F"/>
                    </a:solidFill>
                  </a:tcPr>
                </a:tc>
                <a:extLst>
                  <a:ext uri="{0D108BD9-81ED-4DB2-BD59-A6C34878D82A}">
                    <a16:rowId xmlns:a16="http://schemas.microsoft.com/office/drawing/2014/main" val="10000"/>
                  </a:ext>
                </a:extLst>
              </a:tr>
              <a:tr h="438912">
                <a:tc>
                  <a:txBody>
                    <a:bodyPr/>
                    <a:lstStyle/>
                    <a:p>
                      <a:r>
                        <a:rPr sz="1300" b="1">
                          <a:solidFill>
                            <a:srgbClr val="00323F"/>
                          </a:solidFill>
                          <a:latin typeface="+mn-lt"/>
                        </a:rPr>
                        <a:t>Fugas de metano y COV</a:t>
                      </a:r>
                    </a:p>
                  </a:txBody>
                  <a:tcPr anchor="ctr">
                    <a:solidFill>
                      <a:srgbClr val="FFFFFF"/>
                    </a:solidFill>
                  </a:tcPr>
                </a:tc>
                <a:tc>
                  <a:txBody>
                    <a:bodyPr/>
                    <a:lstStyle/>
                    <a:p>
                      <a:r>
                        <a:rPr sz="1300" b="0">
                          <a:solidFill>
                            <a:srgbClr val="595959"/>
                          </a:solidFill>
                          <a:latin typeface="+mn-lt"/>
                        </a:rPr>
                        <a:t>AM0023 · detección y reparación de fugas</a:t>
                      </a:r>
                    </a:p>
                  </a:txBody>
                  <a:tcPr anchor="ctr">
                    <a:solidFill>
                      <a:srgbClr val="FFFFFF"/>
                    </a:solidFill>
                  </a:tcPr>
                </a:tc>
                <a:tc>
                  <a:txBody>
                    <a:bodyPr/>
                    <a:lstStyle/>
                    <a:p>
                      <a:r>
                        <a:rPr sz="1300" b="0">
                          <a:solidFill>
                            <a:srgbClr val="595959"/>
                          </a:solidFill>
                          <a:latin typeface="+mn-lt"/>
                        </a:rPr>
                        <a:t>Inventario de componentes y tasa de fuga medida</a:t>
                      </a:r>
                    </a:p>
                  </a:txBody>
                  <a:tcPr anchor="ctr">
                    <a:solidFill>
                      <a:srgbClr val="FFFFFF"/>
                    </a:solidFill>
                  </a:tcPr>
                </a:tc>
                <a:extLst>
                  <a:ext uri="{0D108BD9-81ED-4DB2-BD59-A6C34878D82A}">
                    <a16:rowId xmlns:a16="http://schemas.microsoft.com/office/drawing/2014/main" val="10001"/>
                  </a:ext>
                </a:extLst>
              </a:tr>
              <a:tr h="438912">
                <a:tc>
                  <a:txBody>
                    <a:bodyPr/>
                    <a:lstStyle/>
                    <a:p>
                      <a:r>
                        <a:rPr sz="1300" b="1">
                          <a:solidFill>
                            <a:srgbClr val="00323F"/>
                          </a:solidFill>
                          <a:latin typeface="+mn-lt"/>
                        </a:rPr>
                        <a:t>Gas de tea recuperado</a:t>
                      </a:r>
                    </a:p>
                  </a:txBody>
                  <a:tcPr anchor="ctr">
                    <a:solidFill>
                      <a:srgbClr val="F4F6F8"/>
                    </a:solidFill>
                  </a:tcPr>
                </a:tc>
                <a:tc>
                  <a:txBody>
                    <a:bodyPr/>
                    <a:lstStyle/>
                    <a:p>
                      <a:r>
                        <a:rPr sz="1300" b="0">
                          <a:solidFill>
                            <a:srgbClr val="595959"/>
                          </a:solidFill>
                          <a:latin typeface="+mn-lt"/>
                        </a:rPr>
                        <a:t>AM0055 · gas residual en refinerías</a:t>
                      </a:r>
                    </a:p>
                  </a:txBody>
                  <a:tcPr anchor="ctr">
                    <a:solidFill>
                      <a:srgbClr val="F4F6F8"/>
                    </a:solidFill>
                  </a:tcPr>
                </a:tc>
                <a:tc>
                  <a:txBody>
                    <a:bodyPr/>
                    <a:lstStyle/>
                    <a:p>
                      <a:r>
                        <a:rPr sz="1300" b="0">
                          <a:solidFill>
                            <a:srgbClr val="595959"/>
                          </a:solidFill>
                          <a:latin typeface="+mn-lt"/>
                        </a:rPr>
                        <a:t>Caudal y composición del gas a tea</a:t>
                      </a:r>
                    </a:p>
                  </a:txBody>
                  <a:tcPr anchor="ctr">
                    <a:solidFill>
                      <a:srgbClr val="F4F6F8"/>
                    </a:solidFill>
                  </a:tcPr>
                </a:tc>
                <a:extLst>
                  <a:ext uri="{0D108BD9-81ED-4DB2-BD59-A6C34878D82A}">
                    <a16:rowId xmlns:a16="http://schemas.microsoft.com/office/drawing/2014/main" val="10002"/>
                  </a:ext>
                </a:extLst>
              </a:tr>
              <a:tr h="438912">
                <a:tc>
                  <a:txBody>
                    <a:bodyPr/>
                    <a:lstStyle/>
                    <a:p>
                      <a:r>
                        <a:rPr sz="1300" b="1">
                          <a:solidFill>
                            <a:srgbClr val="00323F"/>
                          </a:solidFill>
                          <a:latin typeface="+mn-lt"/>
                        </a:rPr>
                        <a:t>Calor de desecho</a:t>
                      </a:r>
                    </a:p>
                  </a:txBody>
                  <a:tcPr anchor="ctr">
                    <a:solidFill>
                      <a:srgbClr val="FFFFFF"/>
                    </a:solidFill>
                  </a:tcPr>
                </a:tc>
                <a:tc>
                  <a:txBody>
                    <a:bodyPr/>
                    <a:lstStyle/>
                    <a:p>
                      <a:r>
                        <a:rPr sz="1300" b="0">
                          <a:solidFill>
                            <a:srgbClr val="595959"/>
                          </a:solidFill>
                          <a:latin typeface="+mn-lt"/>
                        </a:rPr>
                        <a:t>ACM0012 · recuperación de energía</a:t>
                      </a:r>
                    </a:p>
                  </a:txBody>
                  <a:tcPr anchor="ctr">
                    <a:solidFill>
                      <a:srgbClr val="FFFFFF"/>
                    </a:solidFill>
                  </a:tcPr>
                </a:tc>
                <a:tc>
                  <a:txBody>
                    <a:bodyPr/>
                    <a:lstStyle/>
                    <a:p>
                      <a:r>
                        <a:rPr sz="1300" b="0">
                          <a:solidFill>
                            <a:srgbClr val="595959"/>
                          </a:solidFill>
                          <a:latin typeface="+mn-lt"/>
                        </a:rPr>
                        <a:t>Energía recuperada y combustible desplazado</a:t>
                      </a:r>
                    </a:p>
                  </a:txBody>
                  <a:tcPr anchor="ctr">
                    <a:solidFill>
                      <a:srgbClr val="FFFFFF"/>
                    </a:solidFill>
                  </a:tcPr>
                </a:tc>
                <a:extLst>
                  <a:ext uri="{0D108BD9-81ED-4DB2-BD59-A6C34878D82A}">
                    <a16:rowId xmlns:a16="http://schemas.microsoft.com/office/drawing/2014/main" val="10003"/>
                  </a:ext>
                </a:extLst>
              </a:tr>
              <a:tr h="438912">
                <a:tc>
                  <a:txBody>
                    <a:bodyPr/>
                    <a:lstStyle/>
                    <a:p>
                      <a:r>
                        <a:rPr sz="1300" b="1">
                          <a:solidFill>
                            <a:srgbClr val="00323F"/>
                          </a:solidFill>
                          <a:latin typeface="+mn-lt"/>
                        </a:rPr>
                        <a:t>Cambio de combustible</a:t>
                      </a:r>
                    </a:p>
                  </a:txBody>
                  <a:tcPr anchor="ctr">
                    <a:solidFill>
                      <a:srgbClr val="F4F6F8"/>
                    </a:solidFill>
                  </a:tcPr>
                </a:tc>
                <a:tc>
                  <a:txBody>
                    <a:bodyPr/>
                    <a:lstStyle/>
                    <a:p>
                      <a:r>
                        <a:rPr sz="1300" b="0">
                          <a:solidFill>
                            <a:srgbClr val="595959"/>
                          </a:solidFill>
                          <a:latin typeface="+mn-lt"/>
                        </a:rPr>
                        <a:t>ACM0009 · de carbón o líquidos a gas</a:t>
                      </a:r>
                    </a:p>
                  </a:txBody>
                  <a:tcPr anchor="ctr">
                    <a:solidFill>
                      <a:srgbClr val="F4F6F8"/>
                    </a:solidFill>
                  </a:tcPr>
                </a:tc>
                <a:tc>
                  <a:txBody>
                    <a:bodyPr/>
                    <a:lstStyle/>
                    <a:p>
                      <a:r>
                        <a:rPr sz="1300" b="0">
                          <a:solidFill>
                            <a:srgbClr val="595959"/>
                          </a:solidFill>
                          <a:latin typeface="+mn-lt"/>
                        </a:rPr>
                        <a:t>Consumo y tipo de combustible antes y después</a:t>
                      </a:r>
                    </a:p>
                  </a:txBody>
                  <a:tcPr anchor="ctr">
                    <a:solidFill>
                      <a:srgbClr val="F4F6F8"/>
                    </a:solidFill>
                  </a:tcPr>
                </a:tc>
                <a:extLst>
                  <a:ext uri="{0D108BD9-81ED-4DB2-BD59-A6C34878D82A}">
                    <a16:rowId xmlns:a16="http://schemas.microsoft.com/office/drawing/2014/main" val="10004"/>
                  </a:ext>
                </a:extLst>
              </a:tr>
            </a:tbl>
          </a:graphicData>
        </a:graphic>
      </p:graphicFrame>
      <p:sp>
        <p:nvSpPr>
          <p:cNvPr id="26" name="Rounded Rectangle 25"/>
          <p:cNvSpPr/>
          <p:nvPr/>
        </p:nvSpPr>
        <p:spPr>
          <a:xfrm>
            <a:off x="914400" y="5349240"/>
            <a:ext cx="10332720" cy="594360"/>
          </a:xfrm>
          <a:prstGeom prst="roundRect">
            <a:avLst>
              <a:gd name="adj" fmla="val 8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188720" y="5484837"/>
            <a:ext cx="9875520" cy="323165"/>
          </a:xfrm>
          <a:prstGeom prst="rect">
            <a:avLst/>
          </a:prstGeom>
          <a:noFill/>
        </p:spPr>
        <p:txBody>
          <a:bodyPr wrap="square" lIns="45720" rIns="45720" anchor="ctr">
            <a:spAutoFit/>
          </a:bodyPr>
          <a:lstStyle/>
          <a:p>
            <a:pPr algn="l">
              <a:spcAft>
                <a:spcPts val="400"/>
              </a:spcAft>
            </a:pPr>
            <a:r>
              <a:rPr sz="1500" b="1" i="0" dirty="0" err="1">
                <a:solidFill>
                  <a:srgbClr val="088A3A"/>
                </a:solidFill>
                <a:latin typeface="+mn-lt"/>
              </a:rPr>
              <a:t>Todas</a:t>
            </a:r>
            <a:r>
              <a:rPr sz="1500" b="1" i="0" dirty="0">
                <a:solidFill>
                  <a:srgbClr val="088A3A"/>
                </a:solidFill>
                <a:latin typeface="+mn-lt"/>
              </a:rPr>
              <a:t> </a:t>
            </a:r>
            <a:r>
              <a:rPr sz="1500" b="1" i="0" dirty="0" err="1">
                <a:solidFill>
                  <a:srgbClr val="088A3A"/>
                </a:solidFill>
                <a:latin typeface="+mn-lt"/>
              </a:rPr>
              <a:t>piden</a:t>
            </a:r>
            <a:r>
              <a:rPr sz="1500" b="1" i="0" dirty="0">
                <a:solidFill>
                  <a:srgbClr val="088A3A"/>
                </a:solidFill>
                <a:latin typeface="+mn-lt"/>
              </a:rPr>
              <a:t> lo </a:t>
            </a:r>
            <a:r>
              <a:rPr sz="1500" b="1" i="0" dirty="0" err="1">
                <a:solidFill>
                  <a:srgbClr val="088A3A"/>
                </a:solidFill>
                <a:latin typeface="+mn-lt"/>
              </a:rPr>
              <a:t>mismo</a:t>
            </a:r>
            <a:r>
              <a:rPr sz="1500" b="1" i="0" dirty="0">
                <a:solidFill>
                  <a:srgbClr val="088A3A"/>
                </a:solidFill>
                <a:latin typeface="+mn-lt"/>
              </a:rPr>
              <a:t>: </a:t>
            </a:r>
            <a:r>
              <a:rPr sz="1500" b="0" i="0" dirty="0" err="1">
                <a:solidFill>
                  <a:srgbClr val="00323F"/>
                </a:solidFill>
                <a:latin typeface="+mn-lt"/>
              </a:rPr>
              <a:t>línea</a:t>
            </a:r>
            <a:r>
              <a:rPr sz="1500" b="0" i="0" dirty="0">
                <a:solidFill>
                  <a:srgbClr val="00323F"/>
                </a:solidFill>
                <a:latin typeface="+mn-lt"/>
              </a:rPr>
              <a:t> base </a:t>
            </a:r>
            <a:r>
              <a:rPr sz="1500" b="0" i="0" dirty="0" err="1">
                <a:solidFill>
                  <a:srgbClr val="00323F"/>
                </a:solidFill>
                <a:latin typeface="+mn-lt"/>
              </a:rPr>
              <a:t>medida</a:t>
            </a:r>
            <a:r>
              <a:rPr sz="1500" b="0" i="0" dirty="0">
                <a:solidFill>
                  <a:srgbClr val="00323F"/>
                </a:solidFill>
                <a:latin typeface="+mn-lt"/>
              </a:rPr>
              <a:t> antes y datos </a:t>
            </a:r>
            <a:r>
              <a:rPr sz="1500" b="0" i="0" dirty="0" err="1">
                <a:solidFill>
                  <a:srgbClr val="00323F"/>
                </a:solidFill>
                <a:latin typeface="+mn-lt"/>
              </a:rPr>
              <a:t>medidos</a:t>
            </a:r>
            <a:r>
              <a:rPr sz="1500" b="0" i="0" dirty="0">
                <a:solidFill>
                  <a:srgbClr val="00323F"/>
                </a:solidFill>
                <a:latin typeface="+mn-lt"/>
              </a:rPr>
              <a:t> </a:t>
            </a:r>
            <a:r>
              <a:rPr sz="1500" b="0" i="0" dirty="0" err="1">
                <a:solidFill>
                  <a:srgbClr val="00323F"/>
                </a:solidFill>
                <a:latin typeface="+mn-lt"/>
              </a:rPr>
              <a:t>después</a:t>
            </a:r>
            <a:r>
              <a:rPr sz="1500" b="0" i="0" dirty="0">
                <a:solidFill>
                  <a:srgbClr val="00323F"/>
                </a:solidFill>
                <a:latin typeface="+mn-lt"/>
              </a:rPr>
              <a:t>. </a:t>
            </a:r>
          </a:p>
        </p:txBody>
      </p:sp>
      <p:sp>
        <p:nvSpPr>
          <p:cNvPr id="28"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Fuentes: UNFCCC, metodologías del Mecanismo de Desarrollo Limpio (AM0023, AM0055, ACM0012, ACM0009); el mecanismo del art. 6.4 del Acuerdo de París las está revisando.</a:t>
            </a:r>
          </a:p>
        </p:txBody>
      </p:sp>
    </p:spTree>
    <p:extLst>
      <p:ext uri="{BB962C8B-B14F-4D97-AF65-F5344CB8AC3E}">
        <p14:creationId xmlns:p14="http://schemas.microsoft.com/office/powerpoint/2010/main" val="14628133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Incentivos tributarios para adoptar tecnología</a:t>
            </a:r>
          </a:p>
        </p:txBody>
      </p:sp>
      <p:graphicFrame>
        <p:nvGraphicFramePr>
          <p:cNvPr id="10" name="Table 9"/>
          <p:cNvGraphicFramePr>
            <a:graphicFrameLocks noGrp="1"/>
          </p:cNvGraphicFramePr>
          <p:nvPr/>
        </p:nvGraphicFramePr>
        <p:xfrm>
          <a:off x="914400" y="1783080"/>
          <a:ext cx="10332720" cy="3291840"/>
        </p:xfrm>
        <a:graphic>
          <a:graphicData uri="http://schemas.openxmlformats.org/drawingml/2006/table">
            <a:tbl>
              <a:tblPr firstRow="1">
                <a:tableStyleId>{5940675A-B579-460E-94D1-54222C63F5DA}</a:tableStyleId>
              </a:tblPr>
              <a:tblGrid>
                <a:gridCol w="32918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48640">
                <a:tc>
                  <a:txBody>
                    <a:bodyPr/>
                    <a:lstStyle/>
                    <a:p>
                      <a:r>
                        <a:rPr sz="1400" b="1" dirty="0" err="1">
                          <a:solidFill>
                            <a:srgbClr val="FFFFFF"/>
                          </a:solidFill>
                          <a:latin typeface="+mn-lt"/>
                        </a:rPr>
                        <a:t>Incentivo</a:t>
                      </a:r>
                      <a:endParaRPr sz="1400" b="1" dirty="0">
                        <a:solidFill>
                          <a:srgbClr val="FFFFFF"/>
                        </a:solidFill>
                        <a:latin typeface="+mn-lt"/>
                      </a:endParaRPr>
                    </a:p>
                  </a:txBody>
                  <a:tcPr anchor="ctr">
                    <a:solidFill>
                      <a:srgbClr val="00323F"/>
                    </a:solidFill>
                  </a:tcPr>
                </a:tc>
                <a:tc>
                  <a:txBody>
                    <a:bodyPr/>
                    <a:lstStyle/>
                    <a:p>
                      <a:r>
                        <a:rPr sz="1400" b="1">
                          <a:solidFill>
                            <a:srgbClr val="FFFFFF"/>
                          </a:solidFill>
                          <a:latin typeface="+mn-lt"/>
                        </a:rPr>
                        <a:t>Qué cubre</a:t>
                      </a:r>
                    </a:p>
                  </a:txBody>
                  <a:tcPr anchor="ctr">
                    <a:solidFill>
                      <a:srgbClr val="00323F"/>
                    </a:solidFill>
                  </a:tcPr>
                </a:tc>
                <a:tc>
                  <a:txBody>
                    <a:bodyPr/>
                    <a:lstStyle/>
                    <a:p>
                      <a:r>
                        <a:rPr sz="1400" b="1">
                          <a:solidFill>
                            <a:srgbClr val="FFFFFF"/>
                          </a:solidFill>
                          <a:latin typeface="+mn-lt"/>
                        </a:rPr>
                        <a:t>Quién certifica</a:t>
                      </a:r>
                    </a:p>
                  </a:txBody>
                  <a:tcPr anchor="ctr">
                    <a:solidFill>
                      <a:srgbClr val="00323F"/>
                    </a:solidFill>
                  </a:tcPr>
                </a:tc>
                <a:extLst>
                  <a:ext uri="{0D108BD9-81ED-4DB2-BD59-A6C34878D82A}">
                    <a16:rowId xmlns:a16="http://schemas.microsoft.com/office/drawing/2014/main" val="10000"/>
                  </a:ext>
                </a:extLst>
              </a:tr>
              <a:tr h="548640">
                <a:tc>
                  <a:txBody>
                    <a:bodyPr/>
                    <a:lstStyle/>
                    <a:p>
                      <a:r>
                        <a:rPr sz="1400" b="1">
                          <a:solidFill>
                            <a:srgbClr val="00323F"/>
                          </a:solidFill>
                          <a:latin typeface="+mn-lt"/>
                        </a:rPr>
                        <a:t>Deducción de renta (Ley 1715 art. 11)</a:t>
                      </a:r>
                    </a:p>
                  </a:txBody>
                  <a:tcPr anchor="ctr">
                    <a:solidFill>
                      <a:srgbClr val="FFFFFF"/>
                    </a:solidFill>
                  </a:tcPr>
                </a:tc>
                <a:tc>
                  <a:txBody>
                    <a:bodyPr/>
                    <a:lstStyle/>
                    <a:p>
                      <a:r>
                        <a:rPr sz="1400" b="0">
                          <a:solidFill>
                            <a:srgbClr val="595959"/>
                          </a:solidFill>
                          <a:latin typeface="+mn-lt"/>
                        </a:rPr>
                        <a:t>Renovables, gestión eficiente de energía, H₂ verde y azul</a:t>
                      </a:r>
                    </a:p>
                  </a:txBody>
                  <a:tcPr anchor="ctr">
                    <a:solidFill>
                      <a:srgbClr val="FFFFFF"/>
                    </a:solidFill>
                  </a:tcPr>
                </a:tc>
                <a:tc>
                  <a:txBody>
                    <a:bodyPr/>
                    <a:lstStyle/>
                    <a:p>
                      <a:r>
                        <a:rPr sz="1400" b="0">
                          <a:solidFill>
                            <a:srgbClr val="595959"/>
                          </a:solidFill>
                          <a:latin typeface="+mn-lt"/>
                        </a:rPr>
                        <a:t>UPME</a:t>
                      </a:r>
                    </a:p>
                  </a:txBody>
                  <a:tcPr anchor="ctr">
                    <a:solidFill>
                      <a:srgbClr val="FFFFFF"/>
                    </a:solidFill>
                  </a:tcPr>
                </a:tc>
                <a:extLst>
                  <a:ext uri="{0D108BD9-81ED-4DB2-BD59-A6C34878D82A}">
                    <a16:rowId xmlns:a16="http://schemas.microsoft.com/office/drawing/2014/main" val="10001"/>
                  </a:ext>
                </a:extLst>
              </a:tr>
              <a:tr h="548640">
                <a:tc>
                  <a:txBody>
                    <a:bodyPr/>
                    <a:lstStyle/>
                    <a:p>
                      <a:r>
                        <a:rPr sz="1400" b="1">
                          <a:solidFill>
                            <a:srgbClr val="00323F"/>
                          </a:solidFill>
                          <a:latin typeface="+mn-lt"/>
                        </a:rPr>
                        <a:t>Exclusión de IVA (art. 12)</a:t>
                      </a:r>
                    </a:p>
                  </a:txBody>
                  <a:tcPr anchor="ctr">
                    <a:solidFill>
                      <a:srgbClr val="F4F6F8"/>
                    </a:solidFill>
                  </a:tcPr>
                </a:tc>
                <a:tc>
                  <a:txBody>
                    <a:bodyPr/>
                    <a:lstStyle/>
                    <a:p>
                      <a:r>
                        <a:rPr sz="1400" b="0">
                          <a:solidFill>
                            <a:srgbClr val="595959"/>
                          </a:solidFill>
                          <a:latin typeface="+mn-lt"/>
                        </a:rPr>
                        <a:t>Equipos y servicios de esos proyectos</a:t>
                      </a:r>
                    </a:p>
                  </a:txBody>
                  <a:tcPr anchor="ctr">
                    <a:solidFill>
                      <a:srgbClr val="F4F6F8"/>
                    </a:solidFill>
                  </a:tcPr>
                </a:tc>
                <a:tc>
                  <a:txBody>
                    <a:bodyPr/>
                    <a:lstStyle/>
                    <a:p>
                      <a:r>
                        <a:rPr sz="1400" b="0">
                          <a:solidFill>
                            <a:srgbClr val="595959"/>
                          </a:solidFill>
                          <a:latin typeface="+mn-lt"/>
                        </a:rPr>
                        <a:t>UPME</a:t>
                      </a:r>
                    </a:p>
                  </a:txBody>
                  <a:tcPr anchor="ctr">
                    <a:solidFill>
                      <a:srgbClr val="F4F6F8"/>
                    </a:solidFill>
                  </a:tcPr>
                </a:tc>
                <a:extLst>
                  <a:ext uri="{0D108BD9-81ED-4DB2-BD59-A6C34878D82A}">
                    <a16:rowId xmlns:a16="http://schemas.microsoft.com/office/drawing/2014/main" val="10002"/>
                  </a:ext>
                </a:extLst>
              </a:tr>
              <a:tr h="548640">
                <a:tc>
                  <a:txBody>
                    <a:bodyPr/>
                    <a:lstStyle/>
                    <a:p>
                      <a:r>
                        <a:rPr sz="1400" b="1">
                          <a:solidFill>
                            <a:srgbClr val="00323F"/>
                          </a:solidFill>
                          <a:latin typeface="+mn-lt"/>
                        </a:rPr>
                        <a:t>Exención arancelaria (art. 13)</a:t>
                      </a:r>
                    </a:p>
                  </a:txBody>
                  <a:tcPr anchor="ctr">
                    <a:solidFill>
                      <a:srgbClr val="FFFFFF"/>
                    </a:solidFill>
                  </a:tcPr>
                </a:tc>
                <a:tc>
                  <a:txBody>
                    <a:bodyPr/>
                    <a:lstStyle/>
                    <a:p>
                      <a:r>
                        <a:rPr sz="1400" b="0">
                          <a:solidFill>
                            <a:srgbClr val="595959"/>
                          </a:solidFill>
                          <a:latin typeface="+mn-lt"/>
                        </a:rPr>
                        <a:t>Maquinaria importada para esos proyectos</a:t>
                      </a:r>
                    </a:p>
                  </a:txBody>
                  <a:tcPr anchor="ctr">
                    <a:solidFill>
                      <a:srgbClr val="FFFFFF"/>
                    </a:solidFill>
                  </a:tcPr>
                </a:tc>
                <a:tc>
                  <a:txBody>
                    <a:bodyPr/>
                    <a:lstStyle/>
                    <a:p>
                      <a:r>
                        <a:rPr sz="1400" b="0">
                          <a:solidFill>
                            <a:srgbClr val="595959"/>
                          </a:solidFill>
                          <a:latin typeface="+mn-lt"/>
                        </a:rPr>
                        <a:t>UPME</a:t>
                      </a:r>
                    </a:p>
                  </a:txBody>
                  <a:tcPr anchor="ctr">
                    <a:solidFill>
                      <a:srgbClr val="FFFFFF"/>
                    </a:solidFill>
                  </a:tcPr>
                </a:tc>
                <a:extLst>
                  <a:ext uri="{0D108BD9-81ED-4DB2-BD59-A6C34878D82A}">
                    <a16:rowId xmlns:a16="http://schemas.microsoft.com/office/drawing/2014/main" val="10003"/>
                  </a:ext>
                </a:extLst>
              </a:tr>
              <a:tr h="548640">
                <a:tc>
                  <a:txBody>
                    <a:bodyPr/>
                    <a:lstStyle/>
                    <a:p>
                      <a:r>
                        <a:rPr sz="1400" b="1">
                          <a:solidFill>
                            <a:srgbClr val="00323F"/>
                          </a:solidFill>
                          <a:latin typeface="+mn-lt"/>
                        </a:rPr>
                        <a:t>Depreciación acelerada (art. 14)</a:t>
                      </a:r>
                    </a:p>
                  </a:txBody>
                  <a:tcPr anchor="ctr">
                    <a:solidFill>
                      <a:srgbClr val="F4F6F8"/>
                    </a:solidFill>
                  </a:tcPr>
                </a:tc>
                <a:tc>
                  <a:txBody>
                    <a:bodyPr/>
                    <a:lstStyle/>
                    <a:p>
                      <a:r>
                        <a:rPr sz="1400" b="0">
                          <a:solidFill>
                            <a:srgbClr val="595959"/>
                          </a:solidFill>
                          <a:latin typeface="+mn-lt"/>
                        </a:rPr>
                        <a:t>Activos de esos proyectos</a:t>
                      </a:r>
                    </a:p>
                  </a:txBody>
                  <a:tcPr anchor="ctr">
                    <a:solidFill>
                      <a:srgbClr val="F4F6F8"/>
                    </a:solidFill>
                  </a:tcPr>
                </a:tc>
                <a:tc>
                  <a:txBody>
                    <a:bodyPr/>
                    <a:lstStyle/>
                    <a:p>
                      <a:r>
                        <a:rPr sz="1400" b="0">
                          <a:solidFill>
                            <a:srgbClr val="595959"/>
                          </a:solidFill>
                          <a:latin typeface="+mn-lt"/>
                        </a:rPr>
                        <a:t>UPME</a:t>
                      </a:r>
                    </a:p>
                  </a:txBody>
                  <a:tcPr anchor="ctr">
                    <a:solidFill>
                      <a:srgbClr val="F4F6F8"/>
                    </a:solidFill>
                  </a:tcPr>
                </a:tc>
                <a:extLst>
                  <a:ext uri="{0D108BD9-81ED-4DB2-BD59-A6C34878D82A}">
                    <a16:rowId xmlns:a16="http://schemas.microsoft.com/office/drawing/2014/main" val="10004"/>
                  </a:ext>
                </a:extLst>
              </a:tr>
              <a:tr h="548640">
                <a:tc>
                  <a:txBody>
                    <a:bodyPr/>
                    <a:lstStyle/>
                    <a:p>
                      <a:r>
                        <a:rPr sz="1400" b="1">
                          <a:solidFill>
                            <a:srgbClr val="00323F"/>
                          </a:solidFill>
                          <a:latin typeface="+mn-lt"/>
                        </a:rPr>
                        <a:t>Descuento de renta (art. 255 E.T.)</a:t>
                      </a:r>
                    </a:p>
                  </a:txBody>
                  <a:tcPr anchor="ctr">
                    <a:solidFill>
                      <a:srgbClr val="FFFFFF"/>
                    </a:solidFill>
                  </a:tcPr>
                </a:tc>
                <a:tc>
                  <a:txBody>
                    <a:bodyPr/>
                    <a:lstStyle/>
                    <a:p>
                      <a:r>
                        <a:rPr sz="1400" b="0">
                          <a:solidFill>
                            <a:srgbClr val="595959"/>
                          </a:solidFill>
                          <a:latin typeface="+mn-lt"/>
                        </a:rPr>
                        <a:t>Control y mejoramiento del medio ambiente</a:t>
                      </a:r>
                    </a:p>
                  </a:txBody>
                  <a:tcPr anchor="ctr">
                    <a:solidFill>
                      <a:srgbClr val="FFFFFF"/>
                    </a:solidFill>
                  </a:tcPr>
                </a:tc>
                <a:tc>
                  <a:txBody>
                    <a:bodyPr/>
                    <a:lstStyle/>
                    <a:p>
                      <a:r>
                        <a:rPr sz="1400" b="0" dirty="0" err="1">
                          <a:solidFill>
                            <a:srgbClr val="595959"/>
                          </a:solidFill>
                          <a:latin typeface="+mn-lt"/>
                        </a:rPr>
                        <a:t>Autoridad</a:t>
                      </a:r>
                      <a:r>
                        <a:rPr sz="1400" b="0" dirty="0">
                          <a:solidFill>
                            <a:srgbClr val="595959"/>
                          </a:solidFill>
                          <a:latin typeface="+mn-lt"/>
                        </a:rPr>
                        <a:t> </a:t>
                      </a:r>
                      <a:r>
                        <a:rPr sz="1400" b="0" dirty="0" err="1">
                          <a:solidFill>
                            <a:srgbClr val="595959"/>
                          </a:solidFill>
                          <a:latin typeface="+mn-lt"/>
                        </a:rPr>
                        <a:t>ambiental</a:t>
                      </a:r>
                      <a:endParaRPr sz="1400" b="0" dirty="0">
                        <a:solidFill>
                          <a:srgbClr val="595959"/>
                        </a:solidFill>
                        <a:latin typeface="+mn-lt"/>
                      </a:endParaRPr>
                    </a:p>
                  </a:txBody>
                  <a:tcPr anchor="ctr">
                    <a:solidFill>
                      <a:srgbClr val="FFFFFF"/>
                    </a:solidFill>
                  </a:tcPr>
                </a:tc>
                <a:extLst>
                  <a:ext uri="{0D108BD9-81ED-4DB2-BD59-A6C34878D82A}">
                    <a16:rowId xmlns:a16="http://schemas.microsoft.com/office/drawing/2014/main" val="10005"/>
                  </a:ext>
                </a:extLst>
              </a:tr>
            </a:tbl>
          </a:graphicData>
        </a:graphic>
      </p:graphicFrame>
      <p:sp>
        <p:nvSpPr>
          <p:cNvPr id="11" name="Rounded Rectangle 10"/>
          <p:cNvSpPr/>
          <p:nvPr/>
        </p:nvSpPr>
        <p:spPr>
          <a:xfrm>
            <a:off x="914400" y="5257800"/>
            <a:ext cx="10332720" cy="640080"/>
          </a:xfrm>
          <a:prstGeom prst="roundRect">
            <a:avLst>
              <a:gd name="adj" fmla="val 8000"/>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88720" y="5257800"/>
            <a:ext cx="9875520" cy="640080"/>
          </a:xfrm>
          <a:prstGeom prst="rect">
            <a:avLst/>
          </a:prstGeom>
          <a:noFill/>
        </p:spPr>
        <p:txBody>
          <a:bodyPr wrap="square" lIns="45720" rIns="45720" anchor="ctr">
            <a:spAutoFit/>
          </a:bodyPr>
          <a:lstStyle/>
          <a:p>
            <a:pPr algn="l">
              <a:spcAft>
                <a:spcPts val="400"/>
              </a:spcAft>
            </a:pPr>
            <a:r>
              <a:rPr sz="1600" b="1" i="0">
                <a:solidFill>
                  <a:srgbClr val="088A3A"/>
                </a:solidFill>
                <a:latin typeface="+mn-lt"/>
              </a:rPr>
              <a:t>Clave: </a:t>
            </a:r>
            <a:r>
              <a:rPr sz="1600" b="0" i="0">
                <a:solidFill>
                  <a:srgbClr val="00323F"/>
                </a:solidFill>
                <a:latin typeface="+mn-lt"/>
              </a:rPr>
              <a:t>el beneficio exige línea base y ahorro demostrados con medición.</a:t>
            </a:r>
          </a:p>
        </p:txBody>
      </p:sp>
      <p:sp>
        <p:nvSpPr>
          <p:cNvPr id="13"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Ley 1715/2014 modificada por Ley 2099/2021. Verificar porcentajes vigentes.</a:t>
            </a:r>
          </a:p>
        </p:txBody>
      </p:sp>
    </p:spTree>
    <p:extLst>
      <p:ext uri="{BB962C8B-B14F-4D97-AF65-F5344CB8AC3E}">
        <p14:creationId xmlns:p14="http://schemas.microsoft.com/office/powerpoint/2010/main" val="26500665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2697480"/>
            <a:ext cx="10515600" cy="1737360"/>
          </a:xfrm>
        </p:spPr>
        <p:txBody>
          <a:bodyPr anchor="t"/>
          <a:lstStyle/>
          <a:p>
            <a:r>
              <a:rPr sz="5400"/>
              <a:t>Casos</a:t>
            </a:r>
          </a:p>
        </p:txBody>
      </p:sp>
      <p:sp>
        <p:nvSpPr>
          <p:cNvPr id="3" name="TextBox 2"/>
          <p:cNvSpPr txBox="1"/>
          <p:nvPr/>
        </p:nvSpPr>
        <p:spPr>
          <a:xfrm>
            <a:off x="914400" y="2148840"/>
            <a:ext cx="7315200" cy="457200"/>
          </a:xfrm>
          <a:prstGeom prst="rect">
            <a:avLst/>
          </a:prstGeom>
          <a:noFill/>
        </p:spPr>
        <p:txBody>
          <a:bodyPr wrap="square" anchor="t">
            <a:spAutoFit/>
          </a:bodyPr>
          <a:lstStyle/>
          <a:p>
            <a:pPr algn="l"/>
            <a:r>
              <a:rPr sz="2000" b="1" i="0">
                <a:solidFill>
                  <a:srgbClr val="088A3A"/>
                </a:solidFill>
                <a:latin typeface="+mn-lt"/>
              </a:rPr>
              <a:t>Parte 5</a:t>
            </a:r>
            <a:r>
              <a:rPr sz="2000" b="0" i="0">
                <a:solidFill>
                  <a:srgbClr val="595959"/>
                </a:solidFill>
                <a:latin typeface="+mn-lt"/>
              </a:rPr>
              <a:t>  ·  25 min</a:t>
            </a:r>
          </a:p>
        </p:txBody>
      </p:sp>
      <p:sp>
        <p:nvSpPr>
          <p:cNvPr id="4" name="TextBox 3"/>
          <p:cNvSpPr txBox="1"/>
          <p:nvPr/>
        </p:nvSpPr>
        <p:spPr>
          <a:xfrm>
            <a:off x="914400" y="4434840"/>
            <a:ext cx="9601200" cy="457200"/>
          </a:xfrm>
          <a:prstGeom prst="rect">
            <a:avLst/>
          </a:prstGeom>
          <a:noFill/>
        </p:spPr>
        <p:txBody>
          <a:bodyPr wrap="square" anchor="t">
            <a:spAutoFit/>
          </a:bodyPr>
          <a:lstStyle/>
          <a:p>
            <a:pPr algn="l"/>
            <a:r>
              <a:rPr sz="1800" b="0" i="0">
                <a:solidFill>
                  <a:srgbClr val="595959"/>
                </a:solidFill>
                <a:latin typeface="+mn-lt"/>
              </a:rPr>
              <a:t>Ecopetrol y REDD+ en el Pacífico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0560D06-47DA-49A1-844D-2BF48175E1B7}"/>
              </a:ext>
            </a:extLst>
          </p:cNvPr>
          <p:cNvSpPr txBox="1"/>
          <p:nvPr/>
        </p:nvSpPr>
        <p:spPr>
          <a:xfrm>
            <a:off x="991206"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GEI: meta −1,6 Mt; logrado −2,25 Mt (2020–2024)</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12" name="TextBox 11">
            <a:extLst>
              <a:ext uri="{FF2B5EF4-FFF2-40B4-BE49-F238E27FC236}">
                <a16:creationId xmlns:a16="http://schemas.microsoft.com/office/drawing/2014/main" id="{CF8272BD-AEDC-4472-A1B0-6C636288EAF2}"/>
              </a:ext>
            </a:extLst>
          </p:cNvPr>
          <p:cNvSpPr txBox="1"/>
          <p:nvPr/>
        </p:nvSpPr>
        <p:spPr>
          <a:xfrm>
            <a:off x="982609"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2024</a:t>
            </a:r>
            <a:endParaRPr lang="ru-RU" sz="1667" b="1">
              <a:solidFill>
                <a:srgbClr val="04CF74"/>
              </a:solidFill>
              <a:latin typeface="+mn-lt" panose="020B0604020202020204" pitchFamily="34" charset="0"/>
            </a:endParaRPr>
          </a:p>
        </p:txBody>
      </p:sp>
      <p:sp>
        <p:nvSpPr>
          <p:cNvPr id="20" name="TextBox 19">
            <a:extLst>
              <a:ext uri="{FF2B5EF4-FFF2-40B4-BE49-F238E27FC236}">
                <a16:creationId xmlns:a16="http://schemas.microsoft.com/office/drawing/2014/main" id="{991C7038-9352-4A46-A3C3-ECEFBA55517A}"/>
              </a:ext>
            </a:extLst>
          </p:cNvPr>
          <p:cNvSpPr txBox="1"/>
          <p:nvPr/>
        </p:nvSpPr>
        <p:spPr>
          <a:xfrm>
            <a:off x="3083540"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Metano −45 % · 900 MW renovables</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21" name="TextBox 20">
            <a:extLst>
              <a:ext uri="{FF2B5EF4-FFF2-40B4-BE49-F238E27FC236}">
                <a16:creationId xmlns:a16="http://schemas.microsoft.com/office/drawing/2014/main" id="{6802060A-7280-4CAD-8FFA-C83CE0D5FC13}"/>
              </a:ext>
            </a:extLst>
          </p:cNvPr>
          <p:cNvSpPr txBox="1"/>
          <p:nvPr/>
        </p:nvSpPr>
        <p:spPr>
          <a:xfrm>
            <a:off x="3074943"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2025</a:t>
            </a:r>
            <a:endParaRPr lang="ru-RU" sz="1667" b="1">
              <a:solidFill>
                <a:srgbClr val="04CF74"/>
              </a:solidFill>
              <a:latin typeface="+mn-lt" panose="020B0604020202020204" pitchFamily="34" charset="0"/>
            </a:endParaRPr>
          </a:p>
        </p:txBody>
      </p:sp>
      <p:sp>
        <p:nvSpPr>
          <p:cNvPr id="34" name="TextBox 33">
            <a:extLst>
              <a:ext uri="{FF2B5EF4-FFF2-40B4-BE49-F238E27FC236}">
                <a16:creationId xmlns:a16="http://schemas.microsoft.com/office/drawing/2014/main" id="{F6FAD7C6-B2F7-4EDD-8EFE-4C3842107AE2}"/>
              </a:ext>
            </a:extLst>
          </p:cNvPr>
          <p:cNvSpPr txBox="1"/>
          <p:nvPr/>
        </p:nvSpPr>
        <p:spPr>
          <a:xfrm>
            <a:off x="5176289"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GEI −25 % · metano −55 % · cero quemas rutinarias</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35" name="TextBox 34">
            <a:extLst>
              <a:ext uri="{FF2B5EF4-FFF2-40B4-BE49-F238E27FC236}">
                <a16:creationId xmlns:a16="http://schemas.microsoft.com/office/drawing/2014/main" id="{D6A05C34-2F30-4872-988B-F4F733B2C832}"/>
              </a:ext>
            </a:extLst>
          </p:cNvPr>
          <p:cNvSpPr txBox="1"/>
          <p:nvPr/>
        </p:nvSpPr>
        <p:spPr>
          <a:xfrm>
            <a:off x="5167692"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2030</a:t>
            </a:r>
            <a:endParaRPr lang="ru-RU" sz="1667" b="1">
              <a:solidFill>
                <a:srgbClr val="04CF74"/>
              </a:solidFill>
              <a:latin typeface="+mn-lt" panose="020B0604020202020204" pitchFamily="34" charset="0"/>
            </a:endParaRPr>
          </a:p>
        </p:txBody>
      </p:sp>
      <p:sp>
        <p:nvSpPr>
          <p:cNvPr id="48" name="TextBox 47">
            <a:extLst>
              <a:ext uri="{FF2B5EF4-FFF2-40B4-BE49-F238E27FC236}">
                <a16:creationId xmlns:a16="http://schemas.microsoft.com/office/drawing/2014/main" id="{CC07686E-D477-4025-BA97-4FC26CB9D53C}"/>
              </a:ext>
            </a:extLst>
          </p:cNvPr>
          <p:cNvSpPr txBox="1"/>
          <p:nvPr/>
        </p:nvSpPr>
        <p:spPr>
          <a:xfrm>
            <a:off x="7269550"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Agua neutralidad</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49" name="TextBox 48">
            <a:extLst>
              <a:ext uri="{FF2B5EF4-FFF2-40B4-BE49-F238E27FC236}">
                <a16:creationId xmlns:a16="http://schemas.microsoft.com/office/drawing/2014/main" id="{F61318FF-889C-4EED-90DE-09ADFE78ACCF}"/>
              </a:ext>
            </a:extLst>
          </p:cNvPr>
          <p:cNvSpPr txBox="1"/>
          <p:nvPr/>
        </p:nvSpPr>
        <p:spPr>
          <a:xfrm>
            <a:off x="7260954"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2045</a:t>
            </a:r>
            <a:endParaRPr lang="ru-RU" sz="1667" b="1">
              <a:solidFill>
                <a:srgbClr val="04CF74"/>
              </a:solidFill>
              <a:latin typeface="+mn-lt" panose="020B0604020202020204" pitchFamily="34" charset="0"/>
            </a:endParaRPr>
          </a:p>
        </p:txBody>
      </p:sp>
      <p:sp>
        <p:nvSpPr>
          <p:cNvPr id="55" name="TextBox 54">
            <a:extLst>
              <a:ext uri="{FF2B5EF4-FFF2-40B4-BE49-F238E27FC236}">
                <a16:creationId xmlns:a16="http://schemas.microsoft.com/office/drawing/2014/main" id="{FA0AE620-10C2-4A49-AE10-7F80513256E0}"/>
              </a:ext>
            </a:extLst>
          </p:cNvPr>
          <p:cNvSpPr txBox="1"/>
          <p:nvPr/>
        </p:nvSpPr>
        <p:spPr>
          <a:xfrm>
            <a:off x="9362299" y="5043413"/>
            <a:ext cx="1838495" cy="980718"/>
          </a:xfrm>
          <a:prstGeom prst="rect">
            <a:avLst/>
          </a:prstGeom>
          <a:noFill/>
        </p:spPr>
        <p:txBody>
          <a:bodyPr wrap="square" rtlCol="0">
            <a:spAutoFit/>
          </a:bodyPr>
          <a:lstStyle/>
          <a:p>
            <a:pPr algn="ctr" defTabSz="239976">
              <a:lnSpc>
                <a:spcPct val="150000"/>
              </a:lnSpc>
            </a:pPr>
            <a:r>
              <a:rPr lang="en-US" sz="1300">
                <a:solidFill>
                  <a:srgbClr val="00323F"/>
                </a:solidFill>
                <a:latin typeface="+mn-lt" panose="020B0604020202020204" pitchFamily="34" charset="0"/>
                <a:ea typeface="Roboto Light" panose="02000000000000000000" pitchFamily="2" charset="0"/>
              </a:rPr>
              <a:t>Cero emisiones netas, alcances 1 y 2</a:t>
            </a:r>
            <a:endParaRPr lang="ru-RU" sz="1333" spc="-100">
              <a:solidFill>
                <a:schemeClr val="tx1">
                  <a:lumMod val="65000"/>
                  <a:lumOff val="35000"/>
                </a:schemeClr>
              </a:solidFill>
              <a:latin typeface="+mn-lt" panose="020B0604020202020204" pitchFamily="34" charset="0"/>
              <a:ea typeface="Roboto Light" panose="02000000000000000000" pitchFamily="2" charset="0"/>
            </a:endParaRPr>
          </a:p>
        </p:txBody>
      </p:sp>
      <p:sp>
        <p:nvSpPr>
          <p:cNvPr id="56" name="TextBox 55">
            <a:extLst>
              <a:ext uri="{FF2B5EF4-FFF2-40B4-BE49-F238E27FC236}">
                <a16:creationId xmlns:a16="http://schemas.microsoft.com/office/drawing/2014/main" id="{9B15FE90-05B7-4481-A412-F2E20D2A8C2B}"/>
              </a:ext>
            </a:extLst>
          </p:cNvPr>
          <p:cNvSpPr txBox="1"/>
          <p:nvPr/>
        </p:nvSpPr>
        <p:spPr>
          <a:xfrm>
            <a:off x="9353703" y="4756222"/>
            <a:ext cx="1855688" cy="348878"/>
          </a:xfrm>
          <a:prstGeom prst="rect">
            <a:avLst/>
          </a:prstGeom>
          <a:noFill/>
        </p:spPr>
        <p:txBody>
          <a:bodyPr wrap="square" rtlCol="0">
            <a:spAutoFit/>
          </a:bodyPr>
          <a:lstStyle/>
          <a:p>
            <a:pPr algn="ctr"/>
            <a:r>
              <a:rPr lang="en-US" sz="2000" b="1">
                <a:solidFill>
                  <a:srgbClr val="04CF74"/>
                </a:solidFill>
                <a:latin typeface="+mn-lt" panose="020B0604020202020204" pitchFamily="34" charset="0"/>
              </a:rPr>
              <a:t>2050</a:t>
            </a:r>
            <a:endParaRPr lang="ru-RU" sz="1667" b="1">
              <a:solidFill>
                <a:srgbClr val="04CF74"/>
              </a:solidFill>
              <a:latin typeface="+mn-lt" panose="020B0604020202020204" pitchFamily="34" charset="0"/>
            </a:endParaRPr>
          </a:p>
        </p:txBody>
      </p:sp>
      <p:sp>
        <p:nvSpPr>
          <p:cNvPr id="29" name="Прямоугольник: скругленные углы 28">
            <a:extLst>
              <a:ext uri="{FF2B5EF4-FFF2-40B4-BE49-F238E27FC236}">
                <a16:creationId xmlns:a16="http://schemas.microsoft.com/office/drawing/2014/main" id="{3123EA43-71F1-462F-B009-3C3AEBE12F5C}"/>
              </a:ext>
            </a:extLst>
          </p:cNvPr>
          <p:cNvSpPr/>
          <p:nvPr/>
        </p:nvSpPr>
        <p:spPr>
          <a:xfrm>
            <a:off x="781870" y="4190353"/>
            <a:ext cx="10628260" cy="395790"/>
          </a:xfrm>
          <a:prstGeom prst="roundRect">
            <a:avLst>
              <a:gd name="adj" fmla="val 50000"/>
            </a:avLst>
          </a:prstGeom>
          <a:solidFill>
            <a:srgbClr val="04CF74"/>
          </a:solidFill>
          <a:ln w="1905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200"/>
          </a:p>
        </p:txBody>
      </p:sp>
      <p:sp>
        <p:nvSpPr>
          <p:cNvPr id="30" name="Овал 29">
            <a:extLst>
              <a:ext uri="{FF2B5EF4-FFF2-40B4-BE49-F238E27FC236}">
                <a16:creationId xmlns:a16="http://schemas.microsoft.com/office/drawing/2014/main" id="{397EED49-9132-4FFC-8C99-385C11598C77}"/>
              </a:ext>
            </a:extLst>
          </p:cNvPr>
          <p:cNvSpPr/>
          <p:nvPr/>
        </p:nvSpPr>
        <p:spPr>
          <a:xfrm>
            <a:off x="1810038"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31" name="Овал 30">
            <a:extLst>
              <a:ext uri="{FF2B5EF4-FFF2-40B4-BE49-F238E27FC236}">
                <a16:creationId xmlns:a16="http://schemas.microsoft.com/office/drawing/2014/main" id="{4ADD9E66-03F9-4806-BF1D-131677FB16C5}"/>
              </a:ext>
            </a:extLst>
          </p:cNvPr>
          <p:cNvSpPr/>
          <p:nvPr/>
        </p:nvSpPr>
        <p:spPr>
          <a:xfrm>
            <a:off x="3901860"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33" name="Овал 32">
            <a:extLst>
              <a:ext uri="{FF2B5EF4-FFF2-40B4-BE49-F238E27FC236}">
                <a16:creationId xmlns:a16="http://schemas.microsoft.com/office/drawing/2014/main" id="{7161E021-2FB5-4461-B32E-E93E2C23B9B6}"/>
              </a:ext>
            </a:extLst>
          </p:cNvPr>
          <p:cNvSpPr/>
          <p:nvPr/>
        </p:nvSpPr>
        <p:spPr>
          <a:xfrm>
            <a:off x="5994705"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36" name="Овал 35">
            <a:extLst>
              <a:ext uri="{FF2B5EF4-FFF2-40B4-BE49-F238E27FC236}">
                <a16:creationId xmlns:a16="http://schemas.microsoft.com/office/drawing/2014/main" id="{3540F45E-15C0-4C9C-98E2-F9E20928EDB1}"/>
              </a:ext>
            </a:extLst>
          </p:cNvPr>
          <p:cNvSpPr/>
          <p:nvPr/>
        </p:nvSpPr>
        <p:spPr>
          <a:xfrm>
            <a:off x="8088384"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38" name="Овал 37">
            <a:extLst>
              <a:ext uri="{FF2B5EF4-FFF2-40B4-BE49-F238E27FC236}">
                <a16:creationId xmlns:a16="http://schemas.microsoft.com/office/drawing/2014/main" id="{4646179E-5953-48EC-94F8-F8E62D69F0AF}"/>
              </a:ext>
            </a:extLst>
          </p:cNvPr>
          <p:cNvSpPr/>
          <p:nvPr/>
        </p:nvSpPr>
        <p:spPr>
          <a:xfrm>
            <a:off x="10181133" y="4288815"/>
            <a:ext cx="198865" cy="19886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00"/>
          </a:p>
        </p:txBody>
      </p:sp>
      <p:sp>
        <p:nvSpPr>
          <p:cNvPr id="26" name="TextBox 25">
            <a:extLst>
              <a:ext uri="{FF2B5EF4-FFF2-40B4-BE49-F238E27FC236}">
                <a16:creationId xmlns:a16="http://schemas.microsoft.com/office/drawing/2014/main" id="{A86976CE-FFBB-4468-B0BE-0C0BADDC1FFD}"/>
              </a:ext>
            </a:extLst>
          </p:cNvPr>
          <p:cNvSpPr txBox="1"/>
          <p:nvPr/>
        </p:nvSpPr>
        <p:spPr>
          <a:xfrm>
            <a:off x="838139" y="365760"/>
            <a:ext cx="10515600" cy="1188720"/>
          </a:xfrm>
          <a:prstGeom prst="rect">
            <a:avLst/>
          </a:prstGeom>
          <a:noFill/>
        </p:spPr>
        <p:txBody>
          <a:bodyPr wrap="square" rtlCol="0" anchor="ctr">
            <a:spAutoFit/>
          </a:bodyPr>
          <a:lstStyle/>
          <a:p>
            <a:pPr algn="l"/>
            <a:r>
              <a:rPr lang="en-US" sz="3600" b="0" i="0" dirty="0">
                <a:solidFill>
                  <a:schemeClr val="tx1"/>
                </a:solidFill>
                <a:latin typeface="+mj-lt" panose="020B0604020202020204" pitchFamily="34" charset="0"/>
                <a:ea typeface="Roboto Black" panose="02000000000000000000" pitchFamily="2" charset="0"/>
              </a:rPr>
              <a:t>Hoja de </a:t>
            </a:r>
            <a:r>
              <a:rPr lang="en-US" sz="3600" b="0" i="0" dirty="0" err="1">
                <a:solidFill>
                  <a:schemeClr val="tx1"/>
                </a:solidFill>
                <a:latin typeface="+mj-lt" panose="020B0604020202020204" pitchFamily="34" charset="0"/>
                <a:ea typeface="Roboto Black" panose="02000000000000000000" pitchFamily="2" charset="0"/>
              </a:rPr>
              <a:t>ruta</a:t>
            </a:r>
            <a:r>
              <a:rPr lang="en-US" sz="3600" b="0" i="0" dirty="0">
                <a:solidFill>
                  <a:schemeClr val="tx1"/>
                </a:solidFill>
                <a:latin typeface="+mj-lt" panose="020B0604020202020204" pitchFamily="34" charset="0"/>
                <a:ea typeface="Roboto Black" panose="02000000000000000000" pitchFamily="2" charset="0"/>
              </a:rPr>
              <a:t> de </a:t>
            </a:r>
            <a:r>
              <a:rPr lang="en-US" sz="3600" b="0" i="0" dirty="0" err="1">
                <a:solidFill>
                  <a:schemeClr val="tx1"/>
                </a:solidFill>
                <a:latin typeface="+mj-lt" panose="020B0604020202020204" pitchFamily="34" charset="0"/>
                <a:ea typeface="Roboto Black" panose="02000000000000000000" pitchFamily="2" charset="0"/>
              </a:rPr>
              <a:t>descarbonización</a:t>
            </a:r>
            <a:r>
              <a:rPr lang="en-US" sz="3600" b="0" i="0" dirty="0">
                <a:solidFill>
                  <a:schemeClr val="tx1"/>
                </a:solidFill>
                <a:latin typeface="+mj-lt" panose="020B0604020202020204" pitchFamily="34" charset="0"/>
                <a:ea typeface="Roboto Black" panose="02000000000000000000" pitchFamily="2" charset="0"/>
              </a:rPr>
              <a:t> de Ecopetrol</a:t>
            </a:r>
            <a:endParaRPr lang="ru-RU" sz="3000" b="1" dirty="0">
              <a:solidFill>
                <a:srgbClr val="04CF74"/>
              </a:solidFill>
              <a:latin typeface="+mj-lt" panose="020B0604020202020204" pitchFamily="34" charset="0"/>
              <a:ea typeface="Roboto Black" panose="02000000000000000000" pitchFamily="2" charset="0"/>
            </a:endParaRPr>
          </a:p>
        </p:txBody>
      </p:sp>
      <p:sp>
        <p:nvSpPr>
          <p:cNvPr id="69" name="Oval 68"/>
          <p:cNvSpPr/>
          <p:nvPr/>
        </p:nvSpPr>
        <p:spPr>
          <a:xfrm>
            <a:off x="1224349"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0" name="Picture 69" descr="s12_154.png"/>
          <p:cNvPicPr>
            <a:picLocks noChangeAspect="1"/>
          </p:cNvPicPr>
          <p:nvPr/>
        </p:nvPicPr>
        <p:blipFill>
          <a:blip r:embed="rId3"/>
          <a:stretch>
            <a:fillRect/>
          </a:stretch>
        </p:blipFill>
        <p:spPr>
          <a:xfrm>
            <a:off x="1498669" y="2480989"/>
            <a:ext cx="822960" cy="822960"/>
          </a:xfrm>
          <a:prstGeom prst="rect">
            <a:avLst/>
          </a:prstGeom>
        </p:spPr>
      </p:pic>
      <p:sp>
        <p:nvSpPr>
          <p:cNvPr id="71" name="Oval 70"/>
          <p:cNvSpPr/>
          <p:nvPr/>
        </p:nvSpPr>
        <p:spPr>
          <a:xfrm>
            <a:off x="3316494"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2" name="Picture 71" descr="s12_148.png"/>
          <p:cNvPicPr>
            <a:picLocks noChangeAspect="1"/>
          </p:cNvPicPr>
          <p:nvPr/>
        </p:nvPicPr>
        <p:blipFill>
          <a:blip r:embed="rId4"/>
          <a:stretch>
            <a:fillRect/>
          </a:stretch>
        </p:blipFill>
        <p:spPr>
          <a:xfrm>
            <a:off x="3590813" y="2480989"/>
            <a:ext cx="822960" cy="822960"/>
          </a:xfrm>
          <a:prstGeom prst="rect">
            <a:avLst/>
          </a:prstGeom>
        </p:spPr>
      </p:pic>
      <p:sp>
        <p:nvSpPr>
          <p:cNvPr id="73" name="Oval 72"/>
          <p:cNvSpPr/>
          <p:nvPr/>
        </p:nvSpPr>
        <p:spPr>
          <a:xfrm>
            <a:off x="5409661"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4" name="Picture 73" descr="s11_156.png"/>
          <p:cNvPicPr>
            <a:picLocks noChangeAspect="1"/>
          </p:cNvPicPr>
          <p:nvPr/>
        </p:nvPicPr>
        <p:blipFill>
          <a:blip r:embed="rId5"/>
          <a:stretch>
            <a:fillRect/>
          </a:stretch>
        </p:blipFill>
        <p:spPr>
          <a:xfrm>
            <a:off x="5683980" y="2480989"/>
            <a:ext cx="822960" cy="822960"/>
          </a:xfrm>
          <a:prstGeom prst="rect">
            <a:avLst/>
          </a:prstGeom>
        </p:spPr>
      </p:pic>
      <p:sp>
        <p:nvSpPr>
          <p:cNvPr id="75" name="Oval 74"/>
          <p:cNvSpPr/>
          <p:nvPr/>
        </p:nvSpPr>
        <p:spPr>
          <a:xfrm>
            <a:off x="7503663"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6" name="Picture 75" descr="s14_44.png"/>
          <p:cNvPicPr>
            <a:picLocks noChangeAspect="1"/>
          </p:cNvPicPr>
          <p:nvPr/>
        </p:nvPicPr>
        <p:blipFill>
          <a:blip r:embed="rId6"/>
          <a:stretch>
            <a:fillRect/>
          </a:stretch>
        </p:blipFill>
        <p:spPr>
          <a:xfrm>
            <a:off x="7777983" y="2480989"/>
            <a:ext cx="822960" cy="822960"/>
          </a:xfrm>
          <a:prstGeom prst="rect">
            <a:avLst/>
          </a:prstGeom>
        </p:spPr>
      </p:pic>
      <p:sp>
        <p:nvSpPr>
          <p:cNvPr id="77" name="Oval 76"/>
          <p:cNvSpPr/>
          <p:nvPr/>
        </p:nvSpPr>
        <p:spPr>
          <a:xfrm>
            <a:off x="9596735" y="2206669"/>
            <a:ext cx="1371600" cy="1371600"/>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8" name="Picture 77" descr="s14_46.png"/>
          <p:cNvPicPr>
            <a:picLocks noChangeAspect="1"/>
          </p:cNvPicPr>
          <p:nvPr/>
        </p:nvPicPr>
        <p:blipFill>
          <a:blip r:embed="rId7"/>
          <a:stretch>
            <a:fillRect/>
          </a:stretch>
        </p:blipFill>
        <p:spPr>
          <a:xfrm>
            <a:off x="9871055" y="2480989"/>
            <a:ext cx="822960" cy="822960"/>
          </a:xfrm>
          <a:prstGeom prst="rect">
            <a:avLst/>
          </a:prstGeom>
        </p:spPr>
      </p:pic>
    </p:spTree>
    <p:extLst>
      <p:ext uri="{BB962C8B-B14F-4D97-AF65-F5344CB8AC3E}">
        <p14:creationId xmlns:p14="http://schemas.microsoft.com/office/powerpoint/2010/main" val="189039470"/>
      </p:ext>
    </p:extLst>
  </p:cSld>
  <p:clrMapOvr>
    <a:masterClrMapping/>
  </p:clrMapOvr>
  <mc:AlternateContent xmlns:mc="http://schemas.openxmlformats.org/markup-compatibility/2006" xmlns:p14="http://schemas.microsoft.com/office/powerpoint/2010/main">
    <mc:Choice Requires="p14">
      <p:transition p14:dur="1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left)">
                                      <p:cBhvr>
                                        <p:cTn id="10" dur="1000"/>
                                        <p:tgtEl>
                                          <p:spTgt spid="29"/>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35" presetClass="path" presetSubtype="0" accel="50000" decel="50000" fill="hold" grpId="1" nodeType="withEffect">
                                  <p:stCondLst>
                                    <p:cond delay="1000"/>
                                  </p:stCondLst>
                                  <p:childTnLst>
                                    <p:animMotion origin="layout" path="M -0.13186 1.1418E-7 L 1.38889E-7 1.1418E-7 " pathEditMode="relative" rAng="0" ptsTypes="AA">
                                      <p:cBhvr>
                                        <p:cTn id="15" dur="1000" fill="hold"/>
                                        <p:tgtEl>
                                          <p:spTgt spid="30"/>
                                        </p:tgtEl>
                                        <p:attrNameLst>
                                          <p:attrName>ppt_x</p:attrName>
                                          <p:attrName>ppt_y</p:attrName>
                                        </p:attrNameLst>
                                      </p:cBhvr>
                                      <p:rCtr x="6589" y="0"/>
                                    </p:animMotion>
                                  </p:childTnLst>
                                </p:cTn>
                              </p:par>
                              <p:par>
                                <p:cTn id="16" presetID="10" presetClass="entr" presetSubtype="0" fill="hold" grpId="0" nodeType="withEffect">
                                  <p:stCondLst>
                                    <p:cond delay="150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childTnLst>
                                </p:cTn>
                              </p:par>
                              <p:par>
                                <p:cTn id="19" presetID="10" presetClass="entr" presetSubtype="0" fill="hold" grpId="0" nodeType="withEffect">
                                  <p:stCondLst>
                                    <p:cond delay="15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childTnLst>
                                </p:cTn>
                              </p:par>
                              <p:par>
                                <p:cTn id="22" presetID="10" presetClass="entr" presetSubtype="0" fill="hold" grpId="0" nodeType="withEffect">
                                  <p:stCondLst>
                                    <p:cond delay="150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35" presetClass="path" presetSubtype="0" accel="50000" decel="50000" fill="hold" grpId="1" nodeType="withEffect">
                                  <p:stCondLst>
                                    <p:cond delay="1500"/>
                                  </p:stCondLst>
                                  <p:childTnLst>
                                    <p:animMotion origin="layout" path="M -0.13186 1.1418E-7 L 1.38889E-7 1.1418E-7 " pathEditMode="relative" rAng="0" ptsTypes="AA">
                                      <p:cBhvr>
                                        <p:cTn id="26" dur="1000" fill="hold"/>
                                        <p:tgtEl>
                                          <p:spTgt spid="31"/>
                                        </p:tgtEl>
                                        <p:attrNameLst>
                                          <p:attrName>ppt_x</p:attrName>
                                          <p:attrName>ppt_y</p:attrName>
                                        </p:attrNameLst>
                                      </p:cBhvr>
                                      <p:rCtr x="6589" y="0"/>
                                    </p:animMotion>
                                  </p:childTnLst>
                                </p:cTn>
                              </p:par>
                              <p:par>
                                <p:cTn id="27" presetID="10" presetClass="entr" presetSubtype="0" fill="hold" grpId="0" nodeType="withEffect">
                                  <p:stCondLst>
                                    <p:cond delay="200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1000"/>
                                        <p:tgtEl>
                                          <p:spTgt spid="20"/>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1000"/>
                                        <p:tgtEl>
                                          <p:spTgt spid="21"/>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par>
                                <p:cTn id="36" presetID="35" presetClass="path" presetSubtype="0" accel="50000" decel="50000" fill="hold" grpId="1" nodeType="withEffect">
                                  <p:stCondLst>
                                    <p:cond delay="2000"/>
                                  </p:stCondLst>
                                  <p:childTnLst>
                                    <p:animMotion origin="layout" path="M -0.13186 1.1418E-7 L 1.38889E-7 1.1418E-7 " pathEditMode="relative" rAng="0" ptsTypes="AA">
                                      <p:cBhvr>
                                        <p:cTn id="37" dur="1000" fill="hold"/>
                                        <p:tgtEl>
                                          <p:spTgt spid="33"/>
                                        </p:tgtEl>
                                        <p:attrNameLst>
                                          <p:attrName>ppt_x</p:attrName>
                                          <p:attrName>ppt_y</p:attrName>
                                        </p:attrNameLst>
                                      </p:cBhvr>
                                      <p:rCtr x="6589" y="0"/>
                                    </p:animMotion>
                                  </p:childTnLst>
                                </p:cTn>
                              </p:par>
                              <p:par>
                                <p:cTn id="38" presetID="10" presetClass="entr" presetSubtype="0" fill="hold" grpId="0" nodeType="withEffect">
                                  <p:stCondLst>
                                    <p:cond delay="250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1000"/>
                                        <p:tgtEl>
                                          <p:spTgt spid="34"/>
                                        </p:tgtEl>
                                      </p:cBhvr>
                                    </p:animEffect>
                                  </p:childTnLst>
                                </p:cTn>
                              </p:par>
                              <p:par>
                                <p:cTn id="41" presetID="10" presetClass="entr" presetSubtype="0" fill="hold" grpId="0" nodeType="withEffect">
                                  <p:stCondLst>
                                    <p:cond delay="250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1000"/>
                                        <p:tgtEl>
                                          <p:spTgt spid="35"/>
                                        </p:tgtEl>
                                      </p:cBhvr>
                                    </p:animEffect>
                                  </p:childTnLst>
                                </p:cTn>
                              </p:par>
                              <p:par>
                                <p:cTn id="44" presetID="10" presetClass="entr" presetSubtype="0" fill="hold" grpId="0" nodeType="withEffect">
                                  <p:stCondLst>
                                    <p:cond delay="250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par>
                                <p:cTn id="47" presetID="35" presetClass="path" presetSubtype="0" accel="50000" decel="50000" fill="hold" grpId="1" nodeType="withEffect">
                                  <p:stCondLst>
                                    <p:cond delay="2500"/>
                                  </p:stCondLst>
                                  <p:childTnLst>
                                    <p:animMotion origin="layout" path="M -0.13186 1.1418E-7 L 1.38889E-7 1.1418E-7 " pathEditMode="relative" rAng="0" ptsTypes="AA">
                                      <p:cBhvr>
                                        <p:cTn id="48" dur="1000" fill="hold"/>
                                        <p:tgtEl>
                                          <p:spTgt spid="36"/>
                                        </p:tgtEl>
                                        <p:attrNameLst>
                                          <p:attrName>ppt_x</p:attrName>
                                          <p:attrName>ppt_y</p:attrName>
                                        </p:attrNameLst>
                                      </p:cBhvr>
                                      <p:rCtr x="6589" y="0"/>
                                    </p:animMotion>
                                  </p:childTnLst>
                                </p:cTn>
                              </p:par>
                              <p:par>
                                <p:cTn id="49" presetID="10" presetClass="entr" presetSubtype="0" fill="hold" grpId="0" nodeType="withEffect">
                                  <p:stCondLst>
                                    <p:cond delay="3000"/>
                                  </p:stCondLst>
                                  <p:childTnLst>
                                    <p:set>
                                      <p:cBhvr>
                                        <p:cTn id="50" dur="1" fill="hold">
                                          <p:stCondLst>
                                            <p:cond delay="0"/>
                                          </p:stCondLst>
                                        </p:cTn>
                                        <p:tgtEl>
                                          <p:spTgt spid="48"/>
                                        </p:tgtEl>
                                        <p:attrNameLst>
                                          <p:attrName>style.visibility</p:attrName>
                                        </p:attrNameLst>
                                      </p:cBhvr>
                                      <p:to>
                                        <p:strVal val="visible"/>
                                      </p:to>
                                    </p:set>
                                    <p:animEffect transition="in" filter="fade">
                                      <p:cBhvr>
                                        <p:cTn id="51" dur="1000"/>
                                        <p:tgtEl>
                                          <p:spTgt spid="48"/>
                                        </p:tgtEl>
                                      </p:cBhvr>
                                    </p:animEffect>
                                  </p:childTnLst>
                                </p:cTn>
                              </p:par>
                              <p:par>
                                <p:cTn id="52" presetID="10" presetClass="entr" presetSubtype="0" fill="hold" grpId="0" nodeType="withEffect">
                                  <p:stCondLst>
                                    <p:cond delay="300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1000"/>
                                        <p:tgtEl>
                                          <p:spTgt spid="49"/>
                                        </p:tgtEl>
                                      </p:cBhvr>
                                    </p:animEffect>
                                  </p:childTnLst>
                                </p:cTn>
                              </p:par>
                              <p:par>
                                <p:cTn id="55" presetID="10" presetClass="entr" presetSubtype="0" fill="hold" grpId="0" nodeType="withEffect">
                                  <p:stCondLst>
                                    <p:cond delay="300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par>
                                <p:cTn id="58" presetID="35" presetClass="path" presetSubtype="0" accel="50000" decel="50000" fill="hold" grpId="1" nodeType="withEffect">
                                  <p:stCondLst>
                                    <p:cond delay="3000"/>
                                  </p:stCondLst>
                                  <p:childTnLst>
                                    <p:animMotion origin="layout" path="M -0.13186 1.1418E-7 L 1.38889E-7 1.1418E-7 " pathEditMode="relative" rAng="0" ptsTypes="AA">
                                      <p:cBhvr>
                                        <p:cTn id="59" dur="1000" fill="hold"/>
                                        <p:tgtEl>
                                          <p:spTgt spid="38"/>
                                        </p:tgtEl>
                                        <p:attrNameLst>
                                          <p:attrName>ppt_x</p:attrName>
                                          <p:attrName>ppt_y</p:attrName>
                                        </p:attrNameLst>
                                      </p:cBhvr>
                                      <p:rCtr x="6589" y="0"/>
                                    </p:animMotion>
                                  </p:childTnLst>
                                </p:cTn>
                              </p:par>
                              <p:par>
                                <p:cTn id="60" presetID="10" presetClass="entr" presetSubtype="0" fill="hold" grpId="0" nodeType="withEffect">
                                  <p:stCondLst>
                                    <p:cond delay="3500"/>
                                  </p:stCondLst>
                                  <p:childTnLst>
                                    <p:set>
                                      <p:cBhvr>
                                        <p:cTn id="61" dur="1" fill="hold">
                                          <p:stCondLst>
                                            <p:cond delay="0"/>
                                          </p:stCondLst>
                                        </p:cTn>
                                        <p:tgtEl>
                                          <p:spTgt spid="56"/>
                                        </p:tgtEl>
                                        <p:attrNameLst>
                                          <p:attrName>style.visibility</p:attrName>
                                        </p:attrNameLst>
                                      </p:cBhvr>
                                      <p:to>
                                        <p:strVal val="visible"/>
                                      </p:to>
                                    </p:set>
                                    <p:animEffect transition="in" filter="fade">
                                      <p:cBhvr>
                                        <p:cTn id="62" dur="1000"/>
                                        <p:tgtEl>
                                          <p:spTgt spid="56"/>
                                        </p:tgtEl>
                                      </p:cBhvr>
                                    </p:animEffect>
                                  </p:childTnLst>
                                </p:cTn>
                              </p:par>
                              <p:par>
                                <p:cTn id="63" presetID="10" presetClass="entr" presetSubtype="0" fill="hold" grpId="0" nodeType="withEffect">
                                  <p:stCondLst>
                                    <p:cond delay="350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0" grpId="0"/>
      <p:bldP spid="21" grpId="0"/>
      <p:bldP spid="34" grpId="0"/>
      <p:bldP spid="35" grpId="0"/>
      <p:bldP spid="48" grpId="0"/>
      <p:bldP spid="49" grpId="0"/>
      <p:bldP spid="55" grpId="0"/>
      <p:bldP spid="56" grpId="0"/>
      <p:bldP spid="29" grpId="0" animBg="1"/>
      <p:bldP spid="30" grpId="0" animBg="1"/>
      <p:bldP spid="30" grpId="1" animBg="1"/>
      <p:bldP spid="31" grpId="0" animBg="1"/>
      <p:bldP spid="31" grpId="1" animBg="1"/>
      <p:bldP spid="33" grpId="0" animBg="1"/>
      <p:bldP spid="33" grpId="1" animBg="1"/>
      <p:bldP spid="36" grpId="0" animBg="1"/>
      <p:bldP spid="36" grpId="1" animBg="1"/>
      <p:bldP spid="38" grpId="0" animBg="1"/>
      <p:bldP spid="38" grpId="1" animBg="1"/>
      <p:bldP spid="2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ulo"/>
          <p:cNvSpPr txBox="1"/>
          <p:nvPr/>
        </p:nvSpPr>
        <p:spPr>
          <a:xfrm>
            <a:off x="838139" y="365760"/>
            <a:ext cx="10515600" cy="1188720"/>
          </a:xfrm>
          <a:prstGeom prst="rect">
            <a:avLst/>
          </a:prstGeom>
          <a:noFill/>
        </p:spPr>
        <p:txBody>
          <a:bodyPr wrap="square" anchor="ctr">
            <a:spAutoFit/>
          </a:bodyPr>
          <a:lstStyle/>
          <a:p>
            <a:pPr algn="l">
              <a:spcAft>
                <a:spcPts val="400"/>
              </a:spcAft>
            </a:pPr>
            <a:r>
              <a:rPr sz="3600" b="0" i="0">
                <a:solidFill>
                  <a:schemeClr val="tx1"/>
                </a:solidFill>
                <a:latin typeface="+mj-lt"/>
              </a:rPr>
              <a:t>Proyectos de Ecopetrol para reducir emisiones</a:t>
            </a:r>
          </a:p>
        </p:txBody>
      </p:sp>
      <p:sp>
        <p:nvSpPr>
          <p:cNvPr id="10" name="Rounded Rectangle 9"/>
          <p:cNvSpPr/>
          <p:nvPr/>
        </p:nvSpPr>
        <p:spPr>
          <a:xfrm>
            <a:off x="914400" y="1691640"/>
            <a:ext cx="3931920" cy="4069080"/>
          </a:xfrm>
          <a:prstGeom prst="roundRect">
            <a:avLst>
              <a:gd name="adj" fmla="val 8000"/>
            </a:avLst>
          </a:prstGeom>
          <a:solidFill>
            <a:srgbClr val="003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88720" y="1828800"/>
            <a:ext cx="3474720" cy="365760"/>
          </a:xfrm>
          <a:prstGeom prst="rect">
            <a:avLst/>
          </a:prstGeom>
          <a:noFill/>
        </p:spPr>
        <p:txBody>
          <a:bodyPr wrap="square" lIns="45720" rIns="45720" anchor="t">
            <a:spAutoFit/>
          </a:bodyPr>
          <a:lstStyle/>
          <a:p>
            <a:pPr algn="l">
              <a:spcAft>
                <a:spcPts val="400"/>
              </a:spcAft>
            </a:pPr>
            <a:r>
              <a:rPr sz="1200" b="0" i="1">
                <a:solidFill>
                  <a:srgbClr val="04CF74"/>
                </a:solidFill>
                <a:latin typeface="+mn-lt"/>
              </a:rPr>
              <a:t>Grupo Ecopetrol, 2020–2025</a:t>
            </a:r>
          </a:p>
        </p:txBody>
      </p:sp>
      <p:sp>
        <p:nvSpPr>
          <p:cNvPr id="12" name="TextBox 11"/>
          <p:cNvSpPr txBox="1"/>
          <p:nvPr/>
        </p:nvSpPr>
        <p:spPr>
          <a:xfrm>
            <a:off x="1188720" y="2194560"/>
            <a:ext cx="3474720" cy="914400"/>
          </a:xfrm>
          <a:prstGeom prst="rect">
            <a:avLst/>
          </a:prstGeom>
          <a:noFill/>
        </p:spPr>
        <p:txBody>
          <a:bodyPr wrap="square" lIns="45720" rIns="45720" anchor="t">
            <a:spAutoFit/>
          </a:bodyPr>
          <a:lstStyle/>
          <a:p>
            <a:pPr algn="l">
              <a:spcAft>
                <a:spcPts val="400"/>
              </a:spcAft>
            </a:pPr>
            <a:r>
              <a:rPr sz="3000" b="1" i="0">
                <a:solidFill>
                  <a:srgbClr val="FFFFFF"/>
                </a:solidFill>
                <a:latin typeface="+mj-lt"/>
              </a:rPr>
              <a:t>Casi 2 de cada 3</a:t>
            </a:r>
          </a:p>
        </p:txBody>
      </p:sp>
      <p:sp>
        <p:nvSpPr>
          <p:cNvPr id="13" name="TextBox 12"/>
          <p:cNvSpPr txBox="1"/>
          <p:nvPr/>
        </p:nvSpPr>
        <p:spPr>
          <a:xfrm>
            <a:off x="1188720" y="3063240"/>
            <a:ext cx="3474720" cy="914400"/>
          </a:xfrm>
          <a:prstGeom prst="rect">
            <a:avLst/>
          </a:prstGeom>
          <a:noFill/>
        </p:spPr>
        <p:txBody>
          <a:bodyPr wrap="square" lIns="45720" rIns="45720" anchor="t">
            <a:spAutoFit/>
          </a:bodyPr>
          <a:lstStyle/>
          <a:p>
            <a:pPr algn="l">
              <a:spcAft>
                <a:spcPts val="400"/>
              </a:spcAft>
            </a:pPr>
            <a:r>
              <a:rPr sz="1800" b="1" i="0">
                <a:solidFill>
                  <a:srgbClr val="FFFFFF"/>
                </a:solidFill>
                <a:latin typeface="+mn-lt"/>
              </a:rPr>
              <a:t>toneladas reducidas vinieron de eficiencia energética</a:t>
            </a:r>
          </a:p>
        </p:txBody>
      </p:sp>
      <p:sp>
        <p:nvSpPr>
          <p:cNvPr id="14" name="TextBox 13"/>
          <p:cNvSpPr txBox="1"/>
          <p:nvPr/>
        </p:nvSpPr>
        <p:spPr>
          <a:xfrm>
            <a:off x="1188720" y="3977639"/>
            <a:ext cx="3474720" cy="548640"/>
          </a:xfrm>
          <a:prstGeom prst="rect">
            <a:avLst/>
          </a:prstGeom>
          <a:noFill/>
        </p:spPr>
        <p:txBody>
          <a:bodyPr wrap="square" lIns="45720" rIns="45720" anchor="t">
            <a:spAutoFit/>
          </a:bodyPr>
          <a:lstStyle/>
          <a:p>
            <a:pPr algn="l">
              <a:spcAft>
                <a:spcPts val="400"/>
              </a:spcAft>
            </a:pPr>
            <a:r>
              <a:rPr sz="1200" b="0" i="0">
                <a:solidFill>
                  <a:srgbClr val="FFFFFF"/>
                </a:solidFill>
                <a:latin typeface="+mn-lt"/>
              </a:rPr>
              <a:t>64 % de 2,8 MtCO₂e reducidas con 445 iniciativas</a:t>
            </a:r>
          </a:p>
        </p:txBody>
      </p:sp>
      <p:sp>
        <p:nvSpPr>
          <p:cNvPr id="15" name="Rounded Rectangle 14"/>
          <p:cNvSpPr/>
          <p:nvPr/>
        </p:nvSpPr>
        <p:spPr>
          <a:xfrm>
            <a:off x="1188720" y="4617720"/>
            <a:ext cx="3383280" cy="914400"/>
          </a:xfrm>
          <a:prstGeom prst="roundRect">
            <a:avLst>
              <a:gd name="adj" fmla="val 12000"/>
            </a:avLst>
          </a:prstGeom>
          <a:solidFill>
            <a:srgbClr val="0B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325880" y="4617720"/>
            <a:ext cx="3154680" cy="914400"/>
          </a:xfrm>
          <a:prstGeom prst="rect">
            <a:avLst/>
          </a:prstGeom>
          <a:noFill/>
        </p:spPr>
        <p:txBody>
          <a:bodyPr wrap="square" lIns="45720" rIns="45720" anchor="ctr">
            <a:spAutoFit/>
          </a:bodyPr>
          <a:lstStyle/>
          <a:p>
            <a:pPr algn="l">
              <a:spcAft>
                <a:spcPts val="0"/>
              </a:spcAft>
            </a:pPr>
            <a:r>
              <a:rPr sz="1800" b="1" i="0">
                <a:solidFill>
                  <a:srgbClr val="04CF74"/>
                </a:solidFill>
                <a:latin typeface="+mn-lt"/>
              </a:rPr>
              <a:t>≈341 mil tCO₂e</a:t>
            </a:r>
          </a:p>
          <a:p>
            <a:pPr algn="l">
              <a:spcAft>
                <a:spcPts val="0"/>
              </a:spcAft>
            </a:pPr>
            <a:r>
              <a:rPr sz="1200" b="0" i="0">
                <a:solidFill>
                  <a:srgbClr val="FFFFFF"/>
                </a:solidFill>
                <a:latin typeface="+mn-lt"/>
              </a:rPr>
              <a:t>en Barrancabermeja y Cartagena: 39 iniciativas en cuatro años</a:t>
            </a:r>
          </a:p>
        </p:txBody>
      </p:sp>
      <p:sp>
        <p:nvSpPr>
          <p:cNvPr id="17" name="TextBox 16"/>
          <p:cNvSpPr txBox="1"/>
          <p:nvPr/>
        </p:nvSpPr>
        <p:spPr>
          <a:xfrm>
            <a:off x="5120640" y="1645920"/>
            <a:ext cx="6126480" cy="365760"/>
          </a:xfrm>
          <a:prstGeom prst="rect">
            <a:avLst/>
          </a:prstGeom>
          <a:noFill/>
        </p:spPr>
        <p:txBody>
          <a:bodyPr wrap="square" lIns="45720" rIns="45720" anchor="t">
            <a:spAutoFit/>
          </a:bodyPr>
          <a:lstStyle/>
          <a:p>
            <a:pPr algn="l">
              <a:spcAft>
                <a:spcPts val="400"/>
              </a:spcAft>
            </a:pPr>
            <a:r>
              <a:rPr sz="1600" b="1" i="0">
                <a:solidFill>
                  <a:srgbClr val="00323F"/>
                </a:solidFill>
                <a:latin typeface="+mn-lt"/>
              </a:rPr>
              <a:t>Proyectos reportados por Ecopetrol</a:t>
            </a:r>
          </a:p>
        </p:txBody>
      </p:sp>
      <p:sp>
        <p:nvSpPr>
          <p:cNvPr id="18" name="Rounded Rectangle 17"/>
          <p:cNvSpPr/>
          <p:nvPr/>
        </p:nvSpPr>
        <p:spPr>
          <a:xfrm>
            <a:off x="5120640" y="2057400"/>
            <a:ext cx="6126480" cy="86868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5253776" y="2144816"/>
            <a:ext cx="684702" cy="684702"/>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s12_94.png"/>
          <p:cNvPicPr>
            <a:picLocks noChangeAspect="1"/>
          </p:cNvPicPr>
          <p:nvPr/>
        </p:nvPicPr>
        <p:blipFill>
          <a:blip r:embed="rId3"/>
          <a:stretch>
            <a:fillRect/>
          </a:stretch>
        </p:blipFill>
        <p:spPr>
          <a:xfrm>
            <a:off x="5376672" y="2267712"/>
            <a:ext cx="438912" cy="438912"/>
          </a:xfrm>
          <a:prstGeom prst="rect">
            <a:avLst/>
          </a:prstGeom>
        </p:spPr>
      </p:pic>
      <p:sp>
        <p:nvSpPr>
          <p:cNvPr id="21" name="TextBox 20"/>
          <p:cNvSpPr txBox="1"/>
          <p:nvPr/>
        </p:nvSpPr>
        <p:spPr>
          <a:xfrm>
            <a:off x="6126480" y="2130552"/>
            <a:ext cx="3429000" cy="365760"/>
          </a:xfrm>
          <a:prstGeom prst="rect">
            <a:avLst/>
          </a:prstGeom>
          <a:noFill/>
        </p:spPr>
        <p:txBody>
          <a:bodyPr wrap="square" lIns="45720" rIns="45720" anchor="t">
            <a:spAutoFit/>
          </a:bodyPr>
          <a:lstStyle/>
          <a:p>
            <a:pPr algn="l">
              <a:spcAft>
                <a:spcPts val="400"/>
              </a:spcAft>
            </a:pPr>
            <a:r>
              <a:rPr sz="1500" b="1" i="0">
                <a:solidFill>
                  <a:srgbClr val="00323F"/>
                </a:solidFill>
                <a:latin typeface="+mn-lt"/>
              </a:rPr>
              <a:t>Visual Mesa en Barrancabermeja</a:t>
            </a:r>
          </a:p>
        </p:txBody>
      </p:sp>
      <p:sp>
        <p:nvSpPr>
          <p:cNvPr id="22" name="TextBox 21"/>
          <p:cNvSpPr txBox="1"/>
          <p:nvPr/>
        </p:nvSpPr>
        <p:spPr>
          <a:xfrm>
            <a:off x="9555480" y="2130552"/>
            <a:ext cx="1691640" cy="365760"/>
          </a:xfrm>
          <a:prstGeom prst="rect">
            <a:avLst/>
          </a:prstGeom>
          <a:noFill/>
        </p:spPr>
        <p:txBody>
          <a:bodyPr wrap="square" lIns="45720" rIns="45720" anchor="t">
            <a:spAutoFit/>
          </a:bodyPr>
          <a:lstStyle/>
          <a:p>
            <a:pPr algn="r">
              <a:spcAft>
                <a:spcPts val="400"/>
              </a:spcAft>
            </a:pPr>
            <a:r>
              <a:rPr sz="1500" b="1" i="0">
                <a:solidFill>
                  <a:srgbClr val="088A3A"/>
                </a:solidFill>
                <a:latin typeface="+mn-lt"/>
              </a:rPr>
              <a:t>12.377 tCO₂</a:t>
            </a:r>
          </a:p>
        </p:txBody>
      </p:sp>
      <p:sp>
        <p:nvSpPr>
          <p:cNvPr id="23" name="TextBox 22"/>
          <p:cNvSpPr txBox="1"/>
          <p:nvPr/>
        </p:nvSpPr>
        <p:spPr>
          <a:xfrm>
            <a:off x="6126480" y="2514600"/>
            <a:ext cx="5029200" cy="365760"/>
          </a:xfrm>
          <a:prstGeom prst="rect">
            <a:avLst/>
          </a:prstGeom>
          <a:noFill/>
        </p:spPr>
        <p:txBody>
          <a:bodyPr wrap="square" lIns="45720" rIns="45720" anchor="t">
            <a:spAutoFit/>
          </a:bodyPr>
          <a:lstStyle/>
          <a:p>
            <a:pPr algn="l">
              <a:spcAft>
                <a:spcPts val="400"/>
              </a:spcAft>
            </a:pPr>
            <a:r>
              <a:rPr sz="1200" b="0" i="0">
                <a:solidFill>
                  <a:srgbClr val="595959"/>
                </a:solidFill>
                <a:latin typeface="+mn-lt"/>
              </a:rPr>
              <a:t>Optimiza en tiempo real la generación de vapor y energía.</a:t>
            </a:r>
          </a:p>
        </p:txBody>
      </p:sp>
      <p:sp>
        <p:nvSpPr>
          <p:cNvPr id="24" name="Rounded Rectangle 23"/>
          <p:cNvSpPr/>
          <p:nvPr/>
        </p:nvSpPr>
        <p:spPr>
          <a:xfrm>
            <a:off x="5120640" y="3017520"/>
            <a:ext cx="6126480" cy="86868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253776" y="3104936"/>
            <a:ext cx="684702" cy="684702"/>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s12_154.png"/>
          <p:cNvPicPr>
            <a:picLocks noChangeAspect="1"/>
          </p:cNvPicPr>
          <p:nvPr/>
        </p:nvPicPr>
        <p:blipFill>
          <a:blip r:embed="rId4"/>
          <a:stretch>
            <a:fillRect/>
          </a:stretch>
        </p:blipFill>
        <p:spPr>
          <a:xfrm>
            <a:off x="5376672" y="3227832"/>
            <a:ext cx="438912" cy="438912"/>
          </a:xfrm>
          <a:prstGeom prst="rect">
            <a:avLst/>
          </a:prstGeom>
        </p:spPr>
      </p:pic>
      <p:sp>
        <p:nvSpPr>
          <p:cNvPr id="27" name="TextBox 26"/>
          <p:cNvSpPr txBox="1"/>
          <p:nvPr/>
        </p:nvSpPr>
        <p:spPr>
          <a:xfrm>
            <a:off x="6126480" y="3090672"/>
            <a:ext cx="3429000" cy="365760"/>
          </a:xfrm>
          <a:prstGeom prst="rect">
            <a:avLst/>
          </a:prstGeom>
          <a:noFill/>
        </p:spPr>
        <p:txBody>
          <a:bodyPr wrap="square" lIns="45720" rIns="45720" anchor="t">
            <a:spAutoFit/>
          </a:bodyPr>
          <a:lstStyle/>
          <a:p>
            <a:pPr algn="l">
              <a:spcAft>
                <a:spcPts val="400"/>
              </a:spcAft>
            </a:pPr>
            <a:r>
              <a:rPr sz="1500" b="1" i="0">
                <a:solidFill>
                  <a:srgbClr val="00323F"/>
                </a:solidFill>
                <a:latin typeface="+mn-lt"/>
              </a:rPr>
              <a:t>Captura de CO₂ en la refinería</a:t>
            </a:r>
          </a:p>
        </p:txBody>
      </p:sp>
      <p:sp>
        <p:nvSpPr>
          <p:cNvPr id="28" name="TextBox 27"/>
          <p:cNvSpPr txBox="1"/>
          <p:nvPr/>
        </p:nvSpPr>
        <p:spPr>
          <a:xfrm>
            <a:off x="9555480" y="3090672"/>
            <a:ext cx="1691640" cy="365760"/>
          </a:xfrm>
          <a:prstGeom prst="rect">
            <a:avLst/>
          </a:prstGeom>
          <a:noFill/>
        </p:spPr>
        <p:txBody>
          <a:bodyPr wrap="square" lIns="45720" rIns="45720" anchor="t">
            <a:spAutoFit/>
          </a:bodyPr>
          <a:lstStyle/>
          <a:p>
            <a:pPr algn="r">
              <a:spcAft>
                <a:spcPts val="400"/>
              </a:spcAft>
            </a:pPr>
            <a:r>
              <a:rPr sz="1500" b="1" i="0">
                <a:solidFill>
                  <a:srgbClr val="088A3A"/>
                </a:solidFill>
                <a:latin typeface="+mn-lt"/>
              </a:rPr>
              <a:t>&gt;29.000 t/año</a:t>
            </a:r>
          </a:p>
        </p:txBody>
      </p:sp>
      <p:sp>
        <p:nvSpPr>
          <p:cNvPr id="29" name="TextBox 28"/>
          <p:cNvSpPr txBox="1"/>
          <p:nvPr/>
        </p:nvSpPr>
        <p:spPr>
          <a:xfrm>
            <a:off x="6126480" y="3474720"/>
            <a:ext cx="5029200" cy="365760"/>
          </a:xfrm>
          <a:prstGeom prst="rect">
            <a:avLst/>
          </a:prstGeom>
          <a:noFill/>
        </p:spPr>
        <p:txBody>
          <a:bodyPr wrap="square" lIns="45720" rIns="45720" anchor="t">
            <a:spAutoFit/>
          </a:bodyPr>
          <a:lstStyle/>
          <a:p>
            <a:pPr algn="l">
              <a:spcAft>
                <a:spcPts val="400"/>
              </a:spcAft>
            </a:pPr>
            <a:r>
              <a:rPr sz="1200" b="0" i="0">
                <a:solidFill>
                  <a:srgbClr val="595959"/>
                </a:solidFill>
                <a:latin typeface="+mn-lt"/>
              </a:rPr>
              <a:t>Se vende para bebidas, hielo seco y refrigeración.</a:t>
            </a:r>
          </a:p>
        </p:txBody>
      </p:sp>
      <p:sp>
        <p:nvSpPr>
          <p:cNvPr id="30" name="Rounded Rectangle 29"/>
          <p:cNvSpPr/>
          <p:nvPr/>
        </p:nvSpPr>
        <p:spPr>
          <a:xfrm>
            <a:off x="5120640" y="3977639"/>
            <a:ext cx="6126480" cy="86868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5253776" y="4065056"/>
            <a:ext cx="684702" cy="684702"/>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s12_148.png"/>
          <p:cNvPicPr>
            <a:picLocks noChangeAspect="1"/>
          </p:cNvPicPr>
          <p:nvPr/>
        </p:nvPicPr>
        <p:blipFill>
          <a:blip r:embed="rId5"/>
          <a:stretch>
            <a:fillRect/>
          </a:stretch>
        </p:blipFill>
        <p:spPr>
          <a:xfrm>
            <a:off x="5376672" y="4187952"/>
            <a:ext cx="438912" cy="438912"/>
          </a:xfrm>
          <a:prstGeom prst="rect">
            <a:avLst/>
          </a:prstGeom>
        </p:spPr>
      </p:pic>
      <p:sp>
        <p:nvSpPr>
          <p:cNvPr id="33" name="TextBox 32"/>
          <p:cNvSpPr txBox="1"/>
          <p:nvPr/>
        </p:nvSpPr>
        <p:spPr>
          <a:xfrm>
            <a:off x="6126480" y="4050791"/>
            <a:ext cx="3429000" cy="365760"/>
          </a:xfrm>
          <a:prstGeom prst="rect">
            <a:avLst/>
          </a:prstGeom>
          <a:noFill/>
        </p:spPr>
        <p:txBody>
          <a:bodyPr wrap="square" lIns="45720" rIns="45720" anchor="t">
            <a:spAutoFit/>
          </a:bodyPr>
          <a:lstStyle/>
          <a:p>
            <a:pPr algn="l">
              <a:spcAft>
                <a:spcPts val="400"/>
              </a:spcAft>
            </a:pPr>
            <a:r>
              <a:rPr sz="1500" b="1" i="0">
                <a:solidFill>
                  <a:srgbClr val="00323F"/>
                </a:solidFill>
                <a:latin typeface="+mn-lt"/>
              </a:rPr>
              <a:t>Granja solar La Iguana</a:t>
            </a:r>
          </a:p>
        </p:txBody>
      </p:sp>
      <p:sp>
        <p:nvSpPr>
          <p:cNvPr id="34" name="TextBox 33"/>
          <p:cNvSpPr txBox="1"/>
          <p:nvPr/>
        </p:nvSpPr>
        <p:spPr>
          <a:xfrm>
            <a:off x="9555480" y="4050791"/>
            <a:ext cx="1691640" cy="365760"/>
          </a:xfrm>
          <a:prstGeom prst="rect">
            <a:avLst/>
          </a:prstGeom>
          <a:noFill/>
        </p:spPr>
        <p:txBody>
          <a:bodyPr wrap="square" lIns="45720" rIns="45720" anchor="t">
            <a:spAutoFit/>
          </a:bodyPr>
          <a:lstStyle/>
          <a:p>
            <a:pPr algn="r">
              <a:spcAft>
                <a:spcPts val="400"/>
              </a:spcAft>
            </a:pPr>
            <a:r>
              <a:rPr sz="1500" b="1" i="0">
                <a:solidFill>
                  <a:srgbClr val="088A3A"/>
                </a:solidFill>
                <a:latin typeface="+mn-lt"/>
              </a:rPr>
              <a:t>≈20 mil tCO₂/año</a:t>
            </a:r>
          </a:p>
        </p:txBody>
      </p:sp>
      <p:sp>
        <p:nvSpPr>
          <p:cNvPr id="35" name="TextBox 34"/>
          <p:cNvSpPr txBox="1"/>
          <p:nvPr/>
        </p:nvSpPr>
        <p:spPr>
          <a:xfrm>
            <a:off x="6126480" y="4434840"/>
            <a:ext cx="5029200" cy="365760"/>
          </a:xfrm>
          <a:prstGeom prst="rect">
            <a:avLst/>
          </a:prstGeom>
          <a:noFill/>
        </p:spPr>
        <p:txBody>
          <a:bodyPr wrap="square" lIns="45720" rIns="45720" anchor="t">
            <a:spAutoFit/>
          </a:bodyPr>
          <a:lstStyle/>
          <a:p>
            <a:pPr algn="l">
              <a:spcAft>
                <a:spcPts val="400"/>
              </a:spcAft>
            </a:pPr>
            <a:r>
              <a:rPr sz="1200" b="0" i="0">
                <a:solidFill>
                  <a:srgbClr val="595959"/>
                </a:solidFill>
                <a:latin typeface="+mn-lt"/>
              </a:rPr>
              <a:t>Abastecerá cerca del 10 % de la demanda eléctrica de la refinería.</a:t>
            </a:r>
          </a:p>
        </p:txBody>
      </p:sp>
      <p:sp>
        <p:nvSpPr>
          <p:cNvPr id="36" name="Rounded Rectangle 35"/>
          <p:cNvSpPr/>
          <p:nvPr/>
        </p:nvSpPr>
        <p:spPr>
          <a:xfrm>
            <a:off x="5120640" y="4937760"/>
            <a:ext cx="6126480" cy="868680"/>
          </a:xfrm>
          <a:prstGeom prst="roundRect">
            <a:avLst>
              <a:gd name="adj" fmla="val 8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5253776" y="5025176"/>
            <a:ext cx="684702" cy="684702"/>
          </a:xfrm>
          <a:prstGeom prst="ellipse">
            <a:avLst/>
          </a:prstGeom>
          <a:solidFill>
            <a:srgbClr val="E3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s12_165.png"/>
          <p:cNvPicPr>
            <a:picLocks noChangeAspect="1"/>
          </p:cNvPicPr>
          <p:nvPr/>
        </p:nvPicPr>
        <p:blipFill>
          <a:blip r:embed="rId6"/>
          <a:stretch>
            <a:fillRect/>
          </a:stretch>
        </p:blipFill>
        <p:spPr>
          <a:xfrm>
            <a:off x="5376672" y="5148072"/>
            <a:ext cx="438912" cy="438912"/>
          </a:xfrm>
          <a:prstGeom prst="rect">
            <a:avLst/>
          </a:prstGeom>
        </p:spPr>
      </p:pic>
      <p:sp>
        <p:nvSpPr>
          <p:cNvPr id="39" name="TextBox 38"/>
          <p:cNvSpPr txBox="1"/>
          <p:nvPr/>
        </p:nvSpPr>
        <p:spPr>
          <a:xfrm>
            <a:off x="6126480" y="5010912"/>
            <a:ext cx="3429000" cy="365760"/>
          </a:xfrm>
          <a:prstGeom prst="rect">
            <a:avLst/>
          </a:prstGeom>
          <a:noFill/>
        </p:spPr>
        <p:txBody>
          <a:bodyPr wrap="square" lIns="45720" rIns="45720" anchor="t">
            <a:spAutoFit/>
          </a:bodyPr>
          <a:lstStyle/>
          <a:p>
            <a:pPr algn="l">
              <a:spcAft>
                <a:spcPts val="400"/>
              </a:spcAft>
            </a:pPr>
            <a:r>
              <a:rPr sz="1500" b="1" i="0">
                <a:solidFill>
                  <a:srgbClr val="00323F"/>
                </a:solidFill>
                <a:latin typeface="+mn-lt"/>
              </a:rPr>
              <a:t>Flota eléctrica de Ecopetrol</a:t>
            </a:r>
          </a:p>
        </p:txBody>
      </p:sp>
      <p:sp>
        <p:nvSpPr>
          <p:cNvPr id="40" name="TextBox 39"/>
          <p:cNvSpPr txBox="1"/>
          <p:nvPr/>
        </p:nvSpPr>
        <p:spPr>
          <a:xfrm>
            <a:off x="9555480" y="5010912"/>
            <a:ext cx="1691640" cy="365760"/>
          </a:xfrm>
          <a:prstGeom prst="rect">
            <a:avLst/>
          </a:prstGeom>
          <a:noFill/>
        </p:spPr>
        <p:txBody>
          <a:bodyPr wrap="square" lIns="45720" rIns="45720" anchor="t">
            <a:spAutoFit/>
          </a:bodyPr>
          <a:lstStyle/>
          <a:p>
            <a:pPr algn="r">
              <a:spcAft>
                <a:spcPts val="400"/>
              </a:spcAft>
            </a:pPr>
            <a:r>
              <a:rPr sz="1500" b="1" i="0">
                <a:solidFill>
                  <a:srgbClr val="088A3A"/>
                </a:solidFill>
                <a:latin typeface="+mn-lt"/>
              </a:rPr>
              <a:t>385 vehículos</a:t>
            </a:r>
          </a:p>
        </p:txBody>
      </p:sp>
      <p:sp>
        <p:nvSpPr>
          <p:cNvPr id="41" name="TextBox 40"/>
          <p:cNvSpPr txBox="1"/>
          <p:nvPr/>
        </p:nvSpPr>
        <p:spPr>
          <a:xfrm>
            <a:off x="6126480" y="5394960"/>
            <a:ext cx="5029200" cy="365760"/>
          </a:xfrm>
          <a:prstGeom prst="rect">
            <a:avLst/>
          </a:prstGeom>
          <a:noFill/>
        </p:spPr>
        <p:txBody>
          <a:bodyPr wrap="square" lIns="45720" rIns="45720" anchor="t">
            <a:spAutoFit/>
          </a:bodyPr>
          <a:lstStyle/>
          <a:p>
            <a:pPr algn="l">
              <a:spcAft>
                <a:spcPts val="400"/>
              </a:spcAft>
            </a:pPr>
            <a:r>
              <a:rPr sz="1200" b="0" i="0">
                <a:solidFill>
                  <a:srgbClr val="595959"/>
                </a:solidFill>
                <a:latin typeface="+mn-lt"/>
              </a:rPr>
              <a:t>En operaciones de todo el país, incluidas las refinerías.</a:t>
            </a:r>
          </a:p>
        </p:txBody>
      </p:sp>
      <p:sp>
        <p:nvSpPr>
          <p:cNvPr id="42" name="Fuente"/>
          <p:cNvSpPr txBox="1"/>
          <p:nvPr/>
        </p:nvSpPr>
        <p:spPr>
          <a:xfrm>
            <a:off x="914400" y="6053328"/>
            <a:ext cx="8778240" cy="274320"/>
          </a:xfrm>
          <a:prstGeom prst="rect">
            <a:avLst/>
          </a:prstGeom>
          <a:noFill/>
        </p:spPr>
        <p:txBody>
          <a:bodyPr wrap="square" lIns="45720" rIns="45720" anchor="t">
            <a:spAutoFit/>
          </a:bodyPr>
          <a:lstStyle/>
          <a:p>
            <a:pPr algn="l">
              <a:spcAft>
                <a:spcPts val="400"/>
              </a:spcAft>
            </a:pPr>
            <a:r>
              <a:rPr sz="1000" b="0" i="1">
                <a:solidFill>
                  <a:srgbClr val="595959"/>
                </a:solidFill>
                <a:latin typeface="+mn-lt"/>
              </a:rPr>
              <a:t>Fuentes: Ecopetrol, Informe Integrado de Gestión 2022 (Visual Mesa) y comunicados del 4 jul. 2025 (captura de CO₂) y 26 mar. 2026 (2,8 Mt, 2020–2025); Telepetróleo, 11 mar. 2024 (341 mil t); El Frente, 11 jul. 2024 (385 vehículos, flota nacional); ABC Economía, 13 nov. 2025 (La Iguana).</a:t>
            </a:r>
          </a:p>
        </p:txBody>
      </p:sp>
    </p:spTree>
    <p:extLst>
      <p:ext uri="{BB962C8B-B14F-4D97-AF65-F5344CB8AC3E}">
        <p14:creationId xmlns:p14="http://schemas.microsoft.com/office/powerpoint/2010/main" val="34779574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291B534-5FB9-7D52-5B1B-11D004AF8CC5}"/>
              </a:ext>
            </a:extLst>
          </p:cNvPr>
          <p:cNvSpPr txBox="1">
            <a:spLocks/>
          </p:cNvSpPr>
          <p:nvPr/>
        </p:nvSpPr>
        <p:spPr>
          <a:xfrm>
            <a:off x="838200" y="2613025"/>
            <a:ext cx="10515600" cy="1325563"/>
          </a:xfrm>
          <a:prstGeom prst="rect">
            <a:avLst/>
          </a:prstGeom>
          <a:noFill/>
          <a:ln>
            <a:noFill/>
          </a:ln>
        </p:spPr>
        <p:txBody>
          <a:bodyPr spcFirstLastPara="1" vert="horz" wrap="square" lIns="91425" tIns="45700" rIns="91425" bIns="45700" rtlCol="0" anchor="ctr" anchorCtr="0">
            <a:normAutofit/>
          </a:bodyPr>
          <a:lstStyle>
            <a:lvl1pPr lvl="0" algn="l" defTabSz="914400" rtl="0" eaLnBrk="1" latinLnBrk="0" hangingPunct="1">
              <a:lnSpc>
                <a:spcPct val="90000"/>
              </a:lnSpc>
              <a:spcBef>
                <a:spcPts val="0"/>
              </a:spcBef>
              <a:spcAft>
                <a:spcPts val="0"/>
              </a:spcAft>
              <a:buClr>
                <a:schemeClr val="dk1"/>
              </a:buClr>
              <a:buSzPts val="1800"/>
              <a:buNone/>
              <a:defRPr sz="4400" kern="1200">
                <a:solidFill>
                  <a:schemeClr val="tx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ctr"/>
            <a:r>
              <a:rPr lang="es-ES_tradnl"/>
              <a:t>Caso REDD+</a:t>
            </a:r>
            <a:endParaRPr lang="es-ES_tradnl" dirty="0"/>
          </a:p>
        </p:txBody>
      </p:sp>
    </p:spTree>
    <p:extLst>
      <p:ext uri="{BB962C8B-B14F-4D97-AF65-F5344CB8AC3E}">
        <p14:creationId xmlns:p14="http://schemas.microsoft.com/office/powerpoint/2010/main" val="382695487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37D3E10-2EB7-A385-3D49-066F8A1A56D9}"/>
              </a:ext>
            </a:extLst>
          </p:cNvPr>
          <p:cNvPicPr>
            <a:picLocks noGrp="1" noChangeAspect="1"/>
          </p:cNvPicPr>
          <p:nvPr>
            <p:ph idx="1"/>
          </p:nvPr>
        </p:nvPicPr>
        <p:blipFill>
          <a:blip r:embed="rId2"/>
          <a:stretch>
            <a:fillRect/>
          </a:stretch>
        </p:blipFill>
        <p:spPr>
          <a:xfrm>
            <a:off x="1657234" y="2947176"/>
            <a:ext cx="8877531" cy="3745724"/>
          </a:xfrm>
          <a:prstGeom prst="rect">
            <a:avLst/>
          </a:prstGeom>
        </p:spPr>
      </p:pic>
      <p:pic>
        <p:nvPicPr>
          <p:cNvPr id="5" name="Picture 4">
            <a:extLst>
              <a:ext uri="{FF2B5EF4-FFF2-40B4-BE49-F238E27FC236}">
                <a16:creationId xmlns:a16="http://schemas.microsoft.com/office/drawing/2014/main" id="{5CEE9C89-7AAC-4554-C0FE-1D104308133F}"/>
              </a:ext>
            </a:extLst>
          </p:cNvPr>
          <p:cNvPicPr>
            <a:picLocks noChangeAspect="1"/>
          </p:cNvPicPr>
          <p:nvPr/>
        </p:nvPicPr>
        <p:blipFill rotWithShape="1">
          <a:blip r:embed="rId3"/>
          <a:srcRect b="47062"/>
          <a:stretch/>
        </p:blipFill>
        <p:spPr>
          <a:xfrm>
            <a:off x="939569" y="685800"/>
            <a:ext cx="10475992" cy="2159000"/>
          </a:xfrm>
          <a:prstGeom prst="rect">
            <a:avLst/>
          </a:prstGeom>
        </p:spPr>
      </p:pic>
    </p:spTree>
    <p:extLst>
      <p:ext uri="{BB962C8B-B14F-4D97-AF65-F5344CB8AC3E}">
        <p14:creationId xmlns:p14="http://schemas.microsoft.com/office/powerpoint/2010/main" val="13038281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DCE25-B7BF-0F7F-6853-EA808F7A5037}"/>
              </a:ext>
            </a:extLst>
          </p:cNvPr>
          <p:cNvPicPr>
            <a:picLocks noChangeAspect="1"/>
          </p:cNvPicPr>
          <p:nvPr/>
        </p:nvPicPr>
        <p:blipFill>
          <a:blip r:embed="rId2"/>
          <a:stretch>
            <a:fillRect/>
          </a:stretch>
        </p:blipFill>
        <p:spPr>
          <a:xfrm>
            <a:off x="1619326" y="324264"/>
            <a:ext cx="8953347" cy="6533736"/>
          </a:xfrm>
          <a:prstGeom prst="rect">
            <a:avLst/>
          </a:prstGeom>
        </p:spPr>
      </p:pic>
    </p:spTree>
    <p:extLst>
      <p:ext uri="{BB962C8B-B14F-4D97-AF65-F5344CB8AC3E}">
        <p14:creationId xmlns:p14="http://schemas.microsoft.com/office/powerpoint/2010/main" val="1919346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AFC12-D977-D4D3-A576-CE03EE2994B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1A1D1DC-53DF-D704-70DE-911E5AC1063C}"/>
              </a:ext>
            </a:extLst>
          </p:cNvPr>
          <p:cNvPicPr>
            <a:picLocks noChangeAspect="1"/>
          </p:cNvPicPr>
          <p:nvPr/>
        </p:nvPicPr>
        <p:blipFill>
          <a:blip r:embed="rId2"/>
          <a:stretch>
            <a:fillRect/>
          </a:stretch>
        </p:blipFill>
        <p:spPr>
          <a:xfrm>
            <a:off x="1557083" y="235402"/>
            <a:ext cx="9077834" cy="6387196"/>
          </a:xfrm>
          <a:prstGeom prst="rect">
            <a:avLst/>
          </a:prstGeom>
        </p:spPr>
      </p:pic>
    </p:spTree>
    <p:extLst>
      <p:ext uri="{BB962C8B-B14F-4D97-AF65-F5344CB8AC3E}">
        <p14:creationId xmlns:p14="http://schemas.microsoft.com/office/powerpoint/2010/main" val="4111413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7767AFA-F778-C907-3EEB-FC1CBC95DCAA}"/>
              </a:ext>
            </a:extLst>
          </p:cNvPr>
          <p:cNvPicPr>
            <a:picLocks noGrp="1" noChangeAspect="1"/>
          </p:cNvPicPr>
          <p:nvPr>
            <p:ph idx="1"/>
          </p:nvPr>
        </p:nvPicPr>
        <p:blipFill>
          <a:blip r:embed="rId2"/>
          <a:stretch>
            <a:fillRect/>
          </a:stretch>
        </p:blipFill>
        <p:spPr>
          <a:xfrm>
            <a:off x="1558054" y="177874"/>
            <a:ext cx="9075892" cy="6502252"/>
          </a:xfrm>
          <a:prstGeom prst="rect">
            <a:avLst/>
          </a:prstGeom>
        </p:spPr>
      </p:pic>
    </p:spTree>
    <p:extLst>
      <p:ext uri="{BB962C8B-B14F-4D97-AF65-F5344CB8AC3E}">
        <p14:creationId xmlns:p14="http://schemas.microsoft.com/office/powerpoint/2010/main" val="36791844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F03F643-D399-1FCB-E4F1-1A767CF5A365}"/>
              </a:ext>
            </a:extLst>
          </p:cNvPr>
          <p:cNvPicPr>
            <a:picLocks noGrp="1" noChangeAspect="1"/>
          </p:cNvPicPr>
          <p:nvPr>
            <p:ph idx="1"/>
          </p:nvPr>
        </p:nvPicPr>
        <p:blipFill>
          <a:blip r:embed="rId2"/>
          <a:stretch>
            <a:fillRect/>
          </a:stretch>
        </p:blipFill>
        <p:spPr>
          <a:xfrm>
            <a:off x="1593816" y="1812925"/>
            <a:ext cx="9004368" cy="4351338"/>
          </a:xfrm>
          <a:prstGeom prst="rect">
            <a:avLst/>
          </a:prstGeom>
        </p:spPr>
      </p:pic>
    </p:spTree>
    <p:extLst>
      <p:ext uri="{BB962C8B-B14F-4D97-AF65-F5344CB8AC3E}">
        <p14:creationId xmlns:p14="http://schemas.microsoft.com/office/powerpoint/2010/main" val="24175727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0534A-C7BA-4D9F-46E1-7C9EC6CFAA9B}"/>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kern="1200" dirty="0" err="1">
                <a:solidFill>
                  <a:srgbClr val="7575CC"/>
                </a:solidFill>
                <a:latin typeface="Times New Roman" panose="02020603050405020304" pitchFamily="18" charset="0"/>
                <a:cs typeface="Times New Roman" panose="02020603050405020304" pitchFamily="18" charset="0"/>
              </a:rPr>
              <a:t>Resultados</a:t>
            </a:r>
            <a:r>
              <a:rPr lang="en-US" kern="1200" dirty="0">
                <a:solidFill>
                  <a:srgbClr val="7575CC"/>
                </a:solidFill>
                <a:latin typeface="Times New Roman" panose="02020603050405020304" pitchFamily="18" charset="0"/>
                <a:cs typeface="Times New Roman" panose="02020603050405020304" pitchFamily="18" charset="0"/>
              </a:rPr>
              <a:t> </a:t>
            </a:r>
            <a:r>
              <a:rPr lang="en-US" kern="1200" dirty="0" err="1">
                <a:solidFill>
                  <a:srgbClr val="7575CC"/>
                </a:solidFill>
                <a:latin typeface="Times New Roman" panose="02020603050405020304" pitchFamily="18" charset="0"/>
                <a:cs typeface="Times New Roman" panose="02020603050405020304" pitchFamily="18" charset="0"/>
              </a:rPr>
              <a:t>en</a:t>
            </a:r>
            <a:r>
              <a:rPr lang="en-US" kern="1200" dirty="0">
                <a:solidFill>
                  <a:srgbClr val="7575CC"/>
                </a:solidFill>
                <a:latin typeface="Times New Roman" panose="02020603050405020304" pitchFamily="18" charset="0"/>
                <a:cs typeface="Times New Roman" panose="02020603050405020304" pitchFamily="18" charset="0"/>
              </a:rPr>
              <a:t> </a:t>
            </a:r>
            <a:r>
              <a:rPr lang="en-US" kern="1200" dirty="0" err="1">
                <a:solidFill>
                  <a:srgbClr val="7575CC"/>
                </a:solidFill>
                <a:latin typeface="Times New Roman" panose="02020603050405020304" pitchFamily="18" charset="0"/>
                <a:cs typeface="Times New Roman" panose="02020603050405020304" pitchFamily="18" charset="0"/>
              </a:rPr>
              <a:t>deforestación</a:t>
            </a:r>
            <a:endParaRPr lang="en-US" kern="1200" dirty="0">
              <a:solidFill>
                <a:srgbClr val="7575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32B170E-BBE1-4138-41E0-5CEEBE201F58}"/>
              </a:ext>
            </a:extLst>
          </p:cNvPr>
          <p:cNvPicPr>
            <a:picLocks noChangeAspect="1"/>
          </p:cNvPicPr>
          <p:nvPr/>
        </p:nvPicPr>
        <p:blipFill>
          <a:blip r:embed="rId2"/>
          <a:srcRect l="2013" r="5870" b="-3"/>
          <a:stretch/>
        </p:blipFill>
        <p:spPr>
          <a:xfrm>
            <a:off x="198741" y="2131048"/>
            <a:ext cx="5803323" cy="3890357"/>
          </a:xfrm>
          <a:prstGeom prst="rect">
            <a:avLst/>
          </a:prstGeom>
        </p:spPr>
      </p:pic>
      <p:pic>
        <p:nvPicPr>
          <p:cNvPr id="4" name="Content Placeholder 3">
            <a:extLst>
              <a:ext uri="{FF2B5EF4-FFF2-40B4-BE49-F238E27FC236}">
                <a16:creationId xmlns:a16="http://schemas.microsoft.com/office/drawing/2014/main" id="{ED0B168D-8FD4-4860-E9B0-C72AA52C52F8}"/>
              </a:ext>
            </a:extLst>
          </p:cNvPr>
          <p:cNvPicPr>
            <a:picLocks noGrp="1" noChangeAspect="1"/>
          </p:cNvPicPr>
          <p:nvPr>
            <p:ph idx="1"/>
          </p:nvPr>
        </p:nvPicPr>
        <p:blipFill>
          <a:blip r:embed="rId3"/>
          <a:srcRect t="3196" r="-2" b="-2"/>
          <a:stretch/>
        </p:blipFill>
        <p:spPr>
          <a:xfrm>
            <a:off x="6189934" y="2131048"/>
            <a:ext cx="5803323" cy="3890357"/>
          </a:xfrm>
          <a:prstGeom prst="rect">
            <a:avLst/>
          </a:prstGeom>
        </p:spPr>
      </p:pic>
    </p:spTree>
    <p:extLst>
      <p:ext uri="{BB962C8B-B14F-4D97-AF65-F5344CB8AC3E}">
        <p14:creationId xmlns:p14="http://schemas.microsoft.com/office/powerpoint/2010/main" val="11370590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17E88D-D9B9-FAF6-7A68-FDA8DD5BAA9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CB0C27D-08AB-8EB7-1D0E-CBA7195AA2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C33533-CD3A-AD6A-7BB2-B672959409E4}"/>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kern="1200" dirty="0" err="1">
                <a:solidFill>
                  <a:srgbClr val="7575CC"/>
                </a:solidFill>
                <a:latin typeface="Times New Roman" panose="02020603050405020304" pitchFamily="18" charset="0"/>
                <a:cs typeface="Times New Roman" panose="02020603050405020304" pitchFamily="18" charset="0"/>
              </a:rPr>
              <a:t>Resultados</a:t>
            </a:r>
            <a:r>
              <a:rPr lang="en-US" kern="1200" dirty="0">
                <a:solidFill>
                  <a:srgbClr val="7575CC"/>
                </a:solidFill>
                <a:latin typeface="Times New Roman" panose="02020603050405020304" pitchFamily="18" charset="0"/>
                <a:cs typeface="Times New Roman" panose="02020603050405020304" pitchFamily="18" charset="0"/>
              </a:rPr>
              <a:t> </a:t>
            </a:r>
            <a:r>
              <a:rPr lang="en-US" kern="1200" dirty="0" err="1">
                <a:solidFill>
                  <a:srgbClr val="7575CC"/>
                </a:solidFill>
                <a:latin typeface="Times New Roman" panose="02020603050405020304" pitchFamily="18" charset="0"/>
                <a:cs typeface="Times New Roman" panose="02020603050405020304" pitchFamily="18" charset="0"/>
              </a:rPr>
              <a:t>en</a:t>
            </a:r>
            <a:r>
              <a:rPr lang="en-US" kern="1200" dirty="0">
                <a:solidFill>
                  <a:srgbClr val="7575CC"/>
                </a:solidFill>
                <a:latin typeface="Times New Roman" panose="02020603050405020304" pitchFamily="18" charset="0"/>
                <a:cs typeface="Times New Roman" panose="02020603050405020304" pitchFamily="18" charset="0"/>
              </a:rPr>
              <a:t> </a:t>
            </a:r>
            <a:r>
              <a:rPr lang="en-US" kern="1200" dirty="0" err="1">
                <a:solidFill>
                  <a:srgbClr val="7575CC"/>
                </a:solidFill>
                <a:latin typeface="Times New Roman" panose="02020603050405020304" pitchFamily="18" charset="0"/>
                <a:cs typeface="Times New Roman" panose="02020603050405020304" pitchFamily="18" charset="0"/>
              </a:rPr>
              <a:t>cultivos</a:t>
            </a:r>
            <a:r>
              <a:rPr lang="en-US" kern="1200" dirty="0">
                <a:solidFill>
                  <a:srgbClr val="7575CC"/>
                </a:solidFill>
                <a:latin typeface="Times New Roman" panose="02020603050405020304" pitchFamily="18" charset="0"/>
                <a:cs typeface="Times New Roman" panose="02020603050405020304" pitchFamily="18" charset="0"/>
              </a:rPr>
              <a:t> de coca</a:t>
            </a:r>
          </a:p>
        </p:txBody>
      </p:sp>
      <p:pic>
        <p:nvPicPr>
          <p:cNvPr id="5" name="Picture 4">
            <a:extLst>
              <a:ext uri="{FF2B5EF4-FFF2-40B4-BE49-F238E27FC236}">
                <a16:creationId xmlns:a16="http://schemas.microsoft.com/office/drawing/2014/main" id="{3E602C41-0248-2480-8129-1E8B1A908EF4}"/>
              </a:ext>
            </a:extLst>
          </p:cNvPr>
          <p:cNvPicPr>
            <a:picLocks noChangeAspect="1"/>
          </p:cNvPicPr>
          <p:nvPr/>
        </p:nvPicPr>
        <p:blipFill>
          <a:blip r:embed="rId2"/>
          <a:srcRect l="4126" r="4126"/>
          <a:stretch/>
        </p:blipFill>
        <p:spPr>
          <a:xfrm>
            <a:off x="198741" y="2131048"/>
            <a:ext cx="5803323" cy="3890357"/>
          </a:xfrm>
          <a:prstGeom prst="rect">
            <a:avLst/>
          </a:prstGeom>
        </p:spPr>
      </p:pic>
      <p:pic>
        <p:nvPicPr>
          <p:cNvPr id="4" name="Content Placeholder 3">
            <a:extLst>
              <a:ext uri="{FF2B5EF4-FFF2-40B4-BE49-F238E27FC236}">
                <a16:creationId xmlns:a16="http://schemas.microsoft.com/office/drawing/2014/main" id="{09E3D833-2E0A-7B69-8DF4-204A6C5EF23C}"/>
              </a:ext>
            </a:extLst>
          </p:cNvPr>
          <p:cNvPicPr>
            <a:picLocks noGrp="1" noChangeAspect="1"/>
          </p:cNvPicPr>
          <p:nvPr>
            <p:ph idx="1"/>
          </p:nvPr>
        </p:nvPicPr>
        <p:blipFill rotWithShape="1">
          <a:blip r:embed="rId3"/>
          <a:srcRect t="-614" b="-347"/>
          <a:stretch/>
        </p:blipFill>
        <p:spPr>
          <a:xfrm>
            <a:off x="6189934" y="1841500"/>
            <a:ext cx="5803323" cy="4457700"/>
          </a:xfrm>
          <a:prstGeom prst="rect">
            <a:avLst/>
          </a:prstGeom>
        </p:spPr>
      </p:pic>
    </p:spTree>
    <p:extLst>
      <p:ext uri="{BB962C8B-B14F-4D97-AF65-F5344CB8AC3E}">
        <p14:creationId xmlns:p14="http://schemas.microsoft.com/office/powerpoint/2010/main" val="17289571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2697480"/>
            <a:ext cx="10515600" cy="1737360"/>
          </a:xfrm>
        </p:spPr>
        <p:txBody>
          <a:bodyPr anchor="t"/>
          <a:lstStyle/>
          <a:p>
            <a:r>
              <a:rPr sz="5400"/>
              <a:t>Discusión</a:t>
            </a:r>
          </a:p>
        </p:txBody>
      </p:sp>
      <p:sp>
        <p:nvSpPr>
          <p:cNvPr id="3" name="TextBox 2"/>
          <p:cNvSpPr txBox="1"/>
          <p:nvPr/>
        </p:nvSpPr>
        <p:spPr>
          <a:xfrm>
            <a:off x="914400" y="2148840"/>
            <a:ext cx="7315200" cy="457200"/>
          </a:xfrm>
          <a:prstGeom prst="rect">
            <a:avLst/>
          </a:prstGeom>
          <a:noFill/>
        </p:spPr>
        <p:txBody>
          <a:bodyPr wrap="square" anchor="t">
            <a:spAutoFit/>
          </a:bodyPr>
          <a:lstStyle/>
          <a:p>
            <a:pPr algn="l"/>
            <a:r>
              <a:rPr sz="2000" b="1" i="0">
                <a:solidFill>
                  <a:srgbClr val="088A3A"/>
                </a:solidFill>
                <a:latin typeface="+mn-lt"/>
              </a:rPr>
              <a:t>Parte 6</a:t>
            </a:r>
            <a:r>
              <a:rPr sz="2000" b="0" i="0">
                <a:solidFill>
                  <a:srgbClr val="595959"/>
                </a:solidFill>
                <a:latin typeface="+mn-lt"/>
              </a:rPr>
              <a:t>  ·  25 min</a:t>
            </a:r>
          </a:p>
        </p:txBody>
      </p:sp>
      <p:sp>
        <p:nvSpPr>
          <p:cNvPr id="4" name="TextBox 3"/>
          <p:cNvSpPr txBox="1"/>
          <p:nvPr/>
        </p:nvSpPr>
        <p:spPr>
          <a:xfrm>
            <a:off x="914400" y="4434840"/>
            <a:ext cx="9601200" cy="457200"/>
          </a:xfrm>
          <a:prstGeom prst="rect">
            <a:avLst/>
          </a:prstGeom>
          <a:noFill/>
        </p:spPr>
        <p:txBody>
          <a:bodyPr wrap="square" anchor="t">
            <a:spAutoFit/>
          </a:bodyPr>
          <a:lstStyle/>
          <a:p>
            <a:pPr algn="l"/>
            <a:r>
              <a:rPr sz="1800" b="0" i="0">
                <a:solidFill>
                  <a:srgbClr val="595959"/>
                </a:solidFill>
                <a:latin typeface="+mn-lt"/>
              </a:rPr>
              <a:t>Preguntas de diseño de política</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Preguntas para la discusión</a:t>
            </a:r>
          </a:p>
        </p:txBody>
      </p:sp>
      <p:sp>
        <p:nvSpPr>
          <p:cNvPr id="3" name="Rounded Rectangle 2"/>
          <p:cNvSpPr/>
          <p:nvPr/>
        </p:nvSpPr>
        <p:spPr>
          <a:xfrm>
            <a:off x="841248" y="1783080"/>
            <a:ext cx="5074920" cy="1874519"/>
          </a:xfrm>
          <a:prstGeom prst="roundRect">
            <a:avLst>
              <a:gd name="adj" fmla="val 6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9848" y="2011680"/>
            <a:ext cx="548640" cy="54864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88A3A"/>
                </a:solidFill>
                <a:latin typeface="+mj-lt"/>
              </a:rPr>
              <a:t>1</a:t>
            </a:r>
          </a:p>
        </p:txBody>
      </p:sp>
      <p:sp>
        <p:nvSpPr>
          <p:cNvPr id="5" name="TextBox 4"/>
          <p:cNvSpPr txBox="1"/>
          <p:nvPr/>
        </p:nvSpPr>
        <p:spPr>
          <a:xfrm>
            <a:off x="1801368" y="2029967"/>
            <a:ext cx="3931920" cy="502920"/>
          </a:xfrm>
          <a:prstGeom prst="rect">
            <a:avLst/>
          </a:prstGeom>
          <a:noFill/>
        </p:spPr>
        <p:txBody>
          <a:bodyPr wrap="square" anchor="ctr">
            <a:spAutoFit/>
          </a:bodyPr>
          <a:lstStyle/>
          <a:p>
            <a:pPr algn="l"/>
            <a:r>
              <a:rPr sz="1800" b="1" i="0">
                <a:solidFill>
                  <a:srgbClr val="00323F"/>
                </a:solidFill>
                <a:latin typeface="+mn-lt"/>
              </a:rPr>
              <a:t>Precio o cantidad</a:t>
            </a:r>
          </a:p>
        </p:txBody>
      </p:sp>
      <p:sp>
        <p:nvSpPr>
          <p:cNvPr id="6" name="TextBox 5"/>
          <p:cNvSpPr txBox="1"/>
          <p:nvPr/>
        </p:nvSpPr>
        <p:spPr>
          <a:xfrm>
            <a:off x="1801368" y="2560320"/>
            <a:ext cx="3931920" cy="1005840"/>
          </a:xfrm>
          <a:prstGeom prst="rect">
            <a:avLst/>
          </a:prstGeom>
          <a:noFill/>
        </p:spPr>
        <p:txBody>
          <a:bodyPr wrap="square" anchor="t">
            <a:spAutoFit/>
          </a:bodyPr>
          <a:lstStyle/>
          <a:p>
            <a:pPr algn="l"/>
            <a:r>
              <a:rPr sz="1400" b="0" i="0">
                <a:solidFill>
                  <a:srgbClr val="333333"/>
                </a:solidFill>
                <a:latin typeface="+mn-lt"/>
              </a:rPr>
              <a:t>Con costos marginales de abatimiento inciertos, ¿qué le conviene a Colombia: impuesto, cupos o ambos? (Weitzman, 1974)</a:t>
            </a:r>
          </a:p>
        </p:txBody>
      </p:sp>
      <p:sp>
        <p:nvSpPr>
          <p:cNvPr id="7" name="Rounded Rectangle 6"/>
          <p:cNvSpPr/>
          <p:nvPr/>
        </p:nvSpPr>
        <p:spPr>
          <a:xfrm>
            <a:off x="6281928" y="1783080"/>
            <a:ext cx="5074920" cy="1874519"/>
          </a:xfrm>
          <a:prstGeom prst="roundRect">
            <a:avLst>
              <a:gd name="adj" fmla="val 6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510528" y="2011680"/>
            <a:ext cx="548640" cy="54864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88A3A"/>
                </a:solidFill>
                <a:latin typeface="+mj-lt"/>
              </a:rPr>
              <a:t>2</a:t>
            </a:r>
          </a:p>
        </p:txBody>
      </p:sp>
      <p:sp>
        <p:nvSpPr>
          <p:cNvPr id="9" name="TextBox 8"/>
          <p:cNvSpPr txBox="1"/>
          <p:nvPr/>
        </p:nvSpPr>
        <p:spPr>
          <a:xfrm>
            <a:off x="7242048" y="2029967"/>
            <a:ext cx="3931920" cy="502920"/>
          </a:xfrm>
          <a:prstGeom prst="rect">
            <a:avLst/>
          </a:prstGeom>
          <a:noFill/>
        </p:spPr>
        <p:txBody>
          <a:bodyPr wrap="square" anchor="ctr">
            <a:spAutoFit/>
          </a:bodyPr>
          <a:lstStyle/>
          <a:p>
            <a:pPr algn="l"/>
            <a:r>
              <a:rPr sz="1800" b="1" i="0">
                <a:solidFill>
                  <a:srgbClr val="00323F"/>
                </a:solidFill>
                <a:latin typeface="+mn-lt"/>
              </a:rPr>
              <a:t>Piso de precio</a:t>
            </a:r>
          </a:p>
        </p:txBody>
      </p:sp>
      <p:sp>
        <p:nvSpPr>
          <p:cNvPr id="10" name="TextBox 9"/>
          <p:cNvSpPr txBox="1"/>
          <p:nvPr/>
        </p:nvSpPr>
        <p:spPr>
          <a:xfrm>
            <a:off x="7242048" y="2560320"/>
            <a:ext cx="3931920" cy="738664"/>
          </a:xfrm>
          <a:prstGeom prst="rect">
            <a:avLst/>
          </a:prstGeom>
          <a:noFill/>
        </p:spPr>
        <p:txBody>
          <a:bodyPr wrap="square" anchor="t">
            <a:spAutoFit/>
          </a:bodyPr>
          <a:lstStyle/>
          <a:p>
            <a:pPr algn="l"/>
            <a:r>
              <a:rPr sz="1400" b="0" i="0" dirty="0">
                <a:solidFill>
                  <a:srgbClr val="333333"/>
                </a:solidFill>
                <a:latin typeface="+mn-lt"/>
              </a:rPr>
              <a:t>El PNCTE </a:t>
            </a:r>
            <a:r>
              <a:rPr lang="es-419" sz="1400" b="0" i="0" dirty="0">
                <a:solidFill>
                  <a:srgbClr val="333333"/>
                </a:solidFill>
                <a:latin typeface="+mn-lt"/>
              </a:rPr>
              <a:t>toma</a:t>
            </a:r>
            <a:r>
              <a:rPr sz="1400" b="0" i="0" dirty="0">
                <a:solidFill>
                  <a:srgbClr val="333333"/>
                </a:solidFill>
                <a:latin typeface="+mn-lt"/>
              </a:rPr>
              <a:t> el </a:t>
            </a:r>
            <a:r>
              <a:rPr sz="1400" b="0" i="0" dirty="0" err="1">
                <a:solidFill>
                  <a:srgbClr val="333333"/>
                </a:solidFill>
                <a:latin typeface="+mn-lt"/>
              </a:rPr>
              <a:t>impuesto</a:t>
            </a:r>
            <a:r>
              <a:rPr sz="1400" b="0" i="0" dirty="0">
                <a:solidFill>
                  <a:srgbClr val="333333"/>
                </a:solidFill>
                <a:latin typeface="+mn-lt"/>
              </a:rPr>
              <a:t> al </a:t>
            </a:r>
            <a:r>
              <a:rPr sz="1400" b="0" i="0" dirty="0" err="1">
                <a:solidFill>
                  <a:srgbClr val="333333"/>
                </a:solidFill>
                <a:latin typeface="+mn-lt"/>
              </a:rPr>
              <a:t>carbono</a:t>
            </a:r>
            <a:r>
              <a:rPr sz="1400" b="0" i="0" dirty="0">
                <a:solidFill>
                  <a:srgbClr val="333333"/>
                </a:solidFill>
                <a:latin typeface="+mn-lt"/>
              </a:rPr>
              <a:t> </a:t>
            </a:r>
            <a:r>
              <a:rPr sz="1400" b="0" i="0" dirty="0" err="1">
                <a:solidFill>
                  <a:srgbClr val="333333"/>
                </a:solidFill>
                <a:latin typeface="+mn-lt"/>
              </a:rPr>
              <a:t>como</a:t>
            </a:r>
            <a:r>
              <a:rPr sz="1400" b="0" i="0" dirty="0">
                <a:solidFill>
                  <a:srgbClr val="333333"/>
                </a:solidFill>
                <a:latin typeface="+mn-lt"/>
              </a:rPr>
              <a:t> </a:t>
            </a:r>
            <a:r>
              <a:rPr sz="1400" b="0" i="0" dirty="0" err="1">
                <a:solidFill>
                  <a:srgbClr val="333333"/>
                </a:solidFill>
                <a:latin typeface="+mn-lt"/>
              </a:rPr>
              <a:t>precio</a:t>
            </a:r>
            <a:r>
              <a:rPr sz="1400" b="0" i="0" dirty="0">
                <a:solidFill>
                  <a:srgbClr val="333333"/>
                </a:solidFill>
                <a:latin typeface="+mn-lt"/>
              </a:rPr>
              <a:t> </a:t>
            </a:r>
            <a:r>
              <a:rPr lang="es-419" sz="1400" b="0" i="0" dirty="0">
                <a:solidFill>
                  <a:srgbClr val="333333"/>
                </a:solidFill>
                <a:latin typeface="+mn-lt"/>
              </a:rPr>
              <a:t>de referencia</a:t>
            </a:r>
            <a:r>
              <a:rPr sz="1400" b="0" i="0" dirty="0">
                <a:solidFill>
                  <a:srgbClr val="333333"/>
                </a:solidFill>
                <a:latin typeface="+mn-lt"/>
              </a:rPr>
              <a:t> de </a:t>
            </a:r>
            <a:r>
              <a:rPr sz="1400" b="0" i="0" dirty="0" err="1">
                <a:solidFill>
                  <a:srgbClr val="333333"/>
                </a:solidFill>
                <a:latin typeface="+mn-lt"/>
              </a:rPr>
              <a:t>subasta</a:t>
            </a:r>
            <a:r>
              <a:rPr sz="1400" b="0" i="0" dirty="0">
                <a:solidFill>
                  <a:srgbClr val="333333"/>
                </a:solidFill>
                <a:latin typeface="+mn-lt"/>
              </a:rPr>
              <a:t>. ¿</a:t>
            </a:r>
            <a:r>
              <a:rPr lang="es-419" sz="1400" b="0" i="0" dirty="0">
                <a:solidFill>
                  <a:srgbClr val="333333"/>
                </a:solidFill>
                <a:latin typeface="+mn-lt"/>
              </a:rPr>
              <a:t>Debería ser un piso obligatorio? </a:t>
            </a:r>
            <a:r>
              <a:rPr lang="es-419" sz="1400" dirty="0">
                <a:solidFill>
                  <a:srgbClr val="333333"/>
                </a:solidFill>
              </a:rPr>
              <a:t>¿y un Techo?</a:t>
            </a:r>
            <a:endParaRPr sz="1400" b="0" i="0" dirty="0">
              <a:solidFill>
                <a:srgbClr val="333333"/>
              </a:solidFill>
              <a:latin typeface="+mn-lt"/>
            </a:endParaRPr>
          </a:p>
        </p:txBody>
      </p:sp>
      <p:sp>
        <p:nvSpPr>
          <p:cNvPr id="11" name="Rounded Rectangle 10"/>
          <p:cNvSpPr/>
          <p:nvPr/>
        </p:nvSpPr>
        <p:spPr>
          <a:xfrm>
            <a:off x="841248" y="3886200"/>
            <a:ext cx="5074920" cy="1874519"/>
          </a:xfrm>
          <a:prstGeom prst="roundRect">
            <a:avLst>
              <a:gd name="adj" fmla="val 6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69848" y="4114800"/>
            <a:ext cx="548640" cy="54864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88A3A"/>
                </a:solidFill>
                <a:latin typeface="+mj-lt"/>
              </a:rPr>
              <a:t>3</a:t>
            </a:r>
          </a:p>
        </p:txBody>
      </p:sp>
      <p:sp>
        <p:nvSpPr>
          <p:cNvPr id="13" name="TextBox 12"/>
          <p:cNvSpPr txBox="1"/>
          <p:nvPr/>
        </p:nvSpPr>
        <p:spPr>
          <a:xfrm>
            <a:off x="1801368" y="4133087"/>
            <a:ext cx="3931920" cy="502920"/>
          </a:xfrm>
          <a:prstGeom prst="rect">
            <a:avLst/>
          </a:prstGeom>
          <a:noFill/>
        </p:spPr>
        <p:txBody>
          <a:bodyPr wrap="square" anchor="ctr">
            <a:spAutoFit/>
          </a:bodyPr>
          <a:lstStyle/>
          <a:p>
            <a:pPr algn="l"/>
            <a:r>
              <a:rPr sz="1800" b="1" i="0">
                <a:solidFill>
                  <a:srgbClr val="00323F"/>
                </a:solidFill>
                <a:latin typeface="+mn-lt"/>
              </a:rPr>
              <a:t>Adicionalidad</a:t>
            </a:r>
          </a:p>
        </p:txBody>
      </p:sp>
      <p:sp>
        <p:nvSpPr>
          <p:cNvPr id="14" name="TextBox 13"/>
          <p:cNvSpPr txBox="1"/>
          <p:nvPr/>
        </p:nvSpPr>
        <p:spPr>
          <a:xfrm>
            <a:off x="1801368" y="4663440"/>
            <a:ext cx="3931920" cy="1005840"/>
          </a:xfrm>
          <a:prstGeom prst="rect">
            <a:avLst/>
          </a:prstGeom>
          <a:noFill/>
        </p:spPr>
        <p:txBody>
          <a:bodyPr wrap="square" anchor="t">
            <a:spAutoFit/>
          </a:bodyPr>
          <a:lstStyle/>
          <a:p>
            <a:pPr algn="l"/>
            <a:r>
              <a:rPr sz="1400" b="0" i="0">
                <a:solidFill>
                  <a:srgbClr val="333333"/>
                </a:solidFill>
                <a:latin typeface="+mn-lt"/>
              </a:rPr>
              <a:t>El desarrollador conoce su línea base mejor que el regulador. ¿Cómo diseñar un mercado de compensaciones con información asimétrica?</a:t>
            </a:r>
          </a:p>
        </p:txBody>
      </p:sp>
      <p:sp>
        <p:nvSpPr>
          <p:cNvPr id="15" name="Rounded Rectangle 14"/>
          <p:cNvSpPr/>
          <p:nvPr/>
        </p:nvSpPr>
        <p:spPr>
          <a:xfrm>
            <a:off x="6281928" y="3886200"/>
            <a:ext cx="5074920" cy="1874519"/>
          </a:xfrm>
          <a:prstGeom prst="roundRect">
            <a:avLst>
              <a:gd name="adj" fmla="val 6000"/>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510528" y="4114800"/>
            <a:ext cx="548640" cy="548640"/>
          </a:xfrm>
          <a:prstGeom prst="ellipse">
            <a:avLst/>
          </a:prstGeom>
          <a:solidFill>
            <a:srgbClr val="E3F8E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88A3A"/>
                </a:solidFill>
                <a:latin typeface="+mj-lt"/>
              </a:rPr>
              <a:t>4</a:t>
            </a:r>
          </a:p>
        </p:txBody>
      </p:sp>
      <p:sp>
        <p:nvSpPr>
          <p:cNvPr id="17" name="TextBox 16"/>
          <p:cNvSpPr txBox="1"/>
          <p:nvPr/>
        </p:nvSpPr>
        <p:spPr>
          <a:xfrm>
            <a:off x="7242048" y="4133087"/>
            <a:ext cx="3931920" cy="502920"/>
          </a:xfrm>
          <a:prstGeom prst="rect">
            <a:avLst/>
          </a:prstGeom>
          <a:noFill/>
        </p:spPr>
        <p:txBody>
          <a:bodyPr wrap="square" anchor="ctr">
            <a:spAutoFit/>
          </a:bodyPr>
          <a:lstStyle/>
          <a:p>
            <a:pPr algn="l"/>
            <a:r>
              <a:rPr sz="1800" b="1" i="0">
                <a:solidFill>
                  <a:srgbClr val="00323F"/>
                </a:solidFill>
                <a:latin typeface="+mn-lt"/>
              </a:rPr>
              <a:t>Asignación de permisos</a:t>
            </a:r>
          </a:p>
        </p:txBody>
      </p:sp>
      <p:sp>
        <p:nvSpPr>
          <p:cNvPr id="18" name="TextBox 17"/>
          <p:cNvSpPr txBox="1"/>
          <p:nvPr/>
        </p:nvSpPr>
        <p:spPr>
          <a:xfrm>
            <a:off x="7242048" y="4663440"/>
            <a:ext cx="3931920" cy="1005840"/>
          </a:xfrm>
          <a:prstGeom prst="rect">
            <a:avLst/>
          </a:prstGeom>
          <a:noFill/>
        </p:spPr>
        <p:txBody>
          <a:bodyPr wrap="square" anchor="t">
            <a:spAutoFit/>
          </a:bodyPr>
          <a:lstStyle/>
          <a:p>
            <a:pPr algn="l"/>
            <a:r>
              <a:rPr sz="1400" b="0" i="0">
                <a:solidFill>
                  <a:srgbClr val="333333"/>
                </a:solidFill>
                <a:latin typeface="+mn-lt"/>
              </a:rPr>
              <a:t>¿Subastar o asignar gratis? Efectos distributivos, competitividad y fuga de carbono.</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0A48-1147-37C1-0CF4-0512F5E12684}"/>
              </a:ext>
            </a:extLst>
          </p:cNvPr>
          <p:cNvSpPr>
            <a:spLocks noGrp="1"/>
          </p:cNvSpPr>
          <p:nvPr>
            <p:ph type="title"/>
          </p:nvPr>
        </p:nvSpPr>
        <p:spPr>
          <a:xfrm>
            <a:off x="838200" y="2766218"/>
            <a:ext cx="10515600" cy="1325563"/>
          </a:xfrm>
        </p:spPr>
        <p:txBody>
          <a:bodyPr/>
          <a:lstStyle/>
          <a:p>
            <a:pPr algn="ctr"/>
            <a:r>
              <a:rPr lang="es-ES_tradnl" dirty="0"/>
              <a:t>¿Preguntas?</a:t>
            </a:r>
          </a:p>
        </p:txBody>
      </p:sp>
    </p:spTree>
    <p:extLst>
      <p:ext uri="{BB962C8B-B14F-4D97-AF65-F5344CB8AC3E}">
        <p14:creationId xmlns:p14="http://schemas.microsoft.com/office/powerpoint/2010/main" val="154596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9235</TotalTime>
  <Words>6286</Words>
  <Application>Microsoft Macintosh PowerPoint</Application>
  <PresentationFormat>Widescreen</PresentationFormat>
  <Paragraphs>504</Paragraphs>
  <Slides>54</Slides>
  <Notes>28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Aptos</vt:lpstr>
      <vt:lpstr>Aptos Display</vt:lpstr>
      <vt:lpstr>Arial</vt:lpstr>
      <vt:lpstr>Calibri</vt:lpstr>
      <vt:lpstr>Cambria Math</vt:lpstr>
      <vt:lpstr>Lato Black</vt:lpstr>
      <vt:lpstr>Times New Roman</vt:lpstr>
      <vt:lpstr>Office Theme</vt:lpstr>
      <vt:lpstr>Mercados de Carbono</vt:lpstr>
      <vt:lpstr>Agenda</vt:lpstr>
      <vt:lpstr>PowerPoint Presentation</vt:lpstr>
      <vt:lpstr>Fundamentos económicos</vt:lpstr>
      <vt:lpstr>PowerPoint Presentation</vt:lpstr>
      <vt:lpstr>Comparación con impuestos pigouvianos</vt:lpstr>
      <vt:lpstr>Mercados de Carbono (Cap and Trade)</vt:lpstr>
      <vt:lpstr>Cap and Trade (CAP)</vt:lpstr>
      <vt:lpstr>PowerPoint Presentation</vt:lpstr>
      <vt:lpstr>PowerPoint Presentation</vt:lpstr>
      <vt:lpstr>De Kioto a París</vt:lpstr>
      <vt:lpstr>Más siglas: ¿qué significan?</vt:lpstr>
      <vt:lpstr>¿Qué es un bono de carbono?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¿Quiénes venden y quienes compran?</vt:lpstr>
      <vt:lpstr>¿Qué pasó en la COP 26?</vt:lpstr>
      <vt:lpstr>Mercados regulados y voluntarios</vt:lpstr>
      <vt:lpstr>PowerPoint Presentation</vt:lpstr>
      <vt:lpstr>Mercados Regulados</vt:lpstr>
      <vt:lpstr>Instrumentos de precios de carbono en el mercado regulado, 2024.</vt:lpstr>
      <vt:lpstr>Precios del carbono en el mercado de regulado</vt:lpstr>
      <vt:lpstr>Precios internos del carbono </vt:lpstr>
      <vt:lpstr>Mercados Voluntarios</vt:lpstr>
      <vt:lpstr>Mercado voluntario de carbono</vt:lpstr>
      <vt:lpstr>Precios de los créditos de carbono en 2019 por tipo de proyecto</vt:lpstr>
      <vt:lpstr>Volumen de créditos negociados en tCO2.</vt:lpstr>
      <vt:lpstr>Mecanismos y estándares de acreditación independientes.</vt:lpstr>
      <vt:lpstr>Colombia</vt:lpstr>
      <vt:lpstr>PowerPoint Presentation</vt:lpstr>
      <vt:lpstr>PowerPoint Presentation</vt:lpstr>
      <vt:lpstr>PowerPoint Presentation</vt:lpstr>
      <vt:lpstr>¿En qué va la regulación del mercado de carbono?</vt:lpstr>
      <vt:lpstr>PowerPoint Presentation</vt:lpstr>
      <vt:lpstr>PowerPoint Presentation</vt:lpstr>
      <vt:lpstr>Casos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Resultados en deforestación</vt:lpstr>
      <vt:lpstr>Resultados en cultivos de coca</vt:lpstr>
      <vt:lpstr>Discusión</vt:lpstr>
      <vt:lpstr>Preguntas para la discusión</vt:lpstr>
      <vt:lpstr>¿Preguntas?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Mercados de Carbono</dc:title>
  <dc:creator>Brigitte Castañeda Rodriguez</dc:creator>
  <cp:lastModifiedBy>Brigitte Castañeda</cp:lastModifiedBy>
  <cp:revision>3</cp:revision>
  <dcterms:created xsi:type="dcterms:W3CDTF">2025-03-26T18:46:08Z</dcterms:created>
  <dcterms:modified xsi:type="dcterms:W3CDTF">2026-10-27T22:34:48Z</dcterms:modified>
</cp:coreProperties>
</file>