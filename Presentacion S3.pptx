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8"/>
  </p:notesMasterIdLst>
  <p:sldIdLst>
    <p:sldId id="256" r:id="rId2"/>
    <p:sldId id="292" r:id="rId3"/>
    <p:sldId id="257" r:id="rId4"/>
    <p:sldId id="258" r:id="rId5"/>
    <p:sldId id="259" r:id="rId6"/>
    <p:sldId id="290" r:id="rId7"/>
    <p:sldId id="293" r:id="rId8"/>
    <p:sldId id="289" r:id="rId9"/>
    <p:sldId id="287" r:id="rId10"/>
    <p:sldId id="288" r:id="rId11"/>
    <p:sldId id="260" r:id="rId12"/>
    <p:sldId id="261" r:id="rId13"/>
    <p:sldId id="262" r:id="rId14"/>
    <p:sldId id="274" r:id="rId15"/>
    <p:sldId id="263" r:id="rId16"/>
    <p:sldId id="294" r:id="rId17"/>
    <p:sldId id="295" r:id="rId18"/>
    <p:sldId id="296" r:id="rId19"/>
    <p:sldId id="264" r:id="rId20"/>
    <p:sldId id="267" r:id="rId21"/>
    <p:sldId id="268" r:id="rId22"/>
    <p:sldId id="277" r:id="rId23"/>
    <p:sldId id="278" r:id="rId24"/>
    <p:sldId id="282" r:id="rId25"/>
    <p:sldId id="279" r:id="rId26"/>
    <p:sldId id="269" r:id="rId27"/>
    <p:sldId id="281" r:id="rId28"/>
    <p:sldId id="280" r:id="rId29"/>
    <p:sldId id="297" r:id="rId30"/>
    <p:sldId id="275" r:id="rId31"/>
    <p:sldId id="272" r:id="rId32"/>
    <p:sldId id="276" r:id="rId33"/>
    <p:sldId id="270" r:id="rId34"/>
    <p:sldId id="273" r:id="rId35"/>
    <p:sldId id="265" r:id="rId36"/>
    <p:sldId id="266" r:id="rId37"/>
  </p:sldIdLst>
  <p:sldSz cx="9144000" cy="6858000" type="screen4x3"/>
  <p:notesSz cx="9144000" cy="6858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3C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69AE2D5-4037-3A4B-BA01-2DF16E135385}" v="58" dt="2026-08-19T19:37:08.615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577"/>
    <p:restoredTop sz="94499"/>
  </p:normalViewPr>
  <p:slideViewPr>
    <p:cSldViewPr>
      <p:cViewPr varScale="1">
        <p:scale>
          <a:sx n="172" d="100"/>
          <a:sy n="172" d="100"/>
        </p:scale>
        <p:origin x="1696" y="192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-12008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E1DD36-DEAD-4577-BA7B-968917BB4B1E}" type="datetimeFigureOut">
              <a:rPr lang="es-CO" smtClean="0"/>
              <a:t>19/08/26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CCA1BD-EE56-49B3-B7B0-BAB2B5B13680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386573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CCA1BD-EE56-49B3-B7B0-BAB2B5B13680}" type="slidenum">
              <a:rPr lang="es-CO" smtClean="0"/>
              <a:t>14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235924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CCA1BD-EE56-49B3-B7B0-BAB2B5B13680}" type="slidenum">
              <a:rPr lang="es-CO" smtClean="0"/>
              <a:t>25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345941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CCA1BD-EE56-49B3-B7B0-BAB2B5B13680}" type="slidenum">
              <a:rPr lang="es-CO" smtClean="0"/>
              <a:t>27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224302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CCA1BD-EE56-49B3-B7B0-BAB2B5B13680}" type="slidenum">
              <a:rPr lang="es-CO" smtClean="0"/>
              <a:t>29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954891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CCA1BD-EE56-49B3-B7B0-BAB2B5B13680}" type="slidenum">
              <a:rPr lang="es-CO" smtClean="0"/>
              <a:t>32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955720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48055" y="441198"/>
            <a:ext cx="2719705" cy="108585"/>
          </a:xfrm>
          <a:custGeom>
            <a:avLst/>
            <a:gdLst/>
            <a:ahLst/>
            <a:cxnLst/>
            <a:rect l="l" t="t" r="r" b="b"/>
            <a:pathLst>
              <a:path w="2719705" h="108584">
                <a:moveTo>
                  <a:pt x="2719578" y="0"/>
                </a:moveTo>
                <a:lnTo>
                  <a:pt x="0" y="0"/>
                </a:lnTo>
                <a:lnTo>
                  <a:pt x="0" y="108203"/>
                </a:lnTo>
                <a:lnTo>
                  <a:pt x="2719578" y="108203"/>
                </a:lnTo>
                <a:lnTo>
                  <a:pt x="2719578" y="0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5976365" y="441198"/>
            <a:ext cx="2710815" cy="108585"/>
          </a:xfrm>
          <a:custGeom>
            <a:avLst/>
            <a:gdLst/>
            <a:ahLst/>
            <a:cxnLst/>
            <a:rect l="l" t="t" r="r" b="b"/>
            <a:pathLst>
              <a:path w="2710815" h="108584">
                <a:moveTo>
                  <a:pt x="2710434" y="0"/>
                </a:moveTo>
                <a:lnTo>
                  <a:pt x="0" y="0"/>
                </a:lnTo>
                <a:lnTo>
                  <a:pt x="0" y="108203"/>
                </a:lnTo>
                <a:lnTo>
                  <a:pt x="2710434" y="108203"/>
                </a:lnTo>
                <a:lnTo>
                  <a:pt x="2710434" y="0"/>
                </a:lnTo>
                <a:close/>
              </a:path>
            </a:pathLst>
          </a:custGeom>
          <a:solidFill>
            <a:srgbClr val="959F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216401" y="441198"/>
            <a:ext cx="2711450" cy="108585"/>
          </a:xfrm>
          <a:custGeom>
            <a:avLst/>
            <a:gdLst/>
            <a:ahLst/>
            <a:cxnLst/>
            <a:rect l="l" t="t" r="r" b="b"/>
            <a:pathLst>
              <a:path w="2711450" h="108584">
                <a:moveTo>
                  <a:pt x="2711196" y="0"/>
                </a:moveTo>
                <a:lnTo>
                  <a:pt x="0" y="0"/>
                </a:lnTo>
                <a:lnTo>
                  <a:pt x="0" y="108203"/>
                </a:lnTo>
                <a:lnTo>
                  <a:pt x="2711196" y="108203"/>
                </a:lnTo>
                <a:lnTo>
                  <a:pt x="2711196" y="0"/>
                </a:lnTo>
                <a:close/>
              </a:path>
            </a:pathLst>
          </a:custGeom>
          <a:solidFill>
            <a:srgbClr val="4590B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8055" y="599694"/>
            <a:ext cx="8239125" cy="1259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36854" y="2156967"/>
            <a:ext cx="5548630" cy="18605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0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0.png"/><Relationship Id="rId3" Type="http://schemas.openxmlformats.org/officeDocument/2006/relationships/image" Target="../media/image170.png"/><Relationship Id="rId7" Type="http://schemas.openxmlformats.org/officeDocument/2006/relationships/image" Target="../media/image211.png"/><Relationship Id="rId12" Type="http://schemas.openxmlformats.org/officeDocument/2006/relationships/image" Target="../media/image26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0.png"/><Relationship Id="rId11" Type="http://schemas.openxmlformats.org/officeDocument/2006/relationships/image" Target="../media/image25.png"/><Relationship Id="rId5" Type="http://schemas.openxmlformats.org/officeDocument/2006/relationships/image" Target="../media/image22.png"/><Relationship Id="rId10" Type="http://schemas.openxmlformats.org/officeDocument/2006/relationships/image" Target="../media/image24.png"/><Relationship Id="rId4" Type="http://schemas.openxmlformats.org/officeDocument/2006/relationships/image" Target="../media/image181.png"/><Relationship Id="rId9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pages.stern.nyu.edu/~adamodar/New_Home_Page/risk/riskaversion.htm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42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28.png"/><Relationship Id="rId9" Type="http://schemas.openxmlformats.org/officeDocument/2006/relationships/image" Target="../media/image3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ages.stern.nyu.edu/~adamodar/New_Home_Page/risk/riskaversion.htm" TargetMode="Externa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55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12" Type="http://schemas.openxmlformats.org/officeDocument/2006/relationships/image" Target="../media/image40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11" Type="http://schemas.openxmlformats.org/officeDocument/2006/relationships/image" Target="../media/image53.png"/><Relationship Id="rId5" Type="http://schemas.openxmlformats.org/officeDocument/2006/relationships/image" Target="../media/image47.png"/><Relationship Id="rId10" Type="http://schemas.openxmlformats.org/officeDocument/2006/relationships/image" Target="../media/image52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Relationship Id="rId14" Type="http://schemas.openxmlformats.org/officeDocument/2006/relationships/image" Target="../media/image5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250.png"/><Relationship Id="rId7" Type="http://schemas.openxmlformats.org/officeDocument/2006/relationships/image" Target="../media/image58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7.png"/><Relationship Id="rId5" Type="http://schemas.openxmlformats.org/officeDocument/2006/relationships/image" Target="../media/image270.png"/><Relationship Id="rId4" Type="http://schemas.openxmlformats.org/officeDocument/2006/relationships/image" Target="../media/image260.png"/><Relationship Id="rId9" Type="http://schemas.openxmlformats.org/officeDocument/2006/relationships/image" Target="../media/image31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67.png"/><Relationship Id="rId18" Type="http://schemas.openxmlformats.org/officeDocument/2006/relationships/image" Target="../media/image72.png"/><Relationship Id="rId3" Type="http://schemas.openxmlformats.org/officeDocument/2006/relationships/image" Target="../media/image34.png"/><Relationship Id="rId21" Type="http://schemas.openxmlformats.org/officeDocument/2006/relationships/image" Target="../media/image75.png"/><Relationship Id="rId7" Type="http://schemas.openxmlformats.org/officeDocument/2006/relationships/image" Target="../media/image65.png"/><Relationship Id="rId12" Type="http://schemas.openxmlformats.org/officeDocument/2006/relationships/image" Target="../media/image66.png"/><Relationship Id="rId17" Type="http://schemas.openxmlformats.org/officeDocument/2006/relationships/image" Target="../media/image71.png"/><Relationship Id="rId25" Type="http://schemas.openxmlformats.org/officeDocument/2006/relationships/image" Target="../media/image79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70.png"/><Relationship Id="rId20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11" Type="http://schemas.openxmlformats.org/officeDocument/2006/relationships/image" Target="../media/image39.png"/><Relationship Id="rId24" Type="http://schemas.openxmlformats.org/officeDocument/2006/relationships/image" Target="../media/image78.png"/><Relationship Id="rId5" Type="http://schemas.openxmlformats.org/officeDocument/2006/relationships/image" Target="../media/image61.png"/><Relationship Id="rId15" Type="http://schemas.openxmlformats.org/officeDocument/2006/relationships/image" Target="../media/image69.png"/><Relationship Id="rId23" Type="http://schemas.openxmlformats.org/officeDocument/2006/relationships/image" Target="../media/image77.png"/><Relationship Id="rId10" Type="http://schemas.openxmlformats.org/officeDocument/2006/relationships/image" Target="../media/image38.png"/><Relationship Id="rId19" Type="http://schemas.openxmlformats.org/officeDocument/2006/relationships/image" Target="../media/image73.png"/><Relationship Id="rId4" Type="http://schemas.openxmlformats.org/officeDocument/2006/relationships/image" Target="../media/image64.png"/><Relationship Id="rId9" Type="http://schemas.openxmlformats.org/officeDocument/2006/relationships/image" Target="../media/image36.png"/><Relationship Id="rId14" Type="http://schemas.openxmlformats.org/officeDocument/2006/relationships/image" Target="../media/image68.png"/><Relationship Id="rId22" Type="http://schemas.openxmlformats.org/officeDocument/2006/relationships/image" Target="../media/image76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7" Type="http://schemas.openxmlformats.org/officeDocument/2006/relationships/image" Target="../media/image120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png"/><Relationship Id="rId5" Type="http://schemas.openxmlformats.org/officeDocument/2006/relationships/image" Target="../media/image100.png"/><Relationship Id="rId4" Type="http://schemas.openxmlformats.org/officeDocument/2006/relationships/image" Target="../media/image9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1801" y="736142"/>
            <a:ext cx="1711371" cy="45687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48055" y="3086100"/>
            <a:ext cx="8240395" cy="3320781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2600" dirty="0">
              <a:latin typeface="Times New Roman"/>
              <a:cs typeface="Times New Roman"/>
            </a:endParaRPr>
          </a:p>
          <a:p>
            <a:pPr marL="6985" algn="ctr">
              <a:lnSpc>
                <a:spcPct val="100000"/>
              </a:lnSpc>
            </a:pPr>
            <a:r>
              <a:rPr sz="1800" b="1" spc="175" dirty="0">
                <a:solidFill>
                  <a:srgbClr val="EBEBEB"/>
                </a:solidFill>
                <a:latin typeface="Trebuchet MS"/>
                <a:cs typeface="Trebuchet MS"/>
              </a:rPr>
              <a:t>TEORÍA</a:t>
            </a:r>
            <a:r>
              <a:rPr sz="1800" b="1" spc="-70" dirty="0">
                <a:solidFill>
                  <a:srgbClr val="EBEBEB"/>
                </a:solidFill>
                <a:latin typeface="Trebuchet MS"/>
                <a:cs typeface="Trebuchet MS"/>
              </a:rPr>
              <a:t> </a:t>
            </a:r>
            <a:r>
              <a:rPr sz="1800" b="1" spc="200" dirty="0">
                <a:solidFill>
                  <a:srgbClr val="EBEBEB"/>
                </a:solidFill>
                <a:latin typeface="Trebuchet MS"/>
                <a:cs typeface="Trebuchet MS"/>
              </a:rPr>
              <a:t>DE</a:t>
            </a:r>
            <a:r>
              <a:rPr sz="1800" b="1" spc="-75" dirty="0">
                <a:solidFill>
                  <a:srgbClr val="EBEBEB"/>
                </a:solidFill>
                <a:latin typeface="Trebuchet MS"/>
                <a:cs typeface="Trebuchet MS"/>
              </a:rPr>
              <a:t> </a:t>
            </a:r>
            <a:r>
              <a:rPr sz="1800" b="1" spc="185" dirty="0">
                <a:solidFill>
                  <a:srgbClr val="EBEBEB"/>
                </a:solidFill>
                <a:latin typeface="Trebuchet MS"/>
                <a:cs typeface="Trebuchet MS"/>
              </a:rPr>
              <a:t>LA</a:t>
            </a:r>
            <a:r>
              <a:rPr sz="1800" b="1" spc="-60" dirty="0">
                <a:solidFill>
                  <a:srgbClr val="EBEBEB"/>
                </a:solidFill>
                <a:latin typeface="Trebuchet MS"/>
                <a:cs typeface="Trebuchet MS"/>
              </a:rPr>
              <a:t> </a:t>
            </a:r>
            <a:r>
              <a:rPr sz="1800" b="1" spc="210" dirty="0">
                <a:solidFill>
                  <a:srgbClr val="EBEBEB"/>
                </a:solidFill>
                <a:latin typeface="Trebuchet MS"/>
                <a:cs typeface="Trebuchet MS"/>
              </a:rPr>
              <a:t>DECISIÓN</a:t>
            </a:r>
            <a:endParaRPr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850" dirty="0">
              <a:latin typeface="Trebuchet MS"/>
              <a:cs typeface="Trebuchet MS"/>
            </a:endParaRPr>
          </a:p>
          <a:p>
            <a:pPr marL="7620" algn="ctr">
              <a:lnSpc>
                <a:spcPct val="100000"/>
              </a:lnSpc>
            </a:pPr>
            <a:r>
              <a:rPr sz="1800" b="1" spc="195" dirty="0">
                <a:solidFill>
                  <a:srgbClr val="EBEBEB"/>
                </a:solidFill>
                <a:latin typeface="Trebuchet MS"/>
                <a:cs typeface="Trebuchet MS"/>
              </a:rPr>
              <a:t>SESIÓN</a:t>
            </a:r>
            <a:r>
              <a:rPr sz="1800" b="1" spc="-75" dirty="0">
                <a:solidFill>
                  <a:srgbClr val="EBEBEB"/>
                </a:solidFill>
                <a:latin typeface="Trebuchet MS"/>
                <a:cs typeface="Trebuchet MS"/>
              </a:rPr>
              <a:t> </a:t>
            </a:r>
            <a:r>
              <a:rPr sz="1800" b="1" spc="-5" dirty="0">
                <a:solidFill>
                  <a:srgbClr val="EBEBEB"/>
                </a:solidFill>
                <a:latin typeface="Trebuchet MS"/>
                <a:cs typeface="Trebuchet MS"/>
              </a:rPr>
              <a:t>#</a:t>
            </a:r>
            <a:r>
              <a:rPr sz="1800" b="1" spc="-75" dirty="0">
                <a:solidFill>
                  <a:srgbClr val="EBEBEB"/>
                </a:solidFill>
                <a:latin typeface="Trebuchet MS"/>
                <a:cs typeface="Trebuchet MS"/>
              </a:rPr>
              <a:t> </a:t>
            </a:r>
            <a:r>
              <a:rPr sz="1800" b="1" spc="-65" dirty="0">
                <a:solidFill>
                  <a:srgbClr val="EBEBEB"/>
                </a:solidFill>
                <a:latin typeface="Trebuchet MS"/>
                <a:cs typeface="Trebuchet MS"/>
              </a:rPr>
              <a:t>3</a:t>
            </a:r>
            <a:endParaRPr sz="1800" dirty="0">
              <a:latin typeface="Trebuchet MS"/>
              <a:cs typeface="Trebuchet MS"/>
            </a:endParaRPr>
          </a:p>
          <a:p>
            <a:pPr marL="1285240" marR="1271270" algn="ctr">
              <a:lnSpc>
                <a:spcPct val="200000"/>
              </a:lnSpc>
              <a:spcBef>
                <a:spcPts val="5"/>
              </a:spcBef>
              <a:tabLst>
                <a:tab pos="3710940" algn="l"/>
              </a:tabLst>
            </a:pPr>
            <a:r>
              <a:rPr sz="1800" spc="100" dirty="0">
                <a:solidFill>
                  <a:srgbClr val="EBEBEB"/>
                </a:solidFill>
                <a:latin typeface="Trebuchet MS"/>
                <a:cs typeface="Trebuchet MS"/>
              </a:rPr>
              <a:t>CONCEPTOS</a:t>
            </a:r>
            <a:r>
              <a:rPr sz="1800" spc="-35" dirty="0">
                <a:solidFill>
                  <a:srgbClr val="EBEBEB"/>
                </a:solidFill>
                <a:latin typeface="Trebuchet MS"/>
                <a:cs typeface="Trebuchet MS"/>
              </a:rPr>
              <a:t> </a:t>
            </a:r>
            <a:r>
              <a:rPr sz="1800" spc="65" dirty="0">
                <a:solidFill>
                  <a:srgbClr val="EBEBEB"/>
                </a:solidFill>
                <a:latin typeface="Trebuchet MS"/>
                <a:cs typeface="Trebuchet MS"/>
              </a:rPr>
              <a:t>BÁSICOS	</a:t>
            </a:r>
            <a:r>
              <a:rPr sz="1800" spc="90" dirty="0">
                <a:solidFill>
                  <a:srgbClr val="EBEBEB"/>
                </a:solidFill>
                <a:latin typeface="Trebuchet MS"/>
                <a:cs typeface="Trebuchet MS"/>
              </a:rPr>
              <a:t>DE</a:t>
            </a:r>
            <a:r>
              <a:rPr sz="1800" spc="220" dirty="0">
                <a:solidFill>
                  <a:srgbClr val="EBEBEB"/>
                </a:solidFill>
                <a:latin typeface="Trebuchet MS"/>
                <a:cs typeface="Trebuchet MS"/>
              </a:rPr>
              <a:t> </a:t>
            </a:r>
            <a:r>
              <a:rPr sz="1800" spc="60" dirty="0">
                <a:solidFill>
                  <a:srgbClr val="EBEBEB"/>
                </a:solidFill>
                <a:latin typeface="Trebuchet MS"/>
                <a:cs typeface="Trebuchet MS"/>
              </a:rPr>
              <a:t>TEORÍA</a:t>
            </a:r>
            <a:r>
              <a:rPr sz="1800" spc="-45" dirty="0">
                <a:solidFill>
                  <a:srgbClr val="EBEBEB"/>
                </a:solidFill>
                <a:latin typeface="Trebuchet MS"/>
                <a:cs typeface="Trebuchet MS"/>
              </a:rPr>
              <a:t> </a:t>
            </a:r>
            <a:r>
              <a:rPr sz="1800" spc="90" dirty="0">
                <a:solidFill>
                  <a:srgbClr val="EBEBEB"/>
                </a:solidFill>
                <a:latin typeface="Trebuchet MS"/>
                <a:cs typeface="Trebuchet MS"/>
              </a:rPr>
              <a:t>DE</a:t>
            </a:r>
            <a:r>
              <a:rPr sz="1800" spc="-55" dirty="0">
                <a:solidFill>
                  <a:srgbClr val="EBEBEB"/>
                </a:solidFill>
                <a:latin typeface="Trebuchet MS"/>
                <a:cs typeface="Trebuchet MS"/>
              </a:rPr>
              <a:t> </a:t>
            </a:r>
            <a:r>
              <a:rPr sz="1800" spc="50" dirty="0">
                <a:solidFill>
                  <a:srgbClr val="EBEBEB"/>
                </a:solidFill>
                <a:latin typeface="Trebuchet MS"/>
                <a:cs typeface="Trebuchet MS"/>
              </a:rPr>
              <a:t>LA</a:t>
            </a:r>
            <a:r>
              <a:rPr sz="1800" spc="-55" dirty="0">
                <a:solidFill>
                  <a:srgbClr val="EBEBEB"/>
                </a:solidFill>
                <a:latin typeface="Trebuchet MS"/>
                <a:cs typeface="Trebuchet MS"/>
              </a:rPr>
              <a:t> </a:t>
            </a:r>
            <a:r>
              <a:rPr sz="1800" spc="65" dirty="0">
                <a:solidFill>
                  <a:srgbClr val="EBEBEB"/>
                </a:solidFill>
                <a:latin typeface="Trebuchet MS"/>
                <a:cs typeface="Trebuchet MS"/>
              </a:rPr>
              <a:t>UTILIDAD</a:t>
            </a:r>
            <a:r>
              <a:rPr sz="1800" spc="-40" dirty="0">
                <a:solidFill>
                  <a:srgbClr val="EBEBEB"/>
                </a:solidFill>
                <a:latin typeface="Trebuchet MS"/>
                <a:cs typeface="Trebuchet MS"/>
              </a:rPr>
              <a:t> </a:t>
            </a:r>
            <a:r>
              <a:rPr sz="1800" spc="-70" dirty="0">
                <a:solidFill>
                  <a:srgbClr val="EBEBEB"/>
                </a:solidFill>
                <a:latin typeface="Trebuchet MS"/>
                <a:cs typeface="Trebuchet MS"/>
              </a:rPr>
              <a:t>(II) </a:t>
            </a:r>
            <a:r>
              <a:rPr sz="1800" spc="-525" dirty="0">
                <a:solidFill>
                  <a:srgbClr val="EBEBEB"/>
                </a:solidFill>
                <a:latin typeface="Trebuchet MS"/>
                <a:cs typeface="Trebuchet MS"/>
              </a:rPr>
              <a:t> </a:t>
            </a:r>
            <a:r>
              <a:rPr lang="es-CO" spc="100" dirty="0">
                <a:solidFill>
                  <a:srgbClr val="EBEBEB"/>
                </a:solidFill>
                <a:latin typeface="Trebuchet MS"/>
                <a:cs typeface="Trebuchet MS"/>
              </a:rPr>
              <a:t>Brigitte </a:t>
            </a:r>
            <a:endParaRPr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1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400" dirty="0">
              <a:latin typeface="Trebuchet MS"/>
              <a:cs typeface="Trebuchet MS"/>
            </a:endParaRPr>
          </a:p>
          <a:p>
            <a:pPr marL="187325" algn="ctr">
              <a:lnSpc>
                <a:spcPct val="100000"/>
              </a:lnSpc>
            </a:pPr>
            <a:r>
              <a:rPr sz="900" i="1" spc="-105" dirty="0">
                <a:solidFill>
                  <a:srgbClr val="D9D9D9"/>
                </a:solidFill>
                <a:latin typeface="Arial"/>
                <a:cs typeface="Arial"/>
              </a:rPr>
              <a:t>Un</a:t>
            </a:r>
            <a:r>
              <a:rPr sz="900" i="1" spc="-45" dirty="0">
                <a:solidFill>
                  <a:srgbClr val="D9D9D9"/>
                </a:solidFill>
                <a:latin typeface="Arial"/>
                <a:cs typeface="Arial"/>
              </a:rPr>
              <a:t>i</a:t>
            </a:r>
            <a:r>
              <a:rPr sz="900" i="1" spc="-85" dirty="0">
                <a:solidFill>
                  <a:srgbClr val="D9D9D9"/>
                </a:solidFill>
                <a:latin typeface="Arial"/>
                <a:cs typeface="Arial"/>
              </a:rPr>
              <a:t>v</a:t>
            </a:r>
            <a:r>
              <a:rPr sz="900" i="1" spc="-70" dirty="0">
                <a:solidFill>
                  <a:srgbClr val="D9D9D9"/>
                </a:solidFill>
                <a:latin typeface="Arial"/>
                <a:cs typeface="Arial"/>
              </a:rPr>
              <a:t>ersi</a:t>
            </a:r>
            <a:r>
              <a:rPr sz="900" i="1" spc="-100" dirty="0">
                <a:solidFill>
                  <a:srgbClr val="D9D9D9"/>
                </a:solidFill>
                <a:latin typeface="Arial"/>
                <a:cs typeface="Arial"/>
              </a:rPr>
              <a:t>d</a:t>
            </a:r>
            <a:r>
              <a:rPr sz="900" i="1" spc="-95" dirty="0">
                <a:solidFill>
                  <a:srgbClr val="D9D9D9"/>
                </a:solidFill>
                <a:latin typeface="Arial"/>
                <a:cs typeface="Arial"/>
              </a:rPr>
              <a:t>ad</a:t>
            </a:r>
            <a:r>
              <a:rPr sz="900" i="1" spc="-20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900" i="1" spc="-95" dirty="0">
                <a:solidFill>
                  <a:srgbClr val="D9D9D9"/>
                </a:solidFill>
                <a:latin typeface="Arial"/>
                <a:cs typeface="Arial"/>
              </a:rPr>
              <a:t>de</a:t>
            </a:r>
            <a:r>
              <a:rPr sz="900" i="1" spc="-50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900" i="1" spc="-45" dirty="0">
                <a:solidFill>
                  <a:srgbClr val="D9D9D9"/>
                </a:solidFill>
                <a:latin typeface="Arial"/>
                <a:cs typeface="Arial"/>
              </a:rPr>
              <a:t>l</a:t>
            </a:r>
            <a:r>
              <a:rPr sz="900" i="1" spc="-95" dirty="0">
                <a:solidFill>
                  <a:srgbClr val="D9D9D9"/>
                </a:solidFill>
                <a:latin typeface="Arial"/>
                <a:cs typeface="Arial"/>
              </a:rPr>
              <a:t>o</a:t>
            </a:r>
            <a:r>
              <a:rPr sz="900" i="1" spc="-85" dirty="0">
                <a:solidFill>
                  <a:srgbClr val="D9D9D9"/>
                </a:solidFill>
                <a:latin typeface="Arial"/>
                <a:cs typeface="Arial"/>
              </a:rPr>
              <a:t>s</a:t>
            </a:r>
            <a:r>
              <a:rPr sz="900" i="1" spc="-4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900" i="1" spc="-110" dirty="0">
                <a:solidFill>
                  <a:srgbClr val="D9D9D9"/>
                </a:solidFill>
                <a:latin typeface="Arial"/>
                <a:cs typeface="Arial"/>
              </a:rPr>
              <a:t>A</a:t>
            </a:r>
            <a:r>
              <a:rPr sz="900" i="1" spc="-100" dirty="0">
                <a:solidFill>
                  <a:srgbClr val="D9D9D9"/>
                </a:solidFill>
                <a:latin typeface="Arial"/>
                <a:cs typeface="Arial"/>
              </a:rPr>
              <a:t>n</a:t>
            </a:r>
            <a:r>
              <a:rPr sz="900" i="1" spc="-95" dirty="0">
                <a:solidFill>
                  <a:srgbClr val="D9D9D9"/>
                </a:solidFill>
                <a:latin typeface="Arial"/>
                <a:cs typeface="Arial"/>
              </a:rPr>
              <a:t>d</a:t>
            </a:r>
            <a:r>
              <a:rPr sz="900" i="1" spc="-100" dirty="0">
                <a:solidFill>
                  <a:srgbClr val="D9D9D9"/>
                </a:solidFill>
                <a:latin typeface="Arial"/>
                <a:cs typeface="Arial"/>
              </a:rPr>
              <a:t>e</a:t>
            </a:r>
            <a:r>
              <a:rPr sz="900" i="1" spc="-85" dirty="0">
                <a:solidFill>
                  <a:srgbClr val="D9D9D9"/>
                </a:solidFill>
                <a:latin typeface="Arial"/>
                <a:cs typeface="Arial"/>
              </a:rPr>
              <a:t>s</a:t>
            </a:r>
            <a:r>
              <a:rPr sz="900" i="1" spc="-40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900" i="1" spc="-45" dirty="0">
                <a:solidFill>
                  <a:srgbClr val="D9D9D9"/>
                </a:solidFill>
                <a:latin typeface="Arial"/>
                <a:cs typeface="Arial"/>
              </a:rPr>
              <a:t>|</a:t>
            </a:r>
            <a:r>
              <a:rPr sz="900" i="1" spc="-5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900" i="1" spc="-75" dirty="0">
                <a:solidFill>
                  <a:srgbClr val="D9D9D9"/>
                </a:solidFill>
                <a:latin typeface="Arial"/>
                <a:cs typeface="Arial"/>
              </a:rPr>
              <a:t>Vi</a:t>
            </a:r>
            <a:r>
              <a:rPr sz="900" i="1" spc="-100" dirty="0">
                <a:solidFill>
                  <a:srgbClr val="D9D9D9"/>
                </a:solidFill>
                <a:latin typeface="Arial"/>
                <a:cs typeface="Arial"/>
              </a:rPr>
              <a:t>g</a:t>
            </a:r>
            <a:r>
              <a:rPr sz="900" i="1" spc="-45" dirty="0">
                <a:solidFill>
                  <a:srgbClr val="D9D9D9"/>
                </a:solidFill>
                <a:latin typeface="Arial"/>
                <a:cs typeface="Arial"/>
              </a:rPr>
              <a:t>il</a:t>
            </a:r>
            <a:r>
              <a:rPr sz="900" i="1" spc="-95" dirty="0">
                <a:solidFill>
                  <a:srgbClr val="D9D9D9"/>
                </a:solidFill>
                <a:latin typeface="Arial"/>
                <a:cs typeface="Arial"/>
              </a:rPr>
              <a:t>a</a:t>
            </a:r>
            <a:r>
              <a:rPr sz="900" i="1" spc="-100" dirty="0">
                <a:solidFill>
                  <a:srgbClr val="D9D9D9"/>
                </a:solidFill>
                <a:latin typeface="Arial"/>
                <a:cs typeface="Arial"/>
              </a:rPr>
              <a:t>d</a:t>
            </a:r>
            <a:r>
              <a:rPr sz="900" i="1" spc="-95" dirty="0">
                <a:solidFill>
                  <a:srgbClr val="D9D9D9"/>
                </a:solidFill>
                <a:latin typeface="Arial"/>
                <a:cs typeface="Arial"/>
              </a:rPr>
              <a:t>a</a:t>
            </a:r>
            <a:r>
              <a:rPr sz="900" i="1" spc="-3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900" i="1" spc="-140" dirty="0">
                <a:solidFill>
                  <a:srgbClr val="D9D9D9"/>
                </a:solidFill>
                <a:latin typeface="Arial"/>
                <a:cs typeface="Arial"/>
              </a:rPr>
              <a:t>M</a:t>
            </a:r>
            <a:r>
              <a:rPr sz="900" i="1" spc="-70" dirty="0">
                <a:solidFill>
                  <a:srgbClr val="D9D9D9"/>
                </a:solidFill>
                <a:latin typeface="Arial"/>
                <a:cs typeface="Arial"/>
              </a:rPr>
              <a:t>in</a:t>
            </a:r>
            <a:r>
              <a:rPr sz="900" i="1" spc="-95" dirty="0">
                <a:solidFill>
                  <a:srgbClr val="D9D9D9"/>
                </a:solidFill>
                <a:latin typeface="Arial"/>
                <a:cs typeface="Arial"/>
              </a:rPr>
              <a:t>e</a:t>
            </a:r>
            <a:r>
              <a:rPr sz="900" i="1" spc="-100" dirty="0">
                <a:solidFill>
                  <a:srgbClr val="D9D9D9"/>
                </a:solidFill>
                <a:latin typeface="Arial"/>
                <a:cs typeface="Arial"/>
              </a:rPr>
              <a:t>d</a:t>
            </a:r>
            <a:r>
              <a:rPr sz="900" i="1" spc="-80" dirty="0">
                <a:solidFill>
                  <a:srgbClr val="D9D9D9"/>
                </a:solidFill>
                <a:latin typeface="Arial"/>
                <a:cs typeface="Arial"/>
              </a:rPr>
              <a:t>ucaci</a:t>
            </a:r>
            <a:r>
              <a:rPr sz="900" i="1" spc="-95" dirty="0">
                <a:solidFill>
                  <a:srgbClr val="D9D9D9"/>
                </a:solidFill>
                <a:latin typeface="Arial"/>
                <a:cs typeface="Arial"/>
              </a:rPr>
              <a:t>ón</a:t>
            </a:r>
            <a:endParaRPr sz="900" dirty="0">
              <a:latin typeface="Arial"/>
              <a:cs typeface="Arial"/>
            </a:endParaRPr>
          </a:p>
          <a:p>
            <a:pPr marL="187325" algn="ctr">
              <a:lnSpc>
                <a:spcPct val="100000"/>
              </a:lnSpc>
            </a:pPr>
            <a:r>
              <a:rPr sz="900" i="1" spc="-85" dirty="0">
                <a:solidFill>
                  <a:srgbClr val="D9D9D9"/>
                </a:solidFill>
                <a:latin typeface="Arial"/>
                <a:cs typeface="Arial"/>
              </a:rPr>
              <a:t>Reconocimiento</a:t>
            </a:r>
            <a:r>
              <a:rPr sz="900" i="1" spc="-1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900" i="1" spc="-105" dirty="0">
                <a:solidFill>
                  <a:srgbClr val="D9D9D9"/>
                </a:solidFill>
                <a:latin typeface="Arial"/>
                <a:cs typeface="Arial"/>
              </a:rPr>
              <a:t>como</a:t>
            </a:r>
            <a:r>
              <a:rPr sz="900" i="1" spc="-3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900" i="1" spc="-80" dirty="0">
                <a:solidFill>
                  <a:srgbClr val="D9D9D9"/>
                </a:solidFill>
                <a:latin typeface="Arial"/>
                <a:cs typeface="Arial"/>
              </a:rPr>
              <a:t>Universidad,</a:t>
            </a:r>
            <a:r>
              <a:rPr sz="900" i="1" spc="-10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900" i="1" spc="-85" dirty="0">
                <a:solidFill>
                  <a:srgbClr val="D9D9D9"/>
                </a:solidFill>
                <a:latin typeface="Arial"/>
                <a:cs typeface="Arial"/>
              </a:rPr>
              <a:t>Decreto</a:t>
            </a:r>
            <a:r>
              <a:rPr sz="900" i="1" spc="-20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900" i="1" spc="-95" dirty="0">
                <a:solidFill>
                  <a:srgbClr val="D9D9D9"/>
                </a:solidFill>
                <a:latin typeface="Arial"/>
                <a:cs typeface="Arial"/>
              </a:rPr>
              <a:t>1297</a:t>
            </a:r>
            <a:r>
              <a:rPr sz="900" i="1" spc="-30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900" i="1" spc="-75" dirty="0">
                <a:solidFill>
                  <a:srgbClr val="D9D9D9"/>
                </a:solidFill>
                <a:latin typeface="Arial"/>
                <a:cs typeface="Arial"/>
              </a:rPr>
              <a:t>del</a:t>
            </a:r>
            <a:r>
              <a:rPr sz="900" i="1" spc="-3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900" i="1" spc="-95" dirty="0">
                <a:solidFill>
                  <a:srgbClr val="D9D9D9"/>
                </a:solidFill>
                <a:latin typeface="Arial"/>
                <a:cs typeface="Arial"/>
              </a:rPr>
              <a:t>30</a:t>
            </a:r>
            <a:r>
              <a:rPr sz="900" i="1" spc="-3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900" i="1" spc="-95" dirty="0">
                <a:solidFill>
                  <a:srgbClr val="D9D9D9"/>
                </a:solidFill>
                <a:latin typeface="Arial"/>
                <a:cs typeface="Arial"/>
              </a:rPr>
              <a:t>de</a:t>
            </a:r>
            <a:r>
              <a:rPr sz="900" i="1" spc="-40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900" i="1" spc="-105" dirty="0">
                <a:solidFill>
                  <a:srgbClr val="D9D9D9"/>
                </a:solidFill>
                <a:latin typeface="Arial"/>
                <a:cs typeface="Arial"/>
              </a:rPr>
              <a:t>mayo</a:t>
            </a:r>
            <a:r>
              <a:rPr sz="900" i="1" spc="-3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900" i="1" spc="-95" dirty="0">
                <a:solidFill>
                  <a:srgbClr val="D9D9D9"/>
                </a:solidFill>
                <a:latin typeface="Arial"/>
                <a:cs typeface="Arial"/>
              </a:rPr>
              <a:t>de</a:t>
            </a:r>
            <a:r>
              <a:rPr sz="900" i="1" spc="-3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900" i="1" spc="-85" dirty="0">
                <a:solidFill>
                  <a:srgbClr val="D9D9D9"/>
                </a:solidFill>
                <a:latin typeface="Arial"/>
                <a:cs typeface="Arial"/>
              </a:rPr>
              <a:t>1964.</a:t>
            </a:r>
            <a:r>
              <a:rPr sz="900" i="1" spc="-30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900" i="1" spc="-90" dirty="0">
                <a:solidFill>
                  <a:srgbClr val="D9D9D9"/>
                </a:solidFill>
                <a:latin typeface="Arial"/>
                <a:cs typeface="Arial"/>
              </a:rPr>
              <a:t>Reconocimiento</a:t>
            </a:r>
            <a:r>
              <a:rPr sz="900" i="1" spc="-1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900" i="1" spc="-80" dirty="0">
                <a:solidFill>
                  <a:srgbClr val="D9D9D9"/>
                </a:solidFill>
                <a:latin typeface="Arial"/>
                <a:cs typeface="Arial"/>
              </a:rPr>
              <a:t>personería</a:t>
            </a:r>
            <a:r>
              <a:rPr sz="900" i="1" spc="-20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900" i="1" spc="-70" dirty="0">
                <a:solidFill>
                  <a:srgbClr val="D9D9D9"/>
                </a:solidFill>
                <a:latin typeface="Arial"/>
                <a:cs typeface="Arial"/>
              </a:rPr>
              <a:t>jurídica</a:t>
            </a:r>
            <a:r>
              <a:rPr sz="900" i="1" spc="-20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900" i="1" spc="-85" dirty="0">
                <a:solidFill>
                  <a:srgbClr val="D9D9D9"/>
                </a:solidFill>
                <a:latin typeface="Arial"/>
                <a:cs typeface="Arial"/>
              </a:rPr>
              <a:t>Resolución</a:t>
            </a:r>
            <a:r>
              <a:rPr sz="900" i="1" spc="-20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900" i="1" spc="-95" dirty="0">
                <a:solidFill>
                  <a:srgbClr val="D9D9D9"/>
                </a:solidFill>
                <a:latin typeface="Arial"/>
                <a:cs typeface="Arial"/>
              </a:rPr>
              <a:t>28</a:t>
            </a:r>
            <a:r>
              <a:rPr sz="900" i="1" spc="-3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900" i="1" spc="-75" dirty="0">
                <a:solidFill>
                  <a:srgbClr val="D9D9D9"/>
                </a:solidFill>
                <a:latin typeface="Arial"/>
                <a:cs typeface="Arial"/>
              </a:rPr>
              <a:t>del</a:t>
            </a:r>
            <a:r>
              <a:rPr sz="900" i="1" spc="-3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900" i="1" spc="-95" dirty="0">
                <a:solidFill>
                  <a:srgbClr val="D9D9D9"/>
                </a:solidFill>
                <a:latin typeface="Arial"/>
                <a:cs typeface="Arial"/>
              </a:rPr>
              <a:t>23</a:t>
            </a:r>
            <a:r>
              <a:rPr sz="900" i="1" spc="-1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900" i="1" spc="-95" dirty="0">
                <a:solidFill>
                  <a:srgbClr val="D9D9D9"/>
                </a:solidFill>
                <a:latin typeface="Arial"/>
                <a:cs typeface="Arial"/>
              </a:rPr>
              <a:t>de</a:t>
            </a:r>
            <a:r>
              <a:rPr sz="900" i="1" spc="-3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900" i="1" spc="-75" dirty="0">
                <a:solidFill>
                  <a:srgbClr val="D9D9D9"/>
                </a:solidFill>
                <a:latin typeface="Arial"/>
                <a:cs typeface="Arial"/>
              </a:rPr>
              <a:t>febrero</a:t>
            </a:r>
            <a:r>
              <a:rPr sz="900" i="1" spc="-2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900" i="1" spc="-95" dirty="0">
                <a:solidFill>
                  <a:srgbClr val="D9D9D9"/>
                </a:solidFill>
                <a:latin typeface="Arial"/>
                <a:cs typeface="Arial"/>
              </a:rPr>
              <a:t>de</a:t>
            </a:r>
            <a:r>
              <a:rPr sz="900" i="1" spc="-3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900" i="1" spc="-95" dirty="0">
                <a:solidFill>
                  <a:srgbClr val="D9D9D9"/>
                </a:solidFill>
                <a:latin typeface="Arial"/>
                <a:cs typeface="Arial"/>
              </a:rPr>
              <a:t>1949</a:t>
            </a:r>
            <a:r>
              <a:rPr sz="900" i="1" spc="-30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900" i="1" spc="-75" dirty="0">
                <a:solidFill>
                  <a:srgbClr val="D9D9D9"/>
                </a:solidFill>
                <a:latin typeface="Arial"/>
                <a:cs typeface="Arial"/>
              </a:rPr>
              <a:t>Minjusticia</a:t>
            </a:r>
            <a:endParaRPr sz="9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964689" y="1933701"/>
            <a:ext cx="5218430" cy="939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084580">
              <a:lnSpc>
                <a:spcPct val="100000"/>
              </a:lnSpc>
              <a:spcBef>
                <a:spcPts val="95"/>
              </a:spcBef>
            </a:pPr>
            <a:r>
              <a:rPr sz="2000" spc="25" dirty="0">
                <a:solidFill>
                  <a:srgbClr val="22475C"/>
                </a:solidFill>
              </a:rPr>
              <a:t>FACULTAD </a:t>
            </a:r>
            <a:r>
              <a:rPr sz="2000" spc="95" dirty="0">
                <a:solidFill>
                  <a:srgbClr val="22475C"/>
                </a:solidFill>
              </a:rPr>
              <a:t>DE </a:t>
            </a:r>
            <a:r>
              <a:rPr sz="2000" spc="55" dirty="0">
                <a:solidFill>
                  <a:srgbClr val="22475C"/>
                </a:solidFill>
              </a:rPr>
              <a:t>INGENIERÍA </a:t>
            </a:r>
            <a:r>
              <a:rPr sz="2000" spc="60" dirty="0">
                <a:solidFill>
                  <a:srgbClr val="22475C"/>
                </a:solidFill>
              </a:rPr>
              <a:t> </a:t>
            </a:r>
            <a:r>
              <a:rPr sz="2000" spc="45" dirty="0">
                <a:solidFill>
                  <a:srgbClr val="22475C"/>
                </a:solidFill>
              </a:rPr>
              <a:t>DEPARTAMENTO</a:t>
            </a:r>
            <a:r>
              <a:rPr sz="2000" spc="-45" dirty="0">
                <a:solidFill>
                  <a:srgbClr val="22475C"/>
                </a:solidFill>
              </a:rPr>
              <a:t> </a:t>
            </a:r>
            <a:r>
              <a:rPr sz="2000" spc="95" dirty="0">
                <a:solidFill>
                  <a:srgbClr val="22475C"/>
                </a:solidFill>
              </a:rPr>
              <a:t>DE</a:t>
            </a:r>
            <a:r>
              <a:rPr sz="2000" spc="-60" dirty="0">
                <a:solidFill>
                  <a:srgbClr val="22475C"/>
                </a:solidFill>
              </a:rPr>
              <a:t> </a:t>
            </a:r>
            <a:r>
              <a:rPr sz="2000" spc="55" dirty="0">
                <a:solidFill>
                  <a:srgbClr val="22475C"/>
                </a:solidFill>
              </a:rPr>
              <a:t>INGENIERÍA</a:t>
            </a:r>
            <a:r>
              <a:rPr sz="2000" spc="-55" dirty="0">
                <a:solidFill>
                  <a:srgbClr val="22475C"/>
                </a:solidFill>
              </a:rPr>
              <a:t> </a:t>
            </a:r>
            <a:r>
              <a:rPr sz="2000" spc="70" dirty="0">
                <a:solidFill>
                  <a:srgbClr val="22475C"/>
                </a:solidFill>
              </a:rPr>
              <a:t>INDUSTRIAL</a:t>
            </a:r>
            <a:endParaRPr sz="2000"/>
          </a:p>
          <a:p>
            <a:pPr marL="377825">
              <a:lnSpc>
                <a:spcPct val="100000"/>
              </a:lnSpc>
            </a:pPr>
            <a:r>
              <a:rPr sz="2000" spc="25" dirty="0">
                <a:solidFill>
                  <a:srgbClr val="22475C"/>
                </a:solidFill>
              </a:rPr>
              <a:t>MAGÍSTER</a:t>
            </a:r>
            <a:r>
              <a:rPr sz="2000" spc="-55" dirty="0">
                <a:solidFill>
                  <a:srgbClr val="22475C"/>
                </a:solidFill>
              </a:rPr>
              <a:t> </a:t>
            </a:r>
            <a:r>
              <a:rPr sz="2000" spc="105" dirty="0">
                <a:solidFill>
                  <a:srgbClr val="22475C"/>
                </a:solidFill>
              </a:rPr>
              <a:t>EN</a:t>
            </a:r>
            <a:r>
              <a:rPr sz="2000" spc="-55" dirty="0">
                <a:solidFill>
                  <a:srgbClr val="22475C"/>
                </a:solidFill>
              </a:rPr>
              <a:t> </a:t>
            </a:r>
            <a:r>
              <a:rPr sz="2000" spc="55" dirty="0">
                <a:solidFill>
                  <a:srgbClr val="22475C"/>
                </a:solidFill>
              </a:rPr>
              <a:t>INGENIERÍA</a:t>
            </a:r>
            <a:r>
              <a:rPr sz="2000" spc="-55" dirty="0">
                <a:solidFill>
                  <a:srgbClr val="22475C"/>
                </a:solidFill>
              </a:rPr>
              <a:t> </a:t>
            </a:r>
            <a:r>
              <a:rPr sz="2000" spc="70" dirty="0">
                <a:solidFill>
                  <a:srgbClr val="22475C"/>
                </a:solidFill>
              </a:rPr>
              <a:t>INDUSTRIAL</a:t>
            </a:r>
            <a:endParaRPr sz="20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667CE7-1386-C70C-B635-FD3644D970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257" y="285203"/>
            <a:ext cx="8573990" cy="628759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74168-2153-DE40-5B28-A57BD3AEA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5CA064-56E4-5045-254E-66153D235F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  <p:pic>
        <p:nvPicPr>
          <p:cNvPr id="4" name="Picture 3" descr="Changing the way you learn | Flashcards">
            <a:extLst>
              <a:ext uri="{FF2B5EF4-FFF2-40B4-BE49-F238E27FC236}">
                <a16:creationId xmlns:a16="http://schemas.microsoft.com/office/drawing/2014/main" id="{973A6E37-C9CD-B724-AA55-EE27194F69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702" y="457200"/>
            <a:ext cx="6097954" cy="6258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101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8055" y="599694"/>
            <a:ext cx="8239125" cy="125920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57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5"/>
              </a:spcBef>
            </a:pPr>
            <a:endParaRPr sz="4650">
              <a:latin typeface="Times New Roman"/>
              <a:cs typeface="Times New Roman"/>
            </a:endParaRPr>
          </a:p>
          <a:p>
            <a:pPr marL="224154">
              <a:lnSpc>
                <a:spcPct val="100000"/>
              </a:lnSpc>
            </a:pPr>
            <a:r>
              <a:rPr spc="-10" dirty="0"/>
              <a:t>OBJETIVOS</a:t>
            </a:r>
            <a:r>
              <a:rPr spc="-114" dirty="0"/>
              <a:t> </a:t>
            </a:r>
            <a:r>
              <a:rPr spc="140" dirty="0"/>
              <a:t>DE</a:t>
            </a:r>
            <a:r>
              <a:rPr spc="-80" dirty="0"/>
              <a:t> </a:t>
            </a:r>
            <a:r>
              <a:rPr spc="80" dirty="0"/>
              <a:t>LA</a:t>
            </a:r>
            <a:r>
              <a:rPr spc="-100" dirty="0"/>
              <a:t> </a:t>
            </a:r>
            <a:r>
              <a:rPr spc="85" dirty="0"/>
              <a:t>SESIÓN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8236" y="2071624"/>
            <a:ext cx="7833359" cy="3180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marR="5080" indent="-457834" algn="just">
              <a:lnSpc>
                <a:spcPct val="100000"/>
              </a:lnSpc>
              <a:spcBef>
                <a:spcPts val="95"/>
              </a:spcBef>
              <a:buClr>
                <a:srgbClr val="4590B8"/>
              </a:buClr>
              <a:buSzPct val="92500"/>
              <a:buAutoNum type="arabicPeriod"/>
              <a:tabLst>
                <a:tab pos="470534" algn="l"/>
              </a:tabLst>
            </a:pPr>
            <a:r>
              <a:rPr sz="2000" spc="-95" dirty="0">
                <a:latin typeface="Trebuchet MS"/>
                <a:cs typeface="Trebuchet MS"/>
              </a:rPr>
              <a:t>Presentar </a:t>
            </a:r>
            <a:r>
              <a:rPr sz="2000" spc="-114" dirty="0">
                <a:latin typeface="Trebuchet MS"/>
                <a:cs typeface="Trebuchet MS"/>
              </a:rPr>
              <a:t>y </a:t>
            </a:r>
            <a:r>
              <a:rPr sz="2000" spc="-95" dirty="0">
                <a:latin typeface="Trebuchet MS"/>
                <a:cs typeface="Trebuchet MS"/>
              </a:rPr>
              <a:t>discutir </a:t>
            </a:r>
            <a:r>
              <a:rPr sz="2000" spc="-145" dirty="0">
                <a:latin typeface="Trebuchet MS"/>
                <a:cs typeface="Trebuchet MS"/>
              </a:rPr>
              <a:t>el</a:t>
            </a:r>
            <a:r>
              <a:rPr sz="2000" spc="310" dirty="0">
                <a:latin typeface="Trebuchet MS"/>
                <a:cs typeface="Trebuchet MS"/>
              </a:rPr>
              <a:t> </a:t>
            </a:r>
            <a:r>
              <a:rPr sz="2000" spc="-85" dirty="0">
                <a:latin typeface="Trebuchet MS"/>
                <a:cs typeface="Trebuchet MS"/>
              </a:rPr>
              <a:t>concepto </a:t>
            </a:r>
            <a:r>
              <a:rPr sz="2000" spc="-120" dirty="0">
                <a:latin typeface="Trebuchet MS"/>
                <a:cs typeface="Trebuchet MS"/>
              </a:rPr>
              <a:t>de </a:t>
            </a:r>
            <a:r>
              <a:rPr sz="2000" b="1" spc="-35" dirty="0">
                <a:latin typeface="Trebuchet MS"/>
                <a:cs typeface="Trebuchet MS"/>
              </a:rPr>
              <a:t>equivalencia </a:t>
            </a:r>
            <a:r>
              <a:rPr sz="2000" b="1" spc="-5" dirty="0">
                <a:latin typeface="Trebuchet MS"/>
                <a:cs typeface="Trebuchet MS"/>
              </a:rPr>
              <a:t>estratégica </a:t>
            </a:r>
            <a:r>
              <a:rPr sz="2000" spc="-130" dirty="0">
                <a:latin typeface="Trebuchet MS"/>
                <a:cs typeface="Trebuchet MS"/>
              </a:rPr>
              <a:t>para </a:t>
            </a:r>
            <a:r>
              <a:rPr sz="2000" spc="-125" dirty="0">
                <a:latin typeface="Trebuchet MS"/>
                <a:cs typeface="Trebuchet MS"/>
              </a:rPr>
              <a:t> </a:t>
            </a:r>
            <a:r>
              <a:rPr sz="2000" spc="-40" dirty="0">
                <a:latin typeface="Trebuchet MS"/>
                <a:cs typeface="Trebuchet MS"/>
              </a:rPr>
              <a:t>dos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spc="-110" dirty="0">
                <a:latin typeface="Trebuchet MS"/>
                <a:cs typeface="Trebuchet MS"/>
              </a:rPr>
              <a:t>funcio</a:t>
            </a:r>
            <a:r>
              <a:rPr sz="2000" spc="-90" dirty="0">
                <a:latin typeface="Trebuchet MS"/>
                <a:cs typeface="Trebuchet MS"/>
              </a:rPr>
              <a:t>nes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de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125" dirty="0">
                <a:latin typeface="Trebuchet MS"/>
                <a:cs typeface="Trebuchet MS"/>
              </a:rPr>
              <a:t>utilid</a:t>
            </a:r>
            <a:r>
              <a:rPr sz="2000" spc="-150" dirty="0">
                <a:latin typeface="Trebuchet MS"/>
                <a:cs typeface="Trebuchet MS"/>
              </a:rPr>
              <a:t>ad</a:t>
            </a:r>
            <a:r>
              <a:rPr sz="2000" spc="-300" dirty="0">
                <a:latin typeface="Trebuchet MS"/>
                <a:cs typeface="Trebuchet MS"/>
              </a:rPr>
              <a:t>.</a:t>
            </a:r>
            <a:endParaRPr sz="2000">
              <a:latin typeface="Trebuchet MS"/>
              <a:cs typeface="Trebuchet MS"/>
            </a:endParaRPr>
          </a:p>
          <a:p>
            <a:pPr marL="469900" marR="5080" indent="-457834" algn="just">
              <a:lnSpc>
                <a:spcPct val="100000"/>
              </a:lnSpc>
              <a:spcBef>
                <a:spcPts val="1080"/>
              </a:spcBef>
              <a:buClr>
                <a:srgbClr val="4590B8"/>
              </a:buClr>
              <a:buSzPct val="92500"/>
              <a:buAutoNum type="arabicPeriod"/>
              <a:tabLst>
                <a:tab pos="470534" algn="l"/>
              </a:tabLst>
            </a:pPr>
            <a:r>
              <a:rPr sz="2000" spc="-95" dirty="0">
                <a:latin typeface="Trebuchet MS"/>
                <a:cs typeface="Trebuchet MS"/>
              </a:rPr>
              <a:t>Presentar </a:t>
            </a:r>
            <a:r>
              <a:rPr sz="2000" spc="-114" dirty="0">
                <a:latin typeface="Trebuchet MS"/>
                <a:cs typeface="Trebuchet MS"/>
              </a:rPr>
              <a:t>y </a:t>
            </a:r>
            <a:r>
              <a:rPr sz="2000" spc="-95" dirty="0">
                <a:latin typeface="Trebuchet MS"/>
                <a:cs typeface="Trebuchet MS"/>
              </a:rPr>
              <a:t>discutir </a:t>
            </a:r>
            <a:r>
              <a:rPr sz="2000" b="1" spc="-10" dirty="0">
                <a:latin typeface="Trebuchet MS"/>
                <a:cs typeface="Trebuchet MS"/>
              </a:rPr>
              <a:t>los </a:t>
            </a:r>
            <a:r>
              <a:rPr sz="2000" b="1" spc="-5" dirty="0">
                <a:latin typeface="Trebuchet MS"/>
                <a:cs typeface="Trebuchet MS"/>
              </a:rPr>
              <a:t>tipos </a:t>
            </a:r>
            <a:r>
              <a:rPr sz="2000" b="1" spc="-25" dirty="0">
                <a:latin typeface="Trebuchet MS"/>
                <a:cs typeface="Trebuchet MS"/>
              </a:rPr>
              <a:t>de </a:t>
            </a:r>
            <a:r>
              <a:rPr sz="2000" b="1" spc="-20" dirty="0">
                <a:latin typeface="Trebuchet MS"/>
                <a:cs typeface="Trebuchet MS"/>
              </a:rPr>
              <a:t>decisores </a:t>
            </a:r>
            <a:r>
              <a:rPr sz="2000" spc="-114" dirty="0">
                <a:latin typeface="Trebuchet MS"/>
                <a:cs typeface="Trebuchet MS"/>
              </a:rPr>
              <a:t>en </a:t>
            </a:r>
            <a:r>
              <a:rPr sz="2000" spc="-105" dirty="0">
                <a:latin typeface="Trebuchet MS"/>
                <a:cs typeface="Trebuchet MS"/>
              </a:rPr>
              <a:t>cuanto </a:t>
            </a:r>
            <a:r>
              <a:rPr sz="2000" spc="-200" dirty="0">
                <a:latin typeface="Trebuchet MS"/>
                <a:cs typeface="Trebuchet MS"/>
              </a:rPr>
              <a:t>a</a:t>
            </a:r>
            <a:r>
              <a:rPr sz="2000" spc="-195" dirty="0">
                <a:latin typeface="Trebuchet MS"/>
                <a:cs typeface="Trebuchet MS"/>
              </a:rPr>
              <a:t> </a:t>
            </a:r>
            <a:r>
              <a:rPr sz="2000" spc="-70" dirty="0">
                <a:latin typeface="Trebuchet MS"/>
                <a:cs typeface="Trebuchet MS"/>
              </a:rPr>
              <a:t>su </a:t>
            </a:r>
            <a:r>
              <a:rPr sz="2000" b="1" spc="-10" dirty="0">
                <a:latin typeface="Trebuchet MS"/>
                <a:cs typeface="Trebuchet MS"/>
              </a:rPr>
              <a:t>actitud </a:t>
            </a:r>
            <a:r>
              <a:rPr sz="2000" b="1" spc="-5" dirty="0">
                <a:latin typeface="Trebuchet MS"/>
                <a:cs typeface="Trebuchet MS"/>
              </a:rPr>
              <a:t> </a:t>
            </a:r>
            <a:r>
              <a:rPr sz="2000" b="1" spc="-25" dirty="0">
                <a:latin typeface="Trebuchet MS"/>
                <a:cs typeface="Trebuchet MS"/>
              </a:rPr>
              <a:t>hacia </a:t>
            </a:r>
            <a:r>
              <a:rPr sz="2000" b="1" spc="-50" dirty="0">
                <a:latin typeface="Trebuchet MS"/>
                <a:cs typeface="Trebuchet MS"/>
              </a:rPr>
              <a:t>el </a:t>
            </a:r>
            <a:r>
              <a:rPr sz="2000" b="1" spc="-40" dirty="0">
                <a:latin typeface="Trebuchet MS"/>
                <a:cs typeface="Trebuchet MS"/>
              </a:rPr>
              <a:t>riesgo</a:t>
            </a:r>
            <a:r>
              <a:rPr sz="2000" spc="-40" dirty="0">
                <a:latin typeface="Trebuchet MS"/>
                <a:cs typeface="Trebuchet MS"/>
              </a:rPr>
              <a:t>, </a:t>
            </a:r>
            <a:r>
              <a:rPr sz="2000" spc="-114" dirty="0">
                <a:latin typeface="Trebuchet MS"/>
                <a:cs typeface="Trebuchet MS"/>
              </a:rPr>
              <a:t>y </a:t>
            </a:r>
            <a:r>
              <a:rPr sz="2000" spc="-175" dirty="0">
                <a:latin typeface="Trebuchet MS"/>
                <a:cs typeface="Trebuchet MS"/>
              </a:rPr>
              <a:t>la </a:t>
            </a:r>
            <a:r>
              <a:rPr sz="2000" b="1" spc="-20" dirty="0">
                <a:latin typeface="Trebuchet MS"/>
                <a:cs typeface="Trebuchet MS"/>
              </a:rPr>
              <a:t>relación </a:t>
            </a:r>
            <a:r>
              <a:rPr sz="2000" b="1" spc="-25" dirty="0">
                <a:latin typeface="Trebuchet MS"/>
                <a:cs typeface="Trebuchet MS"/>
              </a:rPr>
              <a:t>entre </a:t>
            </a:r>
            <a:r>
              <a:rPr sz="2000" b="1" spc="-50" dirty="0">
                <a:latin typeface="Trebuchet MS"/>
                <a:cs typeface="Trebuchet MS"/>
              </a:rPr>
              <a:t>el </a:t>
            </a:r>
            <a:r>
              <a:rPr sz="2000" b="1" dirty="0">
                <a:latin typeface="Trebuchet MS"/>
                <a:cs typeface="Trebuchet MS"/>
              </a:rPr>
              <a:t>tipo </a:t>
            </a:r>
            <a:r>
              <a:rPr sz="2000" b="1" spc="-30" dirty="0">
                <a:latin typeface="Trebuchet MS"/>
                <a:cs typeface="Trebuchet MS"/>
              </a:rPr>
              <a:t>de </a:t>
            </a:r>
            <a:r>
              <a:rPr sz="2000" b="1" spc="-10" dirty="0">
                <a:latin typeface="Trebuchet MS"/>
                <a:cs typeface="Trebuchet MS"/>
              </a:rPr>
              <a:t>decisor </a:t>
            </a:r>
            <a:r>
              <a:rPr sz="2000" b="1" spc="-50" dirty="0">
                <a:latin typeface="Trebuchet MS"/>
                <a:cs typeface="Trebuchet MS"/>
              </a:rPr>
              <a:t>y </a:t>
            </a:r>
            <a:r>
              <a:rPr sz="2000" b="1" spc="-30" dirty="0">
                <a:latin typeface="Trebuchet MS"/>
                <a:cs typeface="Trebuchet MS"/>
              </a:rPr>
              <a:t>la </a:t>
            </a:r>
            <a:r>
              <a:rPr sz="2000" b="1" spc="20" dirty="0">
                <a:latin typeface="Trebuchet MS"/>
                <a:cs typeface="Trebuchet MS"/>
              </a:rPr>
              <a:t>forma </a:t>
            </a:r>
            <a:r>
              <a:rPr sz="2000" b="1" spc="25" dirty="0">
                <a:latin typeface="Trebuchet MS"/>
                <a:cs typeface="Trebuchet MS"/>
              </a:rPr>
              <a:t> </a:t>
            </a:r>
            <a:r>
              <a:rPr sz="2000" b="1" spc="-25" dirty="0">
                <a:latin typeface="Trebuchet MS"/>
                <a:cs typeface="Trebuchet MS"/>
              </a:rPr>
              <a:t>de</a:t>
            </a:r>
            <a:r>
              <a:rPr sz="2000" b="1" spc="-60" dirty="0">
                <a:latin typeface="Trebuchet MS"/>
                <a:cs typeface="Trebuchet MS"/>
              </a:rPr>
              <a:t> </a:t>
            </a:r>
            <a:r>
              <a:rPr sz="2000" b="1" spc="-20" dirty="0">
                <a:latin typeface="Trebuchet MS"/>
                <a:cs typeface="Trebuchet MS"/>
              </a:rPr>
              <a:t>su</a:t>
            </a:r>
            <a:r>
              <a:rPr sz="2000" b="1" spc="-60" dirty="0">
                <a:latin typeface="Trebuchet MS"/>
                <a:cs typeface="Trebuchet MS"/>
              </a:rPr>
              <a:t> </a:t>
            </a:r>
            <a:r>
              <a:rPr sz="2000" b="1" spc="-30" dirty="0">
                <a:latin typeface="Trebuchet MS"/>
                <a:cs typeface="Trebuchet MS"/>
              </a:rPr>
              <a:t>función</a:t>
            </a:r>
            <a:r>
              <a:rPr sz="2000" b="1" spc="-70" dirty="0">
                <a:latin typeface="Trebuchet MS"/>
                <a:cs typeface="Trebuchet MS"/>
              </a:rPr>
              <a:t> </a:t>
            </a:r>
            <a:r>
              <a:rPr sz="2000" b="1" spc="-25" dirty="0">
                <a:latin typeface="Trebuchet MS"/>
                <a:cs typeface="Trebuchet MS"/>
              </a:rPr>
              <a:t>de</a:t>
            </a:r>
            <a:r>
              <a:rPr sz="2000" b="1" spc="-55" dirty="0">
                <a:latin typeface="Trebuchet MS"/>
                <a:cs typeface="Trebuchet MS"/>
              </a:rPr>
              <a:t> </a:t>
            </a:r>
            <a:r>
              <a:rPr sz="2000" b="1" spc="-40" dirty="0">
                <a:latin typeface="Trebuchet MS"/>
                <a:cs typeface="Trebuchet MS"/>
              </a:rPr>
              <a:t>utilidad.</a:t>
            </a:r>
            <a:endParaRPr sz="2000">
              <a:latin typeface="Trebuchet MS"/>
              <a:cs typeface="Trebuchet MS"/>
            </a:endParaRPr>
          </a:p>
          <a:p>
            <a:pPr marL="469900" marR="6350" indent="-457834" algn="just">
              <a:lnSpc>
                <a:spcPct val="100000"/>
              </a:lnSpc>
              <a:spcBef>
                <a:spcPts val="1080"/>
              </a:spcBef>
              <a:buClr>
                <a:srgbClr val="4590B8"/>
              </a:buClr>
              <a:buSzPct val="92500"/>
              <a:buAutoNum type="arabicPeriod"/>
              <a:tabLst>
                <a:tab pos="470534" algn="l"/>
              </a:tabLst>
            </a:pPr>
            <a:r>
              <a:rPr sz="2000" spc="-95" dirty="0">
                <a:latin typeface="Trebuchet MS"/>
                <a:cs typeface="Trebuchet MS"/>
              </a:rPr>
              <a:t>Presentar</a:t>
            </a:r>
            <a:r>
              <a:rPr sz="2000" spc="-90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y</a:t>
            </a:r>
            <a:r>
              <a:rPr sz="2000" spc="-110" dirty="0">
                <a:latin typeface="Trebuchet MS"/>
                <a:cs typeface="Trebuchet MS"/>
              </a:rPr>
              <a:t> </a:t>
            </a:r>
            <a:r>
              <a:rPr sz="2000" spc="-95" dirty="0">
                <a:latin typeface="Trebuchet MS"/>
                <a:cs typeface="Trebuchet MS"/>
              </a:rPr>
              <a:t>discutir</a:t>
            </a:r>
            <a:r>
              <a:rPr sz="2000" spc="-90" dirty="0">
                <a:latin typeface="Trebuchet MS"/>
                <a:cs typeface="Trebuchet MS"/>
              </a:rPr>
              <a:t> </a:t>
            </a:r>
            <a:r>
              <a:rPr sz="2000" spc="-175" dirty="0">
                <a:latin typeface="Trebuchet MS"/>
                <a:cs typeface="Trebuchet MS"/>
              </a:rPr>
              <a:t>la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definición</a:t>
            </a:r>
            <a:r>
              <a:rPr sz="2000" spc="-110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de</a:t>
            </a:r>
            <a:r>
              <a:rPr sz="2000" spc="-110" dirty="0">
                <a:latin typeface="Trebuchet MS"/>
                <a:cs typeface="Trebuchet MS"/>
              </a:rPr>
              <a:t> </a:t>
            </a:r>
            <a:r>
              <a:rPr sz="2000" spc="-175" dirty="0">
                <a:latin typeface="Trebuchet MS"/>
                <a:cs typeface="Trebuchet MS"/>
              </a:rPr>
              <a:t>la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b="1" spc="-5" dirty="0">
                <a:latin typeface="Trebuchet MS"/>
                <a:cs typeface="Trebuchet MS"/>
              </a:rPr>
              <a:t>Función </a:t>
            </a:r>
            <a:r>
              <a:rPr sz="2000" b="1" spc="-30" dirty="0">
                <a:latin typeface="Trebuchet MS"/>
                <a:cs typeface="Trebuchet MS"/>
              </a:rPr>
              <a:t>de</a:t>
            </a:r>
            <a:r>
              <a:rPr sz="2000" b="1" spc="540" dirty="0">
                <a:latin typeface="Trebuchet MS"/>
                <a:cs typeface="Trebuchet MS"/>
              </a:rPr>
              <a:t> </a:t>
            </a:r>
            <a:r>
              <a:rPr sz="2000" b="1" spc="15" dirty="0">
                <a:latin typeface="Trebuchet MS"/>
                <a:cs typeface="Trebuchet MS"/>
              </a:rPr>
              <a:t>Aversión </a:t>
            </a:r>
            <a:r>
              <a:rPr sz="2000" b="1" spc="-35" dirty="0">
                <a:latin typeface="Trebuchet MS"/>
                <a:cs typeface="Trebuchet MS"/>
              </a:rPr>
              <a:t>al </a:t>
            </a:r>
            <a:r>
              <a:rPr sz="2000" b="1" spc="-30" dirty="0">
                <a:latin typeface="Trebuchet MS"/>
                <a:cs typeface="Trebuchet MS"/>
              </a:rPr>
              <a:t> </a:t>
            </a:r>
            <a:r>
              <a:rPr sz="2000" b="1" spc="15" dirty="0">
                <a:latin typeface="Trebuchet MS"/>
                <a:cs typeface="Trebuchet MS"/>
              </a:rPr>
              <a:t>Ries</a:t>
            </a:r>
            <a:r>
              <a:rPr sz="2000" b="1" spc="-10" dirty="0">
                <a:latin typeface="Trebuchet MS"/>
                <a:cs typeface="Trebuchet MS"/>
              </a:rPr>
              <a:t>g</a:t>
            </a:r>
            <a:r>
              <a:rPr sz="2000" b="1" spc="55" dirty="0">
                <a:latin typeface="Trebuchet MS"/>
                <a:cs typeface="Trebuchet MS"/>
              </a:rPr>
              <a:t>o</a:t>
            </a:r>
            <a:r>
              <a:rPr sz="2000" b="1" spc="-60" dirty="0">
                <a:latin typeface="Trebuchet MS"/>
                <a:cs typeface="Trebuchet MS"/>
              </a:rPr>
              <a:t> </a:t>
            </a:r>
            <a:r>
              <a:rPr sz="2000" b="1" spc="-30" dirty="0">
                <a:latin typeface="Trebuchet MS"/>
                <a:cs typeface="Trebuchet MS"/>
              </a:rPr>
              <a:t>d</a:t>
            </a:r>
            <a:r>
              <a:rPr sz="2000" b="1" spc="-25" dirty="0">
                <a:latin typeface="Trebuchet MS"/>
                <a:cs typeface="Trebuchet MS"/>
              </a:rPr>
              <a:t>e</a:t>
            </a:r>
            <a:r>
              <a:rPr sz="2000" b="1" spc="-55" dirty="0">
                <a:latin typeface="Trebuchet MS"/>
                <a:cs typeface="Trebuchet MS"/>
              </a:rPr>
              <a:t> </a:t>
            </a:r>
            <a:r>
              <a:rPr sz="2000" b="1" spc="-25" dirty="0">
                <a:latin typeface="Trebuchet MS"/>
                <a:cs typeface="Trebuchet MS"/>
              </a:rPr>
              <a:t>u</a:t>
            </a:r>
            <a:r>
              <a:rPr sz="2000" b="1" spc="-20" dirty="0">
                <a:latin typeface="Trebuchet MS"/>
                <a:cs typeface="Trebuchet MS"/>
              </a:rPr>
              <a:t>n</a:t>
            </a:r>
            <a:r>
              <a:rPr sz="2000" b="1" spc="-60" dirty="0">
                <a:latin typeface="Trebuchet MS"/>
                <a:cs typeface="Trebuchet MS"/>
              </a:rPr>
              <a:t> </a:t>
            </a:r>
            <a:r>
              <a:rPr sz="2000" b="1" spc="40" dirty="0">
                <a:latin typeface="Trebuchet MS"/>
                <a:cs typeface="Trebuchet MS"/>
              </a:rPr>
              <a:t>Deciso</a:t>
            </a:r>
            <a:r>
              <a:rPr sz="2000" b="1" spc="25" dirty="0">
                <a:latin typeface="Trebuchet MS"/>
                <a:cs typeface="Trebuchet MS"/>
              </a:rPr>
              <a:t>r</a:t>
            </a:r>
            <a:r>
              <a:rPr sz="2000" spc="-300" dirty="0">
                <a:latin typeface="Trebuchet MS"/>
                <a:cs typeface="Trebuchet MS"/>
              </a:rPr>
              <a:t>,</a:t>
            </a:r>
            <a:r>
              <a:rPr sz="2000" spc="-265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y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s</a:t>
            </a:r>
            <a:r>
              <a:rPr sz="2000" spc="-80" dirty="0">
                <a:latin typeface="Trebuchet MS"/>
                <a:cs typeface="Trebuchet MS"/>
              </a:rPr>
              <a:t>u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spc="-35" dirty="0">
                <a:latin typeface="Trebuchet MS"/>
                <a:cs typeface="Trebuchet MS"/>
              </a:rPr>
              <a:t>r</a:t>
            </a:r>
            <a:r>
              <a:rPr sz="2000" spc="-114" dirty="0">
                <a:latin typeface="Trebuchet MS"/>
                <a:cs typeface="Trebuchet MS"/>
              </a:rPr>
              <a:t>elación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60" dirty="0">
                <a:latin typeface="Trebuchet MS"/>
                <a:cs typeface="Trebuchet MS"/>
              </a:rPr>
              <a:t>con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175" dirty="0">
                <a:latin typeface="Trebuchet MS"/>
                <a:cs typeface="Trebuchet MS"/>
              </a:rPr>
              <a:t>la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110" dirty="0">
                <a:latin typeface="Trebuchet MS"/>
                <a:cs typeface="Trebuchet MS"/>
              </a:rPr>
              <a:t>Prima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de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spc="-85" dirty="0">
                <a:latin typeface="Trebuchet MS"/>
                <a:cs typeface="Trebuchet MS"/>
              </a:rPr>
              <a:t>Ries</a:t>
            </a:r>
            <a:r>
              <a:rPr sz="2000" spc="-110" dirty="0">
                <a:latin typeface="Trebuchet MS"/>
                <a:cs typeface="Trebuchet MS"/>
              </a:rPr>
              <a:t>g</a:t>
            </a:r>
            <a:r>
              <a:rPr sz="2000" spc="-35" dirty="0">
                <a:latin typeface="Trebuchet MS"/>
                <a:cs typeface="Trebuchet MS"/>
              </a:rPr>
              <a:t>o</a:t>
            </a:r>
            <a:r>
              <a:rPr sz="2000" spc="-300" dirty="0">
                <a:latin typeface="Trebuchet MS"/>
                <a:cs typeface="Trebuchet MS"/>
              </a:rPr>
              <a:t>.</a:t>
            </a:r>
            <a:endParaRPr sz="2000">
              <a:latin typeface="Trebuchet MS"/>
              <a:cs typeface="Trebuchet MS"/>
            </a:endParaRPr>
          </a:p>
          <a:p>
            <a:pPr marL="469900" indent="-457834" algn="just">
              <a:lnSpc>
                <a:spcPct val="100000"/>
              </a:lnSpc>
              <a:spcBef>
                <a:spcPts val="1080"/>
              </a:spcBef>
              <a:buClr>
                <a:srgbClr val="4590B8"/>
              </a:buClr>
              <a:buSzPct val="92500"/>
              <a:buAutoNum type="arabicPeriod"/>
              <a:tabLst>
                <a:tab pos="470534" algn="l"/>
              </a:tabLst>
            </a:pPr>
            <a:r>
              <a:rPr sz="2000" spc="-55" dirty="0">
                <a:latin typeface="Trebuchet MS"/>
                <a:cs typeface="Trebuchet MS"/>
              </a:rPr>
              <a:t>Proponer</a:t>
            </a:r>
            <a:r>
              <a:rPr sz="2000" spc="650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y</a:t>
            </a:r>
            <a:r>
              <a:rPr sz="2000" spc="645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discutir</a:t>
            </a:r>
            <a:r>
              <a:rPr sz="2000" spc="650" dirty="0">
                <a:latin typeface="Trebuchet MS"/>
                <a:cs typeface="Trebuchet MS"/>
              </a:rPr>
              <a:t> </a:t>
            </a:r>
            <a:r>
              <a:rPr sz="2000" spc="-105" dirty="0">
                <a:latin typeface="Trebuchet MS"/>
                <a:cs typeface="Trebuchet MS"/>
              </a:rPr>
              <a:t>algunos</a:t>
            </a:r>
            <a:r>
              <a:rPr sz="2000" spc="650" dirty="0">
                <a:latin typeface="Trebuchet MS"/>
                <a:cs typeface="Trebuchet MS"/>
              </a:rPr>
              <a:t> </a:t>
            </a:r>
            <a:r>
              <a:rPr sz="2000" b="1" spc="-45" dirty="0">
                <a:latin typeface="Trebuchet MS"/>
                <a:cs typeface="Trebuchet MS"/>
              </a:rPr>
              <a:t>ejercicios</a:t>
            </a:r>
            <a:r>
              <a:rPr sz="2000" b="1" spc="645" dirty="0">
                <a:latin typeface="Trebuchet MS"/>
                <a:cs typeface="Trebuchet MS"/>
              </a:rPr>
              <a:t> </a:t>
            </a:r>
            <a:r>
              <a:rPr sz="2000" b="1" spc="-5" dirty="0">
                <a:latin typeface="Trebuchet MS"/>
                <a:cs typeface="Trebuchet MS"/>
              </a:rPr>
              <a:t>sobre</a:t>
            </a:r>
            <a:r>
              <a:rPr sz="2000" b="1" spc="650" dirty="0">
                <a:latin typeface="Trebuchet MS"/>
                <a:cs typeface="Trebuchet MS"/>
              </a:rPr>
              <a:t> </a:t>
            </a:r>
            <a:r>
              <a:rPr sz="2000" b="1" spc="-5" dirty="0">
                <a:latin typeface="Trebuchet MS"/>
                <a:cs typeface="Trebuchet MS"/>
              </a:rPr>
              <a:t>los</a:t>
            </a:r>
            <a:r>
              <a:rPr sz="2000" b="1" spc="650" dirty="0">
                <a:latin typeface="Trebuchet MS"/>
                <a:cs typeface="Trebuchet MS"/>
              </a:rPr>
              <a:t> </a:t>
            </a:r>
            <a:r>
              <a:rPr sz="2000" b="1" spc="25" dirty="0">
                <a:latin typeface="Trebuchet MS"/>
                <a:cs typeface="Trebuchet MS"/>
              </a:rPr>
              <a:t>temas</a:t>
            </a:r>
            <a:r>
              <a:rPr sz="2000" b="1" spc="645" dirty="0">
                <a:latin typeface="Trebuchet MS"/>
                <a:cs typeface="Trebuchet MS"/>
              </a:rPr>
              <a:t> </a:t>
            </a:r>
            <a:r>
              <a:rPr sz="2000" b="1" spc="-25" dirty="0">
                <a:latin typeface="Trebuchet MS"/>
                <a:cs typeface="Trebuchet MS"/>
              </a:rPr>
              <a:t>de</a:t>
            </a:r>
            <a:r>
              <a:rPr sz="2000" b="1" spc="645" dirty="0">
                <a:latin typeface="Trebuchet MS"/>
                <a:cs typeface="Trebuchet MS"/>
              </a:rPr>
              <a:t> </a:t>
            </a:r>
            <a:r>
              <a:rPr sz="2000" b="1" spc="-40" dirty="0">
                <a:latin typeface="Trebuchet MS"/>
                <a:cs typeface="Trebuchet MS"/>
              </a:rPr>
              <a:t>la</a:t>
            </a:r>
            <a:endParaRPr sz="20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5"/>
              </a:spcBef>
            </a:pPr>
            <a:r>
              <a:rPr sz="2000" b="1" spc="-55" dirty="0">
                <a:latin typeface="Trebuchet MS"/>
                <a:cs typeface="Trebuchet MS"/>
              </a:rPr>
              <a:t>sesión</a:t>
            </a:r>
            <a:r>
              <a:rPr sz="2000" spc="-55" dirty="0">
                <a:latin typeface="Trebuchet MS"/>
                <a:cs typeface="Trebuchet MS"/>
              </a:rPr>
              <a:t>.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10193" y="6053328"/>
            <a:ext cx="825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4590B8"/>
                </a:solidFill>
                <a:latin typeface="Trebuchet MS"/>
                <a:cs typeface="Trebuchet MS"/>
              </a:rPr>
              <a:t>2</a:t>
            </a:r>
            <a:endParaRPr sz="90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28981366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8055" y="599694"/>
            <a:ext cx="8239125" cy="125920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endParaRPr sz="2950">
              <a:latin typeface="Times New Roman"/>
              <a:cs typeface="Times New Roman"/>
            </a:endParaRPr>
          </a:p>
          <a:p>
            <a:pPr marL="326390">
              <a:lnSpc>
                <a:spcPct val="100000"/>
              </a:lnSpc>
            </a:pPr>
            <a:r>
              <a:rPr spc="110" dirty="0"/>
              <a:t>PLAN</a:t>
            </a:r>
            <a:r>
              <a:rPr spc="-95" dirty="0"/>
              <a:t> </a:t>
            </a:r>
            <a:r>
              <a:rPr spc="140" dirty="0"/>
              <a:t>DE</a:t>
            </a:r>
            <a:r>
              <a:rPr spc="-90" dirty="0"/>
              <a:t> </a:t>
            </a:r>
            <a:r>
              <a:rPr spc="85" dirty="0"/>
              <a:t>LA</a:t>
            </a:r>
            <a:r>
              <a:rPr spc="-90" dirty="0"/>
              <a:t> </a:t>
            </a:r>
            <a:r>
              <a:rPr spc="85" dirty="0"/>
              <a:t>SESIÓN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9600" y="2077508"/>
            <a:ext cx="7398384" cy="362419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4200" marR="5080" indent="-342900" algn="just">
              <a:lnSpc>
                <a:spcPct val="120000"/>
              </a:lnSpc>
              <a:spcBef>
                <a:spcPts val="1030"/>
              </a:spcBef>
              <a:buClr>
                <a:srgbClr val="4590B8"/>
              </a:buClr>
              <a:buSzPct val="91666"/>
              <a:buAutoNum type="arabicPeriod"/>
              <a:tabLst>
                <a:tab pos="1042035" algn="l"/>
              </a:tabLst>
            </a:pPr>
            <a:r>
              <a:rPr lang="en-US" spc="-85" dirty="0" err="1">
                <a:solidFill>
                  <a:srgbClr val="3C3C3C"/>
                </a:solidFill>
                <a:latin typeface="Trebuchet MS"/>
                <a:cs typeface="Trebuchet MS"/>
              </a:rPr>
              <a:t>Repaso</a:t>
            </a:r>
            <a:r>
              <a:rPr lang="en-US" spc="-85" dirty="0">
                <a:solidFill>
                  <a:srgbClr val="3C3C3C"/>
                </a:solidFill>
                <a:latin typeface="Trebuchet MS"/>
                <a:cs typeface="Trebuchet MS"/>
              </a:rPr>
              <a:t> de lo visto </a:t>
            </a:r>
            <a:r>
              <a:rPr lang="en-US" spc="-85" dirty="0" err="1">
                <a:solidFill>
                  <a:srgbClr val="3C3C3C"/>
                </a:solidFill>
                <a:latin typeface="Trebuchet MS"/>
                <a:cs typeface="Trebuchet MS"/>
              </a:rPr>
              <a:t>en</a:t>
            </a:r>
            <a:r>
              <a:rPr lang="en-US" spc="-85" dirty="0">
                <a:solidFill>
                  <a:srgbClr val="3C3C3C"/>
                </a:solidFill>
                <a:latin typeface="Trebuchet MS"/>
                <a:cs typeface="Trebuchet MS"/>
              </a:rPr>
              <a:t> la </a:t>
            </a:r>
            <a:r>
              <a:rPr lang="en-US" spc="-85" dirty="0" err="1">
                <a:solidFill>
                  <a:srgbClr val="3C3C3C"/>
                </a:solidFill>
                <a:latin typeface="Trebuchet MS"/>
                <a:cs typeface="Trebuchet MS"/>
              </a:rPr>
              <a:t>clase</a:t>
            </a:r>
            <a:r>
              <a:rPr lang="en-US" spc="-85" dirty="0">
                <a:solidFill>
                  <a:srgbClr val="3C3C3C"/>
                </a:solidFill>
                <a:latin typeface="Trebuchet MS"/>
                <a:cs typeface="Trebuchet MS"/>
              </a:rPr>
              <a:t> anterior.</a:t>
            </a:r>
          </a:p>
          <a:p>
            <a:pPr marL="584200" marR="5080" indent="-342900" algn="just">
              <a:lnSpc>
                <a:spcPct val="120000"/>
              </a:lnSpc>
              <a:spcBef>
                <a:spcPts val="1030"/>
              </a:spcBef>
              <a:buClr>
                <a:srgbClr val="4590B8"/>
              </a:buClr>
              <a:buSzPct val="91666"/>
              <a:buAutoNum type="arabicPeriod"/>
              <a:tabLst>
                <a:tab pos="1042035" algn="l"/>
              </a:tabLst>
            </a:pPr>
            <a:r>
              <a:rPr lang="en-US" spc="-85" dirty="0">
                <a:solidFill>
                  <a:srgbClr val="3C3C3C"/>
                </a:solidFill>
                <a:latin typeface="Trebuchet MS"/>
                <a:cs typeface="Trebuchet MS"/>
              </a:rPr>
              <a:t>Prima de Riesgo y de Seguro.</a:t>
            </a:r>
          </a:p>
          <a:p>
            <a:pPr marL="584200" marR="5080" indent="-342900" algn="just">
              <a:lnSpc>
                <a:spcPct val="120000"/>
              </a:lnSpc>
              <a:spcBef>
                <a:spcPts val="1030"/>
              </a:spcBef>
              <a:buClr>
                <a:srgbClr val="4590B8"/>
              </a:buClr>
              <a:buSzPct val="91666"/>
              <a:buAutoNum type="arabicPeriod"/>
              <a:tabLst>
                <a:tab pos="1042035" algn="l"/>
              </a:tabLst>
            </a:pPr>
            <a:r>
              <a:rPr spc="-85" dirty="0" err="1">
                <a:solidFill>
                  <a:srgbClr val="3C3C3C"/>
                </a:solidFill>
                <a:latin typeface="Trebuchet MS"/>
                <a:cs typeface="Trebuchet MS"/>
              </a:rPr>
              <a:t>Síntesis</a:t>
            </a:r>
            <a:r>
              <a:rPr spc="-8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pc="-55" dirty="0">
                <a:solidFill>
                  <a:srgbClr val="3C3C3C"/>
                </a:solidFill>
                <a:latin typeface="Trebuchet MS"/>
                <a:cs typeface="Trebuchet MS"/>
              </a:rPr>
              <a:t>sobre </a:t>
            </a:r>
            <a:r>
              <a:rPr spc="-130" dirty="0">
                <a:solidFill>
                  <a:srgbClr val="3C3C3C"/>
                </a:solidFill>
                <a:latin typeface="Trebuchet MS"/>
                <a:cs typeface="Trebuchet MS"/>
              </a:rPr>
              <a:t>el </a:t>
            </a:r>
            <a:r>
              <a:rPr spc="-120" dirty="0">
                <a:solidFill>
                  <a:srgbClr val="3C3C3C"/>
                </a:solidFill>
                <a:latin typeface="Trebuchet MS"/>
                <a:cs typeface="Trebuchet MS"/>
              </a:rPr>
              <a:t>material </a:t>
            </a:r>
            <a:r>
              <a:rPr spc="-100" dirty="0">
                <a:solidFill>
                  <a:srgbClr val="3C3C3C"/>
                </a:solidFill>
                <a:latin typeface="Trebuchet MS"/>
                <a:cs typeface="Trebuchet MS"/>
              </a:rPr>
              <a:t>enviado </a:t>
            </a:r>
            <a:r>
              <a:rPr spc="-110" dirty="0">
                <a:solidFill>
                  <a:srgbClr val="3C3C3C"/>
                </a:solidFill>
                <a:latin typeface="Trebuchet MS"/>
                <a:cs typeface="Trebuchet MS"/>
              </a:rPr>
              <a:t>antes </a:t>
            </a:r>
            <a:r>
              <a:rPr spc="-105" dirty="0">
                <a:solidFill>
                  <a:srgbClr val="3C3C3C"/>
                </a:solidFill>
                <a:latin typeface="Trebuchet MS"/>
                <a:cs typeface="Trebuchet MS"/>
              </a:rPr>
              <a:t>de </a:t>
            </a:r>
            <a:r>
              <a:rPr spc="-160" dirty="0">
                <a:solidFill>
                  <a:srgbClr val="3C3C3C"/>
                </a:solidFill>
                <a:latin typeface="Trebuchet MS"/>
                <a:cs typeface="Trebuchet MS"/>
              </a:rPr>
              <a:t>la </a:t>
            </a:r>
            <a:r>
              <a:rPr spc="-95" dirty="0">
                <a:solidFill>
                  <a:srgbClr val="3C3C3C"/>
                </a:solidFill>
                <a:latin typeface="Trebuchet MS"/>
                <a:cs typeface="Trebuchet MS"/>
              </a:rPr>
              <a:t>sesión: </a:t>
            </a:r>
            <a:r>
              <a:rPr spc="-100" dirty="0">
                <a:solidFill>
                  <a:srgbClr val="3C3C3C"/>
                </a:solidFill>
                <a:latin typeface="Trebuchet MS"/>
                <a:cs typeface="Trebuchet MS"/>
              </a:rPr>
              <a:t>i) </a:t>
            </a:r>
            <a:r>
              <a:rPr spc="-135" dirty="0">
                <a:solidFill>
                  <a:srgbClr val="3C3C3C"/>
                </a:solidFill>
                <a:latin typeface="Trebuchet MS"/>
                <a:cs typeface="Trebuchet MS"/>
              </a:rPr>
              <a:t>Fs. </a:t>
            </a:r>
            <a:r>
              <a:rPr spc="-105" dirty="0">
                <a:solidFill>
                  <a:srgbClr val="3C3C3C"/>
                </a:solidFill>
                <a:latin typeface="Trebuchet MS"/>
                <a:cs typeface="Trebuchet MS"/>
              </a:rPr>
              <a:t>de </a:t>
            </a:r>
            <a:r>
              <a:rPr spc="-95" dirty="0">
                <a:solidFill>
                  <a:srgbClr val="3C3C3C"/>
                </a:solidFill>
                <a:latin typeface="Trebuchet MS"/>
                <a:cs typeface="Trebuchet MS"/>
              </a:rPr>
              <a:t>Utilidad </a:t>
            </a:r>
            <a:r>
              <a:rPr spc="-9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pc="-110" dirty="0">
                <a:solidFill>
                  <a:srgbClr val="3C3C3C"/>
                </a:solidFill>
                <a:latin typeface="Trebuchet MS"/>
                <a:cs typeface="Trebuchet MS"/>
              </a:rPr>
              <a:t>Estratégicamente </a:t>
            </a:r>
            <a:r>
              <a:rPr spc="-120" dirty="0">
                <a:solidFill>
                  <a:srgbClr val="3C3C3C"/>
                </a:solidFill>
                <a:latin typeface="Trebuchet MS"/>
                <a:cs typeface="Trebuchet MS"/>
              </a:rPr>
              <a:t>Equivalentes; </a:t>
            </a:r>
            <a:r>
              <a:rPr spc="-105" dirty="0">
                <a:solidFill>
                  <a:srgbClr val="3C3C3C"/>
                </a:solidFill>
                <a:latin typeface="Trebuchet MS"/>
                <a:cs typeface="Trebuchet MS"/>
              </a:rPr>
              <a:t>ii) </a:t>
            </a:r>
            <a:r>
              <a:rPr spc="-40" dirty="0">
                <a:solidFill>
                  <a:srgbClr val="3C3C3C"/>
                </a:solidFill>
                <a:latin typeface="Trebuchet MS"/>
                <a:cs typeface="Trebuchet MS"/>
              </a:rPr>
              <a:t>Tipos </a:t>
            </a:r>
            <a:r>
              <a:rPr spc="-105" dirty="0">
                <a:solidFill>
                  <a:srgbClr val="3C3C3C"/>
                </a:solidFill>
                <a:latin typeface="Trebuchet MS"/>
                <a:cs typeface="Trebuchet MS"/>
              </a:rPr>
              <a:t>de </a:t>
            </a:r>
            <a:r>
              <a:rPr spc="-35" dirty="0">
                <a:solidFill>
                  <a:srgbClr val="3C3C3C"/>
                </a:solidFill>
                <a:latin typeface="Trebuchet MS"/>
                <a:cs typeface="Trebuchet MS"/>
              </a:rPr>
              <a:t>Decisores </a:t>
            </a:r>
            <a:r>
              <a:rPr spc="-100" dirty="0">
                <a:solidFill>
                  <a:srgbClr val="3C3C3C"/>
                </a:solidFill>
                <a:latin typeface="Trebuchet MS"/>
                <a:cs typeface="Trebuchet MS"/>
              </a:rPr>
              <a:t>y </a:t>
            </a:r>
            <a:r>
              <a:rPr spc="-95" dirty="0">
                <a:solidFill>
                  <a:srgbClr val="3C3C3C"/>
                </a:solidFill>
                <a:latin typeface="Trebuchet MS"/>
                <a:cs typeface="Trebuchet MS"/>
              </a:rPr>
              <a:t>relación </a:t>
            </a:r>
            <a:r>
              <a:rPr spc="-55" dirty="0">
                <a:solidFill>
                  <a:srgbClr val="3C3C3C"/>
                </a:solidFill>
                <a:latin typeface="Trebuchet MS"/>
                <a:cs typeface="Trebuchet MS"/>
              </a:rPr>
              <a:t>con </a:t>
            </a:r>
            <a:r>
              <a:rPr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pc="-160" dirty="0">
                <a:solidFill>
                  <a:srgbClr val="3C3C3C"/>
                </a:solidFill>
                <a:latin typeface="Trebuchet MS"/>
                <a:cs typeface="Trebuchet MS"/>
              </a:rPr>
              <a:t>la</a:t>
            </a:r>
            <a:r>
              <a:rPr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pc="-240" dirty="0">
                <a:solidFill>
                  <a:srgbClr val="3C3C3C"/>
                </a:solidFill>
                <a:latin typeface="Trebuchet MS"/>
                <a:cs typeface="Trebuchet MS"/>
              </a:rPr>
              <a:t>f</a:t>
            </a:r>
            <a:r>
              <a:rPr spc="-65" dirty="0">
                <a:solidFill>
                  <a:srgbClr val="3C3C3C"/>
                </a:solidFill>
                <a:latin typeface="Trebuchet MS"/>
                <a:cs typeface="Trebuchet MS"/>
              </a:rPr>
              <a:t>orma</a:t>
            </a:r>
            <a:r>
              <a:rPr spc="-6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pc="-105" dirty="0">
                <a:solidFill>
                  <a:srgbClr val="3C3C3C"/>
                </a:solidFill>
                <a:latin typeface="Trebuchet MS"/>
                <a:cs typeface="Trebuchet MS"/>
              </a:rPr>
              <a:t>de</a:t>
            </a:r>
            <a:r>
              <a:rPr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pc="-60" dirty="0">
                <a:solidFill>
                  <a:srgbClr val="3C3C3C"/>
                </a:solidFill>
                <a:latin typeface="Trebuchet MS"/>
                <a:cs typeface="Trebuchet MS"/>
              </a:rPr>
              <a:t>s</a:t>
            </a:r>
            <a:r>
              <a:rPr spc="-70" dirty="0">
                <a:solidFill>
                  <a:srgbClr val="3C3C3C"/>
                </a:solidFill>
                <a:latin typeface="Trebuchet MS"/>
                <a:cs typeface="Trebuchet MS"/>
              </a:rPr>
              <a:t>u</a:t>
            </a:r>
            <a:r>
              <a:rPr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pc="-220" dirty="0">
                <a:solidFill>
                  <a:srgbClr val="3C3C3C"/>
                </a:solidFill>
                <a:latin typeface="Trebuchet MS"/>
                <a:cs typeface="Trebuchet MS"/>
              </a:rPr>
              <a:t>f</a:t>
            </a:r>
            <a:r>
              <a:rPr spc="-270" dirty="0">
                <a:solidFill>
                  <a:srgbClr val="3C3C3C"/>
                </a:solidFill>
                <a:latin typeface="Trebuchet MS"/>
                <a:cs typeface="Trebuchet MS"/>
              </a:rPr>
              <a:t>.</a:t>
            </a:r>
            <a:r>
              <a:rPr spc="-22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pc="-105" dirty="0">
                <a:solidFill>
                  <a:srgbClr val="3C3C3C"/>
                </a:solidFill>
                <a:latin typeface="Trebuchet MS"/>
                <a:cs typeface="Trebuchet MS"/>
              </a:rPr>
              <a:t>de</a:t>
            </a:r>
            <a:r>
              <a:rPr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pc="-114" dirty="0">
                <a:solidFill>
                  <a:srgbClr val="3C3C3C"/>
                </a:solidFill>
                <a:latin typeface="Trebuchet MS"/>
                <a:cs typeface="Trebuchet MS"/>
              </a:rPr>
              <a:t>utili</a:t>
            </a:r>
            <a:r>
              <a:rPr spc="-120" dirty="0">
                <a:solidFill>
                  <a:srgbClr val="3C3C3C"/>
                </a:solidFill>
                <a:latin typeface="Trebuchet MS"/>
                <a:cs typeface="Trebuchet MS"/>
              </a:rPr>
              <a:t>dad</a:t>
            </a:r>
            <a:r>
              <a:rPr spc="-270" dirty="0">
                <a:solidFill>
                  <a:srgbClr val="3C3C3C"/>
                </a:solidFill>
                <a:latin typeface="Trebuchet MS"/>
                <a:cs typeface="Trebuchet MS"/>
              </a:rPr>
              <a:t>.</a:t>
            </a:r>
            <a:endParaRPr dirty="0">
              <a:latin typeface="Trebuchet MS"/>
              <a:cs typeface="Trebuchet MS"/>
            </a:endParaRPr>
          </a:p>
          <a:p>
            <a:pPr marL="584200" indent="-343535">
              <a:spcBef>
                <a:spcPts val="1465"/>
              </a:spcBef>
              <a:buClr>
                <a:srgbClr val="4590B8"/>
              </a:buClr>
              <a:buSzPct val="91666"/>
              <a:buAutoNum type="arabicPeriod"/>
              <a:tabLst>
                <a:tab pos="1041400" algn="l"/>
                <a:tab pos="1042035" algn="l"/>
              </a:tabLst>
            </a:pPr>
            <a:r>
              <a:rPr spc="-45" dirty="0">
                <a:solidFill>
                  <a:srgbClr val="3C3C3C"/>
                </a:solidFill>
                <a:latin typeface="Trebuchet MS"/>
                <a:cs typeface="Trebuchet MS"/>
              </a:rPr>
              <a:t>P</a:t>
            </a:r>
            <a:r>
              <a:rPr spc="-65" dirty="0">
                <a:solidFill>
                  <a:srgbClr val="3C3C3C"/>
                </a:solidFill>
                <a:latin typeface="Trebuchet MS"/>
                <a:cs typeface="Trebuchet MS"/>
              </a:rPr>
              <a:t>r</a:t>
            </a:r>
            <a:r>
              <a:rPr spc="-80" dirty="0">
                <a:solidFill>
                  <a:srgbClr val="3C3C3C"/>
                </a:solidFill>
                <a:latin typeface="Trebuchet MS"/>
                <a:cs typeface="Trebuchet MS"/>
              </a:rPr>
              <a:t>ecio</a:t>
            </a:r>
            <a:r>
              <a:rPr spc="-5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pc="-105" dirty="0">
                <a:solidFill>
                  <a:srgbClr val="3C3C3C"/>
                </a:solidFill>
                <a:latin typeface="Trebuchet MS"/>
                <a:cs typeface="Trebuchet MS"/>
              </a:rPr>
              <a:t>de</a:t>
            </a:r>
            <a:r>
              <a:rPr spc="-3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pc="-160" dirty="0">
                <a:solidFill>
                  <a:srgbClr val="3C3C3C"/>
                </a:solidFill>
                <a:latin typeface="Trebuchet MS"/>
                <a:cs typeface="Trebuchet MS"/>
              </a:rPr>
              <a:t>V</a:t>
            </a:r>
            <a:r>
              <a:rPr spc="-125" dirty="0">
                <a:solidFill>
                  <a:srgbClr val="3C3C3C"/>
                </a:solidFill>
                <a:latin typeface="Trebuchet MS"/>
                <a:cs typeface="Trebuchet MS"/>
              </a:rPr>
              <a:t>enta</a:t>
            </a:r>
            <a:r>
              <a:rPr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pc="-100" dirty="0">
                <a:solidFill>
                  <a:srgbClr val="3C3C3C"/>
                </a:solidFill>
                <a:latin typeface="Trebuchet MS"/>
                <a:cs typeface="Trebuchet MS"/>
              </a:rPr>
              <a:t>y</a:t>
            </a:r>
            <a:r>
              <a:rPr spc="-45" dirty="0">
                <a:solidFill>
                  <a:srgbClr val="3C3C3C"/>
                </a:solidFill>
                <a:latin typeface="Trebuchet MS"/>
                <a:cs typeface="Trebuchet MS"/>
              </a:rPr>
              <a:t> P</a:t>
            </a:r>
            <a:r>
              <a:rPr spc="-65" dirty="0">
                <a:solidFill>
                  <a:srgbClr val="3C3C3C"/>
                </a:solidFill>
                <a:latin typeface="Trebuchet MS"/>
                <a:cs typeface="Trebuchet MS"/>
              </a:rPr>
              <a:t>r</a:t>
            </a:r>
            <a:r>
              <a:rPr spc="-80" dirty="0">
                <a:solidFill>
                  <a:srgbClr val="3C3C3C"/>
                </a:solidFill>
                <a:latin typeface="Trebuchet MS"/>
                <a:cs typeface="Trebuchet MS"/>
              </a:rPr>
              <a:t>ecio</a:t>
            </a:r>
            <a:r>
              <a:rPr spc="-5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pc="-105" dirty="0">
                <a:solidFill>
                  <a:srgbClr val="3C3C3C"/>
                </a:solidFill>
                <a:latin typeface="Trebuchet MS"/>
                <a:cs typeface="Trebuchet MS"/>
              </a:rPr>
              <a:t>de</a:t>
            </a:r>
            <a:r>
              <a:rPr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pc="-25" dirty="0">
                <a:solidFill>
                  <a:srgbClr val="3C3C3C"/>
                </a:solidFill>
                <a:latin typeface="Trebuchet MS"/>
                <a:cs typeface="Trebuchet MS"/>
              </a:rPr>
              <a:t>Compra</a:t>
            </a:r>
            <a:r>
              <a:rPr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pc="-105" dirty="0">
                <a:solidFill>
                  <a:srgbClr val="3C3C3C"/>
                </a:solidFill>
                <a:latin typeface="Trebuchet MS"/>
                <a:cs typeface="Trebuchet MS"/>
              </a:rPr>
              <a:t>de</a:t>
            </a:r>
            <a:r>
              <a:rPr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pc="-114" dirty="0">
                <a:solidFill>
                  <a:srgbClr val="3C3C3C"/>
                </a:solidFill>
                <a:latin typeface="Trebuchet MS"/>
                <a:cs typeface="Trebuchet MS"/>
              </a:rPr>
              <a:t>una</a:t>
            </a:r>
            <a:r>
              <a:rPr spc="-5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pc="-85" dirty="0">
                <a:solidFill>
                  <a:srgbClr val="3C3C3C"/>
                </a:solidFill>
                <a:latin typeface="Trebuchet MS"/>
                <a:cs typeface="Trebuchet MS"/>
              </a:rPr>
              <a:t>lot</a:t>
            </a:r>
            <a:r>
              <a:rPr spc="-105" dirty="0">
                <a:solidFill>
                  <a:srgbClr val="3C3C3C"/>
                </a:solidFill>
                <a:latin typeface="Trebuchet MS"/>
                <a:cs typeface="Trebuchet MS"/>
              </a:rPr>
              <a:t>e</a:t>
            </a:r>
            <a:r>
              <a:rPr spc="-80" dirty="0">
                <a:solidFill>
                  <a:srgbClr val="3C3C3C"/>
                </a:solidFill>
                <a:latin typeface="Trebuchet MS"/>
                <a:cs typeface="Trebuchet MS"/>
              </a:rPr>
              <a:t>rí</a:t>
            </a:r>
            <a:r>
              <a:rPr spc="-120" dirty="0">
                <a:solidFill>
                  <a:srgbClr val="3C3C3C"/>
                </a:solidFill>
                <a:latin typeface="Trebuchet MS"/>
                <a:cs typeface="Trebuchet MS"/>
              </a:rPr>
              <a:t>a</a:t>
            </a:r>
            <a:r>
              <a:rPr spc="-270" dirty="0">
                <a:solidFill>
                  <a:srgbClr val="3C3C3C"/>
                </a:solidFill>
                <a:latin typeface="Trebuchet MS"/>
                <a:cs typeface="Trebuchet MS"/>
              </a:rPr>
              <a:t>.</a:t>
            </a:r>
            <a:endParaRPr dirty="0">
              <a:latin typeface="Trebuchet MS"/>
              <a:cs typeface="Trebuchet MS"/>
            </a:endParaRPr>
          </a:p>
          <a:p>
            <a:pPr marL="584200" marR="5080" indent="-342900" algn="just">
              <a:lnSpc>
                <a:spcPct val="120100"/>
              </a:lnSpc>
              <a:spcBef>
                <a:spcPts val="1030"/>
              </a:spcBef>
              <a:buClr>
                <a:srgbClr val="4590B8"/>
              </a:buClr>
              <a:buSzPct val="91666"/>
              <a:buAutoNum type="arabicPeriod"/>
              <a:tabLst>
                <a:tab pos="1042035" algn="l"/>
              </a:tabLst>
            </a:pPr>
            <a:r>
              <a:rPr spc="-85" dirty="0">
                <a:solidFill>
                  <a:srgbClr val="3C3C3C"/>
                </a:solidFill>
                <a:latin typeface="Trebuchet MS"/>
                <a:cs typeface="Trebuchet MS"/>
              </a:rPr>
              <a:t>Función </a:t>
            </a:r>
            <a:r>
              <a:rPr spc="-105" dirty="0">
                <a:solidFill>
                  <a:srgbClr val="3C3C3C"/>
                </a:solidFill>
                <a:latin typeface="Trebuchet MS"/>
                <a:cs typeface="Trebuchet MS"/>
              </a:rPr>
              <a:t>de </a:t>
            </a:r>
            <a:r>
              <a:rPr spc="-50" dirty="0">
                <a:solidFill>
                  <a:srgbClr val="3C3C3C"/>
                </a:solidFill>
                <a:latin typeface="Trebuchet MS"/>
                <a:cs typeface="Trebuchet MS"/>
              </a:rPr>
              <a:t>Aversión </a:t>
            </a:r>
            <a:r>
              <a:rPr spc="-160" dirty="0">
                <a:solidFill>
                  <a:srgbClr val="3C3C3C"/>
                </a:solidFill>
                <a:latin typeface="Trebuchet MS"/>
                <a:cs typeface="Trebuchet MS"/>
              </a:rPr>
              <a:t>al </a:t>
            </a:r>
            <a:r>
              <a:rPr spc="-65" dirty="0">
                <a:solidFill>
                  <a:srgbClr val="3C3C3C"/>
                </a:solidFill>
                <a:latin typeface="Trebuchet MS"/>
                <a:cs typeface="Trebuchet MS"/>
              </a:rPr>
              <a:t>Riesgo </a:t>
            </a:r>
            <a:r>
              <a:rPr spc="-105" dirty="0">
                <a:solidFill>
                  <a:srgbClr val="3C3C3C"/>
                </a:solidFill>
                <a:latin typeface="Trebuchet MS"/>
                <a:cs typeface="Trebuchet MS"/>
              </a:rPr>
              <a:t>de </a:t>
            </a:r>
            <a:r>
              <a:rPr spc="-85" dirty="0">
                <a:solidFill>
                  <a:srgbClr val="3C3C3C"/>
                </a:solidFill>
                <a:latin typeface="Trebuchet MS"/>
                <a:cs typeface="Trebuchet MS"/>
              </a:rPr>
              <a:t>un </a:t>
            </a:r>
            <a:r>
              <a:rPr spc="-15" dirty="0">
                <a:solidFill>
                  <a:srgbClr val="3C3C3C"/>
                </a:solidFill>
                <a:latin typeface="Trebuchet MS"/>
                <a:cs typeface="Trebuchet MS"/>
              </a:rPr>
              <a:t>Decisor </a:t>
            </a:r>
            <a:r>
              <a:rPr spc="-100" dirty="0">
                <a:solidFill>
                  <a:srgbClr val="3C3C3C"/>
                </a:solidFill>
                <a:latin typeface="Trebuchet MS"/>
                <a:cs typeface="Trebuchet MS"/>
              </a:rPr>
              <a:t>y </a:t>
            </a:r>
            <a:r>
              <a:rPr spc="-65" dirty="0">
                <a:solidFill>
                  <a:srgbClr val="3C3C3C"/>
                </a:solidFill>
                <a:latin typeface="Trebuchet MS"/>
                <a:cs typeface="Trebuchet MS"/>
              </a:rPr>
              <a:t>su </a:t>
            </a:r>
            <a:r>
              <a:rPr spc="-95" dirty="0">
                <a:solidFill>
                  <a:srgbClr val="3C3C3C"/>
                </a:solidFill>
                <a:latin typeface="Trebuchet MS"/>
                <a:cs typeface="Trebuchet MS"/>
              </a:rPr>
              <a:t>relación </a:t>
            </a:r>
            <a:r>
              <a:rPr spc="-55" dirty="0">
                <a:solidFill>
                  <a:srgbClr val="3C3C3C"/>
                </a:solidFill>
                <a:latin typeface="Trebuchet MS"/>
                <a:cs typeface="Trebuchet MS"/>
              </a:rPr>
              <a:t>con </a:t>
            </a:r>
            <a:r>
              <a:rPr spc="-165" dirty="0">
                <a:solidFill>
                  <a:srgbClr val="3C3C3C"/>
                </a:solidFill>
                <a:latin typeface="Trebuchet MS"/>
                <a:cs typeface="Trebuchet MS"/>
              </a:rPr>
              <a:t>la </a:t>
            </a:r>
            <a:r>
              <a:rPr spc="-16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pc="-100" dirty="0">
                <a:solidFill>
                  <a:srgbClr val="3C3C3C"/>
                </a:solidFill>
                <a:latin typeface="Trebuchet MS"/>
                <a:cs typeface="Trebuchet MS"/>
              </a:rPr>
              <a:t>Prima</a:t>
            </a:r>
            <a:r>
              <a:rPr spc="-5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pc="-105" dirty="0">
                <a:solidFill>
                  <a:srgbClr val="3C3C3C"/>
                </a:solidFill>
                <a:latin typeface="Trebuchet MS"/>
                <a:cs typeface="Trebuchet MS"/>
              </a:rPr>
              <a:t>de</a:t>
            </a:r>
            <a:r>
              <a:rPr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pc="-75" dirty="0">
                <a:solidFill>
                  <a:srgbClr val="3C3C3C"/>
                </a:solidFill>
                <a:latin typeface="Trebuchet MS"/>
                <a:cs typeface="Trebuchet MS"/>
              </a:rPr>
              <a:t>Ries</a:t>
            </a:r>
            <a:r>
              <a:rPr spc="-105" dirty="0">
                <a:solidFill>
                  <a:srgbClr val="3C3C3C"/>
                </a:solidFill>
                <a:latin typeface="Trebuchet MS"/>
                <a:cs typeface="Trebuchet MS"/>
              </a:rPr>
              <a:t>g</a:t>
            </a:r>
            <a:r>
              <a:rPr spc="-30" dirty="0">
                <a:solidFill>
                  <a:srgbClr val="3C3C3C"/>
                </a:solidFill>
                <a:latin typeface="Trebuchet MS"/>
                <a:cs typeface="Trebuchet MS"/>
              </a:rPr>
              <a:t>o</a:t>
            </a:r>
            <a:r>
              <a:rPr spc="-270" dirty="0">
                <a:solidFill>
                  <a:srgbClr val="3C3C3C"/>
                </a:solidFill>
                <a:latin typeface="Trebuchet MS"/>
                <a:cs typeface="Trebuchet MS"/>
              </a:rPr>
              <a:t>.</a:t>
            </a:r>
            <a:r>
              <a:rPr spc="-229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pc="-110" dirty="0" err="1">
                <a:solidFill>
                  <a:srgbClr val="3C3C3C"/>
                </a:solidFill>
                <a:latin typeface="Trebuchet MS"/>
                <a:cs typeface="Trebuchet MS"/>
              </a:rPr>
              <a:t>Ejemplo</a:t>
            </a:r>
            <a:r>
              <a:rPr spc="-40" dirty="0" err="1">
                <a:solidFill>
                  <a:srgbClr val="3C3C3C"/>
                </a:solidFill>
                <a:latin typeface="Trebuchet MS"/>
                <a:cs typeface="Trebuchet MS"/>
              </a:rPr>
              <a:t>s</a:t>
            </a:r>
            <a:endParaRPr lang="es-CO" spc="-40" dirty="0">
              <a:solidFill>
                <a:srgbClr val="3C3C3C"/>
              </a:solidFill>
              <a:latin typeface="Trebuchet MS"/>
              <a:cs typeface="Trebuchet MS"/>
            </a:endParaRPr>
          </a:p>
          <a:p>
            <a:pPr marL="584200" marR="5080" indent="-342900" algn="just">
              <a:lnSpc>
                <a:spcPct val="120100"/>
              </a:lnSpc>
              <a:spcBef>
                <a:spcPts val="1030"/>
              </a:spcBef>
              <a:buClr>
                <a:srgbClr val="4590B8"/>
              </a:buClr>
              <a:buSzPct val="91666"/>
              <a:buAutoNum type="arabicPeriod"/>
              <a:tabLst>
                <a:tab pos="1042035" algn="l"/>
              </a:tabLst>
            </a:pPr>
            <a:r>
              <a:rPr lang="es-CO" sz="1800" spc="-40" dirty="0">
                <a:solidFill>
                  <a:srgbClr val="3C3C3C"/>
                </a:solidFill>
                <a:latin typeface="Trebuchet MS"/>
                <a:cs typeface="Trebuchet MS"/>
              </a:rPr>
              <a:t>E</a:t>
            </a:r>
            <a:r>
              <a:rPr lang="es-ES" sz="1800" spc="-100" dirty="0" err="1">
                <a:solidFill>
                  <a:srgbClr val="3C3C3C"/>
                </a:solidFill>
                <a:latin typeface="Trebuchet MS"/>
                <a:cs typeface="Trebuchet MS"/>
              </a:rPr>
              <a:t>jercicios</a:t>
            </a:r>
            <a:r>
              <a:rPr lang="es-ES" sz="1800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lang="es-ES" sz="1800" spc="-100" dirty="0">
                <a:solidFill>
                  <a:srgbClr val="3C3C3C"/>
                </a:solidFill>
                <a:latin typeface="Trebuchet MS"/>
                <a:cs typeface="Trebuchet MS"/>
              </a:rPr>
              <a:t>y</a:t>
            </a:r>
            <a:r>
              <a:rPr lang="es-ES" sz="1800"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lang="es-ES" sz="1800" spc="-120" dirty="0">
                <a:solidFill>
                  <a:srgbClr val="3C3C3C"/>
                </a:solidFill>
                <a:latin typeface="Trebuchet MS"/>
                <a:cs typeface="Trebuchet MS"/>
              </a:rPr>
              <a:t>pautas</a:t>
            </a:r>
            <a:r>
              <a:rPr lang="es-ES" sz="1800" spc="-6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lang="es-ES" sz="1800" spc="-114" dirty="0">
                <a:solidFill>
                  <a:srgbClr val="3C3C3C"/>
                </a:solidFill>
                <a:latin typeface="Trebuchet MS"/>
                <a:cs typeface="Trebuchet MS"/>
              </a:rPr>
              <a:t>para</a:t>
            </a:r>
            <a:r>
              <a:rPr lang="es-ES" sz="1800"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lang="es-ES" sz="1800" spc="-160" dirty="0">
                <a:solidFill>
                  <a:srgbClr val="3C3C3C"/>
                </a:solidFill>
                <a:latin typeface="Trebuchet MS"/>
                <a:cs typeface="Trebuchet MS"/>
              </a:rPr>
              <a:t>la</a:t>
            </a:r>
            <a:r>
              <a:rPr lang="es-ES" sz="1800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lang="es-ES" sz="1800" spc="-65" dirty="0">
                <a:solidFill>
                  <a:srgbClr val="3C3C3C"/>
                </a:solidFill>
                <a:latin typeface="Trebuchet MS"/>
                <a:cs typeface="Trebuchet MS"/>
              </a:rPr>
              <a:t>Sesión</a:t>
            </a:r>
            <a:r>
              <a:rPr lang="es-ES" sz="1800"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lang="es-ES" sz="1800" spc="105" dirty="0">
                <a:solidFill>
                  <a:srgbClr val="3C3C3C"/>
                </a:solidFill>
                <a:latin typeface="Trebuchet MS"/>
                <a:cs typeface="Trebuchet MS"/>
              </a:rPr>
              <a:t>#</a:t>
            </a:r>
            <a:r>
              <a:rPr lang="es-ES" sz="1800" spc="-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lang="es-ES" sz="1800" spc="-45" dirty="0">
                <a:solidFill>
                  <a:srgbClr val="3C3C3C"/>
                </a:solidFill>
                <a:latin typeface="Trebuchet MS"/>
                <a:cs typeface="Trebuchet MS"/>
              </a:rPr>
              <a:t>4</a:t>
            </a:r>
            <a:endParaRPr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437617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8055" y="599694"/>
            <a:ext cx="8239125" cy="125920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258445" rIns="0" bIns="0" rtlCol="0">
            <a:spAutoFit/>
          </a:bodyPr>
          <a:lstStyle/>
          <a:p>
            <a:pPr marL="224154">
              <a:lnSpc>
                <a:spcPct val="100000"/>
              </a:lnSpc>
              <a:spcBef>
                <a:spcPts val="2035"/>
              </a:spcBef>
            </a:pPr>
            <a:r>
              <a:rPr spc="245" dirty="0"/>
              <a:t>CONTENIDO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9891" y="2041347"/>
            <a:ext cx="7651750" cy="3459922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180"/>
              </a:spcBef>
              <a:buClr>
                <a:srgbClr val="4590B8"/>
              </a:buClr>
              <a:buSzPct val="92500"/>
              <a:buAutoNum type="arabicPeriod"/>
              <a:tabLst>
                <a:tab pos="354965" algn="l"/>
                <a:tab pos="355600" algn="l"/>
              </a:tabLst>
            </a:pPr>
            <a:r>
              <a:rPr lang="en-US" sz="2000" spc="-70" dirty="0">
                <a:solidFill>
                  <a:srgbClr val="006FC0"/>
                </a:solidFill>
                <a:latin typeface="Trebuchet MS"/>
                <a:cs typeface="Trebuchet MS"/>
              </a:rPr>
              <a:t>Prima de Riesgo y de Seguro</a:t>
            </a:r>
            <a:r>
              <a:rPr sz="2000" spc="-135" dirty="0">
                <a:solidFill>
                  <a:srgbClr val="006FC0"/>
                </a:solidFill>
                <a:latin typeface="Trebuchet MS"/>
                <a:cs typeface="Trebuchet MS"/>
              </a:rPr>
              <a:t>.</a:t>
            </a:r>
            <a:endParaRPr sz="2000" dirty="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1080"/>
              </a:spcBef>
              <a:buClr>
                <a:srgbClr val="4590B8"/>
              </a:buClr>
              <a:buSzPct val="92500"/>
              <a:buAutoNum type="arabicPeriod"/>
              <a:tabLst>
                <a:tab pos="354965" algn="l"/>
                <a:tab pos="355600" algn="l"/>
              </a:tabLst>
            </a:pPr>
            <a:r>
              <a:rPr sz="2000" spc="-90" dirty="0">
                <a:solidFill>
                  <a:srgbClr val="006FC0"/>
                </a:solidFill>
                <a:latin typeface="Trebuchet MS"/>
                <a:cs typeface="Trebuchet MS"/>
              </a:rPr>
              <a:t>Funciones</a:t>
            </a:r>
            <a:r>
              <a:rPr sz="2000" spc="-4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000" spc="-114" dirty="0">
                <a:solidFill>
                  <a:srgbClr val="006FC0"/>
                </a:solidFill>
                <a:latin typeface="Trebuchet MS"/>
                <a:cs typeface="Trebuchet MS"/>
              </a:rPr>
              <a:t>de</a:t>
            </a:r>
            <a:r>
              <a:rPr sz="2000" spc="-3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000" spc="-110" dirty="0">
                <a:solidFill>
                  <a:srgbClr val="006FC0"/>
                </a:solidFill>
                <a:latin typeface="Trebuchet MS"/>
                <a:cs typeface="Trebuchet MS"/>
              </a:rPr>
              <a:t>Utilidad</a:t>
            </a:r>
            <a:r>
              <a:rPr sz="2000" spc="-4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000" spc="-120" dirty="0">
                <a:solidFill>
                  <a:srgbClr val="006FC0"/>
                </a:solidFill>
                <a:latin typeface="Trebuchet MS"/>
                <a:cs typeface="Trebuchet MS"/>
              </a:rPr>
              <a:t>Estratégicamente</a:t>
            </a:r>
            <a:r>
              <a:rPr sz="2000" spc="-5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000" spc="-120" dirty="0">
                <a:solidFill>
                  <a:srgbClr val="006FC0"/>
                </a:solidFill>
                <a:latin typeface="Trebuchet MS"/>
                <a:cs typeface="Trebuchet MS"/>
              </a:rPr>
              <a:t>Equivalentes</a:t>
            </a:r>
            <a:endParaRPr sz="2000" dirty="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1080"/>
              </a:spcBef>
              <a:buClr>
                <a:srgbClr val="4590B8"/>
              </a:buClr>
              <a:buSzPct val="92500"/>
              <a:buAutoNum type="arabicPeriod"/>
              <a:tabLst>
                <a:tab pos="354965" algn="l"/>
                <a:tab pos="355600" algn="l"/>
              </a:tabLst>
            </a:pPr>
            <a:r>
              <a:rPr sz="2000" spc="-90" dirty="0">
                <a:solidFill>
                  <a:srgbClr val="006FC0"/>
                </a:solidFill>
                <a:latin typeface="Trebuchet MS"/>
                <a:cs typeface="Trebuchet MS"/>
              </a:rPr>
              <a:t>Caracterización</a:t>
            </a:r>
            <a:r>
              <a:rPr sz="2000" spc="-7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000" spc="-114" dirty="0">
                <a:solidFill>
                  <a:srgbClr val="006FC0"/>
                </a:solidFill>
                <a:latin typeface="Trebuchet MS"/>
                <a:cs typeface="Trebuchet MS"/>
              </a:rPr>
              <a:t>de</a:t>
            </a:r>
            <a:r>
              <a:rPr sz="2000" spc="-4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000" spc="-95" dirty="0">
                <a:solidFill>
                  <a:srgbClr val="006FC0"/>
                </a:solidFill>
                <a:latin typeface="Trebuchet MS"/>
                <a:cs typeface="Trebuchet MS"/>
              </a:rPr>
              <a:t>un</a:t>
            </a:r>
            <a:r>
              <a:rPr sz="2000" spc="-5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000" spc="-70" dirty="0">
                <a:solidFill>
                  <a:srgbClr val="006FC0"/>
                </a:solidFill>
                <a:latin typeface="Trebuchet MS"/>
                <a:cs typeface="Trebuchet MS"/>
              </a:rPr>
              <a:t>decisor</a:t>
            </a:r>
            <a:r>
              <a:rPr sz="2000" spc="-4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000" spc="-60" dirty="0">
                <a:solidFill>
                  <a:srgbClr val="006FC0"/>
                </a:solidFill>
                <a:latin typeface="Trebuchet MS"/>
                <a:cs typeface="Trebuchet MS"/>
              </a:rPr>
              <a:t>con</a:t>
            </a:r>
            <a:r>
              <a:rPr sz="2000" spc="-5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000" spc="-125" dirty="0">
                <a:solidFill>
                  <a:srgbClr val="006FC0"/>
                </a:solidFill>
                <a:latin typeface="Trebuchet MS"/>
                <a:cs typeface="Trebuchet MS"/>
              </a:rPr>
              <a:t>base</a:t>
            </a:r>
            <a:r>
              <a:rPr sz="2000" spc="-4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000" spc="-114" dirty="0">
                <a:solidFill>
                  <a:srgbClr val="006FC0"/>
                </a:solidFill>
                <a:latin typeface="Trebuchet MS"/>
                <a:cs typeface="Trebuchet MS"/>
              </a:rPr>
              <a:t>en</a:t>
            </a:r>
            <a:r>
              <a:rPr sz="2000" spc="-4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000" spc="-70" dirty="0">
                <a:solidFill>
                  <a:srgbClr val="006FC0"/>
                </a:solidFill>
                <a:latin typeface="Trebuchet MS"/>
                <a:cs typeface="Trebuchet MS"/>
              </a:rPr>
              <a:t>su</a:t>
            </a:r>
            <a:r>
              <a:rPr sz="2000" spc="-4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000" spc="-105" dirty="0">
                <a:solidFill>
                  <a:srgbClr val="006FC0"/>
                </a:solidFill>
                <a:latin typeface="Trebuchet MS"/>
                <a:cs typeface="Trebuchet MS"/>
              </a:rPr>
              <a:t>función</a:t>
            </a:r>
            <a:r>
              <a:rPr sz="2000" spc="-6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000" spc="-114" dirty="0">
                <a:solidFill>
                  <a:srgbClr val="006FC0"/>
                </a:solidFill>
                <a:latin typeface="Trebuchet MS"/>
                <a:cs typeface="Trebuchet MS"/>
              </a:rPr>
              <a:t>de</a:t>
            </a:r>
            <a:r>
              <a:rPr sz="2000" spc="-4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000" spc="-130" dirty="0">
                <a:solidFill>
                  <a:srgbClr val="006FC0"/>
                </a:solidFill>
                <a:latin typeface="Trebuchet MS"/>
                <a:cs typeface="Trebuchet MS"/>
              </a:rPr>
              <a:t>utilidad</a:t>
            </a:r>
            <a:endParaRPr sz="2000" dirty="0">
              <a:latin typeface="Trebuchet MS"/>
              <a:cs typeface="Trebuchet MS"/>
            </a:endParaRPr>
          </a:p>
          <a:p>
            <a:pPr marL="354965" marR="5080" indent="-342900">
              <a:lnSpc>
                <a:spcPct val="100000"/>
              </a:lnSpc>
              <a:spcBef>
                <a:spcPts val="1080"/>
              </a:spcBef>
              <a:buClr>
                <a:srgbClr val="4590B8"/>
              </a:buClr>
              <a:buSzPct val="92500"/>
              <a:buAutoNum type="arabicPeriod"/>
              <a:tabLst>
                <a:tab pos="354965" algn="l"/>
                <a:tab pos="355600" algn="l"/>
              </a:tabLst>
            </a:pPr>
            <a:r>
              <a:rPr sz="2000" b="1" spc="-5" dirty="0" err="1">
                <a:latin typeface="Trebuchet MS"/>
                <a:cs typeface="Trebuchet MS"/>
              </a:rPr>
              <a:t>Fun</a:t>
            </a:r>
            <a:r>
              <a:rPr sz="2000" b="1" dirty="0" err="1">
                <a:latin typeface="Trebuchet MS"/>
                <a:cs typeface="Trebuchet MS"/>
              </a:rPr>
              <a:t>c</a:t>
            </a:r>
            <a:r>
              <a:rPr sz="2000" b="1" spc="-10" dirty="0" err="1">
                <a:latin typeface="Trebuchet MS"/>
                <a:cs typeface="Trebuchet MS"/>
              </a:rPr>
              <a:t>ión</a:t>
            </a:r>
            <a:r>
              <a:rPr sz="2000" b="1" spc="-55" dirty="0">
                <a:latin typeface="Trebuchet MS"/>
                <a:cs typeface="Trebuchet MS"/>
              </a:rPr>
              <a:t> </a:t>
            </a:r>
            <a:r>
              <a:rPr sz="2000" b="1" spc="-25" dirty="0">
                <a:latin typeface="Trebuchet MS"/>
                <a:cs typeface="Trebuchet MS"/>
              </a:rPr>
              <a:t>de</a:t>
            </a:r>
            <a:r>
              <a:rPr sz="2000" b="1" spc="-254" dirty="0">
                <a:latin typeface="Trebuchet MS"/>
                <a:cs typeface="Trebuchet MS"/>
              </a:rPr>
              <a:t> </a:t>
            </a:r>
            <a:r>
              <a:rPr sz="2000" b="1" spc="240" dirty="0">
                <a:latin typeface="Trebuchet MS"/>
                <a:cs typeface="Trebuchet MS"/>
              </a:rPr>
              <a:t>A</a:t>
            </a:r>
            <a:r>
              <a:rPr sz="2000" b="1" spc="-80" dirty="0">
                <a:latin typeface="Trebuchet MS"/>
                <a:cs typeface="Trebuchet MS"/>
              </a:rPr>
              <a:t>v</a:t>
            </a:r>
            <a:r>
              <a:rPr sz="2000" b="1" spc="-5" dirty="0">
                <a:latin typeface="Trebuchet MS"/>
                <a:cs typeface="Trebuchet MS"/>
              </a:rPr>
              <a:t>ersión</a:t>
            </a:r>
            <a:r>
              <a:rPr sz="2000" b="1" spc="-50" dirty="0">
                <a:latin typeface="Trebuchet MS"/>
                <a:cs typeface="Trebuchet MS"/>
              </a:rPr>
              <a:t> </a:t>
            </a:r>
            <a:r>
              <a:rPr sz="2000" b="1" spc="-30" dirty="0">
                <a:latin typeface="Trebuchet MS"/>
                <a:cs typeface="Trebuchet MS"/>
              </a:rPr>
              <a:t>al</a:t>
            </a:r>
            <a:r>
              <a:rPr sz="2000" b="1" spc="-55" dirty="0">
                <a:latin typeface="Trebuchet MS"/>
                <a:cs typeface="Trebuchet MS"/>
              </a:rPr>
              <a:t> </a:t>
            </a:r>
            <a:r>
              <a:rPr sz="2000" b="1" spc="15" dirty="0">
                <a:latin typeface="Trebuchet MS"/>
                <a:cs typeface="Trebuchet MS"/>
              </a:rPr>
              <a:t>Ries</a:t>
            </a:r>
            <a:r>
              <a:rPr sz="2000" b="1" dirty="0">
                <a:latin typeface="Trebuchet MS"/>
                <a:cs typeface="Trebuchet MS"/>
              </a:rPr>
              <a:t>g</a:t>
            </a:r>
            <a:r>
              <a:rPr sz="2000" b="1" spc="55" dirty="0">
                <a:latin typeface="Trebuchet MS"/>
                <a:cs typeface="Trebuchet MS"/>
              </a:rPr>
              <a:t>o</a:t>
            </a:r>
            <a:r>
              <a:rPr sz="2000" b="1" spc="-55" dirty="0">
                <a:latin typeface="Trebuchet MS"/>
                <a:cs typeface="Trebuchet MS"/>
              </a:rPr>
              <a:t> </a:t>
            </a:r>
            <a:r>
              <a:rPr sz="2000" b="1" spc="-25" dirty="0">
                <a:latin typeface="Trebuchet MS"/>
                <a:cs typeface="Trebuchet MS"/>
              </a:rPr>
              <a:t>de</a:t>
            </a:r>
            <a:r>
              <a:rPr sz="2000" b="1" spc="-50" dirty="0">
                <a:latin typeface="Trebuchet MS"/>
                <a:cs typeface="Trebuchet MS"/>
              </a:rPr>
              <a:t> </a:t>
            </a:r>
            <a:r>
              <a:rPr sz="2000" b="1" spc="-20" dirty="0">
                <a:latin typeface="Trebuchet MS"/>
                <a:cs typeface="Trebuchet MS"/>
              </a:rPr>
              <a:t>un</a:t>
            </a:r>
            <a:r>
              <a:rPr sz="2000" b="1" spc="-60" dirty="0">
                <a:latin typeface="Trebuchet MS"/>
                <a:cs typeface="Trebuchet MS"/>
              </a:rPr>
              <a:t> </a:t>
            </a:r>
            <a:r>
              <a:rPr sz="2000" b="1" spc="85" dirty="0">
                <a:latin typeface="Trebuchet MS"/>
                <a:cs typeface="Trebuchet MS"/>
              </a:rPr>
              <a:t>De</a:t>
            </a:r>
            <a:r>
              <a:rPr sz="2000" b="1" spc="75" dirty="0">
                <a:latin typeface="Trebuchet MS"/>
                <a:cs typeface="Trebuchet MS"/>
              </a:rPr>
              <a:t>c</a:t>
            </a:r>
            <a:r>
              <a:rPr sz="2000" b="1" spc="5" dirty="0">
                <a:latin typeface="Trebuchet MS"/>
                <a:cs typeface="Trebuchet MS"/>
              </a:rPr>
              <a:t>iso</a:t>
            </a:r>
            <a:r>
              <a:rPr sz="2000" b="1" spc="-50" dirty="0">
                <a:latin typeface="Trebuchet MS"/>
                <a:cs typeface="Trebuchet MS"/>
              </a:rPr>
              <a:t>r</a:t>
            </a:r>
            <a:r>
              <a:rPr sz="2000" spc="-300" dirty="0">
                <a:latin typeface="Trebuchet MS"/>
                <a:cs typeface="Trebuchet MS"/>
              </a:rPr>
              <a:t>,</a:t>
            </a:r>
            <a:r>
              <a:rPr sz="2000" spc="-265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y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spc="-70" dirty="0">
                <a:latin typeface="Trebuchet MS"/>
                <a:cs typeface="Trebuchet MS"/>
              </a:rPr>
              <a:t>su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spc="-40" dirty="0">
                <a:latin typeface="Trebuchet MS"/>
                <a:cs typeface="Trebuchet MS"/>
              </a:rPr>
              <a:t>r</a:t>
            </a:r>
            <a:r>
              <a:rPr sz="2000" spc="-114" dirty="0">
                <a:latin typeface="Trebuchet MS"/>
                <a:cs typeface="Trebuchet MS"/>
              </a:rPr>
              <a:t>elación</a:t>
            </a:r>
            <a:r>
              <a:rPr sz="2000" spc="-60" dirty="0">
                <a:latin typeface="Trebuchet MS"/>
                <a:cs typeface="Trebuchet MS"/>
              </a:rPr>
              <a:t> con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spc="-160" dirty="0">
                <a:latin typeface="Trebuchet MS"/>
                <a:cs typeface="Trebuchet MS"/>
              </a:rPr>
              <a:t>la  </a:t>
            </a:r>
            <a:r>
              <a:rPr sz="2000" spc="-70" dirty="0">
                <a:latin typeface="Trebuchet MS"/>
                <a:cs typeface="Trebuchet MS"/>
              </a:rPr>
              <a:t>Pri</a:t>
            </a:r>
            <a:r>
              <a:rPr sz="2000" spc="-130" dirty="0">
                <a:latin typeface="Trebuchet MS"/>
                <a:cs typeface="Trebuchet MS"/>
              </a:rPr>
              <a:t>m</a:t>
            </a:r>
            <a:r>
              <a:rPr sz="2000" spc="-200" dirty="0">
                <a:latin typeface="Trebuchet MS"/>
                <a:cs typeface="Trebuchet MS"/>
              </a:rPr>
              <a:t>a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de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70" dirty="0">
                <a:latin typeface="Trebuchet MS"/>
                <a:cs typeface="Trebuchet MS"/>
              </a:rPr>
              <a:t>Ri</a:t>
            </a:r>
            <a:r>
              <a:rPr sz="2000" spc="-85" dirty="0">
                <a:latin typeface="Trebuchet MS"/>
                <a:cs typeface="Trebuchet MS"/>
              </a:rPr>
              <a:t>e</a:t>
            </a:r>
            <a:r>
              <a:rPr sz="2000" spc="-90" dirty="0">
                <a:latin typeface="Trebuchet MS"/>
                <a:cs typeface="Trebuchet MS"/>
              </a:rPr>
              <a:t>s</a:t>
            </a:r>
            <a:r>
              <a:rPr sz="2000" spc="-130" dirty="0">
                <a:latin typeface="Trebuchet MS"/>
                <a:cs typeface="Trebuchet MS"/>
              </a:rPr>
              <a:t>g</a:t>
            </a:r>
            <a:r>
              <a:rPr sz="2000" spc="-35" dirty="0">
                <a:latin typeface="Trebuchet MS"/>
                <a:cs typeface="Trebuchet MS"/>
              </a:rPr>
              <a:t>o</a:t>
            </a:r>
            <a:r>
              <a:rPr sz="2000" spc="-300" dirty="0">
                <a:latin typeface="Trebuchet MS"/>
                <a:cs typeface="Trebuchet MS"/>
              </a:rPr>
              <a:t>.</a:t>
            </a:r>
            <a:r>
              <a:rPr sz="2000" spc="-250" dirty="0">
                <a:latin typeface="Trebuchet MS"/>
                <a:cs typeface="Trebuchet MS"/>
              </a:rPr>
              <a:t> </a:t>
            </a:r>
            <a:r>
              <a:rPr sz="2000" spc="-170" dirty="0">
                <a:latin typeface="Trebuchet MS"/>
                <a:cs typeface="Trebuchet MS"/>
              </a:rPr>
              <a:t>Eje</a:t>
            </a:r>
            <a:r>
              <a:rPr sz="2000" spc="-145" dirty="0">
                <a:latin typeface="Trebuchet MS"/>
                <a:cs typeface="Trebuchet MS"/>
              </a:rPr>
              <a:t>m</a:t>
            </a:r>
            <a:r>
              <a:rPr sz="2000" spc="-90" dirty="0">
                <a:latin typeface="Trebuchet MS"/>
                <a:cs typeface="Trebuchet MS"/>
              </a:rPr>
              <a:t>p</a:t>
            </a:r>
            <a:r>
              <a:rPr sz="2000" spc="-60" dirty="0">
                <a:latin typeface="Trebuchet MS"/>
                <a:cs typeface="Trebuchet MS"/>
              </a:rPr>
              <a:t>los</a:t>
            </a:r>
            <a:endParaRPr sz="2000" dirty="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1080"/>
              </a:spcBef>
              <a:buClr>
                <a:srgbClr val="4590B8"/>
              </a:buClr>
              <a:buSzPct val="92500"/>
              <a:buAutoNum type="arabicPeriod"/>
              <a:tabLst>
                <a:tab pos="354965" algn="l"/>
                <a:tab pos="355600" algn="l"/>
              </a:tabLst>
            </a:pPr>
            <a:r>
              <a:rPr sz="2000" spc="-85" dirty="0" err="1">
                <a:latin typeface="Trebuchet MS"/>
                <a:cs typeface="Trebuchet MS"/>
              </a:rPr>
              <a:t>E</a:t>
            </a:r>
            <a:r>
              <a:rPr lang="en-US" sz="2000" spc="-80" dirty="0" err="1">
                <a:latin typeface="Trebuchet MS"/>
                <a:cs typeface="Trebuchet MS"/>
              </a:rPr>
              <a:t>jercicio</a:t>
            </a:r>
            <a:r>
              <a:rPr lang="en-US" sz="2000" spc="-80" dirty="0">
                <a:latin typeface="Trebuchet MS"/>
                <a:cs typeface="Trebuchet MS"/>
              </a:rPr>
              <a:t>.</a:t>
            </a:r>
            <a:endParaRPr lang="en-US" sz="2000" spc="-114" dirty="0">
              <a:latin typeface="Trebuchet MS"/>
              <a:cs typeface="Trebuchet MS"/>
            </a:endParaRPr>
          </a:p>
          <a:p>
            <a:pPr marL="355600" indent="-342900">
              <a:spcBef>
                <a:spcPts val="1080"/>
              </a:spcBef>
              <a:buClr>
                <a:srgbClr val="4590B8"/>
              </a:buClr>
              <a:buSzPct val="92500"/>
              <a:buFontTx/>
              <a:buAutoNum type="arabicPeriod"/>
              <a:tabLst>
                <a:tab pos="354965" algn="l"/>
                <a:tab pos="355600" algn="l"/>
              </a:tabLst>
            </a:pPr>
            <a:r>
              <a:rPr lang="en-US" sz="2000" spc="-50" dirty="0" err="1">
                <a:solidFill>
                  <a:srgbClr val="3C3C3C"/>
                </a:solidFill>
                <a:latin typeface="Trebuchet MS"/>
                <a:cs typeface="Trebuchet MS"/>
              </a:rPr>
              <a:t>P</a:t>
            </a:r>
            <a:r>
              <a:rPr lang="en-US" sz="2000" spc="-75" dirty="0" err="1">
                <a:solidFill>
                  <a:srgbClr val="3C3C3C"/>
                </a:solidFill>
                <a:latin typeface="Trebuchet MS"/>
                <a:cs typeface="Trebuchet MS"/>
              </a:rPr>
              <a:t>r</a:t>
            </a:r>
            <a:r>
              <a:rPr lang="en-US" sz="2000" spc="-130" dirty="0" err="1">
                <a:solidFill>
                  <a:srgbClr val="3C3C3C"/>
                </a:solidFill>
                <a:latin typeface="Trebuchet MS"/>
                <a:cs typeface="Trebuchet MS"/>
              </a:rPr>
              <a:t>eci</a:t>
            </a:r>
            <a:r>
              <a:rPr lang="en-US" sz="2000" spc="25" dirty="0" err="1">
                <a:solidFill>
                  <a:srgbClr val="3C3C3C"/>
                </a:solidFill>
                <a:latin typeface="Trebuchet MS"/>
                <a:cs typeface="Trebuchet MS"/>
              </a:rPr>
              <a:t>o</a:t>
            </a:r>
            <a:r>
              <a:rPr lang="en-US" sz="2000"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lang="en-US" sz="2000" spc="-114" dirty="0">
                <a:solidFill>
                  <a:srgbClr val="3C3C3C"/>
                </a:solidFill>
                <a:latin typeface="Trebuchet MS"/>
                <a:cs typeface="Trebuchet MS"/>
              </a:rPr>
              <a:t>de</a:t>
            </a:r>
            <a:r>
              <a:rPr lang="en-US" sz="2000" spc="-3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lang="en-US" sz="2000" spc="-170" dirty="0">
                <a:solidFill>
                  <a:srgbClr val="3C3C3C"/>
                </a:solidFill>
                <a:latin typeface="Trebuchet MS"/>
                <a:cs typeface="Trebuchet MS"/>
              </a:rPr>
              <a:t>V</a:t>
            </a:r>
            <a:r>
              <a:rPr lang="en-US" sz="2000" spc="-114" dirty="0">
                <a:solidFill>
                  <a:srgbClr val="3C3C3C"/>
                </a:solidFill>
                <a:latin typeface="Trebuchet MS"/>
                <a:cs typeface="Trebuchet MS"/>
              </a:rPr>
              <a:t>e</a:t>
            </a:r>
            <a:r>
              <a:rPr lang="en-US" sz="2000" spc="-110" dirty="0">
                <a:solidFill>
                  <a:srgbClr val="3C3C3C"/>
                </a:solidFill>
                <a:latin typeface="Trebuchet MS"/>
                <a:cs typeface="Trebuchet MS"/>
              </a:rPr>
              <a:t>n</a:t>
            </a:r>
            <a:r>
              <a:rPr lang="en-US" sz="2000" spc="-165" dirty="0">
                <a:solidFill>
                  <a:srgbClr val="3C3C3C"/>
                </a:solidFill>
                <a:latin typeface="Trebuchet MS"/>
                <a:cs typeface="Trebuchet MS"/>
              </a:rPr>
              <a:t>ta</a:t>
            </a:r>
            <a:r>
              <a:rPr lang="en-US" sz="2000" spc="-6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lang="en-US" sz="2000" spc="-114" dirty="0">
                <a:solidFill>
                  <a:srgbClr val="3C3C3C"/>
                </a:solidFill>
                <a:latin typeface="Trebuchet MS"/>
                <a:cs typeface="Trebuchet MS"/>
              </a:rPr>
              <a:t>y</a:t>
            </a:r>
            <a:r>
              <a:rPr lang="en-US" sz="2000"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lang="en-US" sz="2000" spc="-50" dirty="0" err="1">
                <a:solidFill>
                  <a:srgbClr val="3C3C3C"/>
                </a:solidFill>
                <a:latin typeface="Trebuchet MS"/>
                <a:cs typeface="Trebuchet MS"/>
              </a:rPr>
              <a:t>P</a:t>
            </a:r>
            <a:r>
              <a:rPr lang="en-US" sz="2000" spc="-75" dirty="0" err="1">
                <a:solidFill>
                  <a:srgbClr val="3C3C3C"/>
                </a:solidFill>
                <a:latin typeface="Trebuchet MS"/>
                <a:cs typeface="Trebuchet MS"/>
              </a:rPr>
              <a:t>r</a:t>
            </a:r>
            <a:r>
              <a:rPr lang="en-US" sz="2000" spc="-130" dirty="0" err="1">
                <a:solidFill>
                  <a:srgbClr val="3C3C3C"/>
                </a:solidFill>
                <a:latin typeface="Trebuchet MS"/>
                <a:cs typeface="Trebuchet MS"/>
              </a:rPr>
              <a:t>eci</a:t>
            </a:r>
            <a:r>
              <a:rPr lang="en-US" sz="2000" spc="25" dirty="0" err="1">
                <a:solidFill>
                  <a:srgbClr val="3C3C3C"/>
                </a:solidFill>
                <a:latin typeface="Trebuchet MS"/>
                <a:cs typeface="Trebuchet MS"/>
              </a:rPr>
              <a:t>o</a:t>
            </a:r>
            <a:r>
              <a:rPr lang="en-US" sz="2000" spc="-5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lang="en-US" sz="2000" spc="-114" dirty="0">
                <a:solidFill>
                  <a:srgbClr val="3C3C3C"/>
                </a:solidFill>
                <a:latin typeface="Trebuchet MS"/>
                <a:cs typeface="Trebuchet MS"/>
              </a:rPr>
              <a:t>de</a:t>
            </a:r>
            <a:r>
              <a:rPr lang="en-US" sz="2000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lang="en-US" sz="2000" spc="130" dirty="0">
                <a:solidFill>
                  <a:srgbClr val="3C3C3C"/>
                </a:solidFill>
                <a:latin typeface="Trebuchet MS"/>
                <a:cs typeface="Trebuchet MS"/>
              </a:rPr>
              <a:t>C</a:t>
            </a:r>
            <a:r>
              <a:rPr lang="en-US" sz="2000" spc="120" dirty="0">
                <a:solidFill>
                  <a:srgbClr val="3C3C3C"/>
                </a:solidFill>
                <a:latin typeface="Trebuchet MS"/>
                <a:cs typeface="Trebuchet MS"/>
              </a:rPr>
              <a:t>o</a:t>
            </a:r>
            <a:r>
              <a:rPr lang="en-US" sz="2000" spc="-145" dirty="0">
                <a:solidFill>
                  <a:srgbClr val="3C3C3C"/>
                </a:solidFill>
                <a:latin typeface="Trebuchet MS"/>
                <a:cs typeface="Trebuchet MS"/>
              </a:rPr>
              <a:t>m</a:t>
            </a:r>
            <a:r>
              <a:rPr lang="en-US" sz="2000" spc="-90" dirty="0">
                <a:solidFill>
                  <a:srgbClr val="3C3C3C"/>
                </a:solidFill>
                <a:latin typeface="Trebuchet MS"/>
                <a:cs typeface="Trebuchet MS"/>
              </a:rPr>
              <a:t>p</a:t>
            </a:r>
            <a:r>
              <a:rPr lang="en-US" sz="2000" spc="-95" dirty="0">
                <a:solidFill>
                  <a:srgbClr val="3C3C3C"/>
                </a:solidFill>
                <a:latin typeface="Trebuchet MS"/>
                <a:cs typeface="Trebuchet MS"/>
              </a:rPr>
              <a:t>ra</a:t>
            </a:r>
            <a:r>
              <a:rPr lang="en-US" sz="2000" spc="-8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lang="en-US" sz="2000" spc="-114" dirty="0">
                <a:solidFill>
                  <a:srgbClr val="3C3C3C"/>
                </a:solidFill>
                <a:latin typeface="Trebuchet MS"/>
                <a:cs typeface="Trebuchet MS"/>
              </a:rPr>
              <a:t>de</a:t>
            </a:r>
            <a:r>
              <a:rPr lang="en-US" sz="2000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lang="en-US" sz="2000" spc="-90" dirty="0" err="1">
                <a:solidFill>
                  <a:srgbClr val="3C3C3C"/>
                </a:solidFill>
                <a:latin typeface="Trebuchet MS"/>
                <a:cs typeface="Trebuchet MS"/>
              </a:rPr>
              <a:t>u</a:t>
            </a:r>
            <a:r>
              <a:rPr lang="en-US" sz="2000" spc="-150" dirty="0" err="1">
                <a:solidFill>
                  <a:srgbClr val="3C3C3C"/>
                </a:solidFill>
                <a:latin typeface="Trebuchet MS"/>
                <a:cs typeface="Trebuchet MS"/>
              </a:rPr>
              <a:t>na</a:t>
            </a:r>
            <a:r>
              <a:rPr lang="en-US" sz="2000"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lang="en-US" sz="2000" spc="-130" dirty="0" err="1">
                <a:solidFill>
                  <a:srgbClr val="3C3C3C"/>
                </a:solidFill>
                <a:latin typeface="Trebuchet MS"/>
                <a:cs typeface="Trebuchet MS"/>
              </a:rPr>
              <a:t>lotería</a:t>
            </a:r>
            <a:r>
              <a:rPr lang="en-US" sz="2000" spc="-130" dirty="0">
                <a:solidFill>
                  <a:srgbClr val="3C3C3C"/>
                </a:solidFill>
                <a:latin typeface="Trebuchet MS"/>
                <a:cs typeface="Trebuchet MS"/>
              </a:rPr>
              <a:t>.</a:t>
            </a:r>
            <a:endParaRPr lang="en-US" sz="2000" dirty="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1080"/>
              </a:spcBef>
              <a:buClr>
                <a:srgbClr val="4590B8"/>
              </a:buClr>
              <a:buSzPct val="92500"/>
              <a:buAutoNum type="arabicPeriod"/>
              <a:tabLst>
                <a:tab pos="354965" algn="l"/>
                <a:tab pos="355600" algn="l"/>
              </a:tabLst>
            </a:pPr>
            <a:endParaRPr sz="200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374438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8055" y="600455"/>
            <a:ext cx="8239125" cy="1150956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4650" dirty="0">
              <a:latin typeface="Times New Roman"/>
              <a:cs typeface="Times New Roman"/>
            </a:endParaRPr>
          </a:p>
          <a:p>
            <a:pPr marL="18415" algn="ctr">
              <a:lnSpc>
                <a:spcPct val="100000"/>
              </a:lnSpc>
            </a:pPr>
            <a:r>
              <a:rPr lang="en-US" spc="245" dirty="0"/>
              <a:t>REPASO</a:t>
            </a:r>
            <a:endParaRPr sz="2800" dirty="0">
              <a:latin typeface="Trebuchet MS"/>
              <a:cs typeface="Trebuchet M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object 5"/>
              <p:cNvSpPr txBox="1"/>
              <p:nvPr/>
            </p:nvSpPr>
            <p:spPr>
              <a:xfrm>
                <a:off x="753489" y="2209800"/>
                <a:ext cx="7628255" cy="1681038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r>
                  <a:rPr lang="en-CO" dirty="0"/>
                  <a:t>2.  </a:t>
                </a:r>
                <a14:m>
                  <m:oMath xmlns:m="http://schemas.openxmlformats.org/officeDocument/2006/math">
                    <m:r>
                      <a:rPr lang="en-CO" i="1" smtClean="0"/>
                      <m:t>𝑢</m:t>
                    </m:r>
                    <m:d>
                      <m:dPr>
                        <m:ctrlPr>
                          <a:rPr lang="en-CO" i="1"/>
                        </m:ctrlPr>
                      </m:dPr>
                      <m:e>
                        <m:r>
                          <a:rPr lang="en-CO" i="1"/>
                          <m:t>𝑥</m:t>
                        </m:r>
                      </m:e>
                    </m:d>
                    <m:r>
                      <a:rPr lang="en-CO"/>
                      <m:t>=</m:t>
                    </m:r>
                    <m:sSup>
                      <m:sSupPr>
                        <m:ctrlPr>
                          <a:rPr lang="en-CO" i="1"/>
                        </m:ctrlPr>
                      </m:sSupPr>
                      <m:e>
                        <m:r>
                          <a:rPr lang="en-CO" i="1"/>
                          <m:t>𝑥</m:t>
                        </m:r>
                      </m:e>
                      <m:sup>
                        <m:r>
                          <a:rPr lang="en-CO"/>
                          <m:t>0.6</m:t>
                        </m:r>
                      </m:sup>
                    </m:sSup>
                  </m:oMath>
                </a14:m>
                <a:r>
                  <a:rPr lang="en-CO" dirty="0"/>
                  <a:t> </a:t>
                </a:r>
                <a:r>
                  <a:rPr lang="es-CO" dirty="0"/>
                  <a:t>, riqueza inicial </a:t>
                </a:r>
                <a:r>
                  <a:rPr lang="en-CO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O" i="1"/>
                        </m:ctrlPr>
                      </m:sSubPr>
                      <m:e>
                        <m:r>
                          <a:rPr lang="en-CO" i="1"/>
                          <m:t>𝑥</m:t>
                        </m:r>
                      </m:e>
                      <m:sub>
                        <m:r>
                          <a:rPr lang="en-CO"/>
                          <m:t>0</m:t>
                        </m:r>
                      </m:sub>
                    </m:sSub>
                    <m:r>
                      <a:rPr lang="en-CO"/>
                      <m:t>=10. </m:t>
                    </m:r>
                    <m:r>
                      <a:rPr lang="es-E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CO" dirty="0"/>
                  <a:t>Hay una pérdida de L=4, con probabilidad de </a:t>
                </a:r>
                <a14:m>
                  <m:oMath xmlns:m="http://schemas.openxmlformats.org/officeDocument/2006/math">
                    <m:r>
                      <a:rPr lang="en-CO" i="1"/>
                      <m:t>𝑝</m:t>
                    </m:r>
                    <m:r>
                      <a:rPr lang="en-CO"/>
                      <m:t>=0.25.</m:t>
                    </m:r>
                  </m:oMath>
                </a14:m>
                <a:r>
                  <a:rPr lang="es-CO" dirty="0"/>
                  <a:t> </a:t>
                </a:r>
              </a:p>
              <a:p>
                <a:r>
                  <a:rPr lang="es-CO" dirty="0"/>
                  <a:t> </a:t>
                </a:r>
                <a:r>
                  <a:rPr lang="en-CO" dirty="0"/>
                  <a:t> </a:t>
                </a:r>
              </a:p>
              <a:p>
                <a:pPr marL="285750" lvl="0" indent="-285750" fontAlgn="base">
                  <a:buFont typeface="Arial" panose="020B0604020202020204" pitchFamily="34" charset="0"/>
                  <a:buChar char="•"/>
                </a:pPr>
                <a:r>
                  <a:rPr lang="es-CO" dirty="0"/>
                  <a:t>Determine el EMC o 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O" i="1"/>
                        </m:ctrlPr>
                      </m:sSubPr>
                      <m:e>
                        <m:r>
                          <a:rPr lang="en-CO" i="1"/>
                          <m:t>𝑥</m:t>
                        </m:r>
                      </m:e>
                      <m:sub>
                        <m:r>
                          <a:rPr lang="en-CO" i="1"/>
                          <m:t>𝑐</m:t>
                        </m:r>
                      </m:sub>
                    </m:sSub>
                    <m:r>
                      <a:rPr lang="en-CO"/>
                      <m:t>)</m:t>
                    </m:r>
                  </m:oMath>
                </a14:m>
                <a:endParaRPr lang="en-CO" dirty="0"/>
              </a:p>
              <a:p>
                <a:pPr lvl="0" fontAlgn="base"/>
                <a:r>
                  <a:rPr lang="en-CO" dirty="0"/>
                  <a:t> </a:t>
                </a:r>
              </a:p>
              <a:p>
                <a:pPr marL="285750" lvl="0" indent="-285750" fontAlgn="base">
                  <a:buFont typeface="Arial" panose="020B0604020202020204" pitchFamily="34" charset="0"/>
                  <a:buChar char="•"/>
                </a:pPr>
                <a:r>
                  <a:rPr lang="es-CO" dirty="0"/>
                  <a:t>Calcule la prima de riesgo o prima de seguro, según corresponda.</a:t>
                </a:r>
                <a:r>
                  <a:rPr lang="en-CO" dirty="0"/>
                  <a:t> </a:t>
                </a:r>
              </a:p>
            </p:txBody>
          </p:sp>
        </mc:Choice>
        <mc:Fallback>
          <p:sp>
            <p:nvSpPr>
              <p:cNvPr id="5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489" y="2209800"/>
                <a:ext cx="7628255" cy="1681038"/>
              </a:xfrm>
              <a:prstGeom prst="rect">
                <a:avLst/>
              </a:prstGeom>
              <a:blipFill>
                <a:blip r:embed="rId2"/>
                <a:stretch>
                  <a:fillRect l="-1830" t="-3759" b="-7519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8CF8033-26D6-1254-458A-13F7378F6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2C6BAE9-D172-8A6C-0F67-34D6EFEDB6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8055" y="600455"/>
            <a:ext cx="8239125" cy="1150956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4650" dirty="0">
              <a:latin typeface="Times New Roman"/>
              <a:cs typeface="Times New Roman"/>
            </a:endParaRPr>
          </a:p>
          <a:p>
            <a:pPr marL="18415" algn="ctr">
              <a:lnSpc>
                <a:spcPct val="100000"/>
              </a:lnSpc>
            </a:pPr>
            <a:r>
              <a:rPr lang="en-US" spc="245" dirty="0"/>
              <a:t>REPASO</a:t>
            </a:r>
            <a:endParaRPr sz="2800" dirty="0">
              <a:latin typeface="Trebuchet MS"/>
              <a:cs typeface="Trebuchet M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object 5">
                <a:extLst>
                  <a:ext uri="{FF2B5EF4-FFF2-40B4-BE49-F238E27FC236}">
                    <a16:creationId xmlns:a16="http://schemas.microsoft.com/office/drawing/2014/main" id="{6E6B85DD-AA00-6814-801A-31D8D727D144}"/>
                  </a:ext>
                </a:extLst>
              </p:cNvPr>
              <p:cNvSpPr txBox="1"/>
              <p:nvPr/>
            </p:nvSpPr>
            <p:spPr>
              <a:xfrm>
                <a:off x="753489" y="2209800"/>
                <a:ext cx="7628255" cy="1686295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r>
                  <a:rPr lang="en-CO" dirty="0"/>
                  <a:t>3. </a:t>
                </a:r>
                <a14:m>
                  <m:oMath xmlns:m="http://schemas.openxmlformats.org/officeDocument/2006/math">
                    <m:r>
                      <a:rPr lang="en-CO" i="1"/>
                      <m:t>𝑢</m:t>
                    </m:r>
                    <m:d>
                      <m:dPr>
                        <m:ctrlPr>
                          <a:rPr lang="en-CO" i="1"/>
                        </m:ctrlPr>
                      </m:dPr>
                      <m:e>
                        <m:r>
                          <a:rPr lang="en-CO" i="1"/>
                          <m:t>𝑥</m:t>
                        </m:r>
                      </m:e>
                    </m:d>
                    <m:r>
                      <a:rPr lang="en-CO"/>
                      <m:t>=−</m:t>
                    </m:r>
                    <m:sSup>
                      <m:sSupPr>
                        <m:ctrlPr>
                          <a:rPr lang="en-CO" i="1"/>
                        </m:ctrlPr>
                      </m:sSupPr>
                      <m:e>
                        <m:r>
                          <a:rPr lang="en-CO" i="1"/>
                          <m:t>𝑒</m:t>
                        </m:r>
                      </m:e>
                      <m:sup>
                        <m:r>
                          <a:rPr lang="en-CO"/>
                          <m:t>−0.4(</m:t>
                        </m:r>
                        <m:r>
                          <a:rPr lang="en-CO" i="1"/>
                          <m:t>𝑥</m:t>
                        </m:r>
                        <m:r>
                          <a:rPr lang="en-CO"/>
                          <m:t>)</m:t>
                        </m:r>
                      </m:sup>
                    </m:sSup>
                  </m:oMath>
                </a14:m>
                <a:r>
                  <a:rPr lang="en-CO" dirty="0"/>
                  <a:t> </a:t>
                </a:r>
                <a:r>
                  <a:rPr lang="es-CO" dirty="0"/>
                  <a:t>y la lotería X, que produce </a:t>
                </a:r>
                <a14:m>
                  <m:oMath xmlns:m="http://schemas.openxmlformats.org/officeDocument/2006/math">
                    <m:r>
                      <a:rPr lang="en-CO"/>
                      <m:t>&lt;2,1, −5&gt;</m:t>
                    </m:r>
                    <m:r>
                      <a:rPr lang="en-CO" i="1"/>
                      <m:t>𝑐𝑜𝑛</m:t>
                    </m:r>
                    <m:r>
                      <a:rPr lang="en-CO"/>
                      <m:t> </m:t>
                    </m:r>
                    <m:r>
                      <a:rPr lang="en-CO" i="1"/>
                      <m:t>𝑝</m:t>
                    </m:r>
                    <m:r>
                      <a:rPr lang="en-CO"/>
                      <m:t>={0.3, 0.2, 0.5</m:t>
                    </m:r>
                  </m:oMath>
                </a14:m>
                <a:r>
                  <a:rPr lang="es-CO" dirty="0"/>
                  <a:t>}, respectivamente,</a:t>
                </a:r>
                <a:r>
                  <a:rPr lang="en-CO" dirty="0"/>
                  <a:t> </a:t>
                </a:r>
              </a:p>
              <a:p>
                <a:endParaRPr lang="en-CO" dirty="0"/>
              </a:p>
              <a:p>
                <a:pPr marL="285750" lvl="0" indent="-285750" fontAlgn="base">
                  <a:buFont typeface="Arial" panose="020B0604020202020204" pitchFamily="34" charset="0"/>
                  <a:buChar char="•"/>
                </a:pPr>
                <a:r>
                  <a:rPr lang="es-CO" dirty="0"/>
                  <a:t>Determine el EMC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O" i="1"/>
                        </m:ctrlPr>
                      </m:sSubPr>
                      <m:e>
                        <m:r>
                          <a:rPr lang="en-CO" i="1"/>
                          <m:t>𝑥</m:t>
                        </m:r>
                      </m:e>
                      <m:sub>
                        <m:r>
                          <a:rPr lang="en-CO" i="1"/>
                          <m:t>𝑐</m:t>
                        </m:r>
                      </m:sub>
                    </m:sSub>
                    <m:r>
                      <a:rPr lang="en-CO"/>
                      <m:t>)</m:t>
                    </m:r>
                  </m:oMath>
                </a14:m>
                <a:endParaRPr lang="en-CO" dirty="0"/>
              </a:p>
              <a:p>
                <a:pPr lvl="0" fontAlgn="base"/>
                <a:endParaRPr lang="en-CO" dirty="0"/>
              </a:p>
              <a:p>
                <a:pPr marL="285750" lvl="0" indent="-285750" fontAlgn="base">
                  <a:buFont typeface="Arial" panose="020B0604020202020204" pitchFamily="34" charset="0"/>
                  <a:buChar char="•"/>
                </a:pPr>
                <a:r>
                  <a:rPr lang="es-CO" dirty="0"/>
                  <a:t>Calcule la prima de riesgo o prima de seguro, según corresponda.</a:t>
                </a:r>
                <a:r>
                  <a:rPr lang="en-CO" dirty="0"/>
                  <a:t> </a:t>
                </a:r>
              </a:p>
            </p:txBody>
          </p:sp>
        </mc:Choice>
        <mc:Fallback>
          <p:sp>
            <p:nvSpPr>
              <p:cNvPr id="5" name="object 5">
                <a:extLst>
                  <a:ext uri="{FF2B5EF4-FFF2-40B4-BE49-F238E27FC236}">
                    <a16:creationId xmlns:a16="http://schemas.microsoft.com/office/drawing/2014/main" id="{6E6B85DD-AA00-6814-801A-31D8D727D1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489" y="2209800"/>
                <a:ext cx="7628255" cy="1686295"/>
              </a:xfrm>
              <a:prstGeom prst="rect">
                <a:avLst/>
              </a:prstGeom>
              <a:blipFill>
                <a:blip r:embed="rId2"/>
                <a:stretch>
                  <a:fillRect l="-1830" t="-3008" b="-8271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61346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D8A72D-0A04-1336-EF5E-1589C36E2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116" y="668223"/>
            <a:ext cx="6211570" cy="276999"/>
          </a:xfrm>
        </p:spPr>
        <p:txBody>
          <a:bodyPr/>
          <a:lstStyle/>
          <a:p>
            <a:r>
              <a:rPr lang="es-CO" dirty="0"/>
              <a:t>Prima de riesgo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5E245E7-753A-A896-D3E9-22EB7C90EF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16" y="1143000"/>
            <a:ext cx="2114659" cy="34926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80BD3CF-A34A-2551-CB98-6FBD09C4DBC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3732"/>
          <a:stretch/>
        </p:blipFill>
        <p:spPr>
          <a:xfrm>
            <a:off x="0" y="1519331"/>
            <a:ext cx="4597636" cy="69047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BCA742D8-4265-CF74-F4B2-22964F86F61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1061"/>
          <a:stretch/>
        </p:blipFill>
        <p:spPr>
          <a:xfrm>
            <a:off x="20652" y="2362200"/>
            <a:ext cx="4597636" cy="73032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AB09659C-BB17-E615-328C-1DBB06A475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3340002"/>
            <a:ext cx="2825895" cy="425472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1BD15388-9115-F010-A087-ACA6F2C4F9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3810000"/>
            <a:ext cx="4095961" cy="577880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E12455E1-11D7-3D21-9158-167F0F39DFE2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2475"/>
          <a:stretch/>
        </p:blipFill>
        <p:spPr>
          <a:xfrm>
            <a:off x="482090" y="4552140"/>
            <a:ext cx="3302170" cy="786530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2FAE05BF-0ACE-A6EB-836D-E82C40735459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12953" b="-2"/>
          <a:stretch/>
        </p:blipFill>
        <p:spPr>
          <a:xfrm>
            <a:off x="1428962" y="5680817"/>
            <a:ext cx="3429000" cy="275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80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8055" y="600455"/>
            <a:ext cx="8239125" cy="125920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4650">
              <a:latin typeface="Times New Roman"/>
              <a:cs typeface="Times New Roman"/>
            </a:endParaRPr>
          </a:p>
          <a:p>
            <a:pPr marL="224154">
              <a:lnSpc>
                <a:spcPct val="100000"/>
              </a:lnSpc>
            </a:pPr>
            <a:r>
              <a:rPr sz="2800" b="0" spc="50" dirty="0">
                <a:solidFill>
                  <a:srgbClr val="FFFFFF"/>
                </a:solidFill>
                <a:latin typeface="Trebuchet MS"/>
                <a:cs typeface="Trebuchet MS"/>
              </a:rPr>
              <a:t>PRIMA</a:t>
            </a:r>
            <a:r>
              <a:rPr sz="2800" b="0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b="0" spc="135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2800" b="0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b="0" spc="65" dirty="0">
                <a:solidFill>
                  <a:srgbClr val="FFFFFF"/>
                </a:solidFill>
                <a:latin typeface="Trebuchet MS"/>
                <a:cs typeface="Trebuchet MS"/>
              </a:rPr>
              <a:t>RIESGO</a:t>
            </a:r>
            <a:endParaRPr sz="2800">
              <a:latin typeface="Trebuchet MS"/>
              <a:cs typeface="Trebuchet M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4"/>
              <p:cNvSpPr txBox="1"/>
              <p:nvPr/>
            </p:nvSpPr>
            <p:spPr>
              <a:xfrm>
                <a:off x="735788" y="1912284"/>
                <a:ext cx="5588811" cy="1998238"/>
              </a:xfrm>
              <a:prstGeom prst="rect">
                <a:avLst/>
              </a:prstGeom>
            </p:spPr>
            <p:txBody>
              <a:bodyPr vert="horz" wrap="square" lIns="0" tIns="14604" rIns="0" bIns="0" rtlCol="0">
                <a:spAutoFit/>
              </a:bodyPr>
              <a:lstStyle/>
              <a:p>
                <a:pPr marL="75565">
                  <a:lnSpc>
                    <a:spcPct val="100000"/>
                  </a:lnSpc>
                  <a:spcBef>
                    <a:spcPts val="114"/>
                  </a:spcBef>
                </a:pPr>
                <a:r>
                  <a:rPr lang="es-CO" sz="2700" spc="15" baseline="1543" dirty="0">
                    <a:latin typeface="Symbol"/>
                    <a:cs typeface="Symbol"/>
                  </a:rPr>
                  <a:t></a:t>
                </a:r>
                <a:r>
                  <a:rPr lang="es-CO" sz="2700" spc="75" baseline="1543" dirty="0">
                    <a:latin typeface="Times New Roman"/>
                    <a:cs typeface="Times New Roman"/>
                  </a:rPr>
                  <a:t> </a:t>
                </a:r>
                <a:r>
                  <a:rPr lang="es-CO" sz="2700" spc="7" baseline="1543" dirty="0">
                    <a:latin typeface="Arial MT"/>
                    <a:cs typeface="Arial MT"/>
                  </a:rPr>
                  <a:t>(X)</a:t>
                </a:r>
                <a:r>
                  <a:rPr lang="es-CO" sz="2700" spc="-7" baseline="1543" dirty="0">
                    <a:latin typeface="Arial MT"/>
                    <a:cs typeface="Arial MT"/>
                  </a:rPr>
                  <a:t> </a:t>
                </a:r>
                <a:r>
                  <a:rPr lang="es-CO" sz="2700" spc="15" baseline="1543" dirty="0">
                    <a:latin typeface="Arial MT"/>
                    <a:cs typeface="Arial MT"/>
                  </a:rPr>
                  <a:t>=</a:t>
                </a:r>
                <a:r>
                  <a:rPr lang="es-CO" sz="2700" spc="-22" baseline="1543" dirty="0">
                    <a:latin typeface="Arial MT"/>
                    <a:cs typeface="Arial MT"/>
                  </a:rPr>
                  <a:t> </a:t>
                </a:r>
                <a:r>
                  <a:rPr lang="es-CO" sz="2700" spc="15" baseline="1543" dirty="0">
                    <a:latin typeface="Arial MT"/>
                    <a:cs typeface="Arial MT"/>
                  </a:rPr>
                  <a:t>E</a:t>
                </a:r>
                <a:r>
                  <a:rPr lang="es-CO" sz="2700" baseline="1543" dirty="0">
                    <a:latin typeface="Arial MT"/>
                    <a:cs typeface="Arial MT"/>
                  </a:rPr>
                  <a:t> </a:t>
                </a:r>
                <a:r>
                  <a:rPr lang="es-CO" sz="2700" spc="7" baseline="1543" dirty="0">
                    <a:latin typeface="Arial MT"/>
                    <a:cs typeface="Arial MT"/>
                  </a:rPr>
                  <a:t>(X)</a:t>
                </a:r>
                <a:r>
                  <a:rPr lang="es-CO" sz="2700" spc="-15" baseline="1543" dirty="0">
                    <a:latin typeface="Arial MT"/>
                    <a:cs typeface="Arial MT"/>
                  </a:rPr>
                  <a:t> </a:t>
                </a:r>
                <a:r>
                  <a:rPr lang="es-CO" sz="2700" spc="7" baseline="1543" dirty="0">
                    <a:latin typeface="Arial MT"/>
                    <a:cs typeface="Arial MT"/>
                  </a:rPr>
                  <a:t>-</a:t>
                </a:r>
                <a:r>
                  <a:rPr lang="es-CO" sz="2700" spc="-15" baseline="1543" dirty="0">
                    <a:latin typeface="Arial MT"/>
                    <a:cs typeface="Arial MT"/>
                  </a:rPr>
                  <a:t> </a:t>
                </a:r>
                <a:r>
                  <a:rPr lang="es-CO" sz="2700" spc="7" baseline="1543" dirty="0">
                    <a:latin typeface="Arial MT"/>
                    <a:cs typeface="Arial MT"/>
                  </a:rPr>
                  <a:t>x</a:t>
                </a:r>
                <a:r>
                  <a:rPr lang="es-CO" sz="1200" spc="5" dirty="0">
                    <a:latin typeface="Arial MT"/>
                    <a:cs typeface="Arial MT"/>
                  </a:rPr>
                  <a:t>c</a:t>
                </a:r>
                <a:endParaRPr lang="es-CO" sz="1200" dirty="0">
                  <a:latin typeface="Arial MT"/>
                  <a:cs typeface="Arial MT"/>
                </a:endParaRPr>
              </a:p>
              <a:p>
                <a:pPr>
                  <a:lnSpc>
                    <a:spcPct val="100000"/>
                  </a:lnSpc>
                  <a:spcBef>
                    <a:spcPts val="35"/>
                  </a:spcBef>
                </a:pPr>
                <a:endParaRPr lang="es-CO" sz="1700" dirty="0">
                  <a:latin typeface="Arial MT"/>
                  <a:cs typeface="Arial MT"/>
                </a:endParaRPr>
              </a:p>
              <a:p>
                <a:pPr marL="75565">
                  <a:lnSpc>
                    <a:spcPct val="100000"/>
                  </a:lnSpc>
                </a:pPr>
                <a:r>
                  <a:rPr lang="es-CO" sz="1800" b="1" spc="5" dirty="0">
                    <a:latin typeface="Arial"/>
                    <a:cs typeface="Arial"/>
                  </a:rPr>
                  <a:t>Ejercicios</a:t>
                </a:r>
                <a:r>
                  <a:rPr lang="es-CO" sz="1800" b="1" spc="-30" dirty="0">
                    <a:latin typeface="Arial"/>
                    <a:cs typeface="Arial"/>
                  </a:rPr>
                  <a:t> </a:t>
                </a:r>
                <a:r>
                  <a:rPr lang="es-CO" sz="1800" b="1" spc="5" dirty="0">
                    <a:latin typeface="Arial"/>
                    <a:cs typeface="Arial"/>
                  </a:rPr>
                  <a:t>estudiantes:</a:t>
                </a:r>
                <a:endParaRPr lang="es-CO" sz="1800" dirty="0">
                  <a:latin typeface="Arial"/>
                  <a:cs typeface="Arial"/>
                </a:endParaRPr>
              </a:p>
              <a:p>
                <a:pPr>
                  <a:lnSpc>
                    <a:spcPct val="100000"/>
                  </a:lnSpc>
                  <a:spcBef>
                    <a:spcPts val="5"/>
                  </a:spcBef>
                </a:pPr>
                <a:endParaRPr lang="es-CO" sz="1850" dirty="0">
                  <a:latin typeface="Arial"/>
                  <a:cs typeface="Arial"/>
                </a:endParaRPr>
              </a:p>
              <a:p>
                <a:pPr marL="76200">
                  <a:lnSpc>
                    <a:spcPct val="100000"/>
                  </a:lnSpc>
                  <a:tabLst>
                    <a:tab pos="2018030" algn="l"/>
                    <a:tab pos="2325370" algn="l"/>
                  </a:tabLst>
                </a:pPr>
                <a:r>
                  <a:rPr lang="es-CO" sz="1800" spc="10" dirty="0">
                    <a:latin typeface="Arial MT"/>
                    <a:cs typeface="Arial MT"/>
                  </a:rPr>
                  <a:t>Sean:</a:t>
                </a:r>
              </a:p>
              <a:p>
                <a:pPr marL="76200">
                  <a:lnSpc>
                    <a:spcPct val="100000"/>
                  </a:lnSpc>
                  <a:tabLst>
                    <a:tab pos="2018030" algn="l"/>
                    <a:tab pos="2325370" algn="l"/>
                  </a:tabLst>
                </a:pPr>
                <a:r>
                  <a:rPr lang="es-CO" sz="1800" spc="5" dirty="0">
                    <a:latin typeface="Arial MT"/>
                    <a:cs typeface="Arial MT"/>
                  </a:rPr>
                  <a:t> u(x)</a:t>
                </a:r>
                <a:r>
                  <a:rPr lang="es-CO" sz="1800" spc="-5" dirty="0">
                    <a:latin typeface="Arial MT"/>
                    <a:cs typeface="Arial MT"/>
                  </a:rPr>
                  <a:t> </a:t>
                </a:r>
                <a:r>
                  <a:rPr lang="es-CO" sz="1800" spc="10" dirty="0">
                    <a:latin typeface="Arial MT"/>
                    <a:cs typeface="Arial MT"/>
                  </a:rPr>
                  <a:t>=</a:t>
                </a:r>
                <a:r>
                  <a:rPr lang="es-CO" sz="1800" spc="15" dirty="0">
                    <a:latin typeface="Arial MT"/>
                    <a:cs typeface="Arial MT"/>
                  </a:rPr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ar-AE" sz="1800" i="1" spc="5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ar-AE" sz="1800" b="0" i="1" spc="5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s-CO" sz="1800" b="0" i="1" spc="5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lang="ar-AE" sz="1800" spc="7" baseline="27777" dirty="0">
                    <a:latin typeface="Arial MT"/>
                    <a:cs typeface="Arial MT"/>
                  </a:rPr>
                  <a:t>	</a:t>
                </a:r>
                <a:r>
                  <a:rPr lang="es-CO" sz="1800" spc="5" dirty="0">
                    <a:latin typeface="Arial MT"/>
                    <a:cs typeface="Arial MT"/>
                  </a:rPr>
                  <a:t>y	x</a:t>
                </a:r>
                <a:r>
                  <a:rPr lang="es-CO" sz="1800" spc="-5" dirty="0">
                    <a:latin typeface="Arial MT"/>
                    <a:cs typeface="Arial MT"/>
                  </a:rPr>
                  <a:t> </a:t>
                </a:r>
                <a:r>
                  <a:rPr lang="es-CO" sz="1800" spc="10" dirty="0">
                    <a:latin typeface="Arial MT"/>
                    <a:cs typeface="Arial MT"/>
                  </a:rPr>
                  <a:t>=</a:t>
                </a:r>
                <a:r>
                  <a:rPr lang="es-CO" sz="1800" dirty="0">
                    <a:latin typeface="Arial MT"/>
                    <a:cs typeface="Arial MT"/>
                  </a:rPr>
                  <a:t> </a:t>
                </a:r>
                <a:r>
                  <a:rPr lang="es-CO" sz="1800" spc="5" dirty="0">
                    <a:latin typeface="Symbol"/>
                    <a:cs typeface="Symbol"/>
                  </a:rPr>
                  <a:t></a:t>
                </a:r>
                <a:r>
                  <a:rPr lang="es-CO" sz="1800" spc="5" dirty="0">
                    <a:latin typeface="Arial MT"/>
                    <a:cs typeface="Arial MT"/>
                  </a:rPr>
                  <a:t>0,</a:t>
                </a:r>
                <a:r>
                  <a:rPr lang="es-CO" sz="1800" dirty="0">
                    <a:latin typeface="Arial MT"/>
                    <a:cs typeface="Arial MT"/>
                  </a:rPr>
                  <a:t> 0.7, </a:t>
                </a:r>
                <a:r>
                  <a:rPr lang="es-CO" sz="1800" spc="5" dirty="0">
                    <a:latin typeface="Arial MT"/>
                    <a:cs typeface="Arial MT"/>
                  </a:rPr>
                  <a:t>6</a:t>
                </a:r>
                <a:r>
                  <a:rPr lang="es-CO" sz="1800" spc="5" dirty="0">
                    <a:latin typeface="Symbol"/>
                    <a:cs typeface="Symbol"/>
                  </a:rPr>
                  <a:t></a:t>
                </a:r>
                <a:r>
                  <a:rPr lang="es-CO" sz="1800" spc="5" dirty="0">
                    <a:latin typeface="Arial MT"/>
                    <a:cs typeface="Arial MT"/>
                  </a:rPr>
                  <a:t>. Calcular</a:t>
                </a:r>
                <a:r>
                  <a:rPr lang="es-CO" sz="1800" dirty="0">
                    <a:latin typeface="Arial MT"/>
                    <a:cs typeface="Arial MT"/>
                  </a:rPr>
                  <a:t> </a:t>
                </a:r>
                <a:r>
                  <a:rPr lang="es-CO" sz="1800" spc="10" dirty="0">
                    <a:latin typeface="Symbol"/>
                    <a:cs typeface="Symbol"/>
                  </a:rPr>
                  <a:t></a:t>
                </a:r>
                <a:r>
                  <a:rPr lang="es-CO" sz="1800" spc="50" dirty="0">
                    <a:latin typeface="Times New Roman"/>
                    <a:cs typeface="Times New Roman"/>
                  </a:rPr>
                  <a:t> </a:t>
                </a:r>
                <a:r>
                  <a:rPr lang="es-CO" sz="1800" dirty="0">
                    <a:latin typeface="Arial MT"/>
                    <a:cs typeface="Arial MT"/>
                  </a:rPr>
                  <a:t>(X).</a:t>
                </a:r>
              </a:p>
              <a:p>
                <a:pPr marL="76200">
                  <a:lnSpc>
                    <a:spcPct val="100000"/>
                  </a:lnSpc>
                  <a:tabLst>
                    <a:tab pos="2018030" algn="l"/>
                    <a:tab pos="2325370" algn="l"/>
                  </a:tabLst>
                </a:pPr>
                <a:r>
                  <a:rPr lang="es-CO" spc="5" dirty="0">
                    <a:latin typeface="Arial MT"/>
                    <a:cs typeface="Arial MT"/>
                  </a:rPr>
                  <a:t>v(x)</a:t>
                </a:r>
                <a:r>
                  <a:rPr lang="es-CO" spc="-5" dirty="0">
                    <a:latin typeface="Arial MT"/>
                    <a:cs typeface="Arial MT"/>
                  </a:rPr>
                  <a:t> </a:t>
                </a:r>
                <a:r>
                  <a:rPr lang="es-CO" spc="10" dirty="0">
                    <a:latin typeface="Arial MT"/>
                    <a:cs typeface="Arial MT"/>
                  </a:rPr>
                  <a:t>=</a:t>
                </a:r>
                <a:r>
                  <a:rPr lang="es-CO" spc="15" dirty="0">
                    <a:latin typeface="Arial MT"/>
                    <a:cs typeface="Arial MT"/>
                  </a:rPr>
                  <a:t> 4+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ar-AE" i="1" spc="5" dirty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ar-AE" i="1" spc="5" dirty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s-CO" i="1" spc="5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lang="ar-AE" spc="7" baseline="27777" dirty="0">
                    <a:latin typeface="Arial MT"/>
                    <a:cs typeface="Arial MT"/>
                  </a:rPr>
                  <a:t>	</a:t>
                </a:r>
                <a:r>
                  <a:rPr lang="es-CO" spc="5" dirty="0">
                    <a:latin typeface="Arial MT"/>
                    <a:cs typeface="Arial MT"/>
                  </a:rPr>
                  <a:t>y	x</a:t>
                </a:r>
                <a:r>
                  <a:rPr lang="es-CO" spc="-5" dirty="0">
                    <a:latin typeface="Arial MT"/>
                    <a:cs typeface="Arial MT"/>
                  </a:rPr>
                  <a:t> </a:t>
                </a:r>
                <a:r>
                  <a:rPr lang="es-CO" spc="10" dirty="0">
                    <a:latin typeface="Arial MT"/>
                    <a:cs typeface="Arial MT"/>
                  </a:rPr>
                  <a:t>=</a:t>
                </a:r>
                <a:r>
                  <a:rPr lang="es-CO" dirty="0">
                    <a:latin typeface="Arial MT"/>
                    <a:cs typeface="Arial MT"/>
                  </a:rPr>
                  <a:t> </a:t>
                </a:r>
                <a:r>
                  <a:rPr lang="es-CO" spc="5" dirty="0">
                    <a:latin typeface="Symbol"/>
                    <a:cs typeface="Symbol"/>
                  </a:rPr>
                  <a:t></a:t>
                </a:r>
                <a:r>
                  <a:rPr lang="es-CO" spc="5" dirty="0">
                    <a:latin typeface="Arial MT"/>
                    <a:cs typeface="Arial MT"/>
                  </a:rPr>
                  <a:t>0,</a:t>
                </a:r>
                <a:r>
                  <a:rPr lang="es-CO" dirty="0">
                    <a:latin typeface="Arial MT"/>
                    <a:cs typeface="Arial MT"/>
                  </a:rPr>
                  <a:t> 0.7, </a:t>
                </a:r>
                <a:r>
                  <a:rPr lang="es-CO" spc="5" dirty="0">
                    <a:latin typeface="Arial MT"/>
                    <a:cs typeface="Arial MT"/>
                  </a:rPr>
                  <a:t>6</a:t>
                </a:r>
                <a:r>
                  <a:rPr lang="es-CO" spc="5" dirty="0">
                    <a:latin typeface="Symbol"/>
                    <a:cs typeface="Symbol"/>
                  </a:rPr>
                  <a:t></a:t>
                </a:r>
                <a:r>
                  <a:rPr lang="es-CO" spc="5" dirty="0">
                    <a:latin typeface="Arial MT"/>
                    <a:cs typeface="Arial MT"/>
                  </a:rPr>
                  <a:t>. Calcular</a:t>
                </a:r>
                <a:r>
                  <a:rPr lang="es-CO" dirty="0">
                    <a:latin typeface="Arial MT"/>
                    <a:cs typeface="Arial MT"/>
                  </a:rPr>
                  <a:t> </a:t>
                </a:r>
                <a:r>
                  <a:rPr lang="es-CO" spc="10" dirty="0">
                    <a:latin typeface="Symbol"/>
                    <a:cs typeface="Symbol"/>
                  </a:rPr>
                  <a:t></a:t>
                </a:r>
                <a:r>
                  <a:rPr lang="es-CO" spc="50" dirty="0">
                    <a:latin typeface="Times New Roman"/>
                    <a:cs typeface="Times New Roman"/>
                  </a:rPr>
                  <a:t> </a:t>
                </a:r>
                <a:r>
                  <a:rPr lang="es-CO" dirty="0">
                    <a:latin typeface="Arial MT"/>
                    <a:cs typeface="Arial MT"/>
                  </a:rPr>
                  <a:t>(X).</a:t>
                </a:r>
                <a:endParaRPr sz="1800" dirty="0">
                  <a:latin typeface="Arial MT"/>
                  <a:cs typeface="Arial MT"/>
                </a:endParaRPr>
              </a:p>
            </p:txBody>
          </p:sp>
        </mc:Choice>
        <mc:Fallback xmlns="">
          <p:sp>
            <p:nvSpPr>
              <p:cNvPr id="4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788" y="1912284"/>
                <a:ext cx="5588811" cy="1998238"/>
              </a:xfrm>
              <a:prstGeom prst="rect">
                <a:avLst/>
              </a:prstGeom>
              <a:blipFill>
                <a:blip r:embed="rId2"/>
                <a:stretch>
                  <a:fillRect l="-1310" t="-3976" b="-6728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uadroTexto 4">
            <a:extLst>
              <a:ext uri="{FF2B5EF4-FFF2-40B4-BE49-F238E27FC236}">
                <a16:creationId xmlns:a16="http://schemas.microsoft.com/office/drawing/2014/main" id="{285A9742-EC54-6745-FCDF-DE944C5217FD}"/>
              </a:ext>
            </a:extLst>
          </p:cNvPr>
          <p:cNvSpPr txBox="1"/>
          <p:nvPr/>
        </p:nvSpPr>
        <p:spPr>
          <a:xfrm>
            <a:off x="3352800" y="4876800"/>
            <a:ext cx="187070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dirty="0"/>
              <a:t>Respuestas: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sz="1800" spc="10" dirty="0">
                <a:latin typeface="Symbol"/>
                <a:cs typeface="Symbol"/>
              </a:rPr>
              <a:t></a:t>
            </a:r>
            <a:r>
              <a:rPr lang="es-CO" sz="1800" spc="50" dirty="0">
                <a:latin typeface="Times New Roman"/>
                <a:cs typeface="Times New Roman"/>
              </a:rPr>
              <a:t> </a:t>
            </a:r>
            <a:r>
              <a:rPr lang="es-CO" sz="1800" dirty="0">
                <a:latin typeface="Arial MT"/>
                <a:cs typeface="Arial MT"/>
              </a:rPr>
              <a:t>(X)=1.26 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sz="1800" spc="10" dirty="0">
                <a:latin typeface="Symbol"/>
                <a:cs typeface="Symbol"/>
              </a:rPr>
              <a:t></a:t>
            </a:r>
            <a:r>
              <a:rPr lang="es-CO" sz="1800" spc="50" dirty="0">
                <a:latin typeface="Times New Roman"/>
                <a:cs typeface="Times New Roman"/>
              </a:rPr>
              <a:t> </a:t>
            </a:r>
            <a:r>
              <a:rPr lang="es-CO" sz="1800" dirty="0">
                <a:latin typeface="Arial MT"/>
                <a:cs typeface="Arial MT"/>
              </a:rPr>
              <a:t>(X)=1.26 M</a:t>
            </a:r>
            <a:endParaRPr lang="es-CO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8055" y="600455"/>
            <a:ext cx="8239125" cy="125920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4650">
              <a:latin typeface="Times New Roman"/>
              <a:cs typeface="Times New Roman"/>
            </a:endParaRPr>
          </a:p>
          <a:p>
            <a:pPr marL="224154">
              <a:lnSpc>
                <a:spcPct val="100000"/>
              </a:lnSpc>
            </a:pPr>
            <a:r>
              <a:rPr sz="2800" b="0" spc="50" dirty="0">
                <a:solidFill>
                  <a:srgbClr val="FFFFFF"/>
                </a:solidFill>
                <a:latin typeface="Trebuchet MS"/>
                <a:cs typeface="Trebuchet MS"/>
              </a:rPr>
              <a:t>PRIMA</a:t>
            </a:r>
            <a:r>
              <a:rPr sz="2800" b="0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b="0" spc="135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2800" b="0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b="0" spc="75" dirty="0">
                <a:solidFill>
                  <a:srgbClr val="FFFFFF"/>
                </a:solidFill>
                <a:latin typeface="Trebuchet MS"/>
                <a:cs typeface="Trebuchet MS"/>
              </a:rPr>
              <a:t>SEGURO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0903" y="2622931"/>
            <a:ext cx="8060690" cy="63436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 marR="30480">
              <a:lnSpc>
                <a:spcPts val="2390"/>
              </a:lnSpc>
              <a:spcBef>
                <a:spcPts val="190"/>
              </a:spcBef>
              <a:tabLst>
                <a:tab pos="380365" algn="l"/>
                <a:tab pos="729615" algn="l"/>
              </a:tabLst>
            </a:pPr>
            <a:r>
              <a:rPr sz="2000" spc="-95" dirty="0">
                <a:latin typeface="Trebuchet MS"/>
                <a:cs typeface="Trebuchet MS"/>
              </a:rPr>
              <a:t>Si	</a:t>
            </a:r>
            <a:r>
              <a:rPr sz="2000" spc="305" dirty="0">
                <a:latin typeface="Trebuchet MS"/>
                <a:cs typeface="Trebuchet MS"/>
              </a:rPr>
              <a:t>X	</a:t>
            </a:r>
            <a:r>
              <a:rPr sz="2000" spc="-85" dirty="0">
                <a:latin typeface="Trebuchet MS"/>
                <a:cs typeface="Trebuchet MS"/>
              </a:rPr>
              <a:t>es</a:t>
            </a:r>
            <a:r>
              <a:rPr sz="2000" spc="65" dirty="0">
                <a:latin typeface="Trebuchet MS"/>
                <a:cs typeface="Trebuchet MS"/>
              </a:rPr>
              <a:t> </a:t>
            </a:r>
            <a:r>
              <a:rPr sz="2000" spc="-130" dirty="0">
                <a:latin typeface="Trebuchet MS"/>
                <a:cs typeface="Trebuchet MS"/>
              </a:rPr>
              <a:t>una</a:t>
            </a:r>
            <a:r>
              <a:rPr sz="2000" spc="55" dirty="0">
                <a:latin typeface="Trebuchet MS"/>
                <a:cs typeface="Trebuchet MS"/>
              </a:rPr>
              <a:t> </a:t>
            </a:r>
            <a:r>
              <a:rPr sz="2000" spc="-105" dirty="0">
                <a:latin typeface="Trebuchet MS"/>
                <a:cs typeface="Trebuchet MS"/>
              </a:rPr>
              <a:t>lotería</a:t>
            </a:r>
            <a:r>
              <a:rPr sz="2000" spc="75" dirty="0">
                <a:latin typeface="Trebuchet MS"/>
                <a:cs typeface="Trebuchet MS"/>
              </a:rPr>
              <a:t> </a:t>
            </a:r>
            <a:r>
              <a:rPr sz="2000" spc="-135" dirty="0">
                <a:latin typeface="Trebuchet MS"/>
                <a:cs typeface="Trebuchet MS"/>
              </a:rPr>
              <a:t>desfavorable,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por</a:t>
            </a:r>
            <a:r>
              <a:rPr sz="2000" spc="70" dirty="0">
                <a:latin typeface="Trebuchet MS"/>
                <a:cs typeface="Trebuchet MS"/>
              </a:rPr>
              <a:t> </a:t>
            </a:r>
            <a:r>
              <a:rPr sz="2000" spc="-135" dirty="0">
                <a:latin typeface="Trebuchet MS"/>
                <a:cs typeface="Trebuchet MS"/>
              </a:rPr>
              <a:t>ejemplo</a:t>
            </a:r>
            <a:r>
              <a:rPr sz="2000" spc="65" dirty="0">
                <a:latin typeface="Trebuchet MS"/>
                <a:cs typeface="Trebuchet MS"/>
              </a:rPr>
              <a:t> </a:t>
            </a:r>
            <a:r>
              <a:rPr sz="2000" spc="-120" dirty="0">
                <a:latin typeface="Symbol"/>
                <a:cs typeface="Symbol"/>
              </a:rPr>
              <a:t></a:t>
            </a:r>
            <a:r>
              <a:rPr sz="2000" spc="-120" dirty="0">
                <a:latin typeface="Trebuchet MS"/>
                <a:cs typeface="Trebuchet MS"/>
              </a:rPr>
              <a:t>0,</a:t>
            </a:r>
            <a:r>
              <a:rPr sz="2000" spc="-125" dirty="0">
                <a:latin typeface="Trebuchet MS"/>
                <a:cs typeface="Trebuchet MS"/>
              </a:rPr>
              <a:t> </a:t>
            </a:r>
            <a:r>
              <a:rPr sz="2000" spc="-100" dirty="0">
                <a:latin typeface="Trebuchet MS"/>
                <a:cs typeface="Trebuchet MS"/>
              </a:rPr>
              <a:t>-30</a:t>
            </a:r>
            <a:r>
              <a:rPr sz="2000" spc="-100" dirty="0">
                <a:latin typeface="Symbol"/>
                <a:cs typeface="Symbol"/>
              </a:rPr>
              <a:t></a:t>
            </a:r>
            <a:r>
              <a:rPr sz="2000" spc="-100" dirty="0">
                <a:latin typeface="Trebuchet MS"/>
                <a:cs typeface="Trebuchet MS"/>
              </a:rPr>
              <a:t>,</a:t>
            </a:r>
            <a:r>
              <a:rPr sz="2000" spc="-130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se</a:t>
            </a:r>
            <a:r>
              <a:rPr sz="2000" spc="70" dirty="0">
                <a:latin typeface="Trebuchet MS"/>
                <a:cs typeface="Trebuchet MS"/>
              </a:rPr>
              <a:t> </a:t>
            </a:r>
            <a:r>
              <a:rPr sz="2000" spc="-140" dirty="0">
                <a:latin typeface="Trebuchet MS"/>
                <a:cs typeface="Trebuchet MS"/>
              </a:rPr>
              <a:t>define</a:t>
            </a:r>
            <a:r>
              <a:rPr sz="2000" spc="65" dirty="0">
                <a:latin typeface="Trebuchet MS"/>
                <a:cs typeface="Trebuchet MS"/>
              </a:rPr>
              <a:t> </a:t>
            </a:r>
            <a:r>
              <a:rPr sz="2000" spc="-175" dirty="0">
                <a:latin typeface="Trebuchet MS"/>
                <a:cs typeface="Trebuchet MS"/>
              </a:rPr>
              <a:t>la</a:t>
            </a:r>
            <a:r>
              <a:rPr sz="2000" spc="55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prima</a:t>
            </a:r>
            <a:r>
              <a:rPr sz="2000" spc="70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de </a:t>
            </a:r>
            <a:r>
              <a:rPr sz="2000" spc="-585" dirty="0">
                <a:latin typeface="Trebuchet MS"/>
                <a:cs typeface="Trebuchet MS"/>
              </a:rPr>
              <a:t> </a:t>
            </a:r>
            <a:r>
              <a:rPr sz="2000" spc="-70" dirty="0">
                <a:latin typeface="Trebuchet MS"/>
                <a:cs typeface="Trebuchet MS"/>
              </a:rPr>
              <a:t>seguro </a:t>
            </a:r>
            <a:r>
              <a:rPr sz="2000" spc="-85" dirty="0">
                <a:latin typeface="Trebuchet MS"/>
                <a:cs typeface="Trebuchet MS"/>
              </a:rPr>
              <a:t>(PS)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como</a:t>
            </a:r>
            <a:r>
              <a:rPr sz="2000" spc="-8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PS(X)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120" dirty="0">
                <a:latin typeface="Trebuchet MS"/>
                <a:cs typeface="Trebuchet MS"/>
              </a:rPr>
              <a:t>=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-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70" dirty="0">
                <a:latin typeface="Trebuchet MS"/>
                <a:cs typeface="Trebuchet MS"/>
              </a:rPr>
              <a:t>EMC(X)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120" dirty="0">
                <a:latin typeface="Trebuchet MS"/>
                <a:cs typeface="Trebuchet MS"/>
              </a:rPr>
              <a:t>=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-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spc="-30" dirty="0">
                <a:latin typeface="Trebuchet MS"/>
                <a:cs typeface="Trebuchet MS"/>
              </a:rPr>
              <a:t>x</a:t>
            </a:r>
            <a:r>
              <a:rPr sz="1950" spc="-44" baseline="-21367" dirty="0">
                <a:latin typeface="Trebuchet MS"/>
                <a:cs typeface="Trebuchet MS"/>
              </a:rPr>
              <a:t>c</a:t>
            </a:r>
            <a:endParaRPr sz="1950" baseline="-21367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4800" y="3675125"/>
            <a:ext cx="4584498" cy="859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b="1" u="sng" spc="-40" dirty="0">
                <a:solidFill>
                  <a:srgbClr val="4590B8"/>
                </a:solidFill>
                <a:uFill>
                  <a:solidFill>
                    <a:srgbClr val="4590B8"/>
                  </a:solidFill>
                </a:uFill>
                <a:latin typeface="Trebuchet MS"/>
                <a:cs typeface="Trebuchet MS"/>
              </a:rPr>
              <a:t>Ejercicio:</a:t>
            </a:r>
            <a:endParaRPr sz="2000" dirty="0">
              <a:latin typeface="Trebuchet MS"/>
              <a:cs typeface="Trebuchet MS"/>
            </a:endParaRPr>
          </a:p>
          <a:p>
            <a:pPr marL="38100">
              <a:lnSpc>
                <a:spcPts val="2095"/>
              </a:lnSpc>
              <a:spcBef>
                <a:spcPts val="15"/>
              </a:spcBef>
            </a:pPr>
            <a:r>
              <a:rPr sz="2000" spc="135" dirty="0">
                <a:latin typeface="Trebuchet MS"/>
                <a:cs typeface="Trebuchet MS"/>
              </a:rPr>
              <a:t>C</a:t>
            </a:r>
            <a:r>
              <a:rPr sz="2000" spc="110" dirty="0">
                <a:latin typeface="Trebuchet MS"/>
                <a:cs typeface="Trebuchet MS"/>
              </a:rPr>
              <a:t>o</a:t>
            </a:r>
            <a:r>
              <a:rPr sz="2000" spc="-80" dirty="0">
                <a:latin typeface="Trebuchet MS"/>
                <a:cs typeface="Trebuchet MS"/>
              </a:rPr>
              <a:t>nside</a:t>
            </a:r>
            <a:r>
              <a:rPr sz="2000" spc="-110" dirty="0">
                <a:latin typeface="Trebuchet MS"/>
                <a:cs typeface="Trebuchet MS"/>
              </a:rPr>
              <a:t>r</a:t>
            </a:r>
            <a:r>
              <a:rPr sz="2000" spc="-130" dirty="0">
                <a:latin typeface="Trebuchet MS"/>
                <a:cs typeface="Trebuchet MS"/>
              </a:rPr>
              <a:t>e</a:t>
            </a:r>
            <a:r>
              <a:rPr sz="2000" spc="80" dirty="0">
                <a:latin typeface="Trebuchet MS"/>
                <a:cs typeface="Trebuchet MS"/>
              </a:rPr>
              <a:t> </a:t>
            </a:r>
            <a:r>
              <a:rPr sz="2000" spc="-135" dirty="0">
                <a:latin typeface="Trebuchet MS"/>
                <a:cs typeface="Trebuchet MS"/>
              </a:rPr>
              <a:t>la</a:t>
            </a:r>
            <a:r>
              <a:rPr sz="2000" spc="-130" dirty="0">
                <a:latin typeface="Trebuchet MS"/>
                <a:cs typeface="Trebuchet MS"/>
              </a:rPr>
              <a:t>s</a:t>
            </a:r>
            <a:r>
              <a:rPr sz="2000" spc="75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l</a:t>
            </a:r>
            <a:r>
              <a:rPr sz="2000" spc="-90" dirty="0">
                <a:latin typeface="Trebuchet MS"/>
                <a:cs typeface="Trebuchet MS"/>
              </a:rPr>
              <a:t>o</a:t>
            </a:r>
            <a:r>
              <a:rPr sz="2000" spc="-105" dirty="0">
                <a:latin typeface="Trebuchet MS"/>
                <a:cs typeface="Trebuchet MS"/>
              </a:rPr>
              <a:t>ter</a:t>
            </a:r>
            <a:r>
              <a:rPr sz="2000" spc="-75" dirty="0">
                <a:latin typeface="Trebuchet MS"/>
                <a:cs typeface="Trebuchet MS"/>
              </a:rPr>
              <a:t>í</a:t>
            </a:r>
            <a:r>
              <a:rPr sz="2000" spc="-120" dirty="0">
                <a:latin typeface="Trebuchet MS"/>
                <a:cs typeface="Trebuchet MS"/>
              </a:rPr>
              <a:t>as</a:t>
            </a:r>
            <a:r>
              <a:rPr sz="2000" spc="85" dirty="0">
                <a:latin typeface="Trebuchet MS"/>
                <a:cs typeface="Trebuchet MS"/>
              </a:rPr>
              <a:t> </a:t>
            </a:r>
            <a:r>
              <a:rPr sz="2000" spc="305" dirty="0">
                <a:latin typeface="Trebuchet MS"/>
                <a:cs typeface="Trebuchet MS"/>
              </a:rPr>
              <a:t>X</a:t>
            </a:r>
            <a:r>
              <a:rPr sz="2000" spc="75" dirty="0">
                <a:latin typeface="Trebuchet MS"/>
                <a:cs typeface="Trebuchet MS"/>
              </a:rPr>
              <a:t> </a:t>
            </a:r>
            <a:r>
              <a:rPr sz="2000" spc="120" dirty="0">
                <a:latin typeface="Trebuchet MS"/>
                <a:cs typeface="Trebuchet MS"/>
              </a:rPr>
              <a:t>=</a:t>
            </a:r>
            <a:r>
              <a:rPr sz="2000" spc="85" dirty="0">
                <a:latin typeface="Trebuchet MS"/>
                <a:cs typeface="Trebuchet MS"/>
              </a:rPr>
              <a:t> </a:t>
            </a:r>
            <a:r>
              <a:rPr sz="2000" spc="-5" dirty="0">
                <a:latin typeface="Symbol"/>
                <a:cs typeface="Symbol"/>
              </a:rPr>
              <a:t></a:t>
            </a:r>
            <a:r>
              <a:rPr sz="2000" spc="-105" dirty="0">
                <a:latin typeface="Trebuchet MS"/>
                <a:cs typeface="Trebuchet MS"/>
              </a:rPr>
              <a:t>-</a:t>
            </a:r>
            <a:r>
              <a:rPr sz="2000" spc="-50" dirty="0">
                <a:latin typeface="Trebuchet MS"/>
                <a:cs typeface="Trebuchet MS"/>
              </a:rPr>
              <a:t>2</a:t>
            </a:r>
            <a:r>
              <a:rPr lang="es-CO" sz="2000" spc="-60" dirty="0">
                <a:latin typeface="Trebuchet MS"/>
                <a:cs typeface="Trebuchet MS"/>
              </a:rPr>
              <a:t>5</a:t>
            </a:r>
            <a:r>
              <a:rPr sz="2000" spc="-295" dirty="0">
                <a:latin typeface="Trebuchet MS"/>
                <a:cs typeface="Trebuchet MS"/>
              </a:rPr>
              <a:t>,</a:t>
            </a:r>
            <a:r>
              <a:rPr sz="2000" spc="-110" dirty="0">
                <a:latin typeface="Trebuchet MS"/>
                <a:cs typeface="Trebuchet MS"/>
              </a:rPr>
              <a:t> </a:t>
            </a:r>
            <a:r>
              <a:rPr sz="2000" spc="-105" dirty="0">
                <a:latin typeface="Trebuchet MS"/>
                <a:cs typeface="Trebuchet MS"/>
              </a:rPr>
              <a:t>-</a:t>
            </a:r>
            <a:r>
              <a:rPr sz="2000" spc="-50" dirty="0">
                <a:latin typeface="Trebuchet MS"/>
                <a:cs typeface="Trebuchet MS"/>
              </a:rPr>
              <a:t>1</a:t>
            </a:r>
            <a:r>
              <a:rPr lang="es-CO" sz="2000" spc="-60" dirty="0">
                <a:latin typeface="Trebuchet MS"/>
                <a:cs typeface="Trebuchet MS"/>
              </a:rPr>
              <a:t>5</a:t>
            </a:r>
            <a:r>
              <a:rPr sz="2000" dirty="0">
                <a:latin typeface="Symbol"/>
                <a:cs typeface="Symbol"/>
              </a:rPr>
              <a:t></a:t>
            </a:r>
          </a:p>
          <a:p>
            <a:pPr marL="38100">
              <a:lnSpc>
                <a:spcPts val="2095"/>
              </a:lnSpc>
            </a:pPr>
            <a:r>
              <a:rPr sz="3000" spc="-135" baseline="-16666" dirty="0">
                <a:latin typeface="Trebuchet MS"/>
                <a:cs typeface="Trebuchet MS"/>
              </a:rPr>
              <a:t>u(</a:t>
            </a:r>
            <a:r>
              <a:rPr sz="3000" spc="-67" baseline="-16666" dirty="0">
                <a:latin typeface="Trebuchet MS"/>
                <a:cs typeface="Trebuchet MS"/>
              </a:rPr>
              <a:t>x)</a:t>
            </a:r>
            <a:r>
              <a:rPr sz="3000" spc="-82" baseline="-16666" dirty="0">
                <a:latin typeface="Trebuchet MS"/>
                <a:cs typeface="Trebuchet MS"/>
              </a:rPr>
              <a:t> </a:t>
            </a:r>
            <a:r>
              <a:rPr sz="3000" spc="179" baseline="-16666" dirty="0">
                <a:latin typeface="Trebuchet MS"/>
                <a:cs typeface="Trebuchet MS"/>
              </a:rPr>
              <a:t>=</a:t>
            </a:r>
            <a:r>
              <a:rPr sz="3000" spc="-89" baseline="-16666" dirty="0">
                <a:latin typeface="Trebuchet MS"/>
                <a:cs typeface="Trebuchet MS"/>
              </a:rPr>
              <a:t> </a:t>
            </a:r>
            <a:r>
              <a:rPr sz="3000" spc="-135" baseline="-16666" dirty="0">
                <a:latin typeface="Trebuchet MS"/>
                <a:cs typeface="Trebuchet MS"/>
              </a:rPr>
              <a:t>-</a:t>
            </a:r>
            <a:r>
              <a:rPr lang="es-CO" sz="3000" spc="-135" baseline="-16666" dirty="0">
                <a:latin typeface="Trebuchet MS"/>
                <a:cs typeface="Trebuchet MS"/>
              </a:rPr>
              <a:t>2</a:t>
            </a:r>
            <a:r>
              <a:rPr sz="3000" spc="-82" baseline="-16666" dirty="0">
                <a:latin typeface="Trebuchet MS"/>
                <a:cs typeface="Trebuchet MS"/>
              </a:rPr>
              <a:t> </a:t>
            </a:r>
            <a:r>
              <a:rPr sz="3000" spc="-202" baseline="-16666" dirty="0">
                <a:latin typeface="Trebuchet MS"/>
                <a:cs typeface="Trebuchet MS"/>
              </a:rPr>
              <a:t>e</a:t>
            </a:r>
            <a:r>
              <a:rPr sz="3000" spc="-82" baseline="-16666" dirty="0">
                <a:latin typeface="Trebuchet MS"/>
                <a:cs typeface="Trebuchet MS"/>
              </a:rPr>
              <a:t> </a:t>
            </a:r>
            <a:r>
              <a:rPr sz="1300" spc="-50" dirty="0">
                <a:latin typeface="Trebuchet MS"/>
                <a:cs typeface="Trebuchet MS"/>
              </a:rPr>
              <a:t>-</a:t>
            </a:r>
            <a:r>
              <a:rPr sz="1300" spc="-15" dirty="0">
                <a:latin typeface="Trebuchet MS"/>
                <a:cs typeface="Trebuchet MS"/>
              </a:rPr>
              <a:t>0</a:t>
            </a:r>
            <a:r>
              <a:rPr sz="1300" spc="-195" dirty="0">
                <a:latin typeface="Trebuchet MS"/>
                <a:cs typeface="Trebuchet MS"/>
              </a:rPr>
              <a:t>.</a:t>
            </a:r>
            <a:r>
              <a:rPr lang="es-CO" sz="1300" spc="-20" dirty="0">
                <a:latin typeface="Trebuchet MS"/>
                <a:cs typeface="Trebuchet MS"/>
              </a:rPr>
              <a:t>2</a:t>
            </a:r>
            <a:r>
              <a:rPr sz="1300" spc="-40" dirty="0">
                <a:latin typeface="Trebuchet MS"/>
                <a:cs typeface="Trebuchet MS"/>
              </a:rPr>
              <a:t> </a:t>
            </a:r>
            <a:r>
              <a:rPr sz="1300" spc="-50" dirty="0">
                <a:latin typeface="Trebuchet MS"/>
                <a:cs typeface="Trebuchet MS"/>
              </a:rPr>
              <a:t>(</a:t>
            </a:r>
            <a:r>
              <a:rPr lang="es-CO" sz="1300" spc="-15" dirty="0">
                <a:latin typeface="Trebuchet MS"/>
                <a:cs typeface="Trebuchet MS"/>
              </a:rPr>
              <a:t>1</a:t>
            </a:r>
            <a:r>
              <a:rPr sz="1300" spc="-15" dirty="0">
                <a:latin typeface="Trebuchet MS"/>
                <a:cs typeface="Trebuchet MS"/>
              </a:rPr>
              <a:t>0</a:t>
            </a:r>
            <a:r>
              <a:rPr sz="1300" spc="20" dirty="0">
                <a:latin typeface="Trebuchet MS"/>
                <a:cs typeface="Trebuchet MS"/>
              </a:rPr>
              <a:t>+x</a:t>
            </a:r>
            <a:r>
              <a:rPr sz="1300" spc="10" dirty="0">
                <a:latin typeface="Trebuchet MS"/>
                <a:cs typeface="Trebuchet MS"/>
              </a:rPr>
              <a:t>)</a:t>
            </a:r>
            <a:r>
              <a:rPr sz="1300" spc="-190" dirty="0">
                <a:latin typeface="Trebuchet MS"/>
                <a:cs typeface="Trebuchet MS"/>
              </a:rPr>
              <a:t>.</a:t>
            </a:r>
            <a:endParaRPr sz="1300" dirty="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81944" y="3927782"/>
            <a:ext cx="4040504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99085" algn="l"/>
                <a:tab pos="1699895" algn="l"/>
                <a:tab pos="1985010" algn="l"/>
                <a:tab pos="3260725" algn="l"/>
              </a:tabLst>
            </a:pPr>
            <a:r>
              <a:rPr sz="2000" spc="-110" dirty="0">
                <a:latin typeface="Trebuchet MS"/>
                <a:cs typeface="Trebuchet MS"/>
              </a:rPr>
              <a:t>y	</a:t>
            </a:r>
            <a:r>
              <a:rPr sz="2000" spc="70" dirty="0">
                <a:latin typeface="Trebuchet MS"/>
                <a:cs typeface="Trebuchet MS"/>
              </a:rPr>
              <a:t>Y</a:t>
            </a:r>
            <a:r>
              <a:rPr sz="2000" spc="65" dirty="0">
                <a:latin typeface="Trebuchet MS"/>
                <a:cs typeface="Trebuchet MS"/>
              </a:rPr>
              <a:t> </a:t>
            </a:r>
            <a:r>
              <a:rPr sz="2000" spc="120" dirty="0">
                <a:latin typeface="Trebuchet MS"/>
                <a:cs typeface="Trebuchet MS"/>
              </a:rPr>
              <a:t>=</a:t>
            </a:r>
            <a:r>
              <a:rPr sz="2000" spc="90" dirty="0">
                <a:latin typeface="Trebuchet MS"/>
                <a:cs typeface="Trebuchet MS"/>
              </a:rPr>
              <a:t> </a:t>
            </a:r>
            <a:r>
              <a:rPr sz="2000" spc="-100" dirty="0">
                <a:latin typeface="Symbol"/>
                <a:cs typeface="Symbol"/>
              </a:rPr>
              <a:t></a:t>
            </a:r>
            <a:r>
              <a:rPr sz="2000" spc="-100" dirty="0">
                <a:latin typeface="Trebuchet MS"/>
                <a:cs typeface="Trebuchet MS"/>
              </a:rPr>
              <a:t>-1</a:t>
            </a:r>
            <a:r>
              <a:rPr lang="es-CO" sz="2000" spc="-100" dirty="0">
                <a:latin typeface="Trebuchet MS"/>
                <a:cs typeface="Trebuchet MS"/>
              </a:rPr>
              <a:t>0</a:t>
            </a:r>
            <a:r>
              <a:rPr sz="2000" spc="-100" dirty="0">
                <a:latin typeface="Trebuchet MS"/>
                <a:cs typeface="Trebuchet MS"/>
              </a:rPr>
              <a:t>,</a:t>
            </a:r>
            <a:r>
              <a:rPr sz="2000" spc="-114" dirty="0">
                <a:latin typeface="Trebuchet MS"/>
                <a:cs typeface="Trebuchet MS"/>
              </a:rPr>
              <a:t> </a:t>
            </a:r>
            <a:r>
              <a:rPr sz="2000" spc="-30" dirty="0">
                <a:latin typeface="Trebuchet MS"/>
                <a:cs typeface="Trebuchet MS"/>
              </a:rPr>
              <a:t>0</a:t>
            </a:r>
            <a:r>
              <a:rPr sz="2000" spc="-30" dirty="0">
                <a:latin typeface="Symbol"/>
                <a:cs typeface="Symbol"/>
              </a:rPr>
              <a:t></a:t>
            </a:r>
            <a:r>
              <a:rPr sz="2000" spc="-30" dirty="0">
                <a:latin typeface="Times New Roman"/>
                <a:cs typeface="Times New Roman"/>
              </a:rPr>
              <a:t>	</a:t>
            </a:r>
            <a:r>
              <a:rPr sz="2000" spc="-110" dirty="0">
                <a:latin typeface="Trebuchet MS"/>
                <a:cs typeface="Trebuchet MS"/>
              </a:rPr>
              <a:t>y	</a:t>
            </a:r>
            <a:r>
              <a:rPr sz="2000" spc="-90" dirty="0">
                <a:latin typeface="Trebuchet MS"/>
                <a:cs typeface="Trebuchet MS"/>
              </a:rPr>
              <a:t>un</a:t>
            </a:r>
            <a:r>
              <a:rPr sz="2000" spc="90" dirty="0">
                <a:latin typeface="Trebuchet MS"/>
                <a:cs typeface="Trebuchet MS"/>
              </a:rPr>
              <a:t> </a:t>
            </a:r>
            <a:r>
              <a:rPr sz="2000" spc="-70" dirty="0">
                <a:latin typeface="Trebuchet MS"/>
                <a:cs typeface="Trebuchet MS"/>
              </a:rPr>
              <a:t>decisor	con</a:t>
            </a:r>
            <a:r>
              <a:rPr sz="2000" spc="25" dirty="0">
                <a:latin typeface="Trebuchet MS"/>
                <a:cs typeface="Trebuchet MS"/>
              </a:rPr>
              <a:t> </a:t>
            </a:r>
            <a:r>
              <a:rPr sz="2000" spc="-235" dirty="0">
                <a:latin typeface="Trebuchet MS"/>
                <a:cs typeface="Trebuchet MS"/>
              </a:rPr>
              <a:t>f.u.</a:t>
            </a:r>
            <a:endParaRPr sz="2000" dirty="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6303" y="5060441"/>
            <a:ext cx="444119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0" dirty="0">
                <a:latin typeface="Trebuchet MS"/>
                <a:cs typeface="Trebuchet MS"/>
              </a:rPr>
              <a:t>Hal</a:t>
            </a:r>
            <a:r>
              <a:rPr sz="2000" spc="-55" dirty="0">
                <a:latin typeface="Trebuchet MS"/>
                <a:cs typeface="Trebuchet MS"/>
              </a:rPr>
              <a:t>l</a:t>
            </a:r>
            <a:r>
              <a:rPr sz="2000" spc="-90" dirty="0">
                <a:latin typeface="Trebuchet MS"/>
                <a:cs typeface="Trebuchet MS"/>
              </a:rPr>
              <a:t>ar</a:t>
            </a:r>
            <a:r>
              <a:rPr sz="2000" spc="-80" dirty="0">
                <a:latin typeface="Trebuchet MS"/>
                <a:cs typeface="Trebuchet MS"/>
              </a:rPr>
              <a:t> </a:t>
            </a:r>
            <a:r>
              <a:rPr sz="2000" spc="-135" dirty="0">
                <a:latin typeface="Trebuchet MS"/>
                <a:cs typeface="Trebuchet MS"/>
              </a:rPr>
              <a:t>la</a:t>
            </a:r>
            <a:r>
              <a:rPr sz="2000" spc="-130" dirty="0">
                <a:latin typeface="Trebuchet MS"/>
                <a:cs typeface="Trebuchet MS"/>
              </a:rPr>
              <a:t>s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pr</a:t>
            </a:r>
            <a:r>
              <a:rPr sz="2000" spc="-50" dirty="0">
                <a:latin typeface="Trebuchet MS"/>
                <a:cs typeface="Trebuchet MS"/>
              </a:rPr>
              <a:t>i</a:t>
            </a:r>
            <a:r>
              <a:rPr sz="2000" spc="-120" dirty="0">
                <a:latin typeface="Trebuchet MS"/>
                <a:cs typeface="Trebuchet MS"/>
              </a:rPr>
              <a:t>mas</a:t>
            </a:r>
            <a:r>
              <a:rPr sz="2000" spc="-90" dirty="0">
                <a:latin typeface="Trebuchet MS"/>
                <a:cs typeface="Trebuchet MS"/>
              </a:rPr>
              <a:t> </a:t>
            </a:r>
            <a:r>
              <a:rPr sz="2000" spc="-120" dirty="0">
                <a:latin typeface="Trebuchet MS"/>
                <a:cs typeface="Trebuchet MS"/>
              </a:rPr>
              <a:t>d</a:t>
            </a:r>
            <a:r>
              <a:rPr sz="2000" spc="-114" dirty="0">
                <a:latin typeface="Trebuchet MS"/>
                <a:cs typeface="Trebuchet MS"/>
              </a:rPr>
              <a:t>e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105" dirty="0">
                <a:latin typeface="Trebuchet MS"/>
                <a:cs typeface="Trebuchet MS"/>
              </a:rPr>
              <a:t>se</a:t>
            </a:r>
            <a:r>
              <a:rPr sz="2000" spc="-120" dirty="0">
                <a:latin typeface="Trebuchet MS"/>
                <a:cs typeface="Trebuchet MS"/>
              </a:rPr>
              <a:t>g</a:t>
            </a:r>
            <a:r>
              <a:rPr sz="2000" spc="-45" dirty="0">
                <a:latin typeface="Trebuchet MS"/>
                <a:cs typeface="Trebuchet MS"/>
              </a:rPr>
              <a:t>u</a:t>
            </a:r>
            <a:r>
              <a:rPr sz="2000" spc="-80" dirty="0">
                <a:latin typeface="Trebuchet MS"/>
                <a:cs typeface="Trebuchet MS"/>
              </a:rPr>
              <a:t>r</a:t>
            </a:r>
            <a:r>
              <a:rPr sz="2000" spc="30" dirty="0">
                <a:latin typeface="Trebuchet MS"/>
                <a:cs typeface="Trebuchet MS"/>
              </a:rPr>
              <a:t>o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125" dirty="0">
                <a:latin typeface="Trebuchet MS"/>
                <a:cs typeface="Trebuchet MS"/>
              </a:rPr>
              <a:t>para</a:t>
            </a:r>
            <a:r>
              <a:rPr sz="2000" spc="-80" dirty="0">
                <a:latin typeface="Trebuchet MS"/>
                <a:cs typeface="Trebuchet MS"/>
              </a:rPr>
              <a:t> </a:t>
            </a:r>
            <a:r>
              <a:rPr sz="2000" spc="305" dirty="0">
                <a:latin typeface="Trebuchet MS"/>
                <a:cs typeface="Trebuchet MS"/>
              </a:rPr>
              <a:t>X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110" dirty="0">
                <a:latin typeface="Trebuchet MS"/>
                <a:cs typeface="Trebuchet MS"/>
              </a:rPr>
              <a:t>y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125" dirty="0">
                <a:latin typeface="Trebuchet MS"/>
                <a:cs typeface="Trebuchet MS"/>
              </a:rPr>
              <a:t>para</a:t>
            </a:r>
            <a:r>
              <a:rPr lang="es-CO" sz="2000" spc="-125" dirty="0">
                <a:latin typeface="Trebuchet MS"/>
                <a:cs typeface="Trebuchet MS"/>
              </a:rPr>
              <a:t> </a:t>
            </a:r>
            <a:r>
              <a:rPr sz="2000" spc="-200" dirty="0">
                <a:latin typeface="Trebuchet MS"/>
                <a:cs typeface="Trebuchet MS"/>
              </a:rPr>
              <a:t>Y</a:t>
            </a:r>
            <a:r>
              <a:rPr lang="es-CO" sz="2000" spc="-295" dirty="0">
                <a:latin typeface="Trebuchet MS"/>
                <a:cs typeface="Trebuchet MS"/>
              </a:rPr>
              <a:t>.</a:t>
            </a:r>
            <a:endParaRPr sz="2000" dirty="0">
              <a:latin typeface="Trebuchet MS"/>
              <a:cs typeface="Trebuchet MS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333AB81-BB27-22FA-3A33-E99CA17FC413}"/>
              </a:ext>
            </a:extLst>
          </p:cNvPr>
          <p:cNvSpPr txBox="1"/>
          <p:nvPr/>
        </p:nvSpPr>
        <p:spPr>
          <a:xfrm>
            <a:off x="3429000" y="5592679"/>
            <a:ext cx="219258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dirty="0"/>
              <a:t>Respuestas: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sz="1800" spc="10" dirty="0">
                <a:latin typeface="Source Sans Pro" panose="020B0503030403020204" pitchFamily="34" charset="0"/>
                <a:ea typeface="Source Sans Pro" panose="020B0503030403020204" pitchFamily="34" charset="0"/>
                <a:cs typeface="Symbol"/>
              </a:rPr>
              <a:t>PS</a:t>
            </a:r>
            <a:r>
              <a:rPr lang="es-CO" sz="1800" dirty="0">
                <a:latin typeface="Arial MT"/>
                <a:cs typeface="Arial MT"/>
              </a:rPr>
              <a:t>(X)=22.168 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spc="10" dirty="0">
                <a:latin typeface="Source Sans Pro" panose="020B0503030403020204" pitchFamily="34" charset="0"/>
                <a:ea typeface="Source Sans Pro" panose="020B0503030403020204" pitchFamily="34" charset="0"/>
                <a:cs typeface="Symbol"/>
              </a:rPr>
              <a:t>PS</a:t>
            </a:r>
            <a:r>
              <a:rPr lang="es-CO" sz="1800" spc="50" dirty="0">
                <a:latin typeface="Times New Roman"/>
                <a:cs typeface="Times New Roman"/>
              </a:rPr>
              <a:t> </a:t>
            </a:r>
            <a:r>
              <a:rPr lang="es-CO" sz="1800" dirty="0">
                <a:latin typeface="Arial MT"/>
                <a:cs typeface="Arial MT"/>
              </a:rPr>
              <a:t>(X)=7.168 M</a:t>
            </a:r>
            <a:endParaRPr lang="es-CO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8055" y="599694"/>
            <a:ext cx="8239125" cy="125920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2600">
              <a:latin typeface="Times New Roman"/>
              <a:cs typeface="Times New Roman"/>
            </a:endParaRPr>
          </a:p>
          <a:p>
            <a:pPr marL="224154">
              <a:lnSpc>
                <a:spcPct val="100000"/>
              </a:lnSpc>
            </a:pPr>
            <a:r>
              <a:rPr sz="2400" spc="114" dirty="0">
                <a:solidFill>
                  <a:srgbClr val="FFFFFF"/>
                </a:solidFill>
                <a:latin typeface="Trebuchet MS"/>
                <a:cs typeface="Trebuchet MS"/>
              </a:rPr>
              <a:t>FUNCIONES</a:t>
            </a:r>
            <a:r>
              <a:rPr sz="2400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12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2400" spc="-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90" dirty="0">
                <a:solidFill>
                  <a:srgbClr val="FFFFFF"/>
                </a:solidFill>
                <a:latin typeface="Trebuchet MS"/>
                <a:cs typeface="Trebuchet MS"/>
              </a:rPr>
              <a:t>UTILIDAD</a:t>
            </a:r>
            <a:endParaRPr sz="2400">
              <a:latin typeface="Trebuchet MS"/>
              <a:cs typeface="Trebuchet MS"/>
            </a:endParaRPr>
          </a:p>
          <a:p>
            <a:pPr marL="224154">
              <a:lnSpc>
                <a:spcPct val="100000"/>
              </a:lnSpc>
            </a:pPr>
            <a:r>
              <a:rPr sz="2400" spc="50" dirty="0">
                <a:solidFill>
                  <a:srgbClr val="FFFFFF"/>
                </a:solidFill>
                <a:latin typeface="Trebuchet MS"/>
                <a:cs typeface="Trebuchet MS"/>
              </a:rPr>
              <a:t>ESTRATÉGICAMENTE</a:t>
            </a:r>
            <a:r>
              <a:rPr sz="24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40" dirty="0">
                <a:solidFill>
                  <a:srgbClr val="FFFFFF"/>
                </a:solidFill>
                <a:latin typeface="Trebuchet MS"/>
                <a:cs typeface="Trebuchet MS"/>
              </a:rPr>
              <a:t>EQUIVALENTES</a:t>
            </a:r>
            <a:r>
              <a:rPr sz="24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110" dirty="0">
                <a:solidFill>
                  <a:srgbClr val="FFFFFF"/>
                </a:solidFill>
                <a:latin typeface="Trebuchet MS"/>
                <a:cs typeface="Trebuchet MS"/>
              </a:rPr>
              <a:t>-</a:t>
            </a:r>
            <a:r>
              <a:rPr sz="24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114" dirty="0">
                <a:solidFill>
                  <a:srgbClr val="FFFFFF"/>
                </a:solidFill>
                <a:latin typeface="Trebuchet MS"/>
                <a:cs typeface="Trebuchet MS"/>
              </a:rPr>
              <a:t>MOTIVACIÓN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1763" y="1922780"/>
            <a:ext cx="7663815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lang="es-CO" sz="2000" spc="-85" dirty="0">
                <a:solidFill>
                  <a:srgbClr val="3C3C3C"/>
                </a:solidFill>
                <a:latin typeface="Trebuchet MS"/>
                <a:cs typeface="Trebuchet MS"/>
              </a:rPr>
              <a:t>Considere</a:t>
            </a:r>
            <a:r>
              <a:rPr sz="2000" spc="-6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-180" dirty="0">
                <a:solidFill>
                  <a:srgbClr val="3C3C3C"/>
                </a:solidFill>
                <a:latin typeface="Trebuchet MS"/>
                <a:cs typeface="Trebuchet MS"/>
              </a:rPr>
              <a:t>la</a:t>
            </a:r>
            <a:r>
              <a:rPr sz="2000" spc="-6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-105" dirty="0">
                <a:solidFill>
                  <a:srgbClr val="3C3C3C"/>
                </a:solidFill>
                <a:latin typeface="Trebuchet MS"/>
                <a:cs typeface="Trebuchet MS"/>
              </a:rPr>
              <a:t>lotería</a:t>
            </a:r>
            <a:r>
              <a:rPr sz="2000" spc="-6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300" dirty="0">
                <a:solidFill>
                  <a:srgbClr val="3C3C3C"/>
                </a:solidFill>
                <a:latin typeface="Trebuchet MS"/>
                <a:cs typeface="Trebuchet MS"/>
              </a:rPr>
              <a:t>X</a:t>
            </a:r>
            <a:r>
              <a:rPr sz="2000" spc="-6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-145" dirty="0">
                <a:solidFill>
                  <a:srgbClr val="3C3C3C"/>
                </a:solidFill>
                <a:latin typeface="Trebuchet MS"/>
                <a:cs typeface="Trebuchet MS"/>
              </a:rPr>
              <a:t>definida</a:t>
            </a:r>
            <a:r>
              <a:rPr sz="2000"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-75" dirty="0">
                <a:solidFill>
                  <a:srgbClr val="3C3C3C"/>
                </a:solidFill>
                <a:latin typeface="Trebuchet MS"/>
                <a:cs typeface="Trebuchet MS"/>
              </a:rPr>
              <a:t>por:</a:t>
            </a:r>
            <a:endParaRPr sz="2000" dirty="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1762" y="4437633"/>
            <a:ext cx="5595505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CO" sz="2000" spc="-114" dirty="0">
                <a:solidFill>
                  <a:srgbClr val="3C3C3C"/>
                </a:solidFill>
                <a:latin typeface="Trebuchet MS"/>
                <a:cs typeface="Trebuchet MS"/>
              </a:rPr>
              <a:t>con</a:t>
            </a:r>
            <a:r>
              <a:rPr sz="2000"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-135" dirty="0">
                <a:solidFill>
                  <a:srgbClr val="3C3C3C"/>
                </a:solidFill>
                <a:latin typeface="Trebuchet MS"/>
                <a:cs typeface="Trebuchet MS"/>
              </a:rPr>
              <a:t>las</a:t>
            </a:r>
            <a:r>
              <a:rPr sz="2000" spc="-6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-105" dirty="0">
                <a:solidFill>
                  <a:srgbClr val="3C3C3C"/>
                </a:solidFill>
                <a:latin typeface="Trebuchet MS"/>
                <a:cs typeface="Trebuchet MS"/>
              </a:rPr>
              <a:t>funciones</a:t>
            </a:r>
            <a:r>
              <a:rPr sz="2000"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-114" dirty="0">
                <a:solidFill>
                  <a:srgbClr val="3C3C3C"/>
                </a:solidFill>
                <a:latin typeface="Trebuchet MS"/>
                <a:cs typeface="Trebuchet MS"/>
              </a:rPr>
              <a:t>de</a:t>
            </a:r>
            <a:r>
              <a:rPr sz="2000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-130" dirty="0">
                <a:solidFill>
                  <a:srgbClr val="3C3C3C"/>
                </a:solidFill>
                <a:latin typeface="Trebuchet MS"/>
                <a:cs typeface="Trebuchet MS"/>
              </a:rPr>
              <a:t>utilidad</a:t>
            </a:r>
            <a:r>
              <a:rPr sz="2000" spc="-5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-70" dirty="0">
                <a:solidFill>
                  <a:srgbClr val="3C3C3C"/>
                </a:solidFill>
                <a:latin typeface="Trebuchet MS"/>
                <a:cs typeface="Trebuchet MS"/>
              </a:rPr>
              <a:t>u(x)</a:t>
            </a:r>
            <a:r>
              <a:rPr sz="2000"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-114" dirty="0">
                <a:solidFill>
                  <a:srgbClr val="3C3C3C"/>
                </a:solidFill>
                <a:latin typeface="Trebuchet MS"/>
                <a:cs typeface="Trebuchet MS"/>
              </a:rPr>
              <a:t>y</a:t>
            </a:r>
            <a:r>
              <a:rPr sz="2000"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-75" dirty="0">
                <a:solidFill>
                  <a:srgbClr val="3C3C3C"/>
                </a:solidFill>
                <a:latin typeface="Trebuchet MS"/>
                <a:cs typeface="Trebuchet MS"/>
              </a:rPr>
              <a:t>v(x)</a:t>
            </a:r>
            <a:r>
              <a:rPr sz="2000"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-130" dirty="0">
                <a:solidFill>
                  <a:srgbClr val="3C3C3C"/>
                </a:solidFill>
                <a:latin typeface="Trebuchet MS"/>
                <a:cs typeface="Trebuchet MS"/>
              </a:rPr>
              <a:t>dadas</a:t>
            </a:r>
            <a:r>
              <a:rPr sz="2000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-75" dirty="0">
                <a:solidFill>
                  <a:srgbClr val="3C3C3C"/>
                </a:solidFill>
                <a:latin typeface="Trebuchet MS"/>
                <a:cs typeface="Trebuchet MS"/>
              </a:rPr>
              <a:t>por:</a:t>
            </a:r>
            <a:endParaRPr sz="2000" dirty="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6482" y="5138447"/>
            <a:ext cx="8002270" cy="909319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sz="2000" spc="-5" dirty="0">
                <a:solidFill>
                  <a:srgbClr val="3C3C3C"/>
                </a:solidFill>
                <a:latin typeface="Trebuchet MS"/>
                <a:cs typeface="Trebuchet MS"/>
              </a:rPr>
              <a:t>¿Qué</a:t>
            </a:r>
            <a:r>
              <a:rPr sz="2000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-35" dirty="0">
                <a:solidFill>
                  <a:srgbClr val="3C3C3C"/>
                </a:solidFill>
                <a:latin typeface="Trebuchet MS"/>
                <a:cs typeface="Trebuchet MS"/>
              </a:rPr>
              <a:t>r</a:t>
            </a:r>
            <a:r>
              <a:rPr sz="2000" spc="-114" dirty="0">
                <a:solidFill>
                  <a:srgbClr val="3C3C3C"/>
                </a:solidFill>
                <a:latin typeface="Trebuchet MS"/>
                <a:cs typeface="Trebuchet MS"/>
              </a:rPr>
              <a:t>elación</a:t>
            </a:r>
            <a:r>
              <a:rPr sz="2000" spc="-6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-150" dirty="0">
                <a:solidFill>
                  <a:srgbClr val="3C3C3C"/>
                </a:solidFill>
                <a:latin typeface="Trebuchet MS"/>
                <a:cs typeface="Trebuchet MS"/>
              </a:rPr>
              <a:t>h</a:t>
            </a:r>
            <a:r>
              <a:rPr sz="2000" spc="-225" dirty="0">
                <a:solidFill>
                  <a:srgbClr val="3C3C3C"/>
                </a:solidFill>
                <a:latin typeface="Trebuchet MS"/>
                <a:cs typeface="Trebuchet MS"/>
              </a:rPr>
              <a:t>a</a:t>
            </a:r>
            <a:r>
              <a:rPr sz="2000" spc="-114" dirty="0">
                <a:solidFill>
                  <a:srgbClr val="3C3C3C"/>
                </a:solidFill>
                <a:latin typeface="Trebuchet MS"/>
                <a:cs typeface="Trebuchet MS"/>
              </a:rPr>
              <a:t>y</a:t>
            </a:r>
            <a:r>
              <a:rPr sz="2000" spc="-5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-120" dirty="0">
                <a:solidFill>
                  <a:srgbClr val="3C3C3C"/>
                </a:solidFill>
                <a:latin typeface="Trebuchet MS"/>
                <a:cs typeface="Trebuchet MS"/>
              </a:rPr>
              <a:t>ent</a:t>
            </a:r>
            <a:r>
              <a:rPr sz="2000" spc="-35" dirty="0">
                <a:solidFill>
                  <a:srgbClr val="3C3C3C"/>
                </a:solidFill>
                <a:latin typeface="Trebuchet MS"/>
                <a:cs typeface="Trebuchet MS"/>
              </a:rPr>
              <a:t>r</a:t>
            </a:r>
            <a:r>
              <a:rPr sz="2000" spc="-135" dirty="0">
                <a:solidFill>
                  <a:srgbClr val="3C3C3C"/>
                </a:solidFill>
                <a:latin typeface="Trebuchet MS"/>
                <a:cs typeface="Trebuchet MS"/>
              </a:rPr>
              <a:t>e</a:t>
            </a:r>
            <a:r>
              <a:rPr sz="2000" spc="-5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-110" dirty="0">
                <a:solidFill>
                  <a:srgbClr val="3C3C3C"/>
                </a:solidFill>
                <a:latin typeface="Trebuchet MS"/>
                <a:cs typeface="Trebuchet MS"/>
              </a:rPr>
              <a:t>estas</a:t>
            </a:r>
            <a:r>
              <a:rPr sz="2000"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-40" dirty="0">
                <a:solidFill>
                  <a:srgbClr val="3C3C3C"/>
                </a:solidFill>
                <a:latin typeface="Trebuchet MS"/>
                <a:cs typeface="Trebuchet MS"/>
              </a:rPr>
              <a:t>dos</a:t>
            </a:r>
            <a:r>
              <a:rPr sz="2000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-110" dirty="0">
                <a:solidFill>
                  <a:srgbClr val="3C3C3C"/>
                </a:solidFill>
                <a:latin typeface="Trebuchet MS"/>
                <a:cs typeface="Trebuchet MS"/>
              </a:rPr>
              <a:t>funcio</a:t>
            </a:r>
            <a:r>
              <a:rPr sz="2000" spc="-85" dirty="0">
                <a:solidFill>
                  <a:srgbClr val="3C3C3C"/>
                </a:solidFill>
                <a:latin typeface="Trebuchet MS"/>
                <a:cs typeface="Trebuchet MS"/>
              </a:rPr>
              <a:t>nes?</a:t>
            </a:r>
            <a:endParaRPr sz="20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2000" spc="-5" dirty="0">
                <a:solidFill>
                  <a:srgbClr val="3C3C3C"/>
                </a:solidFill>
                <a:latin typeface="Trebuchet MS"/>
                <a:cs typeface="Trebuchet MS"/>
              </a:rPr>
              <a:t>¿</a:t>
            </a:r>
            <a:r>
              <a:rPr lang="es-CO" sz="2000" spc="-5" dirty="0">
                <a:solidFill>
                  <a:srgbClr val="3C3C3C"/>
                </a:solidFill>
                <a:latin typeface="Trebuchet MS"/>
                <a:cs typeface="Trebuchet MS"/>
              </a:rPr>
              <a:t>Cómo es el </a:t>
            </a:r>
            <a:r>
              <a:rPr sz="2000" spc="95" dirty="0">
                <a:solidFill>
                  <a:srgbClr val="3C3C3C"/>
                </a:solidFill>
                <a:latin typeface="Trebuchet MS"/>
                <a:cs typeface="Trebuchet MS"/>
              </a:rPr>
              <a:t>EMC</a:t>
            </a:r>
            <a:r>
              <a:rPr sz="2000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-114" dirty="0">
                <a:solidFill>
                  <a:srgbClr val="3C3C3C"/>
                </a:solidFill>
                <a:latin typeface="Trebuchet MS"/>
                <a:cs typeface="Trebuchet MS"/>
              </a:rPr>
              <a:t>de</a:t>
            </a:r>
            <a:r>
              <a:rPr sz="2000"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-180" dirty="0">
                <a:solidFill>
                  <a:srgbClr val="3C3C3C"/>
                </a:solidFill>
                <a:latin typeface="Trebuchet MS"/>
                <a:cs typeface="Trebuchet MS"/>
              </a:rPr>
              <a:t>la</a:t>
            </a:r>
            <a:r>
              <a:rPr sz="2000" spc="-5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-105" dirty="0">
                <a:solidFill>
                  <a:srgbClr val="3C3C3C"/>
                </a:solidFill>
                <a:latin typeface="Trebuchet MS"/>
                <a:cs typeface="Trebuchet MS"/>
              </a:rPr>
              <a:t>lotería</a:t>
            </a:r>
            <a:r>
              <a:rPr sz="2000" spc="-7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300" dirty="0">
                <a:solidFill>
                  <a:srgbClr val="3C3C3C"/>
                </a:solidFill>
                <a:latin typeface="Trebuchet MS"/>
                <a:cs typeface="Trebuchet MS"/>
              </a:rPr>
              <a:t>X</a:t>
            </a:r>
            <a:r>
              <a:rPr sz="2000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-125" dirty="0">
                <a:solidFill>
                  <a:srgbClr val="3C3C3C"/>
                </a:solidFill>
                <a:latin typeface="Trebuchet MS"/>
                <a:cs typeface="Trebuchet MS"/>
              </a:rPr>
              <a:t>para</a:t>
            </a:r>
            <a:r>
              <a:rPr sz="2000" spc="-7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-155" dirty="0">
                <a:solidFill>
                  <a:srgbClr val="3C3C3C"/>
                </a:solidFill>
                <a:latin typeface="Trebuchet MS"/>
                <a:cs typeface="Trebuchet MS"/>
              </a:rPr>
              <a:t>cada</a:t>
            </a:r>
            <a:r>
              <a:rPr sz="2000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-130" dirty="0">
                <a:solidFill>
                  <a:srgbClr val="3C3C3C"/>
                </a:solidFill>
                <a:latin typeface="Trebuchet MS"/>
                <a:cs typeface="Trebuchet MS"/>
              </a:rPr>
              <a:t>una</a:t>
            </a:r>
            <a:r>
              <a:rPr sz="2000" spc="-6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-114" dirty="0">
                <a:solidFill>
                  <a:srgbClr val="3C3C3C"/>
                </a:solidFill>
                <a:latin typeface="Trebuchet MS"/>
                <a:cs typeface="Trebuchet MS"/>
              </a:rPr>
              <a:t>de</a:t>
            </a:r>
            <a:r>
              <a:rPr sz="2000" spc="-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-135" dirty="0">
                <a:solidFill>
                  <a:srgbClr val="3C3C3C"/>
                </a:solidFill>
                <a:latin typeface="Trebuchet MS"/>
                <a:cs typeface="Trebuchet MS"/>
              </a:rPr>
              <a:t>las</a:t>
            </a:r>
            <a:r>
              <a:rPr sz="2000"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-40" dirty="0">
                <a:solidFill>
                  <a:srgbClr val="3C3C3C"/>
                </a:solidFill>
                <a:latin typeface="Trebuchet MS"/>
                <a:cs typeface="Trebuchet MS"/>
              </a:rPr>
              <a:t>dos</a:t>
            </a:r>
            <a:endParaRPr sz="2000" dirty="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51763" y="6068314"/>
            <a:ext cx="380174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10" dirty="0">
                <a:solidFill>
                  <a:srgbClr val="3C3C3C"/>
                </a:solidFill>
                <a:latin typeface="Trebuchet MS"/>
                <a:cs typeface="Trebuchet MS"/>
              </a:rPr>
              <a:t>funcio</a:t>
            </a:r>
            <a:r>
              <a:rPr sz="2000" spc="-85" dirty="0">
                <a:solidFill>
                  <a:srgbClr val="3C3C3C"/>
                </a:solidFill>
                <a:latin typeface="Trebuchet MS"/>
                <a:cs typeface="Trebuchet MS"/>
              </a:rPr>
              <a:t>nes?</a:t>
            </a:r>
            <a:r>
              <a:rPr sz="2000"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-60" dirty="0">
                <a:solidFill>
                  <a:srgbClr val="3C3C3C"/>
                </a:solidFill>
                <a:latin typeface="Trebuchet MS"/>
                <a:cs typeface="Trebuchet MS"/>
              </a:rPr>
              <a:t>¿Cuál</a:t>
            </a:r>
            <a:r>
              <a:rPr sz="2000" spc="-6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-100" dirty="0">
                <a:solidFill>
                  <a:srgbClr val="3C3C3C"/>
                </a:solidFill>
                <a:latin typeface="Trebuchet MS"/>
                <a:cs typeface="Trebuchet MS"/>
              </a:rPr>
              <a:t>sería</a:t>
            </a:r>
            <a:r>
              <a:rPr sz="2000"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-70" dirty="0">
                <a:solidFill>
                  <a:srgbClr val="3C3C3C"/>
                </a:solidFill>
                <a:latin typeface="Trebuchet MS"/>
                <a:cs typeface="Trebuchet MS"/>
              </a:rPr>
              <a:t>su</a:t>
            </a:r>
            <a:r>
              <a:rPr sz="2000"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-80" dirty="0">
                <a:solidFill>
                  <a:srgbClr val="3C3C3C"/>
                </a:solidFill>
                <a:latin typeface="Trebuchet MS"/>
                <a:cs typeface="Trebuchet MS"/>
              </a:rPr>
              <a:t>conclusió</a:t>
            </a:r>
            <a:r>
              <a:rPr sz="2000" spc="-85" dirty="0">
                <a:solidFill>
                  <a:srgbClr val="3C3C3C"/>
                </a:solidFill>
                <a:latin typeface="Trebuchet MS"/>
                <a:cs typeface="Trebuchet MS"/>
              </a:rPr>
              <a:t>n?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440622" y="2734182"/>
            <a:ext cx="1677670" cy="1453515"/>
            <a:chOff x="2440622" y="2734182"/>
            <a:chExt cx="1677670" cy="1453515"/>
          </a:xfrm>
        </p:grpSpPr>
        <p:sp>
          <p:nvSpPr>
            <p:cNvPr id="14" name="object 14"/>
            <p:cNvSpPr/>
            <p:nvPr/>
          </p:nvSpPr>
          <p:spPr>
            <a:xfrm>
              <a:off x="2451735" y="3307460"/>
              <a:ext cx="322580" cy="369570"/>
            </a:xfrm>
            <a:custGeom>
              <a:avLst/>
              <a:gdLst/>
              <a:ahLst/>
              <a:cxnLst/>
              <a:rect l="l" t="t" r="r" b="b"/>
              <a:pathLst>
                <a:path w="322580" h="369570">
                  <a:moveTo>
                    <a:pt x="0" y="184785"/>
                  </a:moveTo>
                  <a:lnTo>
                    <a:pt x="5755" y="135643"/>
                  </a:lnTo>
                  <a:lnTo>
                    <a:pt x="21999" y="91496"/>
                  </a:lnTo>
                  <a:lnTo>
                    <a:pt x="47196" y="54101"/>
                  </a:lnTo>
                  <a:lnTo>
                    <a:pt x="79812" y="25216"/>
                  </a:lnTo>
                  <a:lnTo>
                    <a:pt x="118312" y="6596"/>
                  </a:lnTo>
                  <a:lnTo>
                    <a:pt x="161162" y="0"/>
                  </a:lnTo>
                  <a:lnTo>
                    <a:pt x="204013" y="6596"/>
                  </a:lnTo>
                  <a:lnTo>
                    <a:pt x="242513" y="25216"/>
                  </a:lnTo>
                  <a:lnTo>
                    <a:pt x="275129" y="54101"/>
                  </a:lnTo>
                  <a:lnTo>
                    <a:pt x="300326" y="91496"/>
                  </a:lnTo>
                  <a:lnTo>
                    <a:pt x="316570" y="135643"/>
                  </a:lnTo>
                  <a:lnTo>
                    <a:pt x="322325" y="184785"/>
                  </a:lnTo>
                  <a:lnTo>
                    <a:pt x="316570" y="233926"/>
                  </a:lnTo>
                  <a:lnTo>
                    <a:pt x="300326" y="278073"/>
                  </a:lnTo>
                  <a:lnTo>
                    <a:pt x="275129" y="315467"/>
                  </a:lnTo>
                  <a:lnTo>
                    <a:pt x="242513" y="344353"/>
                  </a:lnTo>
                  <a:lnTo>
                    <a:pt x="204013" y="362973"/>
                  </a:lnTo>
                  <a:lnTo>
                    <a:pt x="161162" y="369569"/>
                  </a:lnTo>
                  <a:lnTo>
                    <a:pt x="118312" y="362973"/>
                  </a:lnTo>
                  <a:lnTo>
                    <a:pt x="79812" y="344353"/>
                  </a:lnTo>
                  <a:lnTo>
                    <a:pt x="47196" y="315468"/>
                  </a:lnTo>
                  <a:lnTo>
                    <a:pt x="21999" y="278073"/>
                  </a:lnTo>
                  <a:lnTo>
                    <a:pt x="5755" y="233926"/>
                  </a:lnTo>
                  <a:lnTo>
                    <a:pt x="0" y="184785"/>
                  </a:lnTo>
                  <a:close/>
                </a:path>
              </a:pathLst>
            </a:custGeom>
            <a:ln w="22224">
              <a:solidFill>
                <a:srgbClr val="4294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726817" y="2740532"/>
              <a:ext cx="1384935" cy="1440815"/>
            </a:xfrm>
            <a:custGeom>
              <a:avLst/>
              <a:gdLst/>
              <a:ahLst/>
              <a:cxnLst/>
              <a:rect l="l" t="t" r="r" b="b"/>
              <a:pathLst>
                <a:path w="1384935" h="1440814">
                  <a:moveTo>
                    <a:pt x="0" y="620902"/>
                  </a:moveTo>
                  <a:lnTo>
                    <a:pt x="1271396" y="0"/>
                  </a:lnTo>
                </a:path>
                <a:path w="1384935" h="1440814">
                  <a:moveTo>
                    <a:pt x="0" y="882395"/>
                  </a:moveTo>
                  <a:lnTo>
                    <a:pt x="1384554" y="1440560"/>
                  </a:lnTo>
                </a:path>
              </a:pathLst>
            </a:custGeom>
            <a:ln w="12700">
              <a:solidFill>
                <a:srgbClr val="172C5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189984" y="2580640"/>
            <a:ext cx="5822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30" dirty="0">
                <a:latin typeface="Trebuchet MS"/>
                <a:cs typeface="Trebuchet MS"/>
              </a:rPr>
              <a:t>$</a:t>
            </a:r>
            <a:r>
              <a:rPr sz="1800" spc="-90" dirty="0">
                <a:latin typeface="Trebuchet MS"/>
                <a:cs typeface="Trebuchet MS"/>
              </a:rPr>
              <a:t> </a:t>
            </a:r>
            <a:r>
              <a:rPr sz="1800" spc="-5" dirty="0">
                <a:latin typeface="Arial MT"/>
                <a:cs typeface="Arial MT"/>
              </a:rPr>
              <a:t>0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125" dirty="0">
                <a:latin typeface="Trebuchet MS"/>
                <a:cs typeface="Trebuchet MS"/>
              </a:rPr>
              <a:t>M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258055" y="4020057"/>
            <a:ext cx="5695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30" dirty="0">
                <a:latin typeface="Trebuchet MS"/>
                <a:cs typeface="Trebuchet MS"/>
              </a:rPr>
              <a:t>$</a:t>
            </a:r>
            <a:r>
              <a:rPr sz="1800" spc="-90" dirty="0">
                <a:latin typeface="Trebuchet MS"/>
                <a:cs typeface="Trebuchet MS"/>
              </a:rPr>
              <a:t> </a:t>
            </a:r>
            <a:r>
              <a:rPr sz="1800" spc="-45" dirty="0">
                <a:latin typeface="Trebuchet MS"/>
                <a:cs typeface="Trebuchet MS"/>
              </a:rPr>
              <a:t>5</a:t>
            </a:r>
            <a:r>
              <a:rPr sz="1800" spc="-85" dirty="0">
                <a:latin typeface="Trebuchet MS"/>
                <a:cs typeface="Trebuchet MS"/>
              </a:rPr>
              <a:t> </a:t>
            </a:r>
            <a:r>
              <a:rPr sz="1800" spc="125" dirty="0">
                <a:latin typeface="Trebuchet MS"/>
                <a:cs typeface="Trebuchet MS"/>
              </a:rPr>
              <a:t>M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961894" y="2652776"/>
            <a:ext cx="3041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20" dirty="0">
                <a:latin typeface="Trebuchet MS"/>
                <a:cs typeface="Trebuchet MS"/>
              </a:rPr>
              <a:t>0.4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961894" y="3919220"/>
            <a:ext cx="3041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20" dirty="0">
                <a:latin typeface="Trebuchet MS"/>
                <a:cs typeface="Trebuchet MS"/>
              </a:rPr>
              <a:t>0.6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144522" y="3345179"/>
            <a:ext cx="23685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rebuchet MS"/>
                <a:cs typeface="Trebuchet MS"/>
              </a:rPr>
              <a:t>X:</a:t>
            </a:r>
            <a:endParaRPr sz="1800">
              <a:latin typeface="Trebuchet MS"/>
              <a:cs typeface="Trebuchet M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1DE33ECC-E8F8-427F-8992-F9079593FDA0}"/>
                  </a:ext>
                </a:extLst>
              </p:cNvPr>
              <p:cNvSpPr txBox="1"/>
              <p:nvPr/>
            </p:nvSpPr>
            <p:spPr>
              <a:xfrm>
                <a:off x="1655755" y="4923926"/>
                <a:ext cx="5532540" cy="2873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O" b="1" i="1" smtClean="0">
                          <a:latin typeface="Cambria Math" panose="02040503050406030204" pitchFamily="18" charset="0"/>
                        </a:rPr>
                        <m:t>𝒖</m:t>
                      </m:r>
                      <m:d>
                        <m:dPr>
                          <m:ctrlPr>
                            <a:rPr lang="es-CO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s-CO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CO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CO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s-CO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s-CO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  <m:sup>
                          <m:r>
                            <a:rPr lang="es-CO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s-CO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s-CO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sup>
                      </m:sSup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&gt;1    </m:t>
                      </m:r>
                      <m:r>
                        <a:rPr lang="es-CO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s-CO" b="1" i="1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s-CO" b="1" i="1" smtClean="0">
                          <a:latin typeface="Cambria Math" panose="02040503050406030204" pitchFamily="18" charset="0"/>
                        </a:rPr>
                        <m:t>𝒗</m:t>
                      </m:r>
                      <m:d>
                        <m:dPr>
                          <m:ctrlPr>
                            <a:rPr lang="es-CO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s-CO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O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s-CO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CO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s-CO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CO" b="1" i="1" smtClean="0">
                          <a:latin typeface="Cambria Math" panose="02040503050406030204" pitchFamily="18" charset="0"/>
                        </a:rPr>
                        <m:t>𝟒</m:t>
                      </m:r>
                      <m:sSup>
                        <m:sSupPr>
                          <m:ctrlPr>
                            <a:rPr lang="es-CO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CO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s-CO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s-CO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  <m:sup>
                          <m:r>
                            <a:rPr lang="es-CO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s-CO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s-CO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sup>
                      </m:sSup>
                    </m:oMath>
                  </m:oMathPara>
                </a14:m>
                <a:endParaRPr lang="es-CO" b="1" dirty="0"/>
              </a:p>
            </p:txBody>
          </p:sp>
        </mc:Choice>
        <mc:Fallback xmlns="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1DE33ECC-E8F8-427F-8992-F9079593FD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5755" y="4923926"/>
                <a:ext cx="5532540" cy="287323"/>
              </a:xfrm>
              <a:prstGeom prst="rect">
                <a:avLst/>
              </a:prstGeom>
              <a:blipFill>
                <a:blip r:embed="rId2"/>
                <a:stretch>
                  <a:fillRect l="-110" t="-6383" r="-110" b="-25532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8055" y="599694"/>
            <a:ext cx="8239125" cy="125920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258445" rIns="0" bIns="0" rtlCol="0">
            <a:spAutoFit/>
          </a:bodyPr>
          <a:lstStyle/>
          <a:p>
            <a:pPr marL="224154" marR="406400">
              <a:lnSpc>
                <a:spcPct val="100000"/>
              </a:lnSpc>
              <a:spcBef>
                <a:spcPts val="2035"/>
              </a:spcBef>
            </a:pPr>
            <a:r>
              <a:rPr spc="140" dirty="0"/>
              <a:t>FUNCIONES</a:t>
            </a:r>
            <a:r>
              <a:rPr spc="-80" dirty="0"/>
              <a:t> </a:t>
            </a:r>
            <a:r>
              <a:rPr spc="140" dirty="0"/>
              <a:t>DE</a:t>
            </a:r>
            <a:r>
              <a:rPr spc="-70" dirty="0"/>
              <a:t> </a:t>
            </a:r>
            <a:r>
              <a:rPr spc="105" dirty="0"/>
              <a:t>UTILIDAD</a:t>
            </a:r>
            <a:r>
              <a:rPr spc="-80" dirty="0"/>
              <a:t> </a:t>
            </a:r>
            <a:r>
              <a:rPr spc="60" dirty="0"/>
              <a:t>ESTRATÉGICAMENTE </a:t>
            </a:r>
            <a:r>
              <a:rPr spc="-825" dirty="0"/>
              <a:t> </a:t>
            </a:r>
            <a:r>
              <a:rPr spc="50" dirty="0"/>
              <a:t>EQUIVALENTES</a:t>
            </a: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DD22EE35-4459-4F43-9DF4-BD908DE404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057400"/>
            <a:ext cx="8077200" cy="745665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132B7D8C-9A1D-49E7-9415-D5E07E7480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155" y="3001566"/>
            <a:ext cx="8077200" cy="1507878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BB5DE121-E6C2-4353-96CD-2264176964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205" y="4800600"/>
            <a:ext cx="6501245" cy="990221"/>
          </a:xfrm>
          <a:prstGeom prst="rect">
            <a:avLst/>
          </a:prstGeom>
        </p:spPr>
      </p:pic>
      <p:sp>
        <p:nvSpPr>
          <p:cNvPr id="28" name="Rectángulo 27">
            <a:extLst>
              <a:ext uri="{FF2B5EF4-FFF2-40B4-BE49-F238E27FC236}">
                <a16:creationId xmlns:a16="http://schemas.microsoft.com/office/drawing/2014/main" id="{B54644E8-EA1E-4B34-AA66-0F4FD6840A67}"/>
              </a:ext>
            </a:extLst>
          </p:cNvPr>
          <p:cNvSpPr/>
          <p:nvPr/>
        </p:nvSpPr>
        <p:spPr>
          <a:xfrm>
            <a:off x="2514600" y="5295710"/>
            <a:ext cx="4514850" cy="495111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8055" y="599694"/>
            <a:ext cx="8239125" cy="125920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258445" rIns="0" bIns="0" rtlCol="0">
            <a:spAutoFit/>
          </a:bodyPr>
          <a:lstStyle/>
          <a:p>
            <a:pPr marL="224154" marR="406400">
              <a:lnSpc>
                <a:spcPct val="100000"/>
              </a:lnSpc>
              <a:spcBef>
                <a:spcPts val="2035"/>
              </a:spcBef>
            </a:pPr>
            <a:r>
              <a:rPr spc="140" dirty="0"/>
              <a:t>FUNCIONES</a:t>
            </a:r>
            <a:r>
              <a:rPr spc="-80" dirty="0"/>
              <a:t> </a:t>
            </a:r>
            <a:r>
              <a:rPr spc="140" dirty="0"/>
              <a:t>DE</a:t>
            </a:r>
            <a:r>
              <a:rPr spc="-70" dirty="0"/>
              <a:t> </a:t>
            </a:r>
            <a:r>
              <a:rPr spc="105" dirty="0"/>
              <a:t>UTILIDAD</a:t>
            </a:r>
            <a:r>
              <a:rPr spc="-80" dirty="0"/>
              <a:t> </a:t>
            </a:r>
            <a:r>
              <a:rPr spc="60" dirty="0"/>
              <a:t>ESTRATÉGICAMENTE </a:t>
            </a:r>
            <a:r>
              <a:rPr spc="-825" dirty="0"/>
              <a:t> </a:t>
            </a:r>
            <a:r>
              <a:rPr spc="50" dirty="0"/>
              <a:t>EQUIVALENTES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5527" y="1858899"/>
            <a:ext cx="8044180" cy="3455035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sz="2000" i="1" u="heavy" spc="-345" dirty="0">
                <a:solidFill>
                  <a:srgbClr val="3C3C3C"/>
                </a:solidFill>
                <a:uFill>
                  <a:solidFill>
                    <a:srgbClr val="3C3C3C"/>
                  </a:solidFill>
                </a:uFill>
                <a:latin typeface="Trebuchet MS"/>
                <a:cs typeface="Trebuchet MS"/>
              </a:rPr>
              <a:t>T</a:t>
            </a:r>
            <a:r>
              <a:rPr sz="2000" i="1" u="heavy" spc="-215" dirty="0">
                <a:solidFill>
                  <a:srgbClr val="3C3C3C"/>
                </a:solidFill>
                <a:uFill>
                  <a:solidFill>
                    <a:srgbClr val="3C3C3C"/>
                  </a:solidFill>
                </a:uFill>
                <a:latin typeface="Trebuchet MS"/>
                <a:cs typeface="Trebuchet MS"/>
              </a:rPr>
              <a:t>eo</a:t>
            </a:r>
            <a:r>
              <a:rPr sz="2000" i="1" u="heavy" spc="-185" dirty="0">
                <a:solidFill>
                  <a:srgbClr val="3C3C3C"/>
                </a:solidFill>
                <a:uFill>
                  <a:solidFill>
                    <a:srgbClr val="3C3C3C"/>
                  </a:solidFill>
                </a:uFill>
                <a:latin typeface="Trebuchet MS"/>
                <a:cs typeface="Trebuchet MS"/>
              </a:rPr>
              <a:t>r</a:t>
            </a:r>
            <a:r>
              <a:rPr sz="2000" i="1" u="heavy" spc="-195" dirty="0">
                <a:solidFill>
                  <a:srgbClr val="3C3C3C"/>
                </a:solidFill>
                <a:uFill>
                  <a:solidFill>
                    <a:srgbClr val="3C3C3C"/>
                  </a:solidFill>
                </a:uFill>
                <a:latin typeface="Trebuchet MS"/>
                <a:cs typeface="Trebuchet MS"/>
              </a:rPr>
              <a:t>em</a:t>
            </a:r>
            <a:r>
              <a:rPr sz="2000" i="1" u="heavy" spc="-114" dirty="0">
                <a:solidFill>
                  <a:srgbClr val="3C3C3C"/>
                </a:solidFill>
                <a:uFill>
                  <a:solidFill>
                    <a:srgbClr val="3C3C3C"/>
                  </a:solidFill>
                </a:uFill>
                <a:latin typeface="Trebuchet MS"/>
                <a:cs typeface="Trebuchet MS"/>
              </a:rPr>
              <a:t>a</a:t>
            </a:r>
            <a:r>
              <a:rPr sz="2000" i="1" u="heavy" spc="-50" dirty="0">
                <a:solidFill>
                  <a:srgbClr val="3C3C3C"/>
                </a:solidFill>
                <a:uFill>
                  <a:solidFill>
                    <a:srgbClr val="3C3C3C"/>
                  </a:solidFill>
                </a:uFill>
                <a:latin typeface="Trebuchet MS"/>
                <a:cs typeface="Trebuchet MS"/>
              </a:rPr>
              <a:t> </a:t>
            </a:r>
            <a:r>
              <a:rPr sz="2000" i="1" u="heavy" spc="-190" dirty="0">
                <a:solidFill>
                  <a:srgbClr val="3C3C3C"/>
                </a:solidFill>
                <a:uFill>
                  <a:solidFill>
                    <a:srgbClr val="3C3C3C"/>
                  </a:solidFill>
                </a:uFill>
                <a:latin typeface="Trebuchet MS"/>
                <a:cs typeface="Trebuchet MS"/>
              </a:rPr>
              <a:t>(P</a:t>
            </a:r>
            <a:r>
              <a:rPr sz="2000" i="1" u="heavy" spc="-225" dirty="0">
                <a:solidFill>
                  <a:srgbClr val="3C3C3C"/>
                </a:solidFill>
                <a:uFill>
                  <a:solidFill>
                    <a:srgbClr val="3C3C3C"/>
                  </a:solidFill>
                </a:uFill>
                <a:latin typeface="Trebuchet MS"/>
                <a:cs typeface="Trebuchet MS"/>
              </a:rPr>
              <a:t>r</a:t>
            </a:r>
            <a:r>
              <a:rPr sz="2000" i="1" u="heavy" spc="-180" dirty="0">
                <a:solidFill>
                  <a:srgbClr val="3C3C3C"/>
                </a:solidFill>
                <a:uFill>
                  <a:solidFill>
                    <a:srgbClr val="3C3C3C"/>
                  </a:solidFill>
                </a:uFill>
                <a:latin typeface="Trebuchet MS"/>
                <a:cs typeface="Trebuchet MS"/>
              </a:rPr>
              <a:t>opiedad</a:t>
            </a:r>
            <a:r>
              <a:rPr sz="2000" i="1" u="heavy" spc="-35" dirty="0">
                <a:solidFill>
                  <a:srgbClr val="3C3C3C"/>
                </a:solidFill>
                <a:uFill>
                  <a:solidFill>
                    <a:srgbClr val="3C3C3C"/>
                  </a:solidFill>
                </a:uFill>
                <a:latin typeface="Trebuchet MS"/>
                <a:cs typeface="Trebuchet MS"/>
              </a:rPr>
              <a:t> </a:t>
            </a:r>
            <a:r>
              <a:rPr sz="2000" i="1" u="heavy" spc="-155" dirty="0">
                <a:solidFill>
                  <a:srgbClr val="3C3C3C"/>
                </a:solidFill>
                <a:uFill>
                  <a:solidFill>
                    <a:srgbClr val="3C3C3C"/>
                  </a:solidFill>
                </a:uFill>
                <a:latin typeface="Trebuchet MS"/>
                <a:cs typeface="Trebuchet MS"/>
              </a:rPr>
              <a:t>Ca</a:t>
            </a:r>
            <a:r>
              <a:rPr sz="2000" i="1" u="heavy" spc="-160" dirty="0">
                <a:solidFill>
                  <a:srgbClr val="3C3C3C"/>
                </a:solidFill>
                <a:uFill>
                  <a:solidFill>
                    <a:srgbClr val="3C3C3C"/>
                  </a:solidFill>
                </a:uFill>
                <a:latin typeface="Trebuchet MS"/>
                <a:cs typeface="Trebuchet MS"/>
              </a:rPr>
              <a:t>r</a:t>
            </a:r>
            <a:r>
              <a:rPr sz="2000" i="1" u="heavy" spc="-204" dirty="0">
                <a:solidFill>
                  <a:srgbClr val="3C3C3C"/>
                </a:solidFill>
                <a:uFill>
                  <a:solidFill>
                    <a:srgbClr val="3C3C3C"/>
                  </a:solidFill>
                </a:uFill>
                <a:latin typeface="Trebuchet MS"/>
                <a:cs typeface="Trebuchet MS"/>
              </a:rPr>
              <a:t>acte</a:t>
            </a:r>
            <a:r>
              <a:rPr sz="2000" i="1" u="heavy" spc="-180" dirty="0">
                <a:solidFill>
                  <a:srgbClr val="3C3C3C"/>
                </a:solidFill>
                <a:uFill>
                  <a:solidFill>
                    <a:srgbClr val="3C3C3C"/>
                  </a:solidFill>
                </a:uFill>
                <a:latin typeface="Trebuchet MS"/>
                <a:cs typeface="Trebuchet MS"/>
              </a:rPr>
              <a:t>r</a:t>
            </a:r>
            <a:r>
              <a:rPr sz="2000" i="1" u="heavy" spc="-185" dirty="0">
                <a:solidFill>
                  <a:srgbClr val="3C3C3C"/>
                </a:solidFill>
                <a:uFill>
                  <a:solidFill>
                    <a:srgbClr val="3C3C3C"/>
                  </a:solidFill>
                </a:uFill>
                <a:latin typeface="Trebuchet MS"/>
                <a:cs typeface="Trebuchet MS"/>
              </a:rPr>
              <a:t>ística)</a:t>
            </a:r>
            <a:endParaRPr sz="2000" dirty="0">
              <a:latin typeface="Trebuchet MS"/>
              <a:cs typeface="Trebuchet MS"/>
            </a:endParaRPr>
          </a:p>
          <a:p>
            <a:pPr marL="12700" marR="5080">
              <a:lnSpc>
                <a:spcPct val="100000"/>
              </a:lnSpc>
              <a:spcBef>
                <a:spcPts val="1080"/>
              </a:spcBef>
            </a:pPr>
            <a:r>
              <a:rPr sz="2000" spc="85" dirty="0">
                <a:solidFill>
                  <a:srgbClr val="3C3C3C"/>
                </a:solidFill>
                <a:latin typeface="Trebuchet MS"/>
                <a:cs typeface="Trebuchet MS"/>
              </a:rPr>
              <a:t>Dos</a:t>
            </a:r>
            <a:r>
              <a:rPr sz="2000" spc="-3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-105" dirty="0">
                <a:solidFill>
                  <a:srgbClr val="3C3C3C"/>
                </a:solidFill>
                <a:latin typeface="Trebuchet MS"/>
                <a:cs typeface="Trebuchet MS"/>
              </a:rPr>
              <a:t>funciones</a:t>
            </a:r>
            <a:r>
              <a:rPr sz="2000" spc="-3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-114" dirty="0">
                <a:solidFill>
                  <a:srgbClr val="3C3C3C"/>
                </a:solidFill>
                <a:latin typeface="Trebuchet MS"/>
                <a:cs typeface="Trebuchet MS"/>
              </a:rPr>
              <a:t>de</a:t>
            </a:r>
            <a:r>
              <a:rPr sz="2000" spc="-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-135" dirty="0">
                <a:solidFill>
                  <a:srgbClr val="3C3C3C"/>
                </a:solidFill>
                <a:latin typeface="Trebuchet MS"/>
                <a:cs typeface="Trebuchet MS"/>
              </a:rPr>
              <a:t>utilidad</a:t>
            </a:r>
            <a:r>
              <a:rPr sz="2000" spc="-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-65" dirty="0">
                <a:solidFill>
                  <a:srgbClr val="3C3C3C"/>
                </a:solidFill>
                <a:latin typeface="Trebuchet MS"/>
                <a:cs typeface="Trebuchet MS"/>
              </a:rPr>
              <a:t>u(x</a:t>
            </a:r>
            <a:r>
              <a:rPr sz="2000" spc="-3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-90" dirty="0">
                <a:solidFill>
                  <a:srgbClr val="3C3C3C"/>
                </a:solidFill>
                <a:latin typeface="Trebuchet MS"/>
                <a:cs typeface="Trebuchet MS"/>
              </a:rPr>
              <a:t>)</a:t>
            </a:r>
            <a:r>
              <a:rPr sz="2000" spc="-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-114" dirty="0">
                <a:solidFill>
                  <a:srgbClr val="3C3C3C"/>
                </a:solidFill>
                <a:latin typeface="Trebuchet MS"/>
                <a:cs typeface="Trebuchet MS"/>
              </a:rPr>
              <a:t>y</a:t>
            </a:r>
            <a:r>
              <a:rPr sz="2000" spc="-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-75" dirty="0">
                <a:solidFill>
                  <a:srgbClr val="3C3C3C"/>
                </a:solidFill>
                <a:latin typeface="Trebuchet MS"/>
                <a:cs typeface="Trebuchet MS"/>
              </a:rPr>
              <a:t>v(x)</a:t>
            </a:r>
            <a:r>
              <a:rPr sz="2000" spc="-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-40" dirty="0">
                <a:solidFill>
                  <a:srgbClr val="3C3C3C"/>
                </a:solidFill>
                <a:latin typeface="Trebuchet MS"/>
                <a:cs typeface="Trebuchet MS"/>
              </a:rPr>
              <a:t>son</a:t>
            </a:r>
            <a:r>
              <a:rPr sz="2000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3C3C3C"/>
                </a:solidFill>
                <a:latin typeface="Trebuchet MS"/>
                <a:cs typeface="Trebuchet MS"/>
              </a:rPr>
              <a:t>estratégicamente</a:t>
            </a:r>
            <a:r>
              <a:rPr sz="2000" b="1" spc="-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b="1" spc="-50" dirty="0">
                <a:solidFill>
                  <a:srgbClr val="3C3C3C"/>
                </a:solidFill>
                <a:latin typeface="Trebuchet MS"/>
                <a:cs typeface="Trebuchet MS"/>
              </a:rPr>
              <a:t>equivalentes</a:t>
            </a:r>
            <a:r>
              <a:rPr sz="2000" spc="-50" dirty="0">
                <a:solidFill>
                  <a:srgbClr val="3C3C3C"/>
                </a:solidFill>
                <a:latin typeface="Trebuchet MS"/>
                <a:cs typeface="Trebuchet MS"/>
              </a:rPr>
              <a:t>, </a:t>
            </a:r>
            <a:r>
              <a:rPr sz="2000" spc="-59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-90" dirty="0">
                <a:solidFill>
                  <a:srgbClr val="3C3C3C"/>
                </a:solidFill>
                <a:latin typeface="Trebuchet MS"/>
                <a:cs typeface="Trebuchet MS"/>
              </a:rPr>
              <a:t>si</a:t>
            </a:r>
            <a:r>
              <a:rPr sz="2000"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-114" dirty="0">
                <a:solidFill>
                  <a:srgbClr val="3C3C3C"/>
                </a:solidFill>
                <a:latin typeface="Trebuchet MS"/>
                <a:cs typeface="Trebuchet MS"/>
              </a:rPr>
              <a:t>y</a:t>
            </a:r>
            <a:r>
              <a:rPr sz="2000" spc="-6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-35" dirty="0">
                <a:solidFill>
                  <a:srgbClr val="3C3C3C"/>
                </a:solidFill>
                <a:latin typeface="Trebuchet MS"/>
                <a:cs typeface="Trebuchet MS"/>
              </a:rPr>
              <a:t>solo</a:t>
            </a:r>
            <a:r>
              <a:rPr sz="2000"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-160" dirty="0">
                <a:solidFill>
                  <a:srgbClr val="3C3C3C"/>
                </a:solidFill>
                <a:latin typeface="Trebuchet MS"/>
                <a:cs typeface="Trebuchet MS"/>
              </a:rPr>
              <a:t>si,</a:t>
            </a:r>
            <a:endParaRPr sz="20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85"/>
              </a:spcBef>
            </a:pPr>
            <a:r>
              <a:rPr sz="2000" spc="-90" dirty="0">
                <a:solidFill>
                  <a:srgbClr val="0070C0"/>
                </a:solidFill>
                <a:latin typeface="Trebuchet MS"/>
                <a:cs typeface="Trebuchet MS"/>
              </a:rPr>
              <a:t>exi</a:t>
            </a:r>
            <a:r>
              <a:rPr sz="2000" spc="-100" dirty="0">
                <a:solidFill>
                  <a:srgbClr val="0070C0"/>
                </a:solidFill>
                <a:latin typeface="Trebuchet MS"/>
                <a:cs typeface="Trebuchet MS"/>
              </a:rPr>
              <a:t>sten</a:t>
            </a:r>
            <a:r>
              <a:rPr sz="2000" spc="-45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000" spc="-95" dirty="0">
                <a:solidFill>
                  <a:srgbClr val="0070C0"/>
                </a:solidFill>
                <a:latin typeface="Trebuchet MS"/>
                <a:cs typeface="Trebuchet MS"/>
              </a:rPr>
              <a:t>constan</a:t>
            </a:r>
            <a:r>
              <a:rPr sz="2000" spc="-105" dirty="0">
                <a:solidFill>
                  <a:srgbClr val="0070C0"/>
                </a:solidFill>
                <a:latin typeface="Trebuchet MS"/>
                <a:cs typeface="Trebuchet MS"/>
              </a:rPr>
              <a:t>tes</a:t>
            </a:r>
            <a:r>
              <a:rPr sz="2000" spc="-45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000" spc="-95" dirty="0">
                <a:solidFill>
                  <a:srgbClr val="0070C0"/>
                </a:solidFill>
                <a:latin typeface="Trebuchet MS"/>
                <a:cs typeface="Trebuchet MS"/>
              </a:rPr>
              <a:t>h</a:t>
            </a:r>
            <a:r>
              <a:rPr sz="2000" spc="-55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000" spc="-114" dirty="0">
                <a:solidFill>
                  <a:srgbClr val="0070C0"/>
                </a:solidFill>
                <a:latin typeface="Trebuchet MS"/>
                <a:cs typeface="Trebuchet MS"/>
              </a:rPr>
              <a:t>y</a:t>
            </a:r>
            <a:r>
              <a:rPr sz="2000" spc="-50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000" spc="-175" dirty="0">
                <a:solidFill>
                  <a:srgbClr val="0070C0"/>
                </a:solidFill>
                <a:latin typeface="Trebuchet MS"/>
                <a:cs typeface="Trebuchet MS"/>
              </a:rPr>
              <a:t>k,</a:t>
            </a:r>
            <a:r>
              <a:rPr sz="2000" spc="-254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000" spc="-55" dirty="0">
                <a:solidFill>
                  <a:srgbClr val="0070C0"/>
                </a:solidFill>
                <a:latin typeface="Trebuchet MS"/>
                <a:cs typeface="Trebuchet MS"/>
              </a:rPr>
              <a:t>k</a:t>
            </a:r>
            <a:r>
              <a:rPr sz="2000" spc="-50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0070C0"/>
                </a:solidFill>
                <a:latin typeface="Symbol"/>
                <a:cs typeface="Symbol"/>
              </a:rPr>
              <a:t></a:t>
            </a:r>
            <a:r>
              <a:rPr sz="2000" spc="50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sz="2000" spc="-50" dirty="0">
                <a:solidFill>
                  <a:srgbClr val="0070C0"/>
                </a:solidFill>
                <a:latin typeface="Trebuchet MS"/>
                <a:cs typeface="Trebuchet MS"/>
              </a:rPr>
              <a:t>0 </a:t>
            </a:r>
            <a:r>
              <a:rPr sz="2000" spc="-135" dirty="0">
                <a:solidFill>
                  <a:srgbClr val="0070C0"/>
                </a:solidFill>
                <a:latin typeface="Trebuchet MS"/>
                <a:cs typeface="Trebuchet MS"/>
              </a:rPr>
              <a:t>tales</a:t>
            </a:r>
            <a:r>
              <a:rPr sz="2000" spc="-50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000" spc="-114" dirty="0">
                <a:solidFill>
                  <a:srgbClr val="0070C0"/>
                </a:solidFill>
                <a:latin typeface="Trebuchet MS"/>
                <a:cs typeface="Trebuchet MS"/>
              </a:rPr>
              <a:t>que</a:t>
            </a:r>
            <a:r>
              <a:rPr sz="2000" spc="-300" dirty="0">
                <a:solidFill>
                  <a:srgbClr val="0070C0"/>
                </a:solidFill>
                <a:latin typeface="Trebuchet MS"/>
                <a:cs typeface="Trebuchet MS"/>
              </a:rPr>
              <a:t>:</a:t>
            </a:r>
            <a:r>
              <a:rPr sz="2000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000" spc="-300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000" b="1" spc="-70" dirty="0">
                <a:solidFill>
                  <a:srgbClr val="0070C0"/>
                </a:solidFill>
                <a:latin typeface="Trebuchet MS"/>
                <a:cs typeface="Trebuchet MS"/>
              </a:rPr>
              <a:t>v(x</a:t>
            </a:r>
            <a:r>
              <a:rPr sz="2000" b="1" spc="-90" dirty="0">
                <a:solidFill>
                  <a:srgbClr val="0070C0"/>
                </a:solidFill>
                <a:latin typeface="Trebuchet MS"/>
                <a:cs typeface="Trebuchet MS"/>
              </a:rPr>
              <a:t>)</a:t>
            </a:r>
            <a:r>
              <a:rPr sz="2000" b="1" spc="-60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000" b="1" spc="114" dirty="0">
                <a:solidFill>
                  <a:srgbClr val="0070C0"/>
                </a:solidFill>
                <a:latin typeface="Trebuchet MS"/>
                <a:cs typeface="Trebuchet MS"/>
              </a:rPr>
              <a:t>=</a:t>
            </a:r>
            <a:r>
              <a:rPr sz="2000" b="1" spc="-55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000" b="1" spc="-95" dirty="0">
                <a:solidFill>
                  <a:srgbClr val="0070C0"/>
                </a:solidFill>
                <a:latin typeface="Trebuchet MS"/>
                <a:cs typeface="Trebuchet MS"/>
              </a:rPr>
              <a:t>h</a:t>
            </a:r>
            <a:r>
              <a:rPr sz="2000" b="1" spc="-55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000" b="1" spc="114" dirty="0">
                <a:solidFill>
                  <a:srgbClr val="0070C0"/>
                </a:solidFill>
                <a:latin typeface="Trebuchet MS"/>
                <a:cs typeface="Trebuchet MS"/>
              </a:rPr>
              <a:t>+</a:t>
            </a:r>
            <a:r>
              <a:rPr sz="2000" b="1" spc="-55" dirty="0">
                <a:solidFill>
                  <a:srgbClr val="0070C0"/>
                </a:solidFill>
                <a:latin typeface="Trebuchet MS"/>
                <a:cs typeface="Trebuchet MS"/>
              </a:rPr>
              <a:t> k</a:t>
            </a:r>
            <a:r>
              <a:rPr sz="2000" b="1" spc="-50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000" b="1" spc="-70" dirty="0">
                <a:solidFill>
                  <a:srgbClr val="0070C0"/>
                </a:solidFill>
                <a:latin typeface="Trebuchet MS"/>
                <a:cs typeface="Trebuchet MS"/>
              </a:rPr>
              <a:t>u(x)</a:t>
            </a:r>
            <a:endParaRPr sz="2000" b="1" dirty="0">
              <a:solidFill>
                <a:srgbClr val="0070C0"/>
              </a:solidFill>
              <a:latin typeface="Trebuchet MS"/>
              <a:cs typeface="Trebuchet MS"/>
            </a:endParaRPr>
          </a:p>
          <a:p>
            <a:pPr marL="12700" marR="30480">
              <a:lnSpc>
                <a:spcPct val="100000"/>
              </a:lnSpc>
              <a:spcBef>
                <a:spcPts val="1075"/>
              </a:spcBef>
              <a:tabLst>
                <a:tab pos="410845" algn="l"/>
                <a:tab pos="1108075" algn="l"/>
                <a:tab pos="1435100" algn="l"/>
                <a:tab pos="1772285" algn="l"/>
                <a:tab pos="2695575" algn="l"/>
                <a:tab pos="3121025" algn="l"/>
                <a:tab pos="4039870" algn="l"/>
                <a:tab pos="4615815" algn="l"/>
                <a:tab pos="5009515" algn="l"/>
                <a:tab pos="5810250" algn="l"/>
                <a:tab pos="6884034" algn="l"/>
                <a:tab pos="7642225" algn="l"/>
              </a:tabLst>
            </a:pPr>
            <a:r>
              <a:rPr sz="2000" spc="-60" dirty="0">
                <a:latin typeface="Trebuchet MS"/>
                <a:cs typeface="Trebuchet MS"/>
              </a:rPr>
              <a:t>Es	</a:t>
            </a:r>
            <a:r>
              <a:rPr sz="2000" spc="-120" dirty="0">
                <a:latin typeface="Trebuchet MS"/>
                <a:cs typeface="Trebuchet MS"/>
              </a:rPr>
              <a:t>d</a:t>
            </a:r>
            <a:r>
              <a:rPr sz="2000" spc="-110" dirty="0">
                <a:latin typeface="Trebuchet MS"/>
                <a:cs typeface="Trebuchet MS"/>
              </a:rPr>
              <a:t>e</a:t>
            </a:r>
            <a:r>
              <a:rPr sz="2000" spc="-120" dirty="0">
                <a:latin typeface="Trebuchet MS"/>
                <a:cs typeface="Trebuchet MS"/>
              </a:rPr>
              <a:t>c</a:t>
            </a:r>
            <a:r>
              <a:rPr sz="2000" spc="-140" dirty="0">
                <a:latin typeface="Trebuchet MS"/>
                <a:cs typeface="Trebuchet MS"/>
              </a:rPr>
              <a:t>i</a:t>
            </a:r>
            <a:r>
              <a:rPr sz="2000" spc="-195" dirty="0">
                <a:latin typeface="Trebuchet MS"/>
                <a:cs typeface="Trebuchet MS"/>
              </a:rPr>
              <a:t>r</a:t>
            </a:r>
            <a:r>
              <a:rPr sz="2000" spc="-300" dirty="0">
                <a:latin typeface="Trebuchet MS"/>
                <a:cs typeface="Trebuchet MS"/>
              </a:rPr>
              <a:t>,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110" dirty="0">
                <a:latin typeface="Trebuchet MS"/>
                <a:cs typeface="Trebuchet MS"/>
              </a:rPr>
              <a:t>s</a:t>
            </a:r>
            <a:r>
              <a:rPr sz="2000" spc="-75" dirty="0">
                <a:latin typeface="Trebuchet MS"/>
                <a:cs typeface="Trebuchet MS"/>
              </a:rPr>
              <a:t>i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140" dirty="0">
                <a:latin typeface="Trebuchet MS"/>
                <a:cs typeface="Trebuchet MS"/>
              </a:rPr>
              <a:t>l</a:t>
            </a:r>
            <a:r>
              <a:rPr sz="2000" spc="-225" dirty="0">
                <a:latin typeface="Trebuchet MS"/>
                <a:cs typeface="Trebuchet MS"/>
              </a:rPr>
              <a:t>a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150" dirty="0">
                <a:latin typeface="Trebuchet MS"/>
                <a:cs typeface="Trebuchet MS"/>
              </a:rPr>
              <a:t>func</a:t>
            </a:r>
            <a:r>
              <a:rPr sz="2000" spc="-100" dirty="0">
                <a:latin typeface="Trebuchet MS"/>
                <a:cs typeface="Trebuchet MS"/>
              </a:rPr>
              <a:t>i</a:t>
            </a:r>
            <a:r>
              <a:rPr sz="2000" spc="-35" dirty="0">
                <a:latin typeface="Trebuchet MS"/>
                <a:cs typeface="Trebuchet MS"/>
              </a:rPr>
              <a:t>ón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114" dirty="0">
                <a:latin typeface="Trebuchet MS"/>
                <a:cs typeface="Trebuchet MS"/>
              </a:rPr>
              <a:t>de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130" dirty="0">
                <a:latin typeface="Trebuchet MS"/>
                <a:cs typeface="Trebuchet MS"/>
              </a:rPr>
              <a:t>utilidad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75" dirty="0">
                <a:latin typeface="Trebuchet MS"/>
                <a:cs typeface="Trebuchet MS"/>
              </a:rPr>
              <a:t>v(x)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80" dirty="0">
                <a:latin typeface="Trebuchet MS"/>
                <a:cs typeface="Trebuchet MS"/>
              </a:rPr>
              <a:t>s</a:t>
            </a:r>
            <a:r>
              <a:rPr sz="2000" spc="-105" dirty="0">
                <a:latin typeface="Trebuchet MS"/>
                <a:cs typeface="Trebuchet MS"/>
              </a:rPr>
              <a:t>e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114" dirty="0">
                <a:latin typeface="Trebuchet MS"/>
                <a:cs typeface="Trebuchet MS"/>
              </a:rPr>
              <a:t>puede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85" dirty="0">
                <a:latin typeface="Trebuchet MS"/>
                <a:cs typeface="Trebuchet MS"/>
              </a:rPr>
              <a:t>exp</a:t>
            </a:r>
            <a:r>
              <a:rPr sz="2000" spc="-35" dirty="0">
                <a:latin typeface="Trebuchet MS"/>
                <a:cs typeface="Trebuchet MS"/>
              </a:rPr>
              <a:t>r</a:t>
            </a:r>
            <a:r>
              <a:rPr sz="2000" spc="-105" dirty="0">
                <a:latin typeface="Trebuchet MS"/>
                <a:cs typeface="Trebuchet MS"/>
              </a:rPr>
              <a:t>e</a:t>
            </a:r>
            <a:r>
              <a:rPr sz="2000" spc="-70" dirty="0">
                <a:latin typeface="Trebuchet MS"/>
                <a:cs typeface="Trebuchet MS"/>
              </a:rPr>
              <a:t>s</a:t>
            </a:r>
            <a:r>
              <a:rPr sz="2000" spc="-95" dirty="0">
                <a:latin typeface="Trebuchet MS"/>
                <a:cs typeface="Trebuchet MS"/>
              </a:rPr>
              <a:t>ar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45" dirty="0">
                <a:latin typeface="Trebuchet MS"/>
                <a:cs typeface="Trebuchet MS"/>
              </a:rPr>
              <a:t>c</a:t>
            </a:r>
            <a:r>
              <a:rPr sz="2000" spc="-55" dirty="0">
                <a:latin typeface="Trebuchet MS"/>
                <a:cs typeface="Trebuchet MS"/>
              </a:rPr>
              <a:t>o</a:t>
            </a:r>
            <a:r>
              <a:rPr sz="2000" spc="-50" dirty="0">
                <a:latin typeface="Trebuchet MS"/>
                <a:cs typeface="Trebuchet MS"/>
              </a:rPr>
              <a:t>mo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110" dirty="0">
                <a:latin typeface="Trebuchet MS"/>
                <a:cs typeface="Trebuchet MS"/>
              </a:rPr>
              <a:t>una  </a:t>
            </a:r>
            <a:r>
              <a:rPr sz="2000" spc="-100" dirty="0">
                <a:latin typeface="Trebuchet MS"/>
                <a:cs typeface="Trebuchet MS"/>
              </a:rPr>
              <a:t>combinación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150" dirty="0">
                <a:latin typeface="Trebuchet MS"/>
                <a:cs typeface="Trebuchet MS"/>
              </a:rPr>
              <a:t>lineal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de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180" dirty="0">
                <a:latin typeface="Trebuchet MS"/>
                <a:cs typeface="Trebuchet MS"/>
              </a:rPr>
              <a:t>la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105" dirty="0">
                <a:latin typeface="Trebuchet MS"/>
                <a:cs typeface="Trebuchet MS"/>
              </a:rPr>
              <a:t>función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de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130" dirty="0">
                <a:latin typeface="Trebuchet MS"/>
                <a:cs typeface="Trebuchet MS"/>
              </a:rPr>
              <a:t>utilidad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u(x).</a:t>
            </a:r>
            <a:endParaRPr sz="2000" dirty="0">
              <a:latin typeface="Trebuchet MS"/>
              <a:cs typeface="Trebuchet MS"/>
            </a:endParaRPr>
          </a:p>
          <a:p>
            <a:pPr marL="12700" marR="31115" algn="just">
              <a:lnSpc>
                <a:spcPct val="100000"/>
              </a:lnSpc>
              <a:spcBef>
                <a:spcPts val="1080"/>
              </a:spcBef>
            </a:pPr>
            <a:r>
              <a:rPr sz="2000" spc="-90" dirty="0">
                <a:latin typeface="Trebuchet MS"/>
                <a:cs typeface="Trebuchet MS"/>
              </a:rPr>
              <a:t>Funciones</a:t>
            </a:r>
            <a:r>
              <a:rPr sz="2000" spc="-85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de</a:t>
            </a:r>
            <a:r>
              <a:rPr sz="2000" spc="-110" dirty="0">
                <a:latin typeface="Trebuchet MS"/>
                <a:cs typeface="Trebuchet MS"/>
              </a:rPr>
              <a:t> </a:t>
            </a:r>
            <a:r>
              <a:rPr sz="2000" spc="-130" dirty="0">
                <a:latin typeface="Trebuchet MS"/>
                <a:cs typeface="Trebuchet MS"/>
              </a:rPr>
              <a:t>utilidad</a:t>
            </a:r>
            <a:r>
              <a:rPr sz="2000" spc="-125" dirty="0">
                <a:latin typeface="Trebuchet MS"/>
                <a:cs typeface="Trebuchet MS"/>
              </a:rPr>
              <a:t> </a:t>
            </a:r>
            <a:r>
              <a:rPr sz="2000" u="heavy" spc="-12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estratégicamente</a:t>
            </a:r>
            <a:r>
              <a:rPr sz="2000" u="heavy" spc="-12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000" u="heavy" spc="-12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equivalentes</a:t>
            </a:r>
            <a:r>
              <a:rPr sz="2000" spc="-120" dirty="0">
                <a:latin typeface="Trebuchet MS"/>
                <a:cs typeface="Trebuchet MS"/>
              </a:rPr>
              <a:t> tienen</a:t>
            </a:r>
            <a:r>
              <a:rPr sz="2000" spc="-114" dirty="0">
                <a:latin typeface="Trebuchet MS"/>
                <a:cs typeface="Trebuchet MS"/>
              </a:rPr>
              <a:t> </a:t>
            </a:r>
            <a:r>
              <a:rPr sz="2000" spc="-140" dirty="0">
                <a:latin typeface="Trebuchet MS"/>
                <a:cs typeface="Trebuchet MS"/>
              </a:rPr>
              <a:t>las</a:t>
            </a:r>
            <a:r>
              <a:rPr sz="2000" spc="-135" dirty="0">
                <a:latin typeface="Trebuchet MS"/>
                <a:cs typeface="Trebuchet MS"/>
              </a:rPr>
              <a:t> </a:t>
            </a:r>
            <a:r>
              <a:rPr sz="2000" spc="-110" dirty="0">
                <a:latin typeface="Trebuchet MS"/>
                <a:cs typeface="Trebuchet MS"/>
              </a:rPr>
              <a:t>mismas </a:t>
            </a:r>
            <a:r>
              <a:rPr sz="2000" spc="-105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implicaciones </a:t>
            </a:r>
            <a:r>
              <a:rPr sz="2000" spc="-125" dirty="0">
                <a:latin typeface="Trebuchet MS"/>
                <a:cs typeface="Trebuchet MS"/>
              </a:rPr>
              <a:t>para </a:t>
            </a:r>
            <a:r>
              <a:rPr sz="2000" spc="-175" dirty="0">
                <a:latin typeface="Trebuchet MS"/>
                <a:cs typeface="Trebuchet MS"/>
              </a:rPr>
              <a:t>la </a:t>
            </a:r>
            <a:r>
              <a:rPr sz="2000" spc="-135" dirty="0">
                <a:latin typeface="Trebuchet MS"/>
                <a:cs typeface="Trebuchet MS"/>
              </a:rPr>
              <a:t>acción, </a:t>
            </a:r>
            <a:r>
              <a:rPr sz="2000" spc="-85" dirty="0">
                <a:latin typeface="Trebuchet MS"/>
                <a:cs typeface="Trebuchet MS"/>
              </a:rPr>
              <a:t>es </a:t>
            </a:r>
            <a:r>
              <a:rPr sz="2000" spc="-160" dirty="0">
                <a:latin typeface="Trebuchet MS"/>
                <a:cs typeface="Trebuchet MS"/>
              </a:rPr>
              <a:t>decir, </a:t>
            </a:r>
            <a:r>
              <a:rPr sz="2000" spc="-180" dirty="0">
                <a:latin typeface="Trebuchet MS"/>
                <a:cs typeface="Trebuchet MS"/>
              </a:rPr>
              <a:t>la </a:t>
            </a:r>
            <a:r>
              <a:rPr sz="2000" spc="-95" dirty="0">
                <a:latin typeface="Trebuchet MS"/>
                <a:cs typeface="Trebuchet MS"/>
              </a:rPr>
              <a:t>valoración (ordenamiento) </a:t>
            </a:r>
            <a:r>
              <a:rPr sz="2000" spc="-114" dirty="0">
                <a:latin typeface="Trebuchet MS"/>
                <a:cs typeface="Trebuchet MS"/>
              </a:rPr>
              <a:t>de </a:t>
            </a:r>
            <a:r>
              <a:rPr sz="2000" spc="-100" dirty="0">
                <a:latin typeface="Trebuchet MS"/>
                <a:cs typeface="Trebuchet MS"/>
              </a:rPr>
              <a:t>loterías </a:t>
            </a:r>
            <a:r>
              <a:rPr sz="2000" spc="-95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es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spc="-105" dirty="0">
                <a:latin typeface="Trebuchet MS"/>
                <a:cs typeface="Trebuchet MS"/>
              </a:rPr>
              <a:t>idéntico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spc="-125" dirty="0">
                <a:latin typeface="Trebuchet MS"/>
                <a:cs typeface="Trebuchet MS"/>
              </a:rPr>
              <a:t>para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135" dirty="0">
                <a:latin typeface="Trebuchet MS"/>
                <a:cs typeface="Trebuchet MS"/>
              </a:rPr>
              <a:t>las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40" dirty="0">
                <a:latin typeface="Trebuchet MS"/>
                <a:cs typeface="Trebuchet MS"/>
              </a:rPr>
              <a:t>dos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spc="-105" dirty="0">
                <a:latin typeface="Trebuchet MS"/>
                <a:cs typeface="Trebuchet MS"/>
              </a:rPr>
              <a:t>funciones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de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150" dirty="0">
                <a:latin typeface="Trebuchet MS"/>
                <a:cs typeface="Trebuchet MS"/>
              </a:rPr>
              <a:t>utilidad.</a:t>
            </a:r>
            <a:endParaRPr sz="2000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1763" y="6053328"/>
            <a:ext cx="658685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95" dirty="0">
                <a:latin typeface="Trebuchet MS"/>
                <a:cs typeface="Trebuchet MS"/>
              </a:rPr>
              <a:t>La</a:t>
            </a:r>
            <a:r>
              <a:rPr sz="1600" spc="-30" dirty="0">
                <a:latin typeface="Trebuchet MS"/>
                <a:cs typeface="Trebuchet MS"/>
              </a:rPr>
              <a:t> </a:t>
            </a:r>
            <a:r>
              <a:rPr sz="1600" spc="-65" dirty="0">
                <a:latin typeface="Trebuchet MS"/>
                <a:cs typeface="Trebuchet MS"/>
              </a:rPr>
              <a:t>demostración</a:t>
            </a:r>
            <a:r>
              <a:rPr sz="1600" spc="-35" dirty="0">
                <a:latin typeface="Trebuchet MS"/>
                <a:cs typeface="Trebuchet MS"/>
              </a:rPr>
              <a:t> </a:t>
            </a:r>
            <a:r>
              <a:rPr sz="1600" spc="-95" dirty="0">
                <a:latin typeface="Trebuchet MS"/>
                <a:cs typeface="Trebuchet MS"/>
              </a:rPr>
              <a:t>de</a:t>
            </a:r>
            <a:r>
              <a:rPr sz="1600" spc="-35" dirty="0">
                <a:latin typeface="Trebuchet MS"/>
                <a:cs typeface="Trebuchet MS"/>
              </a:rPr>
              <a:t> </a:t>
            </a:r>
            <a:r>
              <a:rPr sz="1600" spc="-90" dirty="0">
                <a:latin typeface="Trebuchet MS"/>
                <a:cs typeface="Trebuchet MS"/>
              </a:rPr>
              <a:t>este</a:t>
            </a:r>
            <a:r>
              <a:rPr sz="1600" spc="-45" dirty="0">
                <a:latin typeface="Trebuchet MS"/>
                <a:cs typeface="Trebuchet MS"/>
              </a:rPr>
              <a:t> </a:t>
            </a:r>
            <a:r>
              <a:rPr sz="1600" spc="-80" dirty="0">
                <a:latin typeface="Trebuchet MS"/>
                <a:cs typeface="Trebuchet MS"/>
              </a:rPr>
              <a:t>teorema</a:t>
            </a:r>
            <a:r>
              <a:rPr sz="1600" spc="-30" dirty="0">
                <a:latin typeface="Trebuchet MS"/>
                <a:cs typeface="Trebuchet MS"/>
              </a:rPr>
              <a:t> </a:t>
            </a:r>
            <a:r>
              <a:rPr sz="1600" spc="-100" dirty="0">
                <a:latin typeface="Trebuchet MS"/>
                <a:cs typeface="Trebuchet MS"/>
              </a:rPr>
              <a:t>está</a:t>
            </a:r>
            <a:r>
              <a:rPr sz="1600" spc="-35" dirty="0">
                <a:latin typeface="Trebuchet MS"/>
                <a:cs typeface="Trebuchet MS"/>
              </a:rPr>
              <a:t> </a:t>
            </a:r>
            <a:r>
              <a:rPr sz="1600" spc="-90" dirty="0">
                <a:latin typeface="Trebuchet MS"/>
                <a:cs typeface="Trebuchet MS"/>
              </a:rPr>
              <a:t>en</a:t>
            </a:r>
            <a:r>
              <a:rPr sz="1600" spc="-30" dirty="0">
                <a:latin typeface="Trebuchet MS"/>
                <a:cs typeface="Trebuchet MS"/>
              </a:rPr>
              <a:t> </a:t>
            </a:r>
            <a:r>
              <a:rPr sz="1600" spc="-114" dirty="0">
                <a:latin typeface="Trebuchet MS"/>
                <a:cs typeface="Trebuchet MS"/>
              </a:rPr>
              <a:t>el</a:t>
            </a:r>
            <a:r>
              <a:rPr sz="1600" spc="-45" dirty="0">
                <a:latin typeface="Trebuchet MS"/>
                <a:cs typeface="Trebuchet MS"/>
              </a:rPr>
              <a:t> </a:t>
            </a:r>
            <a:r>
              <a:rPr sz="1600" spc="-60" dirty="0">
                <a:latin typeface="Trebuchet MS"/>
                <a:cs typeface="Trebuchet MS"/>
              </a:rPr>
              <a:t>texto</a:t>
            </a:r>
            <a:r>
              <a:rPr sz="1600" spc="-20" dirty="0">
                <a:latin typeface="Trebuchet MS"/>
                <a:cs typeface="Trebuchet MS"/>
              </a:rPr>
              <a:t> </a:t>
            </a:r>
            <a:r>
              <a:rPr sz="1600" spc="-114" dirty="0">
                <a:latin typeface="Trebuchet MS"/>
                <a:cs typeface="Trebuchet MS"/>
              </a:rPr>
              <a:t>guía</a:t>
            </a:r>
            <a:r>
              <a:rPr sz="1600" spc="-25" dirty="0">
                <a:latin typeface="Trebuchet MS"/>
                <a:cs typeface="Trebuchet MS"/>
              </a:rPr>
              <a:t> </a:t>
            </a:r>
            <a:r>
              <a:rPr sz="1600" spc="-105" dirty="0">
                <a:latin typeface="Trebuchet MS"/>
                <a:cs typeface="Trebuchet MS"/>
              </a:rPr>
              <a:t>del</a:t>
            </a:r>
            <a:r>
              <a:rPr sz="1600" spc="-50" dirty="0">
                <a:latin typeface="Trebuchet MS"/>
                <a:cs typeface="Trebuchet MS"/>
              </a:rPr>
              <a:t> </a:t>
            </a:r>
            <a:r>
              <a:rPr sz="1600" spc="-75" dirty="0">
                <a:latin typeface="Trebuchet MS"/>
                <a:cs typeface="Trebuchet MS"/>
              </a:rPr>
              <a:t>curso,</a:t>
            </a:r>
            <a:r>
              <a:rPr sz="1600" spc="-190" dirty="0">
                <a:latin typeface="Trebuchet MS"/>
                <a:cs typeface="Trebuchet MS"/>
              </a:rPr>
              <a:t> </a:t>
            </a:r>
            <a:r>
              <a:rPr sz="1600" spc="-130" dirty="0">
                <a:latin typeface="Trebuchet MS"/>
                <a:cs typeface="Trebuchet MS"/>
              </a:rPr>
              <a:t>págs.</a:t>
            </a:r>
            <a:r>
              <a:rPr sz="1600" spc="-195" dirty="0">
                <a:latin typeface="Trebuchet MS"/>
                <a:cs typeface="Trebuchet MS"/>
              </a:rPr>
              <a:t> </a:t>
            </a:r>
            <a:r>
              <a:rPr sz="1600" spc="-70" dirty="0">
                <a:latin typeface="Trebuchet MS"/>
                <a:cs typeface="Trebuchet MS"/>
              </a:rPr>
              <a:t>309-311.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10193" y="6053328"/>
            <a:ext cx="825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4590B8"/>
                </a:solidFill>
                <a:latin typeface="Trebuchet MS"/>
                <a:cs typeface="Trebuchet MS"/>
              </a:rPr>
              <a:t>7</a:t>
            </a:r>
            <a:endParaRPr sz="90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0D396FF3-A744-4CB9-8A35-A0FE3695E61E}"/>
              </a:ext>
            </a:extLst>
          </p:cNvPr>
          <p:cNvSpPr/>
          <p:nvPr/>
        </p:nvSpPr>
        <p:spPr>
          <a:xfrm>
            <a:off x="2895600" y="5257800"/>
            <a:ext cx="2362200" cy="48351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A8129A7-FBB0-415C-ACE7-AD82D524C09E}"/>
              </a:ext>
            </a:extLst>
          </p:cNvPr>
          <p:cNvSpPr/>
          <p:nvPr/>
        </p:nvSpPr>
        <p:spPr>
          <a:xfrm>
            <a:off x="1676400" y="5257800"/>
            <a:ext cx="1066800" cy="48351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8E42735-0B6C-4C5D-854C-91EBE8656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837" y="483513"/>
            <a:ext cx="8239125" cy="430887"/>
          </a:xfrm>
        </p:spPr>
        <p:txBody>
          <a:bodyPr/>
          <a:lstStyle/>
          <a:p>
            <a:r>
              <a:rPr lang="es-CO" dirty="0">
                <a:solidFill>
                  <a:schemeClr val="tx1"/>
                </a:solidFill>
              </a:rPr>
              <a:t>Comprobación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0D6F095B-6CB3-45B3-93B3-A617B19952DC}"/>
                  </a:ext>
                </a:extLst>
              </p:cNvPr>
              <p:cNvSpPr txBox="1"/>
              <p:nvPr/>
            </p:nvSpPr>
            <p:spPr>
              <a:xfrm>
                <a:off x="448055" y="914400"/>
                <a:ext cx="8695945" cy="573015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CO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s-CO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CO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CO" b="0" i="1" smtClean="0">
                        <a:latin typeface="Cambria Math" panose="02040503050406030204" pitchFamily="18" charset="0"/>
                      </a:rPr>
                      <m:t>𝑝𝑢</m:t>
                    </m:r>
                    <m:d>
                      <m:dPr>
                        <m:ctrlPr>
                          <a:rPr lang="es-CO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s-CO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CO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</m:d>
                    <m:r>
                      <a:rPr lang="es-CO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s-CO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s-CO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s-CO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bar>
                          <m:barPr>
                            <m:pos m:val="bot"/>
                            <m:ctrlPr>
                              <a:rPr lang="es-CO" b="0" i="1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s-CO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bar>
                      </m:e>
                    </m:d>
                  </m:oMath>
                </a14:m>
                <a:r>
                  <a:rPr lang="es-CO" dirty="0"/>
                  <a:t>			(1)</a:t>
                </a:r>
              </a:p>
              <a:p>
                <a14:m>
                  <m:oMath xmlns:m="http://schemas.openxmlformats.org/officeDocument/2006/math">
                    <m:r>
                      <a:rPr lang="es-CO" b="0" i="1" smtClean="0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es-CO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CO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CO" b="0" i="1" smtClean="0">
                        <a:latin typeface="Cambria Math" panose="02040503050406030204" pitchFamily="18" charset="0"/>
                      </a:rPr>
                      <m:t>𝑝𝑣</m:t>
                    </m:r>
                    <m:d>
                      <m:dPr>
                        <m:ctrlPr>
                          <a:rPr lang="es-CO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s-CO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CO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</m:d>
                    <m:r>
                      <a:rPr lang="es-CO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s-CO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s-CO" b="0" i="1" smtClean="0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es-CO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bar>
                          <m:barPr>
                            <m:pos m:val="bot"/>
                            <m:ctrlPr>
                              <a:rPr lang="es-CO" b="0" i="1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s-CO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bar>
                      </m:e>
                    </m:d>
                  </m:oMath>
                </a14:m>
                <a:r>
                  <a:rPr lang="es-CO" dirty="0"/>
                  <a:t>			(2)</a:t>
                </a:r>
              </a:p>
              <a:p>
                <a:r>
                  <a:rPr lang="es-CO" dirty="0"/>
                  <a:t>De (1):</a:t>
                </a:r>
              </a:p>
              <a:p>
                <a14:m>
                  <m:oMath xmlns:m="http://schemas.openxmlformats.org/officeDocument/2006/math">
                    <m:r>
                      <a:rPr lang="es-CO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s-CO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CO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CO" b="0" i="1" smtClean="0">
                        <a:latin typeface="Cambria Math" panose="02040503050406030204" pitchFamily="18" charset="0"/>
                      </a:rPr>
                      <m:t>𝑝𝑢</m:t>
                    </m:r>
                    <m:d>
                      <m:dPr>
                        <m:ctrlPr>
                          <a:rPr lang="es-CO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s-CO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CO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</m:d>
                    <m:r>
                      <a:rPr lang="es-CO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s-CO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s-CO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bar>
                          <m:barPr>
                            <m:pos m:val="bot"/>
                            <m:ctrlPr>
                              <a:rPr lang="es-CO" b="0" i="1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s-CO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bar>
                      </m:e>
                    </m:d>
                    <m:r>
                      <a:rPr lang="es-CO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CO" b="0" i="1" smtClean="0">
                        <a:latin typeface="Cambria Math" panose="02040503050406030204" pitchFamily="18" charset="0"/>
                      </a:rPr>
                      <m:t>𝑝𝑢</m:t>
                    </m:r>
                    <m:d>
                      <m:dPr>
                        <m:ctrlPr>
                          <a:rPr lang="es-CO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bar>
                          <m:barPr>
                            <m:pos m:val="bot"/>
                            <m:ctrlPr>
                              <a:rPr lang="es-CO" b="0" i="1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s-CO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bar>
                      </m:e>
                    </m:d>
                  </m:oMath>
                </a14:m>
                <a:r>
                  <a:rPr lang="es-CO" dirty="0"/>
                  <a:t>			(3)</a:t>
                </a:r>
              </a:p>
              <a:p>
                <a14:m>
                  <m:oMath xmlns:m="http://schemas.openxmlformats.org/officeDocument/2006/math">
                    <m:r>
                      <a:rPr lang="es-CO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s-CO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CO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CO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s-CO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bar>
                          <m:barPr>
                            <m:pos m:val="bot"/>
                            <m:ctrlPr>
                              <a:rPr lang="es-CO" b="0" i="1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s-CO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bar>
                      </m:e>
                    </m:d>
                    <m:r>
                      <a:rPr lang="es-CO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CO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s-CO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s-CO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s-CO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s-CO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CO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</m:d>
                    <m:r>
                      <a:rPr lang="es-CO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CO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s-CO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bar>
                          <m:barPr>
                            <m:pos m:val="bot"/>
                            <m:ctrlPr>
                              <a:rPr lang="es-CO" b="0" i="1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s-CO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bar>
                      </m:e>
                    </m:d>
                    <m:r>
                      <a:rPr lang="es-CO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s-CO" dirty="0"/>
                  <a:t>			(4)</a:t>
                </a:r>
              </a:p>
              <a:p>
                <a:endParaRPr lang="es-CO" dirty="0"/>
              </a:p>
              <a:p>
                <a:r>
                  <a:rPr lang="es-CO" dirty="0"/>
                  <a:t>Despejamos p:</a:t>
                </a:r>
              </a:p>
              <a:p>
                <a14:m>
                  <m:oMath xmlns:m="http://schemas.openxmlformats.org/officeDocument/2006/math">
                    <m:r>
                      <a:rPr lang="es-CO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s-CO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CO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d>
                          <m:dPr>
                            <m:ctrlPr>
                              <a:rPr lang="es-CO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CO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d>
                          <m:dPr>
                            <m:ctrlPr>
                              <a:rPr lang="es-CO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bar>
                              <m:barPr>
                                <m:pos m:val="bot"/>
                                <m:ctrlPr>
                                  <a:rPr lang="es-CO" b="0" i="1" smtClean="0"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s-CO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bar>
                          </m:e>
                        </m:d>
                      </m:num>
                      <m:den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d>
                          <m:dPr>
                            <m:ctrlPr>
                              <a:rPr lang="es-CO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es-CO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CO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</m:d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d>
                          <m:dPr>
                            <m:ctrlPr>
                              <a:rPr lang="es-CO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bar>
                              <m:barPr>
                                <m:pos m:val="bot"/>
                                <m:ctrlPr>
                                  <a:rPr lang="es-CO" b="0" i="1" smtClean="0"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s-CO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bar>
                          </m:e>
                        </m:d>
                      </m:den>
                    </m:f>
                  </m:oMath>
                </a14:m>
                <a:r>
                  <a:rPr lang="es-CO" dirty="0"/>
                  <a:t>					(5)</a:t>
                </a:r>
              </a:p>
              <a:p>
                <a:r>
                  <a:rPr lang="es-CO" dirty="0"/>
                  <a:t>Se sustituye (5) en (2) y quitamos paréntesis:</a:t>
                </a:r>
              </a:p>
              <a:p>
                <a14:m>
                  <m:oMath xmlns:m="http://schemas.openxmlformats.org/officeDocument/2006/math">
                    <m:r>
                      <a:rPr lang="es-CO" b="0" i="1" smtClean="0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es-CO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CO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CO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d>
                          <m:dPr>
                            <m:ctrlPr>
                              <a:rPr lang="es-CO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CO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d>
                          <m:dPr>
                            <m:ctrlPr>
                              <a:rPr lang="es-CO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bar>
                              <m:barPr>
                                <m:pos m:val="bot"/>
                                <m:ctrlPr>
                                  <a:rPr lang="es-CO" b="0" i="1" smtClean="0"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s-CO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bar>
                          </m:e>
                        </m:d>
                      </m:num>
                      <m:den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d>
                          <m:dPr>
                            <m:ctrlPr>
                              <a:rPr lang="es-CO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es-CO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CO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</m:d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d>
                          <m:dPr>
                            <m:ctrlPr>
                              <a:rPr lang="es-CO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bar>
                              <m:barPr>
                                <m:pos m:val="bot"/>
                                <m:ctrlPr>
                                  <a:rPr lang="es-CO" b="0" i="1" smtClean="0"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s-CO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bar>
                          </m:e>
                        </m:d>
                      </m:den>
                    </m:f>
                    <m:r>
                      <a:rPr lang="es-CO" b="0" i="1" smtClean="0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es-CO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s-CO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CO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</m:d>
                    <m:r>
                      <a:rPr lang="es-CO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s-CO" b="0" i="1" smtClean="0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es-CO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bar>
                          <m:barPr>
                            <m:pos m:val="bot"/>
                            <m:ctrlPr>
                              <a:rPr lang="es-CO" b="0" i="1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s-CO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bar>
                      </m:e>
                    </m:d>
                    <m:r>
                      <a:rPr lang="es-CO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s-CO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d>
                          <m:dPr>
                            <m:ctrlPr>
                              <a:rPr lang="es-CO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CO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d>
                          <m:dPr>
                            <m:ctrlPr>
                              <a:rPr lang="es-CO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bar>
                              <m:barPr>
                                <m:pos m:val="bot"/>
                                <m:ctrlPr>
                                  <a:rPr lang="es-CO" b="0" i="1" smtClean="0"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s-CO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bar>
                          </m:e>
                        </m:d>
                      </m:num>
                      <m:den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d>
                          <m:dPr>
                            <m:ctrlPr>
                              <a:rPr lang="es-CO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es-CO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CO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</m:d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d>
                          <m:dPr>
                            <m:ctrlPr>
                              <a:rPr lang="es-CO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bar>
                              <m:barPr>
                                <m:pos m:val="bot"/>
                                <m:ctrlPr>
                                  <a:rPr lang="es-CO" b="0" i="1" smtClean="0"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s-CO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bar>
                          </m:e>
                        </m:d>
                      </m:den>
                    </m:f>
                    <m:r>
                      <a:rPr lang="es-CO" b="0" i="1" smtClean="0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es-CO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bar>
                          <m:barPr>
                            <m:pos m:val="bot"/>
                            <m:ctrlPr>
                              <a:rPr lang="es-CO" b="0" i="1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s-CO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bar>
                      </m:e>
                    </m:d>
                  </m:oMath>
                </a14:m>
                <a:r>
                  <a:rPr lang="es-CO" dirty="0"/>
                  <a:t>      	(6)</a:t>
                </a:r>
              </a:p>
              <a:p>
                <a:endParaRPr lang="es-CO" sz="1400" dirty="0"/>
              </a:p>
              <a:p>
                <a14:m>
                  <m:oMath xmlns:m="http://schemas.openxmlformats.org/officeDocument/2006/math">
                    <m:r>
                      <a:rPr lang="es-CO" b="0" i="1" smtClean="0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es-CO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CO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CO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d>
                          <m:dPr>
                            <m:ctrlPr>
                              <a:rPr lang="es-CO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CO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d>
                          <m:dPr>
                            <m:ctrlPr>
                              <a:rPr lang="es-CO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es-CO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CO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</m:d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d>
                          <m:dPr>
                            <m:ctrlPr>
                              <a:rPr lang="es-CO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bar>
                              <m:barPr>
                                <m:pos m:val="bot"/>
                                <m:ctrlPr>
                                  <a:rPr lang="es-CO" b="0" i="1" smtClean="0"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s-CO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bar>
                          </m:e>
                        </m:d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d>
                          <m:dPr>
                            <m:ctrlPr>
                              <a:rPr lang="es-CO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es-CO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CO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</m:d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d>
                          <m:dPr>
                            <m:ctrlPr>
                              <a:rPr lang="es-CO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CO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d>
                          <m:dPr>
                            <m:ctrlPr>
                              <a:rPr lang="es-CO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bar>
                              <m:barPr>
                                <m:pos m:val="bot"/>
                                <m:ctrlPr>
                                  <a:rPr lang="es-CO" b="0" i="1" smtClean="0"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s-CO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bar>
                          </m:e>
                        </m:d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d>
                          <m:dPr>
                            <m:ctrlPr>
                              <a:rPr lang="es-CO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bar>
                              <m:barPr>
                                <m:pos m:val="bot"/>
                                <m:ctrlPr>
                                  <a:rPr lang="es-CO" b="0" i="1" smtClean="0"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s-CO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bar>
                          </m:e>
                        </m:d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d>
                          <m:dPr>
                            <m:ctrlPr>
                              <a:rPr lang="es-CO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bar>
                              <m:barPr>
                                <m:pos m:val="bot"/>
                                <m:ctrlPr>
                                  <a:rPr lang="es-CO" b="0" i="1" smtClean="0"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s-CO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bar>
                          </m:e>
                        </m:d>
                      </m:num>
                      <m:den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d>
                          <m:dPr>
                            <m:ctrlPr>
                              <a:rPr lang="es-CO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es-CO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CO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</m:d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d>
                          <m:dPr>
                            <m:ctrlPr>
                              <a:rPr lang="es-CO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bar>
                              <m:barPr>
                                <m:pos m:val="bot"/>
                                <m:ctrlPr>
                                  <a:rPr lang="es-CO" b="0" i="1" smtClean="0"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s-CO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bar>
                          </m:e>
                        </m:d>
                      </m:den>
                    </m:f>
                    <m:r>
                      <a:rPr lang="es-CO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s-CO" b="0" i="1" smtClean="0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es-CO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bar>
                          <m:barPr>
                            <m:pos m:val="bot"/>
                            <m:ctrlPr>
                              <a:rPr lang="es-CO" b="0" i="1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s-CO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bar>
                      </m:e>
                    </m:d>
                  </m:oMath>
                </a14:m>
                <a:r>
                  <a:rPr lang="es-CO" dirty="0"/>
                  <a:t>	(7)</a:t>
                </a:r>
              </a:p>
              <a:p>
                <a:r>
                  <a:rPr lang="es-CO" dirty="0"/>
                  <a:t>Agrupamos:</a:t>
                </a:r>
              </a:p>
              <a:p>
                <a14:m>
                  <m:oMath xmlns:m="http://schemas.openxmlformats.org/officeDocument/2006/math">
                    <m:r>
                      <a:rPr lang="es-CO" b="0" i="1" smtClean="0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es-CO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CO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s-CO" b="0" i="0" smtClean="0">
                        <a:latin typeface="Cambria Math" panose="02040503050406030204" pitchFamily="18" charset="0"/>
                      </a:rPr>
                      <m:t>u</m:t>
                    </m:r>
                    <m:d>
                      <m:dPr>
                        <m:ctrlPr>
                          <a:rPr lang="es-CO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s-CO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s-CO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s-CO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CO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d>
                              <m:dPr>
                                <m:ctrlPr>
                                  <a:rPr lang="es-CO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̅"/>
                                    <m:ctrlPr>
                                      <a:rPr lang="es-CO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s-CO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</m:d>
                            <m:r>
                              <a:rPr lang="es-CO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CO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d>
                              <m:dPr>
                                <m:ctrlPr>
                                  <a:rPr lang="es-CO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bar>
                                  <m:barPr>
                                    <m:pos m:val="bot"/>
                                    <m:ctrlPr>
                                      <a:rPr lang="es-CO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s-CO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bar>
                              </m:e>
                            </m:d>
                          </m:num>
                          <m:den>
                            <m:r>
                              <a:rPr lang="es-CO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d>
                              <m:dPr>
                                <m:ctrlPr>
                                  <a:rPr lang="es-CO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̅"/>
                                    <m:ctrlPr>
                                      <a:rPr lang="es-CO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s-CO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</m:d>
                            <m:r>
                              <a:rPr lang="es-CO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CO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d>
                              <m:dPr>
                                <m:ctrlPr>
                                  <a:rPr lang="es-CO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bar>
                                  <m:barPr>
                                    <m:pos m:val="bot"/>
                                    <m:ctrlPr>
                                      <a:rPr lang="es-CO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s-CO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bar>
                              </m:e>
                            </m:d>
                          </m:den>
                        </m:f>
                      </m:e>
                    </m:d>
                    <m:r>
                      <a:rPr lang="es-CO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s-CO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s-CO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bar>
                          <m:barPr>
                            <m:pos m:val="bot"/>
                            <m:ctrlPr>
                              <a:rPr lang="es-CO" b="0" i="1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s-CO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bar>
                      </m:e>
                    </m:d>
                  </m:oMath>
                </a14:m>
                <a:r>
                  <a:rPr lang="es-CO" b="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s-CO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s-CO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CO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d>
                              <m:dPr>
                                <m:ctrlPr>
                                  <a:rPr lang="es-CO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bar>
                                  <m:barPr>
                                    <m:pos m:val="bot"/>
                                    <m:ctrlPr>
                                      <a:rPr lang="es-CO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s-CO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bar>
                              </m:e>
                            </m:d>
                            <m:r>
                              <a:rPr lang="es-CO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CO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d>
                              <m:dPr>
                                <m:ctrlPr>
                                  <a:rPr lang="es-CO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̅"/>
                                    <m:ctrlPr>
                                      <a:rPr lang="es-CO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s-CO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</m:d>
                          </m:num>
                          <m:den>
                            <m:r>
                              <a:rPr lang="es-CO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d>
                              <m:dPr>
                                <m:ctrlPr>
                                  <a:rPr lang="es-CO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̅"/>
                                    <m:ctrlPr>
                                      <a:rPr lang="es-CO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s-CO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</m:d>
                            <m:r>
                              <a:rPr lang="es-CO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CO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d>
                              <m:dPr>
                                <m:ctrlPr>
                                  <a:rPr lang="es-CO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bar>
                                  <m:barPr>
                                    <m:pos m:val="bot"/>
                                    <m:ctrlPr>
                                      <a:rPr lang="es-CO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s-CO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bar>
                              </m:e>
                            </m:d>
                          </m:den>
                        </m:f>
                      </m:e>
                    </m:d>
                    <m:r>
                      <a:rPr lang="es-CO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s-CO" b="0" i="1" smtClean="0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es-CO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bar>
                          <m:barPr>
                            <m:pos m:val="bot"/>
                            <m:ctrlPr>
                              <a:rPr lang="es-CO" b="0" i="1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s-CO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bar>
                      </m:e>
                    </m:d>
                  </m:oMath>
                </a14:m>
                <a:r>
                  <a:rPr lang="es-CO" dirty="0"/>
                  <a:t>	(8)</a:t>
                </a:r>
              </a:p>
              <a:p>
                <a:endParaRPr lang="es-CO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s-CO" b="1" i="1" smtClean="0">
                        <a:latin typeface="Cambria Math" panose="02040503050406030204" pitchFamily="18" charset="0"/>
                      </a:rPr>
                      <m:t>𝒗</m:t>
                    </m:r>
                    <m:d>
                      <m:dPr>
                        <m:ctrlPr>
                          <a:rPr lang="es-CO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s-CO" b="1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CO" b="1" dirty="0"/>
                  <a:t>	</a:t>
                </a:r>
                <a14:m>
                  <m:oMath xmlns:m="http://schemas.openxmlformats.org/officeDocument/2006/math">
                    <m:r>
                      <a:rPr lang="es-CO" b="1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es-CO" b="1" dirty="0"/>
                  <a:t> </a:t>
                </a:r>
                <a14:m>
                  <m:oMath xmlns:m="http://schemas.openxmlformats.org/officeDocument/2006/math">
                    <m:r>
                      <a:rPr lang="es-CO" b="1" i="0" smtClean="0">
                        <a:latin typeface="Cambria Math" panose="02040503050406030204" pitchFamily="18" charset="0"/>
                      </a:rPr>
                      <m:t>𝐮</m:t>
                    </m:r>
                    <m:d>
                      <m:dPr>
                        <m:ctrlPr>
                          <a:rPr lang="es-CO" b="1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  <m:r>
                      <a:rPr lang="es-CO" b="1" i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s-CO" b="1" i="0" smtClean="0">
                        <a:solidFill>
                          <a:schemeClr val="accent3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𝐛</m:t>
                    </m:r>
                  </m:oMath>
                </a14:m>
                <a:r>
                  <a:rPr lang="es-CO" dirty="0"/>
                  <a:t>				(9)</a:t>
                </a:r>
              </a:p>
              <a:p>
                <a:endParaRPr lang="es-CO" dirty="0"/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0D6F095B-6CB3-45B3-93B3-A617B19952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055" y="914400"/>
                <a:ext cx="8695945" cy="5730158"/>
              </a:xfrm>
              <a:prstGeom prst="rect">
                <a:avLst/>
              </a:prstGeom>
              <a:blipFill>
                <a:blip r:embed="rId3"/>
                <a:stretch>
                  <a:fillRect l="-1612" t="-95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uadroTexto 2">
            <a:extLst>
              <a:ext uri="{FF2B5EF4-FFF2-40B4-BE49-F238E27FC236}">
                <a16:creationId xmlns:a16="http://schemas.microsoft.com/office/drawing/2014/main" id="{E653BE47-D8A1-4C0C-8530-B9D2F56CD680}"/>
              </a:ext>
            </a:extLst>
          </p:cNvPr>
          <p:cNvSpPr txBox="1"/>
          <p:nvPr/>
        </p:nvSpPr>
        <p:spPr>
          <a:xfrm>
            <a:off x="6781800" y="6096000"/>
            <a:ext cx="18676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400" dirty="0"/>
              <a:t>Demostración por </a:t>
            </a:r>
          </a:p>
          <a:p>
            <a:r>
              <a:rPr lang="es-CO" sz="1400" dirty="0" err="1"/>
              <a:t>Monotonicidad</a:t>
            </a:r>
            <a:r>
              <a:rPr lang="es-CO" sz="1400" dirty="0"/>
              <a:t> (p.311)</a:t>
            </a:r>
          </a:p>
        </p:txBody>
      </p:sp>
    </p:spTree>
    <p:extLst>
      <p:ext uri="{BB962C8B-B14F-4D97-AF65-F5344CB8AC3E}">
        <p14:creationId xmlns:p14="http://schemas.microsoft.com/office/powerpoint/2010/main" val="66118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8055" y="599694"/>
            <a:ext cx="8239125" cy="125920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258445" rIns="0" bIns="0" rtlCol="0">
            <a:spAutoFit/>
          </a:bodyPr>
          <a:lstStyle/>
          <a:p>
            <a:pPr marL="224154" marR="231140">
              <a:lnSpc>
                <a:spcPct val="100000"/>
              </a:lnSpc>
              <a:spcBef>
                <a:spcPts val="2035"/>
              </a:spcBef>
            </a:pPr>
            <a:r>
              <a:rPr spc="160" dirty="0"/>
              <a:t>CARACTERIZACIÓN</a:t>
            </a:r>
            <a:r>
              <a:rPr spc="-95" dirty="0"/>
              <a:t> </a:t>
            </a:r>
            <a:r>
              <a:rPr spc="140" dirty="0"/>
              <a:t>DE</a:t>
            </a:r>
            <a:r>
              <a:rPr spc="-75" dirty="0"/>
              <a:t> </a:t>
            </a:r>
            <a:r>
              <a:rPr spc="280" dirty="0"/>
              <a:t>UN</a:t>
            </a:r>
            <a:r>
              <a:rPr spc="-65" dirty="0"/>
              <a:t> </a:t>
            </a:r>
            <a:r>
              <a:rPr spc="130" dirty="0"/>
              <a:t>DECISOR</a:t>
            </a:r>
            <a:r>
              <a:rPr spc="-75" dirty="0"/>
              <a:t> </a:t>
            </a:r>
            <a:r>
              <a:rPr spc="375" dirty="0"/>
              <a:t>CON</a:t>
            </a:r>
            <a:r>
              <a:rPr spc="-75" dirty="0"/>
              <a:t> </a:t>
            </a:r>
            <a:r>
              <a:rPr spc="20" dirty="0"/>
              <a:t>BASE </a:t>
            </a:r>
            <a:r>
              <a:rPr spc="-830" dirty="0"/>
              <a:t> </a:t>
            </a:r>
            <a:r>
              <a:rPr spc="150" dirty="0"/>
              <a:t>EN</a:t>
            </a:r>
            <a:r>
              <a:rPr spc="-70" dirty="0"/>
              <a:t> </a:t>
            </a:r>
            <a:r>
              <a:rPr spc="50" dirty="0"/>
              <a:t>SU</a:t>
            </a:r>
            <a:r>
              <a:rPr spc="-65" dirty="0"/>
              <a:t> </a:t>
            </a:r>
            <a:r>
              <a:rPr spc="204" dirty="0"/>
              <a:t>FUNCIÓN</a:t>
            </a:r>
            <a:r>
              <a:rPr spc="-75" dirty="0"/>
              <a:t> </a:t>
            </a:r>
            <a:r>
              <a:rPr spc="140" dirty="0"/>
              <a:t>DE</a:t>
            </a:r>
            <a:r>
              <a:rPr spc="-85" dirty="0"/>
              <a:t> </a:t>
            </a:r>
            <a:r>
              <a:rPr spc="105" dirty="0"/>
              <a:t>UTILIDAD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F1B4054E-776B-4E6F-83F3-795000980D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129" y="1944144"/>
            <a:ext cx="8686976" cy="3011276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448EC1E6-970D-4583-9E46-2310A415A5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009492"/>
            <a:ext cx="7232754" cy="1473020"/>
          </a:xfrm>
          <a:prstGeom prst="rect">
            <a:avLst/>
          </a:prstGeom>
        </p:spPr>
      </p:pic>
      <p:sp>
        <p:nvSpPr>
          <p:cNvPr id="10" name="object 4">
            <a:extLst>
              <a:ext uri="{FF2B5EF4-FFF2-40B4-BE49-F238E27FC236}">
                <a16:creationId xmlns:a16="http://schemas.microsoft.com/office/drawing/2014/main" id="{AF3A1CD2-07A3-4A6A-96A9-721258187AB5}"/>
              </a:ext>
            </a:extLst>
          </p:cNvPr>
          <p:cNvSpPr txBox="1"/>
          <p:nvPr/>
        </p:nvSpPr>
        <p:spPr>
          <a:xfrm>
            <a:off x="8410193" y="6053328"/>
            <a:ext cx="825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4590B8"/>
                </a:solidFill>
                <a:latin typeface="Trebuchet MS"/>
                <a:cs typeface="Trebuchet MS"/>
              </a:rPr>
              <a:t>9</a:t>
            </a:r>
            <a:endParaRPr sz="90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DD22B-059F-7056-5FA4-6C704E25C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5" y="599694"/>
            <a:ext cx="8239125" cy="430887"/>
          </a:xfrm>
        </p:spPr>
        <p:txBody>
          <a:bodyPr/>
          <a:lstStyle/>
          <a:p>
            <a:r>
              <a:rPr lang="es-ES_tradnl" dirty="0">
                <a:solidFill>
                  <a:srgbClr val="002060"/>
                </a:solidFill>
              </a:rPr>
              <a:t>Gráficamente…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05E80A-4092-D59C-8F4A-3DB8A63236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1371600"/>
            <a:ext cx="6540500" cy="5189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0846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A716E-F2AC-EA37-11AE-37A6D179D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575EB-B8C0-0943-0319-ABFA205A8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5" y="599694"/>
            <a:ext cx="8239125" cy="430887"/>
          </a:xfrm>
        </p:spPr>
        <p:txBody>
          <a:bodyPr/>
          <a:lstStyle/>
          <a:p>
            <a:r>
              <a:rPr lang="es-ES_tradnl" dirty="0">
                <a:solidFill>
                  <a:srgbClr val="002060"/>
                </a:solidFill>
              </a:rPr>
              <a:t>Gráficamente…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E5755D-0E60-623A-6351-B1D1F8ECC9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1524000"/>
            <a:ext cx="6621365" cy="4456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4682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DBCE6-2489-BC76-AF3B-5B80F6B47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8A14A-F45C-0379-F8A2-F78194009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5" y="599694"/>
            <a:ext cx="8239125" cy="430887"/>
          </a:xfrm>
        </p:spPr>
        <p:txBody>
          <a:bodyPr/>
          <a:lstStyle/>
          <a:p>
            <a:r>
              <a:rPr lang="es-ES_tradnl" dirty="0">
                <a:solidFill>
                  <a:srgbClr val="002060"/>
                </a:solidFill>
              </a:rPr>
              <a:t>Gráficamente…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721DBC-33D9-B45C-0B8F-277D57F581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6800" y="1646102"/>
            <a:ext cx="6540500" cy="4640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4605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336" y="852932"/>
            <a:ext cx="31413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3C3C3C"/>
                </a:solidFill>
                <a:latin typeface="Trebuchet MS"/>
                <a:cs typeface="Trebuchet MS"/>
              </a:rPr>
              <a:t>Ejercicio</a:t>
            </a:r>
            <a:r>
              <a:rPr sz="1800" b="1" spc="-6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b="1" spc="5" dirty="0">
                <a:solidFill>
                  <a:srgbClr val="3C3C3C"/>
                </a:solidFill>
                <a:latin typeface="Trebuchet MS"/>
                <a:cs typeface="Trebuchet MS"/>
              </a:rPr>
              <a:t>para</a:t>
            </a:r>
            <a:r>
              <a:rPr sz="1800" b="1" spc="-6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3C3C3C"/>
                </a:solidFill>
                <a:latin typeface="Trebuchet MS"/>
                <a:cs typeface="Trebuchet MS"/>
              </a:rPr>
              <a:t>los</a:t>
            </a:r>
            <a:r>
              <a:rPr sz="1800" b="1" spc="-6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3C3C3C"/>
                </a:solidFill>
                <a:latin typeface="Trebuchet MS"/>
                <a:cs typeface="Trebuchet MS"/>
              </a:rPr>
              <a:t>Estudiantes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9636" y="1258315"/>
            <a:ext cx="8037830" cy="3126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 marR="17780" algn="just">
              <a:lnSpc>
                <a:spcPct val="100000"/>
              </a:lnSpc>
              <a:spcBef>
                <a:spcPts val="100"/>
              </a:spcBef>
            </a:pPr>
            <a:r>
              <a:rPr sz="1800" spc="-110" dirty="0">
                <a:solidFill>
                  <a:srgbClr val="3C3C3C"/>
                </a:solidFill>
                <a:latin typeface="Trebuchet MS"/>
                <a:cs typeface="Trebuchet MS"/>
              </a:rPr>
              <a:t>Para </a:t>
            </a:r>
            <a:r>
              <a:rPr sz="1800" spc="-140" dirty="0">
                <a:solidFill>
                  <a:srgbClr val="3C3C3C"/>
                </a:solidFill>
                <a:latin typeface="Trebuchet MS"/>
                <a:cs typeface="Trebuchet MS"/>
              </a:rPr>
              <a:t>cada </a:t>
            </a:r>
            <a:r>
              <a:rPr sz="1800" spc="-114" dirty="0">
                <a:solidFill>
                  <a:srgbClr val="3C3C3C"/>
                </a:solidFill>
                <a:latin typeface="Trebuchet MS"/>
                <a:cs typeface="Trebuchet MS"/>
              </a:rPr>
              <a:t>una </a:t>
            </a:r>
            <a:r>
              <a:rPr sz="1800" spc="-105" dirty="0">
                <a:solidFill>
                  <a:srgbClr val="3C3C3C"/>
                </a:solidFill>
                <a:latin typeface="Trebuchet MS"/>
                <a:cs typeface="Trebuchet MS"/>
              </a:rPr>
              <a:t>de </a:t>
            </a:r>
            <a:r>
              <a:rPr sz="1800" spc="-120" dirty="0">
                <a:solidFill>
                  <a:srgbClr val="3C3C3C"/>
                </a:solidFill>
                <a:latin typeface="Trebuchet MS"/>
                <a:cs typeface="Trebuchet MS"/>
              </a:rPr>
              <a:t>las </a:t>
            </a:r>
            <a:r>
              <a:rPr sz="1800" spc="-95" dirty="0">
                <a:solidFill>
                  <a:srgbClr val="3C3C3C"/>
                </a:solidFill>
                <a:latin typeface="Trebuchet MS"/>
                <a:cs typeface="Trebuchet MS"/>
              </a:rPr>
              <a:t>funciones </a:t>
            </a:r>
            <a:r>
              <a:rPr sz="1800" spc="-105" dirty="0">
                <a:solidFill>
                  <a:srgbClr val="3C3C3C"/>
                </a:solidFill>
                <a:latin typeface="Trebuchet MS"/>
                <a:cs typeface="Trebuchet MS"/>
              </a:rPr>
              <a:t>de </a:t>
            </a:r>
            <a:r>
              <a:rPr sz="1800" spc="-114" dirty="0">
                <a:solidFill>
                  <a:srgbClr val="3C3C3C"/>
                </a:solidFill>
                <a:latin typeface="Trebuchet MS"/>
                <a:cs typeface="Trebuchet MS"/>
              </a:rPr>
              <a:t>utilidad </a:t>
            </a:r>
            <a:r>
              <a:rPr sz="1800" spc="-105" dirty="0">
                <a:solidFill>
                  <a:srgbClr val="3C3C3C"/>
                </a:solidFill>
                <a:latin typeface="Trebuchet MS"/>
                <a:cs typeface="Trebuchet MS"/>
              </a:rPr>
              <a:t>que </a:t>
            </a:r>
            <a:r>
              <a:rPr sz="1800" spc="-120" dirty="0">
                <a:solidFill>
                  <a:srgbClr val="3C3C3C"/>
                </a:solidFill>
                <a:latin typeface="Trebuchet MS"/>
                <a:cs typeface="Trebuchet MS"/>
              </a:rPr>
              <a:t>aparecen </a:t>
            </a:r>
            <a:r>
              <a:rPr sz="1800" spc="-180" dirty="0">
                <a:solidFill>
                  <a:srgbClr val="3C3C3C"/>
                </a:solidFill>
                <a:latin typeface="Trebuchet MS"/>
                <a:cs typeface="Trebuchet MS"/>
              </a:rPr>
              <a:t>a </a:t>
            </a:r>
            <a:r>
              <a:rPr sz="1800" spc="-90" dirty="0">
                <a:solidFill>
                  <a:srgbClr val="3C3C3C"/>
                </a:solidFill>
                <a:latin typeface="Trebuchet MS"/>
                <a:cs typeface="Trebuchet MS"/>
              </a:rPr>
              <a:t>continuación </a:t>
            </a:r>
            <a:r>
              <a:rPr sz="1800" spc="-85" dirty="0">
                <a:solidFill>
                  <a:srgbClr val="3C3C3C"/>
                </a:solidFill>
                <a:latin typeface="Trebuchet MS"/>
                <a:cs typeface="Trebuchet MS"/>
              </a:rPr>
              <a:t>ustedes </a:t>
            </a:r>
            <a:r>
              <a:rPr sz="1800" spc="-114" dirty="0">
                <a:solidFill>
                  <a:srgbClr val="3C3C3C"/>
                </a:solidFill>
                <a:latin typeface="Trebuchet MS"/>
                <a:cs typeface="Trebuchet MS"/>
              </a:rPr>
              <a:t>debían </a:t>
            </a:r>
            <a:r>
              <a:rPr sz="1800" spc="-1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3C3C3C"/>
                </a:solidFill>
                <a:latin typeface="Trebuchet MS"/>
                <a:cs typeface="Trebuchet MS"/>
              </a:rPr>
              <a:t>establecer </a:t>
            </a:r>
            <a:r>
              <a:rPr sz="1800" spc="-100" dirty="0">
                <a:solidFill>
                  <a:srgbClr val="3C3C3C"/>
                </a:solidFill>
                <a:latin typeface="Trebuchet MS"/>
                <a:cs typeface="Trebuchet MS"/>
              </a:rPr>
              <a:t>utilizando </a:t>
            </a:r>
            <a:r>
              <a:rPr sz="1800" spc="-120" dirty="0">
                <a:solidFill>
                  <a:srgbClr val="3C3C3C"/>
                </a:solidFill>
                <a:latin typeface="Trebuchet MS"/>
                <a:cs typeface="Trebuchet MS"/>
              </a:rPr>
              <a:t>las </a:t>
            </a:r>
            <a:r>
              <a:rPr sz="1800" spc="-90" dirty="0">
                <a:solidFill>
                  <a:srgbClr val="3C3C3C"/>
                </a:solidFill>
                <a:latin typeface="Trebuchet MS"/>
                <a:cs typeface="Trebuchet MS"/>
              </a:rPr>
              <a:t>propiedades expuestas </a:t>
            </a:r>
            <a:r>
              <a:rPr sz="1800" spc="-105" dirty="0">
                <a:solidFill>
                  <a:srgbClr val="3C3C3C"/>
                </a:solidFill>
                <a:latin typeface="Trebuchet MS"/>
                <a:cs typeface="Trebuchet MS"/>
              </a:rPr>
              <a:t>en </a:t>
            </a:r>
            <a:r>
              <a:rPr sz="1800" spc="-160" dirty="0">
                <a:solidFill>
                  <a:srgbClr val="3C3C3C"/>
                </a:solidFill>
                <a:latin typeface="Trebuchet MS"/>
                <a:cs typeface="Trebuchet MS"/>
              </a:rPr>
              <a:t>la </a:t>
            </a:r>
            <a:r>
              <a:rPr sz="1800" spc="-105" dirty="0">
                <a:solidFill>
                  <a:srgbClr val="3C3C3C"/>
                </a:solidFill>
                <a:latin typeface="Trebuchet MS"/>
                <a:cs typeface="Trebuchet MS"/>
              </a:rPr>
              <a:t>diapositiva </a:t>
            </a:r>
            <a:r>
              <a:rPr sz="1800" spc="-114" dirty="0">
                <a:solidFill>
                  <a:srgbClr val="3C3C3C"/>
                </a:solidFill>
                <a:latin typeface="Trebuchet MS"/>
                <a:cs typeface="Trebuchet MS"/>
              </a:rPr>
              <a:t>anterior, </a:t>
            </a:r>
            <a:r>
              <a:rPr sz="1800" spc="-180" dirty="0">
                <a:solidFill>
                  <a:srgbClr val="3C3C3C"/>
                </a:solidFill>
                <a:latin typeface="Trebuchet MS"/>
                <a:cs typeface="Trebuchet MS"/>
              </a:rPr>
              <a:t>a </a:t>
            </a:r>
            <a:r>
              <a:rPr sz="1800" spc="-105" dirty="0">
                <a:solidFill>
                  <a:srgbClr val="3C3C3C"/>
                </a:solidFill>
                <a:latin typeface="Trebuchet MS"/>
                <a:cs typeface="Trebuchet MS"/>
              </a:rPr>
              <a:t>qué </a:t>
            </a:r>
            <a:r>
              <a:rPr sz="1800" spc="-80" dirty="0">
                <a:solidFill>
                  <a:srgbClr val="3C3C3C"/>
                </a:solidFill>
                <a:latin typeface="Trebuchet MS"/>
                <a:cs typeface="Trebuchet MS"/>
              </a:rPr>
              <a:t>tipo </a:t>
            </a:r>
            <a:r>
              <a:rPr sz="1800" spc="-105" dirty="0">
                <a:solidFill>
                  <a:srgbClr val="3C3C3C"/>
                </a:solidFill>
                <a:latin typeface="Trebuchet MS"/>
                <a:cs typeface="Trebuchet MS"/>
              </a:rPr>
              <a:t>de </a:t>
            </a:r>
            <a:r>
              <a:rPr sz="1800" spc="-10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decisor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-80" dirty="0">
                <a:solidFill>
                  <a:srgbClr val="3C3C3C"/>
                </a:solidFill>
                <a:latin typeface="Trebuchet MS"/>
                <a:cs typeface="Trebuchet MS"/>
              </a:rPr>
              <a:t>corresponden:</a:t>
            </a:r>
            <a:r>
              <a:rPr sz="1800" spc="-23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u="sng" spc="-125" dirty="0">
                <a:solidFill>
                  <a:srgbClr val="3C3C3C"/>
                </a:solidFill>
                <a:uFill>
                  <a:solidFill>
                    <a:srgbClr val="3C3C3C"/>
                  </a:solidFill>
                </a:uFill>
                <a:latin typeface="Trebuchet MS"/>
                <a:cs typeface="Trebuchet MS"/>
              </a:rPr>
              <a:t>neutral</a:t>
            </a:r>
            <a:r>
              <a:rPr sz="1800" spc="-125" dirty="0">
                <a:solidFill>
                  <a:srgbClr val="3C3C3C"/>
                </a:solidFill>
                <a:latin typeface="Trebuchet MS"/>
                <a:cs typeface="Trebuchet MS"/>
              </a:rPr>
              <a:t>,</a:t>
            </a:r>
            <a:r>
              <a:rPr sz="1800" spc="-2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u="sng" spc="-85" dirty="0">
                <a:solidFill>
                  <a:srgbClr val="3C3C3C"/>
                </a:solidFill>
                <a:uFill>
                  <a:solidFill>
                    <a:srgbClr val="3C3C3C"/>
                  </a:solidFill>
                </a:uFill>
                <a:latin typeface="Trebuchet MS"/>
                <a:cs typeface="Trebuchet MS"/>
              </a:rPr>
              <a:t>averso</a:t>
            </a:r>
            <a:r>
              <a:rPr sz="1800" spc="-5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25" dirty="0">
                <a:solidFill>
                  <a:srgbClr val="3C3C3C"/>
                </a:solidFill>
                <a:latin typeface="Trebuchet MS"/>
                <a:cs typeface="Trebuchet MS"/>
              </a:rPr>
              <a:t>o</a:t>
            </a:r>
            <a:r>
              <a:rPr sz="1800"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u="sng" spc="-85" dirty="0">
                <a:solidFill>
                  <a:srgbClr val="3C3C3C"/>
                </a:solidFill>
                <a:uFill>
                  <a:solidFill>
                    <a:srgbClr val="3C3C3C"/>
                  </a:solidFill>
                </a:uFill>
                <a:latin typeface="Trebuchet MS"/>
                <a:cs typeface="Trebuchet MS"/>
              </a:rPr>
              <a:t>propenso</a:t>
            </a:r>
            <a:r>
              <a:rPr sz="1800" spc="-85" dirty="0">
                <a:solidFill>
                  <a:srgbClr val="3C3C3C"/>
                </a:solidFill>
                <a:latin typeface="Trebuchet MS"/>
                <a:cs typeface="Trebuchet MS"/>
              </a:rPr>
              <a:t>.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400">
              <a:latin typeface="Trebuchet MS"/>
              <a:cs typeface="Trebuchet MS"/>
            </a:endParaRPr>
          </a:p>
          <a:p>
            <a:pPr marL="25400" algn="just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1</a:t>
            </a:r>
            <a:r>
              <a:rPr sz="1800" spc="-270" dirty="0">
                <a:latin typeface="Trebuchet MS"/>
                <a:cs typeface="Trebuchet MS"/>
              </a:rPr>
              <a:t>.   </a:t>
            </a:r>
            <a:r>
              <a:rPr sz="1800" spc="30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u(x)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105" dirty="0">
                <a:latin typeface="Trebuchet MS"/>
                <a:cs typeface="Trebuchet MS"/>
              </a:rPr>
              <a:t>=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180" dirty="0">
                <a:latin typeface="Trebuchet MS"/>
                <a:cs typeface="Trebuchet MS"/>
              </a:rPr>
              <a:t>a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105" dirty="0">
                <a:latin typeface="Trebuchet MS"/>
                <a:cs typeface="Trebuchet MS"/>
              </a:rPr>
              <a:t>+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bx</a:t>
            </a:r>
            <a:r>
              <a:rPr sz="1800" spc="-270" dirty="0">
                <a:latin typeface="Trebuchet MS"/>
                <a:cs typeface="Trebuchet MS"/>
              </a:rPr>
              <a:t>,</a:t>
            </a:r>
            <a:r>
              <a:rPr sz="1800" spc="-225" dirty="0">
                <a:latin typeface="Trebuchet MS"/>
                <a:cs typeface="Trebuchet MS"/>
              </a:rPr>
              <a:t> </a:t>
            </a:r>
            <a:r>
              <a:rPr sz="1800" spc="-105" dirty="0">
                <a:latin typeface="Trebuchet MS"/>
                <a:cs typeface="Trebuchet MS"/>
              </a:rPr>
              <a:t>b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105" dirty="0">
                <a:latin typeface="Trebuchet MS"/>
                <a:cs typeface="Trebuchet MS"/>
              </a:rPr>
              <a:t>&gt;</a:t>
            </a:r>
            <a:r>
              <a:rPr sz="1800" spc="-45" dirty="0">
                <a:latin typeface="Trebuchet MS"/>
                <a:cs typeface="Trebuchet MS"/>
              </a:rPr>
              <a:t> 0</a:t>
            </a:r>
            <a:endParaRPr sz="1800">
              <a:latin typeface="Trebuchet MS"/>
              <a:cs typeface="Trebuchet MS"/>
            </a:endParaRPr>
          </a:p>
          <a:p>
            <a:pPr marL="88265" marR="4391660">
              <a:lnSpc>
                <a:spcPct val="200000"/>
              </a:lnSpc>
              <a:spcBef>
                <a:spcPts val="10"/>
              </a:spcBef>
              <a:tabLst>
                <a:tab pos="481965" algn="l"/>
                <a:tab pos="2078355" algn="l"/>
              </a:tabLst>
            </a:pPr>
            <a:r>
              <a:rPr sz="1800" spc="-160" dirty="0">
                <a:latin typeface="Trebuchet MS"/>
                <a:cs typeface="Trebuchet MS"/>
              </a:rPr>
              <a:t>2.	</a:t>
            </a:r>
            <a:r>
              <a:rPr sz="1800" spc="-65" dirty="0">
                <a:latin typeface="Trebuchet MS"/>
                <a:cs typeface="Trebuchet MS"/>
              </a:rPr>
              <a:t>u(x)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105" dirty="0">
                <a:latin typeface="Trebuchet MS"/>
                <a:cs typeface="Trebuchet MS"/>
              </a:rPr>
              <a:t>=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u(x)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105" dirty="0">
                <a:latin typeface="Trebuchet MS"/>
                <a:cs typeface="Trebuchet MS"/>
              </a:rPr>
              <a:t>=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180" dirty="0">
                <a:latin typeface="Trebuchet MS"/>
                <a:cs typeface="Trebuchet MS"/>
              </a:rPr>
              <a:t>a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80" dirty="0">
                <a:latin typeface="Trebuchet MS"/>
                <a:cs typeface="Trebuchet MS"/>
              </a:rPr>
              <a:t>-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-114" dirty="0">
                <a:latin typeface="Trebuchet MS"/>
                <a:cs typeface="Trebuchet MS"/>
              </a:rPr>
              <a:t>be</a:t>
            </a:r>
            <a:r>
              <a:rPr sz="1800" spc="-82" baseline="25462" dirty="0">
                <a:latin typeface="Trebuchet MS"/>
                <a:cs typeface="Trebuchet MS"/>
              </a:rPr>
              <a:t>-</a:t>
            </a:r>
            <a:r>
              <a:rPr sz="1800" spc="-52" baseline="25462" dirty="0">
                <a:latin typeface="Trebuchet MS"/>
                <a:cs typeface="Trebuchet MS"/>
              </a:rPr>
              <a:t>c</a:t>
            </a:r>
            <a:r>
              <a:rPr sz="1800" spc="-60" baseline="25462" dirty="0">
                <a:latin typeface="Trebuchet MS"/>
                <a:cs typeface="Trebuchet MS"/>
              </a:rPr>
              <a:t>x</a:t>
            </a:r>
            <a:r>
              <a:rPr sz="1800" spc="-270" dirty="0">
                <a:latin typeface="Trebuchet MS"/>
                <a:cs typeface="Trebuchet MS"/>
              </a:rPr>
              <a:t>,</a:t>
            </a:r>
            <a:r>
              <a:rPr sz="1800" spc="-225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con </a:t>
            </a:r>
            <a:r>
              <a:rPr sz="1800" spc="-125" dirty="0">
                <a:latin typeface="Trebuchet MS"/>
                <a:cs typeface="Trebuchet MS"/>
              </a:rPr>
              <a:t>b</a:t>
            </a:r>
            <a:r>
              <a:rPr sz="1800" spc="-270" dirty="0">
                <a:latin typeface="Trebuchet MS"/>
                <a:cs typeface="Trebuchet MS"/>
              </a:rPr>
              <a:t>,</a:t>
            </a:r>
            <a:r>
              <a:rPr sz="1800" spc="-225" dirty="0">
                <a:latin typeface="Trebuchet MS"/>
                <a:cs typeface="Trebuchet MS"/>
              </a:rPr>
              <a:t> </a:t>
            </a:r>
            <a:r>
              <a:rPr sz="1800" spc="-105" dirty="0">
                <a:latin typeface="Trebuchet MS"/>
                <a:cs typeface="Trebuchet MS"/>
              </a:rPr>
              <a:t>c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Symbol"/>
                <a:cs typeface="Symbol"/>
              </a:rPr>
              <a:t>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0  </a:t>
            </a:r>
            <a:r>
              <a:rPr sz="1800" spc="-160" dirty="0">
                <a:latin typeface="Trebuchet MS"/>
                <a:cs typeface="Trebuchet MS"/>
              </a:rPr>
              <a:t>3.	</a:t>
            </a:r>
            <a:r>
              <a:rPr sz="1800" spc="-65" dirty="0">
                <a:latin typeface="Trebuchet MS"/>
                <a:cs typeface="Trebuchet MS"/>
              </a:rPr>
              <a:t>u(x)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spc="105" dirty="0">
                <a:latin typeface="Trebuchet MS"/>
                <a:cs typeface="Trebuchet MS"/>
              </a:rPr>
              <a:t>=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-110" dirty="0">
                <a:latin typeface="Trebuchet MS"/>
                <a:cs typeface="Trebuchet MS"/>
              </a:rPr>
              <a:t>ln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spc="-75" dirty="0">
                <a:latin typeface="Trebuchet MS"/>
                <a:cs typeface="Trebuchet MS"/>
              </a:rPr>
              <a:t>(x+b),	</a:t>
            </a:r>
            <a:r>
              <a:rPr sz="1800" spc="-35" dirty="0">
                <a:latin typeface="Trebuchet MS"/>
                <a:cs typeface="Trebuchet MS"/>
              </a:rPr>
              <a:t>(x+b)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Symbol"/>
                <a:cs typeface="Symbol"/>
              </a:rPr>
              <a:t>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spc="-45" dirty="0">
                <a:latin typeface="Trebuchet MS"/>
                <a:cs typeface="Trebuchet MS"/>
              </a:rPr>
              <a:t>0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850">
              <a:latin typeface="Trebuchet MS"/>
              <a:cs typeface="Trebuchet MS"/>
            </a:endParaRPr>
          </a:p>
          <a:p>
            <a:pPr marL="88265" algn="just">
              <a:lnSpc>
                <a:spcPct val="100000"/>
              </a:lnSpc>
            </a:pPr>
            <a:r>
              <a:rPr sz="1800" spc="-160" dirty="0">
                <a:latin typeface="Trebuchet MS"/>
                <a:cs typeface="Trebuchet MS"/>
              </a:rPr>
              <a:t>4.  </a:t>
            </a:r>
            <a:r>
              <a:rPr sz="1800" spc="180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u(x)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105" dirty="0">
                <a:latin typeface="Trebuchet MS"/>
                <a:cs typeface="Trebuchet MS"/>
              </a:rPr>
              <a:t>=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180" dirty="0">
                <a:latin typeface="Trebuchet MS"/>
                <a:cs typeface="Trebuchet MS"/>
              </a:rPr>
              <a:t>a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105" dirty="0">
                <a:latin typeface="Trebuchet MS"/>
                <a:cs typeface="Trebuchet MS"/>
              </a:rPr>
              <a:t>+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bx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-80" dirty="0">
                <a:latin typeface="Trebuchet MS"/>
                <a:cs typeface="Trebuchet MS"/>
              </a:rPr>
              <a:t>-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c</a:t>
            </a:r>
            <a:r>
              <a:rPr sz="1800" spc="-55" dirty="0">
                <a:latin typeface="Trebuchet MS"/>
                <a:cs typeface="Trebuchet MS"/>
              </a:rPr>
              <a:t>x</a:t>
            </a:r>
            <a:r>
              <a:rPr sz="1800" spc="-44" baseline="25462" dirty="0">
                <a:latin typeface="Trebuchet MS"/>
                <a:cs typeface="Trebuchet MS"/>
              </a:rPr>
              <a:t>2</a:t>
            </a:r>
            <a:r>
              <a:rPr sz="1800" spc="-270" dirty="0">
                <a:latin typeface="Trebuchet MS"/>
                <a:cs typeface="Trebuchet MS"/>
              </a:rPr>
              <a:t>,</a:t>
            </a:r>
            <a:r>
              <a:rPr sz="1800" spc="-225" dirty="0">
                <a:latin typeface="Trebuchet MS"/>
                <a:cs typeface="Trebuchet MS"/>
              </a:rPr>
              <a:t> </a:t>
            </a:r>
            <a:r>
              <a:rPr sz="1800" spc="-120" dirty="0">
                <a:latin typeface="Trebuchet MS"/>
                <a:cs typeface="Trebuchet MS"/>
              </a:rPr>
              <a:t>b</a:t>
            </a:r>
            <a:r>
              <a:rPr sz="1800" spc="-270" dirty="0">
                <a:latin typeface="Trebuchet MS"/>
                <a:cs typeface="Trebuchet MS"/>
              </a:rPr>
              <a:t>,</a:t>
            </a:r>
            <a:r>
              <a:rPr sz="1800" spc="-225" dirty="0">
                <a:latin typeface="Trebuchet MS"/>
                <a:cs typeface="Trebuchet MS"/>
              </a:rPr>
              <a:t> </a:t>
            </a:r>
            <a:r>
              <a:rPr sz="1800" spc="-105" dirty="0">
                <a:latin typeface="Trebuchet MS"/>
                <a:cs typeface="Trebuchet MS"/>
              </a:rPr>
              <a:t>c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105" dirty="0">
                <a:latin typeface="Trebuchet MS"/>
                <a:cs typeface="Trebuchet MS"/>
              </a:rPr>
              <a:t>&gt;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160" dirty="0">
                <a:latin typeface="Trebuchet MS"/>
                <a:cs typeface="Trebuchet MS"/>
              </a:rPr>
              <a:t>0,</a:t>
            </a:r>
            <a:r>
              <a:rPr sz="1800" dirty="0">
                <a:latin typeface="Trebuchet MS"/>
                <a:cs typeface="Trebuchet MS"/>
              </a:rPr>
              <a:t> </a:t>
            </a:r>
            <a:r>
              <a:rPr sz="1800" spc="-265" dirty="0">
                <a:latin typeface="Trebuchet MS"/>
                <a:cs typeface="Trebuchet MS"/>
              </a:rPr>
              <a:t> </a:t>
            </a:r>
            <a:r>
              <a:rPr sz="1800" spc="-5" dirty="0">
                <a:latin typeface="Trebuchet MS"/>
                <a:cs typeface="Trebuchet MS"/>
              </a:rPr>
              <a:t>x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Symbol"/>
                <a:cs typeface="Symbol"/>
              </a:rPr>
              <a:t>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175" dirty="0">
                <a:latin typeface="Trebuchet MS"/>
                <a:cs typeface="Trebuchet MS"/>
              </a:rPr>
              <a:t>b/2c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/>
          <p:nvPr/>
        </p:nvSpPr>
        <p:spPr>
          <a:xfrm>
            <a:off x="3333832" y="3084526"/>
            <a:ext cx="339725" cy="259079"/>
          </a:xfrm>
          <a:custGeom>
            <a:avLst/>
            <a:gdLst/>
            <a:ahLst/>
            <a:cxnLst/>
            <a:rect l="l" t="t" r="r" b="b"/>
            <a:pathLst>
              <a:path w="339725" h="259079">
                <a:moveTo>
                  <a:pt x="257048" y="0"/>
                </a:moveTo>
                <a:lnTo>
                  <a:pt x="253364" y="10540"/>
                </a:lnTo>
                <a:lnTo>
                  <a:pt x="268339" y="17039"/>
                </a:lnTo>
                <a:lnTo>
                  <a:pt x="281241" y="26050"/>
                </a:lnTo>
                <a:lnTo>
                  <a:pt x="307403" y="67780"/>
                </a:lnTo>
                <a:lnTo>
                  <a:pt x="315023" y="106122"/>
                </a:lnTo>
                <a:lnTo>
                  <a:pt x="315975" y="128269"/>
                </a:lnTo>
                <a:lnTo>
                  <a:pt x="315021" y="151110"/>
                </a:lnTo>
                <a:lnTo>
                  <a:pt x="307349" y="190456"/>
                </a:lnTo>
                <a:lnTo>
                  <a:pt x="281273" y="232917"/>
                </a:lnTo>
                <a:lnTo>
                  <a:pt x="253746" y="248538"/>
                </a:lnTo>
                <a:lnTo>
                  <a:pt x="257048" y="259079"/>
                </a:lnTo>
                <a:lnTo>
                  <a:pt x="292385" y="242506"/>
                </a:lnTo>
                <a:lnTo>
                  <a:pt x="318388" y="213740"/>
                </a:lnTo>
                <a:lnTo>
                  <a:pt x="334279" y="175371"/>
                </a:lnTo>
                <a:lnTo>
                  <a:pt x="339598" y="129666"/>
                </a:lnTo>
                <a:lnTo>
                  <a:pt x="338264" y="105902"/>
                </a:lnTo>
                <a:lnTo>
                  <a:pt x="327596" y="63801"/>
                </a:lnTo>
                <a:lnTo>
                  <a:pt x="306429" y="29539"/>
                </a:lnTo>
                <a:lnTo>
                  <a:pt x="275810" y="6782"/>
                </a:lnTo>
                <a:lnTo>
                  <a:pt x="257048" y="0"/>
                </a:lnTo>
                <a:close/>
              </a:path>
              <a:path w="339725" h="259079">
                <a:moveTo>
                  <a:pt x="82550" y="0"/>
                </a:moveTo>
                <a:lnTo>
                  <a:pt x="47323" y="16637"/>
                </a:lnTo>
                <a:lnTo>
                  <a:pt x="21336" y="45465"/>
                </a:lnTo>
                <a:lnTo>
                  <a:pt x="5333" y="83947"/>
                </a:lnTo>
                <a:lnTo>
                  <a:pt x="0" y="129666"/>
                </a:lnTo>
                <a:lnTo>
                  <a:pt x="1313" y="153429"/>
                </a:lnTo>
                <a:lnTo>
                  <a:pt x="11894" y="195478"/>
                </a:lnTo>
                <a:lnTo>
                  <a:pt x="33043" y="229647"/>
                </a:lnTo>
                <a:lnTo>
                  <a:pt x="63714" y="252317"/>
                </a:lnTo>
                <a:lnTo>
                  <a:pt x="82550" y="259079"/>
                </a:lnTo>
                <a:lnTo>
                  <a:pt x="85851" y="248538"/>
                </a:lnTo>
                <a:lnTo>
                  <a:pt x="71064" y="242014"/>
                </a:lnTo>
                <a:lnTo>
                  <a:pt x="58324" y="232917"/>
                </a:lnTo>
                <a:lnTo>
                  <a:pt x="32248" y="190456"/>
                </a:lnTo>
                <a:lnTo>
                  <a:pt x="24576" y="151110"/>
                </a:lnTo>
                <a:lnTo>
                  <a:pt x="23621" y="128269"/>
                </a:lnTo>
                <a:lnTo>
                  <a:pt x="24576" y="106122"/>
                </a:lnTo>
                <a:lnTo>
                  <a:pt x="32248" y="67780"/>
                </a:lnTo>
                <a:lnTo>
                  <a:pt x="58419" y="26050"/>
                </a:lnTo>
                <a:lnTo>
                  <a:pt x="86233" y="10540"/>
                </a:lnTo>
                <a:lnTo>
                  <a:pt x="82550" y="0"/>
                </a:lnTo>
                <a:close/>
              </a:path>
            </a:pathLst>
          </a:custGeom>
          <a:solidFill>
            <a:srgbClr val="3C3C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806017" y="3084526"/>
            <a:ext cx="286385" cy="259079"/>
          </a:xfrm>
          <a:custGeom>
            <a:avLst/>
            <a:gdLst/>
            <a:ahLst/>
            <a:cxnLst/>
            <a:rect l="l" t="t" r="r" b="b"/>
            <a:pathLst>
              <a:path w="286385" h="259079">
                <a:moveTo>
                  <a:pt x="203707" y="0"/>
                </a:moveTo>
                <a:lnTo>
                  <a:pt x="200025" y="10540"/>
                </a:lnTo>
                <a:lnTo>
                  <a:pt x="214999" y="17039"/>
                </a:lnTo>
                <a:lnTo>
                  <a:pt x="227901" y="26050"/>
                </a:lnTo>
                <a:lnTo>
                  <a:pt x="254063" y="67780"/>
                </a:lnTo>
                <a:lnTo>
                  <a:pt x="261683" y="106122"/>
                </a:lnTo>
                <a:lnTo>
                  <a:pt x="262636" y="128269"/>
                </a:lnTo>
                <a:lnTo>
                  <a:pt x="261681" y="151110"/>
                </a:lnTo>
                <a:lnTo>
                  <a:pt x="254009" y="190456"/>
                </a:lnTo>
                <a:lnTo>
                  <a:pt x="227933" y="232917"/>
                </a:lnTo>
                <a:lnTo>
                  <a:pt x="200405" y="248538"/>
                </a:lnTo>
                <a:lnTo>
                  <a:pt x="203707" y="259079"/>
                </a:lnTo>
                <a:lnTo>
                  <a:pt x="239045" y="242506"/>
                </a:lnTo>
                <a:lnTo>
                  <a:pt x="265049" y="213740"/>
                </a:lnTo>
                <a:lnTo>
                  <a:pt x="280939" y="175371"/>
                </a:lnTo>
                <a:lnTo>
                  <a:pt x="286257" y="129666"/>
                </a:lnTo>
                <a:lnTo>
                  <a:pt x="284924" y="105902"/>
                </a:lnTo>
                <a:lnTo>
                  <a:pt x="274256" y="63801"/>
                </a:lnTo>
                <a:lnTo>
                  <a:pt x="253089" y="29539"/>
                </a:lnTo>
                <a:lnTo>
                  <a:pt x="222470" y="6782"/>
                </a:lnTo>
                <a:lnTo>
                  <a:pt x="203707" y="0"/>
                </a:lnTo>
                <a:close/>
              </a:path>
              <a:path w="286385" h="259079">
                <a:moveTo>
                  <a:pt x="82550" y="0"/>
                </a:moveTo>
                <a:lnTo>
                  <a:pt x="47323" y="16637"/>
                </a:lnTo>
                <a:lnTo>
                  <a:pt x="21336" y="45465"/>
                </a:lnTo>
                <a:lnTo>
                  <a:pt x="5334" y="83947"/>
                </a:lnTo>
                <a:lnTo>
                  <a:pt x="0" y="129666"/>
                </a:lnTo>
                <a:lnTo>
                  <a:pt x="1313" y="153429"/>
                </a:lnTo>
                <a:lnTo>
                  <a:pt x="11894" y="195478"/>
                </a:lnTo>
                <a:lnTo>
                  <a:pt x="33043" y="229647"/>
                </a:lnTo>
                <a:lnTo>
                  <a:pt x="63714" y="252317"/>
                </a:lnTo>
                <a:lnTo>
                  <a:pt x="82550" y="259079"/>
                </a:lnTo>
                <a:lnTo>
                  <a:pt x="85851" y="248538"/>
                </a:lnTo>
                <a:lnTo>
                  <a:pt x="71062" y="242014"/>
                </a:lnTo>
                <a:lnTo>
                  <a:pt x="58308" y="232917"/>
                </a:lnTo>
                <a:lnTo>
                  <a:pt x="32194" y="190456"/>
                </a:lnTo>
                <a:lnTo>
                  <a:pt x="24574" y="151110"/>
                </a:lnTo>
                <a:lnTo>
                  <a:pt x="23621" y="128269"/>
                </a:lnTo>
                <a:lnTo>
                  <a:pt x="24574" y="106122"/>
                </a:lnTo>
                <a:lnTo>
                  <a:pt x="32194" y="67780"/>
                </a:lnTo>
                <a:lnTo>
                  <a:pt x="58404" y="26050"/>
                </a:lnTo>
                <a:lnTo>
                  <a:pt x="86232" y="10540"/>
                </a:lnTo>
                <a:lnTo>
                  <a:pt x="82550" y="0"/>
                </a:lnTo>
                <a:close/>
              </a:path>
            </a:pathLst>
          </a:custGeom>
          <a:solidFill>
            <a:srgbClr val="3C3C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437464" y="3496006"/>
            <a:ext cx="339725" cy="259079"/>
          </a:xfrm>
          <a:custGeom>
            <a:avLst/>
            <a:gdLst/>
            <a:ahLst/>
            <a:cxnLst/>
            <a:rect l="l" t="t" r="r" b="b"/>
            <a:pathLst>
              <a:path w="339725" h="259079">
                <a:moveTo>
                  <a:pt x="257048" y="0"/>
                </a:moveTo>
                <a:lnTo>
                  <a:pt x="253365" y="10541"/>
                </a:lnTo>
                <a:lnTo>
                  <a:pt x="268339" y="17039"/>
                </a:lnTo>
                <a:lnTo>
                  <a:pt x="281241" y="26050"/>
                </a:lnTo>
                <a:lnTo>
                  <a:pt x="307403" y="67780"/>
                </a:lnTo>
                <a:lnTo>
                  <a:pt x="315023" y="106122"/>
                </a:lnTo>
                <a:lnTo>
                  <a:pt x="315976" y="128269"/>
                </a:lnTo>
                <a:lnTo>
                  <a:pt x="315021" y="151110"/>
                </a:lnTo>
                <a:lnTo>
                  <a:pt x="307349" y="190456"/>
                </a:lnTo>
                <a:lnTo>
                  <a:pt x="281273" y="232918"/>
                </a:lnTo>
                <a:lnTo>
                  <a:pt x="253746" y="248538"/>
                </a:lnTo>
                <a:lnTo>
                  <a:pt x="257048" y="259080"/>
                </a:lnTo>
                <a:lnTo>
                  <a:pt x="292385" y="242506"/>
                </a:lnTo>
                <a:lnTo>
                  <a:pt x="318389" y="213741"/>
                </a:lnTo>
                <a:lnTo>
                  <a:pt x="334279" y="175371"/>
                </a:lnTo>
                <a:lnTo>
                  <a:pt x="339598" y="129667"/>
                </a:lnTo>
                <a:lnTo>
                  <a:pt x="338264" y="105902"/>
                </a:lnTo>
                <a:lnTo>
                  <a:pt x="327596" y="63801"/>
                </a:lnTo>
                <a:lnTo>
                  <a:pt x="306429" y="29539"/>
                </a:lnTo>
                <a:lnTo>
                  <a:pt x="275810" y="6782"/>
                </a:lnTo>
                <a:lnTo>
                  <a:pt x="257048" y="0"/>
                </a:lnTo>
                <a:close/>
              </a:path>
              <a:path w="339725" h="259079">
                <a:moveTo>
                  <a:pt x="82550" y="0"/>
                </a:moveTo>
                <a:lnTo>
                  <a:pt x="47323" y="16637"/>
                </a:lnTo>
                <a:lnTo>
                  <a:pt x="21336" y="45466"/>
                </a:lnTo>
                <a:lnTo>
                  <a:pt x="5334" y="83947"/>
                </a:lnTo>
                <a:lnTo>
                  <a:pt x="0" y="129667"/>
                </a:lnTo>
                <a:lnTo>
                  <a:pt x="1313" y="153429"/>
                </a:lnTo>
                <a:lnTo>
                  <a:pt x="11894" y="195478"/>
                </a:lnTo>
                <a:lnTo>
                  <a:pt x="33043" y="229647"/>
                </a:lnTo>
                <a:lnTo>
                  <a:pt x="63714" y="252317"/>
                </a:lnTo>
                <a:lnTo>
                  <a:pt x="82550" y="259080"/>
                </a:lnTo>
                <a:lnTo>
                  <a:pt x="85852" y="248538"/>
                </a:lnTo>
                <a:lnTo>
                  <a:pt x="71064" y="242014"/>
                </a:lnTo>
                <a:lnTo>
                  <a:pt x="58324" y="232918"/>
                </a:lnTo>
                <a:lnTo>
                  <a:pt x="32248" y="190456"/>
                </a:lnTo>
                <a:lnTo>
                  <a:pt x="24576" y="151110"/>
                </a:lnTo>
                <a:lnTo>
                  <a:pt x="23622" y="128269"/>
                </a:lnTo>
                <a:lnTo>
                  <a:pt x="24576" y="106122"/>
                </a:lnTo>
                <a:lnTo>
                  <a:pt x="32248" y="67780"/>
                </a:lnTo>
                <a:lnTo>
                  <a:pt x="58420" y="26050"/>
                </a:lnTo>
                <a:lnTo>
                  <a:pt x="86233" y="10541"/>
                </a:lnTo>
                <a:lnTo>
                  <a:pt x="82550" y="0"/>
                </a:lnTo>
                <a:close/>
              </a:path>
            </a:pathLst>
          </a:custGeom>
          <a:solidFill>
            <a:srgbClr val="3C3C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901267" y="3496006"/>
            <a:ext cx="286385" cy="259079"/>
          </a:xfrm>
          <a:custGeom>
            <a:avLst/>
            <a:gdLst/>
            <a:ahLst/>
            <a:cxnLst/>
            <a:rect l="l" t="t" r="r" b="b"/>
            <a:pathLst>
              <a:path w="286385" h="259079">
                <a:moveTo>
                  <a:pt x="203707" y="0"/>
                </a:moveTo>
                <a:lnTo>
                  <a:pt x="200025" y="10541"/>
                </a:lnTo>
                <a:lnTo>
                  <a:pt x="214999" y="17039"/>
                </a:lnTo>
                <a:lnTo>
                  <a:pt x="227901" y="26050"/>
                </a:lnTo>
                <a:lnTo>
                  <a:pt x="254063" y="67780"/>
                </a:lnTo>
                <a:lnTo>
                  <a:pt x="261683" y="106122"/>
                </a:lnTo>
                <a:lnTo>
                  <a:pt x="262636" y="128269"/>
                </a:lnTo>
                <a:lnTo>
                  <a:pt x="261681" y="151110"/>
                </a:lnTo>
                <a:lnTo>
                  <a:pt x="254009" y="190456"/>
                </a:lnTo>
                <a:lnTo>
                  <a:pt x="227933" y="232918"/>
                </a:lnTo>
                <a:lnTo>
                  <a:pt x="200405" y="248538"/>
                </a:lnTo>
                <a:lnTo>
                  <a:pt x="203707" y="259080"/>
                </a:lnTo>
                <a:lnTo>
                  <a:pt x="239045" y="242506"/>
                </a:lnTo>
                <a:lnTo>
                  <a:pt x="265049" y="213741"/>
                </a:lnTo>
                <a:lnTo>
                  <a:pt x="280939" y="175371"/>
                </a:lnTo>
                <a:lnTo>
                  <a:pt x="286257" y="129667"/>
                </a:lnTo>
                <a:lnTo>
                  <a:pt x="284924" y="105902"/>
                </a:lnTo>
                <a:lnTo>
                  <a:pt x="274256" y="63801"/>
                </a:lnTo>
                <a:lnTo>
                  <a:pt x="253089" y="29539"/>
                </a:lnTo>
                <a:lnTo>
                  <a:pt x="222470" y="6782"/>
                </a:lnTo>
                <a:lnTo>
                  <a:pt x="203707" y="0"/>
                </a:lnTo>
                <a:close/>
              </a:path>
              <a:path w="286385" h="259079">
                <a:moveTo>
                  <a:pt x="82550" y="0"/>
                </a:moveTo>
                <a:lnTo>
                  <a:pt x="47323" y="16637"/>
                </a:lnTo>
                <a:lnTo>
                  <a:pt x="21336" y="45466"/>
                </a:lnTo>
                <a:lnTo>
                  <a:pt x="5334" y="83947"/>
                </a:lnTo>
                <a:lnTo>
                  <a:pt x="0" y="129667"/>
                </a:lnTo>
                <a:lnTo>
                  <a:pt x="1313" y="153429"/>
                </a:lnTo>
                <a:lnTo>
                  <a:pt x="11894" y="195478"/>
                </a:lnTo>
                <a:lnTo>
                  <a:pt x="33043" y="229647"/>
                </a:lnTo>
                <a:lnTo>
                  <a:pt x="63714" y="252317"/>
                </a:lnTo>
                <a:lnTo>
                  <a:pt x="82550" y="259080"/>
                </a:lnTo>
                <a:lnTo>
                  <a:pt x="85851" y="248538"/>
                </a:lnTo>
                <a:lnTo>
                  <a:pt x="71062" y="242014"/>
                </a:lnTo>
                <a:lnTo>
                  <a:pt x="58308" y="232918"/>
                </a:lnTo>
                <a:lnTo>
                  <a:pt x="32194" y="190456"/>
                </a:lnTo>
                <a:lnTo>
                  <a:pt x="24574" y="151110"/>
                </a:lnTo>
                <a:lnTo>
                  <a:pt x="23621" y="128269"/>
                </a:lnTo>
                <a:lnTo>
                  <a:pt x="24574" y="106122"/>
                </a:lnTo>
                <a:lnTo>
                  <a:pt x="32194" y="67780"/>
                </a:lnTo>
                <a:lnTo>
                  <a:pt x="58404" y="26050"/>
                </a:lnTo>
                <a:lnTo>
                  <a:pt x="86232" y="10541"/>
                </a:lnTo>
                <a:lnTo>
                  <a:pt x="82550" y="0"/>
                </a:lnTo>
                <a:close/>
              </a:path>
            </a:pathLst>
          </a:custGeom>
          <a:solidFill>
            <a:srgbClr val="3C3C3C"/>
          </a:solidFill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16"/>
              <p:cNvSpPr txBox="1"/>
              <p:nvPr/>
            </p:nvSpPr>
            <p:spPr>
              <a:xfrm>
                <a:off x="675005" y="2514600"/>
                <a:ext cx="6792595" cy="2964180"/>
              </a:xfrm>
              <a:prstGeom prst="rect">
                <a:avLst/>
              </a:prstGeom>
            </p:spPr>
            <p:txBody>
              <a:bodyPr vert="horz" wrap="square" lIns="0" tIns="88900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700"/>
                  </a:spcBef>
                </a:pPr>
                <a:r>
                  <a:rPr lang="es-CO" sz="2200" spc="-120" dirty="0">
                    <a:solidFill>
                      <a:srgbClr val="3C3C3C"/>
                    </a:solidFill>
                    <a:latin typeface="Trebuchet MS"/>
                    <a:cs typeface="Trebuchet MS"/>
                  </a:rPr>
                  <a:t>características</a:t>
                </a:r>
                <a:r>
                  <a:rPr lang="es-CO" sz="2200" spc="-45" dirty="0">
                    <a:solidFill>
                      <a:srgbClr val="3C3C3C"/>
                    </a:solidFill>
                    <a:latin typeface="Trebuchet MS"/>
                    <a:cs typeface="Trebuchet MS"/>
                  </a:rPr>
                  <a:t> </a:t>
                </a:r>
                <a:r>
                  <a:rPr lang="es-CO" sz="2200" spc="-140" dirty="0">
                    <a:solidFill>
                      <a:srgbClr val="3C3C3C"/>
                    </a:solidFill>
                    <a:latin typeface="Trebuchet MS"/>
                    <a:cs typeface="Trebuchet MS"/>
                  </a:rPr>
                  <a:t>del</a:t>
                </a:r>
                <a:r>
                  <a:rPr lang="es-CO" sz="2200" spc="-50" dirty="0">
                    <a:solidFill>
                      <a:srgbClr val="3C3C3C"/>
                    </a:solidFill>
                    <a:latin typeface="Trebuchet MS"/>
                    <a:cs typeface="Trebuchet MS"/>
                  </a:rPr>
                  <a:t> </a:t>
                </a:r>
                <a:r>
                  <a:rPr lang="es-CO" sz="2200" spc="-75" dirty="0">
                    <a:solidFill>
                      <a:srgbClr val="3C3C3C"/>
                    </a:solidFill>
                    <a:latin typeface="Trebuchet MS"/>
                    <a:cs typeface="Trebuchet MS"/>
                  </a:rPr>
                  <a:t>deciso</a:t>
                </a:r>
                <a:r>
                  <a:rPr lang="es-CO" sz="2200" spc="15" dirty="0">
                    <a:solidFill>
                      <a:srgbClr val="3C3C3C"/>
                    </a:solidFill>
                    <a:latin typeface="Trebuchet MS"/>
                    <a:cs typeface="Trebuchet MS"/>
                  </a:rPr>
                  <a:t>r</a:t>
                </a:r>
                <a:r>
                  <a:rPr lang="es-CO" sz="2200" spc="-325" dirty="0">
                    <a:solidFill>
                      <a:srgbClr val="3C3C3C"/>
                    </a:solidFill>
                    <a:latin typeface="Trebuchet MS"/>
                    <a:cs typeface="Trebuchet MS"/>
                  </a:rPr>
                  <a:t>:</a:t>
                </a:r>
                <a:endParaRPr lang="es-CO" sz="2200" dirty="0">
                  <a:latin typeface="Trebuchet MS"/>
                  <a:cs typeface="Trebuchet MS"/>
                </a:endParaRPr>
              </a:p>
              <a:p>
                <a:pPr marL="1324610" algn="ctr">
                  <a:lnSpc>
                    <a:spcPct val="100000"/>
                  </a:lnSpc>
                  <a:spcBef>
                    <a:spcPts val="600"/>
                  </a:spcBef>
                  <a:tabLst>
                    <a:tab pos="2000250" algn="l"/>
                    <a:tab pos="2352040" algn="l"/>
                    <a:tab pos="3754120" algn="l"/>
                  </a:tabLst>
                </a:pPr>
                <a:r>
                  <a:rPr lang="es-CO" sz="2200" spc="-5" dirty="0">
                    <a:solidFill>
                      <a:srgbClr val="3C3C3C"/>
                    </a:solidFill>
                    <a:latin typeface="Cambria Math"/>
                    <a:cs typeface="Cambria Math"/>
                  </a:rPr>
                  <a:t>𝑆𝑖</a:t>
                </a:r>
                <a:r>
                  <a:rPr lang="es-CO" sz="2200" spc="75" dirty="0">
                    <a:solidFill>
                      <a:srgbClr val="3C3C3C"/>
                    </a:solidFill>
                    <a:latin typeface="Cambria Math"/>
                    <a:cs typeface="Cambria Math"/>
                  </a:rPr>
                  <a:t> </a:t>
                </a:r>
                <a:r>
                  <a:rPr lang="es-CO" sz="2200" spc="105" dirty="0">
                    <a:solidFill>
                      <a:srgbClr val="3C3C3C"/>
                    </a:solidFill>
                    <a:latin typeface="Cambria Math"/>
                    <a:cs typeface="Cambria Math"/>
                  </a:rPr>
                  <a:t>𝑢</a:t>
                </a:r>
                <a:r>
                  <a:rPr lang="es-CO" sz="2400" spc="157" baseline="27777" dirty="0">
                    <a:solidFill>
                      <a:srgbClr val="3C3C3C"/>
                    </a:solidFill>
                    <a:latin typeface="Cambria Math"/>
                    <a:cs typeface="Cambria Math"/>
                  </a:rPr>
                  <a:t>′	</a:t>
                </a:r>
                <a:r>
                  <a:rPr lang="es-CO" sz="2200" dirty="0">
                    <a:solidFill>
                      <a:srgbClr val="3C3C3C"/>
                    </a:solidFill>
                    <a:latin typeface="Cambria Math"/>
                    <a:cs typeface="Cambria Math"/>
                  </a:rPr>
                  <a:t>𝑥	&gt;</a:t>
                </a:r>
                <a:r>
                  <a:rPr lang="es-CO" sz="2200" spc="125" dirty="0">
                    <a:solidFill>
                      <a:srgbClr val="3C3C3C"/>
                    </a:solidFill>
                    <a:latin typeface="Cambria Math"/>
                    <a:cs typeface="Cambria Math"/>
                  </a:rPr>
                  <a:t> </a:t>
                </a:r>
                <a:r>
                  <a:rPr lang="es-CO" sz="2200" dirty="0">
                    <a:solidFill>
                      <a:srgbClr val="3C3C3C"/>
                    </a:solidFill>
                    <a:latin typeface="Cambria Math"/>
                    <a:cs typeface="Cambria Math"/>
                  </a:rPr>
                  <a:t>0</a:t>
                </a:r>
                <a:r>
                  <a:rPr lang="es-CO" sz="2200" spc="120" dirty="0">
                    <a:solidFill>
                      <a:srgbClr val="3C3C3C"/>
                    </a:solidFill>
                    <a:latin typeface="Cambria Math"/>
                    <a:cs typeface="Cambria Math"/>
                  </a:rPr>
                  <a:t> </a:t>
                </a:r>
                <a:r>
                  <a:rPr lang="es-CO" sz="2200" dirty="0">
                    <a:solidFill>
                      <a:srgbClr val="3C3C3C"/>
                    </a:solidFill>
                    <a:latin typeface="Cambria Math"/>
                    <a:cs typeface="Cambria Math"/>
                  </a:rPr>
                  <a:t>⇒</a:t>
                </a:r>
                <a:r>
                  <a:rPr lang="es-CO" sz="2200" spc="120" dirty="0">
                    <a:solidFill>
                      <a:srgbClr val="3C3C3C"/>
                    </a:solidFill>
                    <a:latin typeface="Cambria Math"/>
                    <a:cs typeface="Cambria Math"/>
                  </a:rPr>
                  <a:t> </a:t>
                </a:r>
                <a:r>
                  <a:rPr lang="es-CO" sz="2200" dirty="0">
                    <a:solidFill>
                      <a:srgbClr val="3C3C3C"/>
                    </a:solidFill>
                    <a:latin typeface="Cambria Math"/>
                    <a:cs typeface="Cambria Math"/>
                  </a:rPr>
                  <a:t>𝑢</a:t>
                </a:r>
                <a:r>
                  <a:rPr lang="es-CO" sz="2200" spc="480" dirty="0">
                    <a:solidFill>
                      <a:srgbClr val="3C3C3C"/>
                    </a:solidFill>
                    <a:latin typeface="Cambria Math"/>
                    <a:cs typeface="Cambria Math"/>
                  </a:rPr>
                  <a:t> </a:t>
                </a:r>
                <a:r>
                  <a:rPr lang="es-CO" sz="2200" dirty="0">
                    <a:solidFill>
                      <a:srgbClr val="3C3C3C"/>
                    </a:solidFill>
                    <a:latin typeface="Cambria Math"/>
                    <a:cs typeface="Cambria Math"/>
                  </a:rPr>
                  <a:t>.	</a:t>
                </a:r>
                <a:r>
                  <a:rPr lang="es-CO" sz="2200" spc="-5" dirty="0">
                    <a:solidFill>
                      <a:srgbClr val="3C3C3C"/>
                    </a:solidFill>
                    <a:latin typeface="Cambria Math"/>
                    <a:cs typeface="Cambria Math"/>
                  </a:rPr>
                  <a:t>𝑒𝑠</a:t>
                </a:r>
                <a:r>
                  <a:rPr lang="es-CO" sz="2200" spc="20" dirty="0">
                    <a:solidFill>
                      <a:srgbClr val="3C3C3C"/>
                    </a:solidFill>
                    <a:latin typeface="Cambria Math"/>
                    <a:cs typeface="Cambria Math"/>
                  </a:rPr>
                  <a:t> </a:t>
                </a:r>
                <a:r>
                  <a:rPr lang="es-CO" sz="2200" spc="-5" dirty="0">
                    <a:solidFill>
                      <a:srgbClr val="3C3C3C"/>
                    </a:solidFill>
                    <a:latin typeface="Cambria Math"/>
                    <a:cs typeface="Cambria Math"/>
                  </a:rPr>
                  <a:t>𝑐𝑟𝑒𝑐𝑖𝑒𝑛𝑡𝑒</a:t>
                </a:r>
                <a:endParaRPr lang="es-CO" sz="2200" dirty="0">
                  <a:latin typeface="Cambria Math"/>
                  <a:cs typeface="Cambria Math"/>
                </a:endParaRPr>
              </a:p>
              <a:p>
                <a:pPr marL="1323975" algn="ctr">
                  <a:lnSpc>
                    <a:spcPct val="100000"/>
                  </a:lnSpc>
                  <a:spcBef>
                    <a:spcPts val="600"/>
                  </a:spcBef>
                  <a:tabLst>
                    <a:tab pos="2064385" algn="l"/>
                    <a:tab pos="2414905" algn="l"/>
                    <a:tab pos="3809365" algn="l"/>
                  </a:tabLst>
                </a:pPr>
                <a:r>
                  <a:rPr lang="es-CO" sz="2200" spc="-5" dirty="0">
                    <a:solidFill>
                      <a:srgbClr val="3C3C3C"/>
                    </a:solidFill>
                    <a:latin typeface="Cambria Math"/>
                    <a:cs typeface="Cambria Math"/>
                  </a:rPr>
                  <a:t>𝑆𝑖</a:t>
                </a:r>
                <a:r>
                  <a:rPr lang="es-CO" sz="2200" spc="75" dirty="0">
                    <a:solidFill>
                      <a:srgbClr val="3C3C3C"/>
                    </a:solidFill>
                    <a:latin typeface="Cambria Math"/>
                    <a:cs typeface="Cambria Math"/>
                  </a:rPr>
                  <a:t> </a:t>
                </a:r>
                <a:r>
                  <a:rPr lang="es-CO" sz="2200" spc="50" dirty="0">
                    <a:solidFill>
                      <a:srgbClr val="3C3C3C"/>
                    </a:solidFill>
                    <a:latin typeface="Cambria Math"/>
                    <a:cs typeface="Cambria Math"/>
                  </a:rPr>
                  <a:t>𝑢´´</a:t>
                </a:r>
                <a:r>
                  <a:rPr lang="es-CO" sz="2400" spc="75" baseline="27777" dirty="0">
                    <a:solidFill>
                      <a:srgbClr val="3C3C3C"/>
                    </a:solidFill>
                    <a:latin typeface="Cambria Math"/>
                    <a:cs typeface="Cambria Math"/>
                  </a:rPr>
                  <a:t>	</a:t>
                </a:r>
                <a:r>
                  <a:rPr lang="es-CO" sz="2200" dirty="0">
                    <a:solidFill>
                      <a:srgbClr val="3C3C3C"/>
                    </a:solidFill>
                    <a:latin typeface="Cambria Math"/>
                    <a:cs typeface="Cambria Math"/>
                  </a:rPr>
                  <a:t>𝑥	&lt;</a:t>
                </a:r>
                <a:r>
                  <a:rPr lang="es-CO" sz="2200" spc="130" dirty="0">
                    <a:solidFill>
                      <a:srgbClr val="3C3C3C"/>
                    </a:solidFill>
                    <a:latin typeface="Cambria Math"/>
                    <a:cs typeface="Cambria Math"/>
                  </a:rPr>
                  <a:t> </a:t>
                </a:r>
                <a:r>
                  <a:rPr lang="es-CO" sz="2200" dirty="0">
                    <a:solidFill>
                      <a:srgbClr val="3C3C3C"/>
                    </a:solidFill>
                    <a:latin typeface="Cambria Math"/>
                    <a:cs typeface="Cambria Math"/>
                  </a:rPr>
                  <a:t>0</a:t>
                </a:r>
                <a:r>
                  <a:rPr lang="es-CO" sz="2200" spc="114" dirty="0">
                    <a:solidFill>
                      <a:srgbClr val="3C3C3C"/>
                    </a:solidFill>
                    <a:latin typeface="Cambria Math"/>
                    <a:cs typeface="Cambria Math"/>
                  </a:rPr>
                  <a:t> </a:t>
                </a:r>
                <a:r>
                  <a:rPr lang="es-CO" sz="2200" dirty="0">
                    <a:solidFill>
                      <a:srgbClr val="3C3C3C"/>
                    </a:solidFill>
                    <a:latin typeface="Cambria Math"/>
                    <a:cs typeface="Cambria Math"/>
                  </a:rPr>
                  <a:t>→</a:t>
                </a:r>
                <a:r>
                  <a:rPr lang="es-CO" sz="2200" spc="114" dirty="0">
                    <a:solidFill>
                      <a:srgbClr val="3C3C3C"/>
                    </a:solidFill>
                    <a:latin typeface="Cambria Math"/>
                    <a:cs typeface="Cambria Math"/>
                  </a:rPr>
                  <a:t> </a:t>
                </a:r>
                <a:r>
                  <a:rPr lang="es-CO" sz="2200" dirty="0">
                    <a:solidFill>
                      <a:srgbClr val="3C3C3C"/>
                    </a:solidFill>
                    <a:latin typeface="Cambria Math"/>
                    <a:cs typeface="Cambria Math"/>
                  </a:rPr>
                  <a:t>𝑢  .	</a:t>
                </a:r>
                <a:r>
                  <a:rPr lang="es-CO" sz="2200" spc="-5" dirty="0">
                    <a:solidFill>
                      <a:srgbClr val="3C3C3C"/>
                    </a:solidFill>
                    <a:latin typeface="Cambria Math"/>
                    <a:cs typeface="Cambria Math"/>
                  </a:rPr>
                  <a:t>𝑒𝑠</a:t>
                </a:r>
                <a:r>
                  <a:rPr lang="es-CO" sz="2200" spc="5" dirty="0">
                    <a:solidFill>
                      <a:srgbClr val="3C3C3C"/>
                    </a:solidFill>
                    <a:latin typeface="Cambria Math"/>
                    <a:cs typeface="Cambria Math"/>
                  </a:rPr>
                  <a:t> </a:t>
                </a:r>
                <a:r>
                  <a:rPr lang="es-CO" sz="2200" dirty="0">
                    <a:solidFill>
                      <a:srgbClr val="3C3C3C"/>
                    </a:solidFill>
                    <a:latin typeface="Cambria Math"/>
                    <a:cs typeface="Cambria Math"/>
                  </a:rPr>
                  <a:t>𝑐ó𝑛𝑐𝑎𝑣𝑎</a:t>
                </a:r>
                <a:endParaRPr lang="es-CO" sz="2200" dirty="0">
                  <a:latin typeface="Cambria Math"/>
                  <a:cs typeface="Cambria Math"/>
                </a:endParaRPr>
              </a:p>
              <a:p>
                <a:pPr marL="1323340" algn="ctr">
                  <a:lnSpc>
                    <a:spcPct val="100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s-CO" sz="2200" i="1" smtClean="0">
                        <a:solidFill>
                          <a:srgbClr val="3C3C3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/>
                      </a:rPr>
                      <m:t>∴</m:t>
                    </m:r>
                    <m:r>
                      <a:rPr lang="es-CO" sz="2200" b="0" i="0" smtClean="0">
                        <a:solidFill>
                          <a:srgbClr val="3C3C3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/>
                      </a:rPr>
                      <m:t> </m:t>
                    </m:r>
                  </m:oMath>
                </a14:m>
                <a:r>
                  <a:rPr lang="es-CO" sz="2200" dirty="0">
                    <a:solidFill>
                      <a:srgbClr val="3C3C3C"/>
                    </a:solidFill>
                    <a:latin typeface="Cambria Math"/>
                    <a:cs typeface="Cambria Math"/>
                  </a:rPr>
                  <a:t>⇒</a:t>
                </a:r>
                <a:r>
                  <a:rPr lang="es-CO" sz="2200" spc="95" dirty="0">
                    <a:solidFill>
                      <a:srgbClr val="3C3C3C"/>
                    </a:solidFill>
                    <a:latin typeface="Cambria Math"/>
                    <a:cs typeface="Cambria Math"/>
                  </a:rPr>
                  <a:t> </a:t>
                </a:r>
                <a:r>
                  <a:rPr lang="es-CO" sz="2200" dirty="0">
                    <a:solidFill>
                      <a:srgbClr val="3C3C3C"/>
                    </a:solidFill>
                    <a:latin typeface="Cambria Math"/>
                    <a:cs typeface="Cambria Math"/>
                  </a:rPr>
                  <a:t>𝐷</a:t>
                </a:r>
                <a:r>
                  <a:rPr lang="es-CO" sz="2200" spc="50" dirty="0">
                    <a:solidFill>
                      <a:srgbClr val="3C3C3C"/>
                    </a:solidFill>
                    <a:latin typeface="Cambria Math"/>
                    <a:cs typeface="Cambria Math"/>
                  </a:rPr>
                  <a:t> </a:t>
                </a:r>
                <a:r>
                  <a:rPr lang="es-CO" sz="2200" spc="-5" dirty="0">
                    <a:solidFill>
                      <a:srgbClr val="3C3C3C"/>
                    </a:solidFill>
                    <a:latin typeface="Cambria Math"/>
                    <a:cs typeface="Cambria Math"/>
                  </a:rPr>
                  <a:t>𝑒𝑠</a:t>
                </a:r>
                <a:r>
                  <a:rPr lang="es-CO" sz="2200" spc="20" dirty="0">
                    <a:solidFill>
                      <a:srgbClr val="3C3C3C"/>
                    </a:solidFill>
                    <a:latin typeface="Cambria Math"/>
                    <a:cs typeface="Cambria Math"/>
                  </a:rPr>
                  <a:t> </a:t>
                </a:r>
                <a:r>
                  <a:rPr lang="es-CO" sz="2200" spc="-5" dirty="0">
                    <a:solidFill>
                      <a:srgbClr val="3C3C3C"/>
                    </a:solidFill>
                    <a:latin typeface="Cambria Math"/>
                    <a:cs typeface="Cambria Math"/>
                  </a:rPr>
                  <a:t>𝐴𝑣𝑒𝑟𝑠𝑜</a:t>
                </a:r>
                <a:endParaRPr lang="es-CO" sz="2200" dirty="0">
                  <a:latin typeface="Cambria Math"/>
                  <a:cs typeface="Cambria Math"/>
                </a:endParaRPr>
              </a:p>
              <a:p>
                <a:pPr>
                  <a:lnSpc>
                    <a:spcPct val="100000"/>
                  </a:lnSpc>
                </a:pPr>
                <a:endParaRPr lang="es-CO" sz="2200" dirty="0">
                  <a:latin typeface="Cambria Math"/>
                  <a:cs typeface="Cambria Math"/>
                </a:endParaRPr>
              </a:p>
              <a:p>
                <a:pPr>
                  <a:lnSpc>
                    <a:spcPct val="100000"/>
                  </a:lnSpc>
                  <a:spcBef>
                    <a:spcPts val="30"/>
                  </a:spcBef>
                </a:pPr>
                <a:endParaRPr lang="es-CO" sz="1950" dirty="0">
                  <a:latin typeface="Cambria Math"/>
                  <a:cs typeface="Cambria Math"/>
                </a:endParaRPr>
              </a:p>
              <a:p>
                <a:pPr marL="38100">
                  <a:lnSpc>
                    <a:spcPct val="100000"/>
                  </a:lnSpc>
                </a:pPr>
                <a:r>
                  <a:rPr lang="es-CO" sz="2200" spc="-105" dirty="0">
                    <a:solidFill>
                      <a:srgbClr val="3C3C3C"/>
                    </a:solidFill>
                    <a:latin typeface="Trebuchet MS"/>
                    <a:cs typeface="Trebuchet MS"/>
                  </a:rPr>
                  <a:t>Adicionalment</a:t>
                </a:r>
                <a:r>
                  <a:rPr lang="es-CO" sz="2200" spc="-80" dirty="0">
                    <a:solidFill>
                      <a:srgbClr val="3C3C3C"/>
                    </a:solidFill>
                    <a:latin typeface="Trebuchet MS"/>
                    <a:cs typeface="Trebuchet MS"/>
                  </a:rPr>
                  <a:t>e</a:t>
                </a:r>
                <a:r>
                  <a:rPr lang="es-CO" sz="2200" spc="-325" dirty="0">
                    <a:solidFill>
                      <a:srgbClr val="3C3C3C"/>
                    </a:solidFill>
                    <a:latin typeface="Trebuchet MS"/>
                    <a:cs typeface="Trebuchet MS"/>
                  </a:rPr>
                  <a:t>,</a:t>
                </a:r>
                <a:r>
                  <a:rPr lang="es-CO" sz="2200" spc="-270" dirty="0">
                    <a:solidFill>
                      <a:srgbClr val="3C3C3C"/>
                    </a:solidFill>
                    <a:latin typeface="Trebuchet MS"/>
                    <a:cs typeface="Trebuchet MS"/>
                  </a:rPr>
                  <a:t> </a:t>
                </a:r>
                <a:r>
                  <a:rPr lang="es-CO" sz="2200" spc="-95" dirty="0">
                    <a:solidFill>
                      <a:srgbClr val="3C3C3C"/>
                    </a:solidFill>
                    <a:latin typeface="Trebuchet MS"/>
                    <a:cs typeface="Trebuchet MS"/>
                  </a:rPr>
                  <a:t>es</a:t>
                </a:r>
                <a:r>
                  <a:rPr lang="es-CO" sz="2200" spc="-60" dirty="0">
                    <a:solidFill>
                      <a:srgbClr val="3C3C3C"/>
                    </a:solidFill>
                    <a:latin typeface="Trebuchet MS"/>
                    <a:cs typeface="Trebuchet MS"/>
                  </a:rPr>
                  <a:t> </a:t>
                </a:r>
                <a:r>
                  <a:rPr lang="es-CO" sz="2200" spc="-125" dirty="0">
                    <a:solidFill>
                      <a:srgbClr val="3C3C3C"/>
                    </a:solidFill>
                    <a:latin typeface="Trebuchet MS"/>
                    <a:cs typeface="Trebuchet MS"/>
                  </a:rPr>
                  <a:t>de</a:t>
                </a:r>
                <a:r>
                  <a:rPr lang="es-CO" sz="2200" spc="-50" dirty="0">
                    <a:solidFill>
                      <a:srgbClr val="3C3C3C"/>
                    </a:solidFill>
                    <a:latin typeface="Trebuchet MS"/>
                    <a:cs typeface="Trebuchet MS"/>
                  </a:rPr>
                  <a:t> </a:t>
                </a:r>
                <a:r>
                  <a:rPr lang="es-CO" sz="2200" spc="-110" dirty="0">
                    <a:solidFill>
                      <a:srgbClr val="3C3C3C"/>
                    </a:solidFill>
                    <a:latin typeface="Trebuchet MS"/>
                    <a:cs typeface="Trebuchet MS"/>
                  </a:rPr>
                  <a:t>interé</a:t>
                </a:r>
                <a:r>
                  <a:rPr lang="es-CO" sz="2200" spc="-95" dirty="0">
                    <a:solidFill>
                      <a:srgbClr val="3C3C3C"/>
                    </a:solidFill>
                    <a:latin typeface="Trebuchet MS"/>
                    <a:cs typeface="Trebuchet MS"/>
                  </a:rPr>
                  <a:t>s</a:t>
                </a:r>
                <a:r>
                  <a:rPr lang="es-CO" sz="2200" spc="-55" dirty="0">
                    <a:solidFill>
                      <a:srgbClr val="3C3C3C"/>
                    </a:solidFill>
                    <a:latin typeface="Trebuchet MS"/>
                    <a:cs typeface="Trebuchet MS"/>
                  </a:rPr>
                  <a:t> </a:t>
                </a:r>
                <a:r>
                  <a:rPr lang="es-CO" sz="2200" spc="-130" dirty="0">
                    <a:solidFill>
                      <a:srgbClr val="3C3C3C"/>
                    </a:solidFill>
                    <a:latin typeface="Trebuchet MS"/>
                    <a:cs typeface="Trebuchet MS"/>
                  </a:rPr>
                  <a:t>ten</a:t>
                </a:r>
                <a:r>
                  <a:rPr lang="es-CO" sz="2200" spc="-65" dirty="0">
                    <a:solidFill>
                      <a:srgbClr val="3C3C3C"/>
                    </a:solidFill>
                    <a:latin typeface="Trebuchet MS"/>
                    <a:cs typeface="Trebuchet MS"/>
                  </a:rPr>
                  <a:t>er</a:t>
                </a:r>
                <a:r>
                  <a:rPr lang="es-CO" sz="2200" spc="-60" dirty="0">
                    <a:solidFill>
                      <a:srgbClr val="3C3C3C"/>
                    </a:solidFill>
                    <a:latin typeface="Trebuchet MS"/>
                    <a:cs typeface="Trebuchet MS"/>
                  </a:rPr>
                  <a:t> </a:t>
                </a:r>
                <a:r>
                  <a:rPr lang="es-CO" sz="2200" spc="-140" dirty="0">
                    <a:solidFill>
                      <a:srgbClr val="3C3C3C"/>
                    </a:solidFill>
                    <a:latin typeface="Trebuchet MS"/>
                    <a:cs typeface="Trebuchet MS"/>
                  </a:rPr>
                  <a:t>una</a:t>
                </a:r>
                <a:r>
                  <a:rPr lang="es-CO" sz="2200" spc="-60" dirty="0">
                    <a:solidFill>
                      <a:srgbClr val="3C3C3C"/>
                    </a:solidFill>
                    <a:latin typeface="Trebuchet MS"/>
                    <a:cs typeface="Trebuchet MS"/>
                  </a:rPr>
                  <a:t> </a:t>
                </a:r>
                <a:r>
                  <a:rPr lang="es-CO" sz="2200" spc="-155" dirty="0">
                    <a:solidFill>
                      <a:srgbClr val="3C3C3C"/>
                    </a:solidFill>
                    <a:latin typeface="Trebuchet MS"/>
                    <a:cs typeface="Trebuchet MS"/>
                  </a:rPr>
                  <a:t>fun</a:t>
                </a:r>
                <a:r>
                  <a:rPr lang="es-CO" sz="2200" spc="-85" dirty="0">
                    <a:solidFill>
                      <a:srgbClr val="3C3C3C"/>
                    </a:solidFill>
                    <a:latin typeface="Trebuchet MS"/>
                    <a:cs typeface="Trebuchet MS"/>
                  </a:rPr>
                  <a:t>ción</a:t>
                </a:r>
                <a:r>
                  <a:rPr lang="es-CO" sz="2200" spc="-60" dirty="0">
                    <a:solidFill>
                      <a:srgbClr val="3C3C3C"/>
                    </a:solidFill>
                    <a:latin typeface="Trebuchet MS"/>
                    <a:cs typeface="Trebuchet MS"/>
                  </a:rPr>
                  <a:t> </a:t>
                </a:r>
                <a:r>
                  <a:rPr lang="es-CO" sz="2200" spc="-125" dirty="0">
                    <a:solidFill>
                      <a:srgbClr val="3C3C3C"/>
                    </a:solidFill>
                    <a:latin typeface="Trebuchet MS"/>
                    <a:cs typeface="Trebuchet MS"/>
                  </a:rPr>
                  <a:t>que</a:t>
                </a:r>
                <a:r>
                  <a:rPr lang="es-CO" sz="2200" spc="-60" dirty="0">
                    <a:solidFill>
                      <a:srgbClr val="3C3C3C"/>
                    </a:solidFill>
                    <a:latin typeface="Trebuchet MS"/>
                    <a:cs typeface="Trebuchet MS"/>
                  </a:rPr>
                  <a:t> </a:t>
                </a:r>
                <a:r>
                  <a:rPr lang="es-CO" sz="2200" spc="-40" dirty="0">
                    <a:solidFill>
                      <a:srgbClr val="3C3C3C"/>
                    </a:solidFill>
                    <a:latin typeface="Trebuchet MS"/>
                    <a:cs typeface="Trebuchet MS"/>
                  </a:rPr>
                  <a:t>nos</a:t>
                </a:r>
                <a:r>
                  <a:rPr lang="es-CO" sz="2200" spc="-55" dirty="0">
                    <a:solidFill>
                      <a:srgbClr val="3C3C3C"/>
                    </a:solidFill>
                    <a:latin typeface="Trebuchet MS"/>
                    <a:cs typeface="Trebuchet MS"/>
                  </a:rPr>
                  <a:t> </a:t>
                </a:r>
                <a:r>
                  <a:rPr lang="es-CO" sz="2200" spc="-125" dirty="0">
                    <a:solidFill>
                      <a:srgbClr val="3C3C3C"/>
                    </a:solidFill>
                    <a:latin typeface="Trebuchet MS"/>
                    <a:cs typeface="Trebuchet MS"/>
                  </a:rPr>
                  <a:t>dé</a:t>
                </a:r>
                <a:endParaRPr lang="es-CO" sz="2200" dirty="0">
                  <a:latin typeface="Trebuchet MS"/>
                  <a:cs typeface="Trebuchet MS"/>
                </a:endParaRPr>
              </a:p>
              <a:p>
                <a:pPr marL="38100">
                  <a:lnSpc>
                    <a:spcPct val="100000"/>
                  </a:lnSpc>
                </a:pPr>
                <a:r>
                  <a:rPr lang="es-CO" sz="2200" spc="-185" dirty="0">
                    <a:solidFill>
                      <a:srgbClr val="3C3C3C"/>
                    </a:solidFill>
                    <a:latin typeface="Trebuchet MS"/>
                    <a:cs typeface="Trebuchet MS"/>
                  </a:rPr>
                  <a:t>inf</a:t>
                </a:r>
                <a:r>
                  <a:rPr lang="es-CO" sz="2200" spc="-75" dirty="0">
                    <a:solidFill>
                      <a:srgbClr val="3C3C3C"/>
                    </a:solidFill>
                    <a:latin typeface="Trebuchet MS"/>
                    <a:cs typeface="Trebuchet MS"/>
                  </a:rPr>
                  <a:t>ormaci</a:t>
                </a:r>
                <a:r>
                  <a:rPr lang="es-CO" sz="2200" spc="-90" dirty="0">
                    <a:solidFill>
                      <a:srgbClr val="3C3C3C"/>
                    </a:solidFill>
                    <a:latin typeface="Trebuchet MS"/>
                    <a:cs typeface="Trebuchet MS"/>
                  </a:rPr>
                  <a:t>ó</a:t>
                </a:r>
                <a:r>
                  <a:rPr lang="es-CO" sz="2200" spc="-105" dirty="0">
                    <a:solidFill>
                      <a:srgbClr val="3C3C3C"/>
                    </a:solidFill>
                    <a:latin typeface="Trebuchet MS"/>
                    <a:cs typeface="Trebuchet MS"/>
                  </a:rPr>
                  <a:t>n</a:t>
                </a:r>
                <a:r>
                  <a:rPr lang="es-CO" sz="2200" spc="-45" dirty="0">
                    <a:solidFill>
                      <a:srgbClr val="3C3C3C"/>
                    </a:solidFill>
                    <a:latin typeface="Trebuchet MS"/>
                    <a:cs typeface="Trebuchet MS"/>
                  </a:rPr>
                  <a:t> </a:t>
                </a:r>
                <a:r>
                  <a:rPr lang="es-CO" sz="2200" spc="-130" dirty="0">
                    <a:solidFill>
                      <a:srgbClr val="3C3C3C"/>
                    </a:solidFill>
                    <a:latin typeface="Trebuchet MS"/>
                    <a:cs typeface="Trebuchet MS"/>
                  </a:rPr>
                  <a:t>ace</a:t>
                </a:r>
                <a:r>
                  <a:rPr lang="es-CO" sz="2200" spc="-150" dirty="0">
                    <a:solidFill>
                      <a:srgbClr val="3C3C3C"/>
                    </a:solidFill>
                    <a:latin typeface="Trebuchet MS"/>
                    <a:cs typeface="Trebuchet MS"/>
                  </a:rPr>
                  <a:t>r</a:t>
                </a:r>
                <a:r>
                  <a:rPr lang="es-CO" sz="2200" spc="-175" dirty="0">
                    <a:solidFill>
                      <a:srgbClr val="3C3C3C"/>
                    </a:solidFill>
                    <a:latin typeface="Trebuchet MS"/>
                    <a:cs typeface="Trebuchet MS"/>
                  </a:rPr>
                  <a:t>ca</a:t>
                </a:r>
                <a:r>
                  <a:rPr lang="es-CO" sz="2200" spc="-70" dirty="0">
                    <a:solidFill>
                      <a:srgbClr val="3C3C3C"/>
                    </a:solidFill>
                    <a:latin typeface="Trebuchet MS"/>
                    <a:cs typeface="Trebuchet MS"/>
                  </a:rPr>
                  <a:t> </a:t>
                </a:r>
                <a:r>
                  <a:rPr lang="es-CO" sz="2200" spc="-125" dirty="0">
                    <a:solidFill>
                      <a:srgbClr val="3C3C3C"/>
                    </a:solidFill>
                    <a:latin typeface="Trebuchet MS"/>
                    <a:cs typeface="Trebuchet MS"/>
                  </a:rPr>
                  <a:t>de</a:t>
                </a:r>
                <a:r>
                  <a:rPr lang="es-CO" sz="2200" spc="-275" dirty="0">
                    <a:solidFill>
                      <a:srgbClr val="3C3C3C"/>
                    </a:solidFill>
                    <a:latin typeface="Trebuchet MS"/>
                    <a:cs typeface="Trebuchet MS"/>
                  </a:rPr>
                  <a:t> </a:t>
                </a:r>
                <a:r>
                  <a:rPr lang="es-CO" sz="2200" spc="-150" dirty="0">
                    <a:solidFill>
                      <a:srgbClr val="3C3C3C"/>
                    </a:solidFill>
                    <a:latin typeface="Trebuchet MS"/>
                    <a:cs typeface="Trebuchet MS"/>
                  </a:rPr>
                  <a:t>“q</a:t>
                </a:r>
                <a:r>
                  <a:rPr lang="es-CO" sz="2200" spc="-145" dirty="0">
                    <a:solidFill>
                      <a:srgbClr val="3C3C3C"/>
                    </a:solidFill>
                    <a:latin typeface="Trebuchet MS"/>
                    <a:cs typeface="Trebuchet MS"/>
                  </a:rPr>
                  <a:t>u</a:t>
                </a:r>
                <a:r>
                  <a:rPr lang="es-CO" sz="2200" spc="-150" dirty="0">
                    <a:solidFill>
                      <a:srgbClr val="3C3C3C"/>
                    </a:solidFill>
                    <a:latin typeface="Trebuchet MS"/>
                    <a:cs typeface="Trebuchet MS"/>
                  </a:rPr>
                  <a:t>é</a:t>
                </a:r>
                <a:r>
                  <a:rPr lang="es-CO" sz="2200" spc="-70" dirty="0">
                    <a:solidFill>
                      <a:srgbClr val="3C3C3C"/>
                    </a:solidFill>
                    <a:latin typeface="Trebuchet MS"/>
                    <a:cs typeface="Trebuchet MS"/>
                  </a:rPr>
                  <a:t> </a:t>
                </a:r>
                <a:r>
                  <a:rPr lang="es-CO" sz="2200" spc="-155" dirty="0">
                    <a:solidFill>
                      <a:srgbClr val="3C3C3C"/>
                    </a:solidFill>
                    <a:latin typeface="Trebuchet MS"/>
                    <a:cs typeface="Trebuchet MS"/>
                  </a:rPr>
                  <a:t>tan</a:t>
                </a:r>
                <a:r>
                  <a:rPr lang="es-CO" sz="2200" spc="-55" dirty="0">
                    <a:solidFill>
                      <a:srgbClr val="3C3C3C"/>
                    </a:solidFill>
                    <a:latin typeface="Trebuchet MS"/>
                    <a:cs typeface="Trebuchet MS"/>
                  </a:rPr>
                  <a:t> </a:t>
                </a:r>
                <a:r>
                  <a:rPr lang="es-CO" sz="2200" spc="-295" dirty="0">
                    <a:solidFill>
                      <a:srgbClr val="3C3C3C"/>
                    </a:solidFill>
                    <a:latin typeface="Trebuchet MS"/>
                    <a:cs typeface="Trebuchet MS"/>
                  </a:rPr>
                  <a:t>a</a:t>
                </a:r>
                <a:r>
                  <a:rPr lang="es-CO" sz="2200" spc="-155" dirty="0">
                    <a:solidFill>
                      <a:srgbClr val="3C3C3C"/>
                    </a:solidFill>
                    <a:latin typeface="Trebuchet MS"/>
                    <a:cs typeface="Trebuchet MS"/>
                  </a:rPr>
                  <a:t>v</a:t>
                </a:r>
                <a:r>
                  <a:rPr lang="es-CO" sz="2200" spc="-35" dirty="0">
                    <a:solidFill>
                      <a:srgbClr val="3C3C3C"/>
                    </a:solidFill>
                    <a:latin typeface="Trebuchet MS"/>
                    <a:cs typeface="Trebuchet MS"/>
                  </a:rPr>
                  <a:t>erso</a:t>
                </a:r>
                <a:r>
                  <a:rPr lang="es-CO" sz="2200" spc="-65" dirty="0">
                    <a:solidFill>
                      <a:srgbClr val="3C3C3C"/>
                    </a:solidFill>
                    <a:latin typeface="Trebuchet MS"/>
                    <a:cs typeface="Trebuchet MS"/>
                  </a:rPr>
                  <a:t> </a:t>
                </a:r>
                <a:r>
                  <a:rPr lang="es-CO" sz="2200" spc="-95" dirty="0">
                    <a:solidFill>
                      <a:srgbClr val="3C3C3C"/>
                    </a:solidFill>
                    <a:latin typeface="Trebuchet MS"/>
                    <a:cs typeface="Trebuchet MS"/>
                  </a:rPr>
                  <a:t>es</a:t>
                </a:r>
                <a:r>
                  <a:rPr lang="es-CO" sz="2200" spc="-55" dirty="0">
                    <a:solidFill>
                      <a:srgbClr val="3C3C3C"/>
                    </a:solidFill>
                    <a:latin typeface="Trebuchet MS"/>
                    <a:cs typeface="Trebuchet MS"/>
                  </a:rPr>
                  <a:t> </a:t>
                </a:r>
                <a:r>
                  <a:rPr lang="es-CO" sz="2200" spc="-105" dirty="0">
                    <a:solidFill>
                      <a:srgbClr val="3C3C3C"/>
                    </a:solidFill>
                    <a:latin typeface="Trebuchet MS"/>
                    <a:cs typeface="Trebuchet MS"/>
                  </a:rPr>
                  <a:t>un</a:t>
                </a:r>
                <a:r>
                  <a:rPr lang="es-CO" sz="2200" spc="-55" dirty="0">
                    <a:solidFill>
                      <a:srgbClr val="3C3C3C"/>
                    </a:solidFill>
                    <a:latin typeface="Trebuchet MS"/>
                    <a:cs typeface="Trebuchet MS"/>
                  </a:rPr>
                  <a:t> </a:t>
                </a:r>
                <a:r>
                  <a:rPr lang="es-CO" sz="2200" spc="-90" dirty="0">
                    <a:solidFill>
                      <a:srgbClr val="3C3C3C"/>
                    </a:solidFill>
                    <a:latin typeface="Trebuchet MS"/>
                    <a:cs typeface="Trebuchet MS"/>
                  </a:rPr>
                  <a:t>decis</a:t>
                </a:r>
                <a:r>
                  <a:rPr lang="es-CO" sz="2200" spc="-114" dirty="0">
                    <a:solidFill>
                      <a:srgbClr val="3C3C3C"/>
                    </a:solidFill>
                    <a:latin typeface="Trebuchet MS"/>
                    <a:cs typeface="Trebuchet MS"/>
                  </a:rPr>
                  <a:t>o</a:t>
                </a:r>
                <a:r>
                  <a:rPr lang="es-CO" sz="2200" spc="-175" dirty="0">
                    <a:solidFill>
                      <a:srgbClr val="3C3C3C"/>
                    </a:solidFill>
                    <a:latin typeface="Trebuchet MS"/>
                    <a:cs typeface="Trebuchet MS"/>
                  </a:rPr>
                  <a:t>r”.</a:t>
                </a:r>
                <a:endParaRPr sz="2200" dirty="0">
                  <a:latin typeface="Trebuchet MS"/>
                  <a:cs typeface="Trebuchet MS"/>
                </a:endParaRPr>
              </a:p>
            </p:txBody>
          </p:sp>
        </mc:Choice>
        <mc:Fallback xmlns="">
          <p:sp>
            <p:nvSpPr>
              <p:cNvPr id="16" name="object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005" y="2514600"/>
                <a:ext cx="6792595" cy="2964180"/>
              </a:xfrm>
              <a:prstGeom prst="rect">
                <a:avLst/>
              </a:prstGeom>
              <a:blipFill>
                <a:blip r:embed="rId2"/>
                <a:stretch>
                  <a:fillRect l="-2056" r="-1869" b="-5556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object 2">
            <a:extLst>
              <a:ext uri="{FF2B5EF4-FFF2-40B4-BE49-F238E27FC236}">
                <a16:creationId xmlns:a16="http://schemas.microsoft.com/office/drawing/2014/main" id="{95706250-8323-4B37-9BFF-FFFEFD4631EB}"/>
              </a:ext>
            </a:extLst>
          </p:cNvPr>
          <p:cNvGrpSpPr/>
          <p:nvPr/>
        </p:nvGrpSpPr>
        <p:grpSpPr>
          <a:xfrm>
            <a:off x="448054" y="-132640"/>
            <a:ext cx="8239125" cy="1975790"/>
            <a:chOff x="605748" y="1374902"/>
            <a:chExt cx="8239125" cy="1975790"/>
          </a:xfrm>
        </p:grpSpPr>
        <p:sp>
          <p:nvSpPr>
            <p:cNvPr id="18" name="object 3">
              <a:extLst>
                <a:ext uri="{FF2B5EF4-FFF2-40B4-BE49-F238E27FC236}">
                  <a16:creationId xmlns:a16="http://schemas.microsoft.com/office/drawing/2014/main" id="{FF00F671-636B-49E9-923C-14D0A312B044}"/>
                </a:ext>
              </a:extLst>
            </p:cNvPr>
            <p:cNvSpPr/>
            <p:nvPr/>
          </p:nvSpPr>
          <p:spPr>
            <a:xfrm>
              <a:off x="605748" y="2091487"/>
              <a:ext cx="8239125" cy="1259205"/>
            </a:xfrm>
            <a:custGeom>
              <a:avLst/>
              <a:gdLst/>
              <a:ahLst/>
              <a:cxnLst/>
              <a:rect l="l" t="t" r="r" b="b"/>
              <a:pathLst>
                <a:path w="8239125" h="1259205">
                  <a:moveTo>
                    <a:pt x="8238744" y="0"/>
                  </a:moveTo>
                  <a:lnTo>
                    <a:pt x="0" y="0"/>
                  </a:lnTo>
                  <a:lnTo>
                    <a:pt x="0" y="1258824"/>
                  </a:lnTo>
                  <a:lnTo>
                    <a:pt x="8238744" y="1258824"/>
                  </a:lnTo>
                  <a:lnTo>
                    <a:pt x="8238744" y="0"/>
                  </a:lnTo>
                  <a:close/>
                </a:path>
              </a:pathLst>
            </a:custGeom>
            <a:solidFill>
              <a:srgbClr val="1A31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4">
              <a:extLst>
                <a:ext uri="{FF2B5EF4-FFF2-40B4-BE49-F238E27FC236}">
                  <a16:creationId xmlns:a16="http://schemas.microsoft.com/office/drawing/2014/main" id="{444C9377-3573-4006-96AF-D1B30EEB3F1A}"/>
                </a:ext>
              </a:extLst>
            </p:cNvPr>
            <p:cNvSpPr/>
            <p:nvPr/>
          </p:nvSpPr>
          <p:spPr>
            <a:xfrm>
              <a:off x="7773797" y="1374902"/>
              <a:ext cx="433070" cy="330200"/>
            </a:xfrm>
            <a:custGeom>
              <a:avLst/>
              <a:gdLst/>
              <a:ahLst/>
              <a:cxnLst/>
              <a:rect l="l" t="t" r="r" b="b"/>
              <a:pathLst>
                <a:path w="433070" h="330200">
                  <a:moveTo>
                    <a:pt x="327405" y="0"/>
                  </a:moveTo>
                  <a:lnTo>
                    <a:pt x="322706" y="13462"/>
                  </a:lnTo>
                  <a:lnTo>
                    <a:pt x="341830" y="21724"/>
                  </a:lnTo>
                  <a:lnTo>
                    <a:pt x="358251" y="33178"/>
                  </a:lnTo>
                  <a:lnTo>
                    <a:pt x="383031" y="65659"/>
                  </a:lnTo>
                  <a:lnTo>
                    <a:pt x="397605" y="109474"/>
                  </a:lnTo>
                  <a:lnTo>
                    <a:pt x="402462" y="163195"/>
                  </a:lnTo>
                  <a:lnTo>
                    <a:pt x="401246" y="192246"/>
                  </a:lnTo>
                  <a:lnTo>
                    <a:pt x="391479" y="242347"/>
                  </a:lnTo>
                  <a:lnTo>
                    <a:pt x="371881" y="281547"/>
                  </a:lnTo>
                  <a:lnTo>
                    <a:pt x="342024" y="307939"/>
                  </a:lnTo>
                  <a:lnTo>
                    <a:pt x="323214" y="316230"/>
                  </a:lnTo>
                  <a:lnTo>
                    <a:pt x="327405" y="329692"/>
                  </a:lnTo>
                  <a:lnTo>
                    <a:pt x="372363" y="308578"/>
                  </a:lnTo>
                  <a:lnTo>
                    <a:pt x="405510" y="272034"/>
                  </a:lnTo>
                  <a:lnTo>
                    <a:pt x="425799" y="223170"/>
                  </a:lnTo>
                  <a:lnTo>
                    <a:pt x="432561" y="164973"/>
                  </a:lnTo>
                  <a:lnTo>
                    <a:pt x="430869" y="134705"/>
                  </a:lnTo>
                  <a:lnTo>
                    <a:pt x="417292" y="81123"/>
                  </a:lnTo>
                  <a:lnTo>
                    <a:pt x="390306" y="37540"/>
                  </a:lnTo>
                  <a:lnTo>
                    <a:pt x="351341" y="8671"/>
                  </a:lnTo>
                  <a:lnTo>
                    <a:pt x="327405" y="0"/>
                  </a:lnTo>
                  <a:close/>
                </a:path>
                <a:path w="433070" h="330200">
                  <a:moveTo>
                    <a:pt x="105028" y="0"/>
                  </a:moveTo>
                  <a:lnTo>
                    <a:pt x="60197" y="21177"/>
                  </a:lnTo>
                  <a:lnTo>
                    <a:pt x="27177" y="57785"/>
                  </a:lnTo>
                  <a:lnTo>
                    <a:pt x="6778" y="106759"/>
                  </a:lnTo>
                  <a:lnTo>
                    <a:pt x="0" y="164973"/>
                  </a:lnTo>
                  <a:lnTo>
                    <a:pt x="1690" y="195238"/>
                  </a:lnTo>
                  <a:lnTo>
                    <a:pt x="15216" y="248769"/>
                  </a:lnTo>
                  <a:lnTo>
                    <a:pt x="42074" y="292223"/>
                  </a:lnTo>
                  <a:lnTo>
                    <a:pt x="81075" y="321075"/>
                  </a:lnTo>
                  <a:lnTo>
                    <a:pt x="105028" y="329692"/>
                  </a:lnTo>
                  <a:lnTo>
                    <a:pt x="109220" y="316230"/>
                  </a:lnTo>
                  <a:lnTo>
                    <a:pt x="90427" y="307939"/>
                  </a:lnTo>
                  <a:lnTo>
                    <a:pt x="74231" y="296386"/>
                  </a:lnTo>
                  <a:lnTo>
                    <a:pt x="49529" y="263398"/>
                  </a:lnTo>
                  <a:lnTo>
                    <a:pt x="34893" y="218630"/>
                  </a:lnTo>
                  <a:lnTo>
                    <a:pt x="29972" y="163195"/>
                  </a:lnTo>
                  <a:lnTo>
                    <a:pt x="31206" y="135096"/>
                  </a:lnTo>
                  <a:lnTo>
                    <a:pt x="41009" y="86328"/>
                  </a:lnTo>
                  <a:lnTo>
                    <a:pt x="60650" y="47823"/>
                  </a:lnTo>
                  <a:lnTo>
                    <a:pt x="90749" y="21724"/>
                  </a:lnTo>
                  <a:lnTo>
                    <a:pt x="109727" y="13462"/>
                  </a:lnTo>
                  <a:lnTo>
                    <a:pt x="1050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Título 20">
            <a:extLst>
              <a:ext uri="{FF2B5EF4-FFF2-40B4-BE49-F238E27FC236}">
                <a16:creationId xmlns:a16="http://schemas.microsoft.com/office/drawing/2014/main" id="{0AF90565-CF2F-4276-84F0-B82738CD1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5" y="599694"/>
            <a:ext cx="8239125" cy="861774"/>
          </a:xfrm>
        </p:spPr>
        <p:txBody>
          <a:bodyPr/>
          <a:lstStyle/>
          <a:p>
            <a:r>
              <a:rPr lang="es-CO" dirty="0"/>
              <a:t>FUNCIÓN DE AVERSIÓN AL RIESGO (F.A.R), r(x)</a:t>
            </a:r>
            <a:br>
              <a:rPr lang="es-CO" dirty="0"/>
            </a:br>
            <a:r>
              <a:rPr lang="es-CO" dirty="0"/>
              <a:t>MOTIVACIÓN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EEF76D05-36EB-98BB-1EC4-2AFCC3514A62}"/>
                  </a:ext>
                </a:extLst>
              </p:cNvPr>
              <p:cNvSpPr txBox="1"/>
              <p:nvPr/>
            </p:nvSpPr>
            <p:spPr>
              <a:xfrm>
                <a:off x="609600" y="2125343"/>
                <a:ext cx="7307129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sz="2200" spc="-140" dirty="0">
                    <a:solidFill>
                      <a:srgbClr val="3C3C3C"/>
                    </a:solidFill>
                    <a:latin typeface="Trebuchet MS"/>
                  </a:rPr>
                  <a:t>Como hemos visto, </a:t>
                </a:r>
                <a14:m>
                  <m:oMath xmlns:m="http://schemas.openxmlformats.org/officeDocument/2006/math">
                    <m:r>
                      <a:rPr lang="es-CO" sz="2200" i="1" spc="-140" dirty="0" smtClean="0">
                        <a:solidFill>
                          <a:srgbClr val="3C3C3C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s-CO" sz="2200" i="1" spc="-140" dirty="0" smtClean="0">
                        <a:solidFill>
                          <a:srgbClr val="3C3C3C"/>
                        </a:solidFill>
                        <a:latin typeface="Cambria Math" panose="02040503050406030204" pitchFamily="18" charset="0"/>
                      </a:rPr>
                      <m:t>´(</m:t>
                    </m:r>
                    <m:r>
                      <a:rPr lang="es-CO" sz="2200" i="1" spc="-140" dirty="0" smtClean="0">
                        <a:solidFill>
                          <a:srgbClr val="3C3C3C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CO" sz="2200" i="1" spc="-140" dirty="0" smtClean="0">
                        <a:solidFill>
                          <a:srgbClr val="3C3C3C"/>
                        </a:solidFill>
                        <a:latin typeface="Cambria Math" panose="02040503050406030204" pitchFamily="18" charset="0"/>
                      </a:rPr>
                      <m:t>)  </m:t>
                    </m:r>
                  </m:oMath>
                </a14:m>
                <a:r>
                  <a:rPr lang="es-CO" sz="2200" spc="-140" dirty="0">
                    <a:solidFill>
                      <a:srgbClr val="3C3C3C"/>
                    </a:solidFill>
                    <a:latin typeface="Trebuchet MS"/>
                  </a:rPr>
                  <a:t>y  </a:t>
                </a:r>
                <a14:m>
                  <m:oMath xmlns:m="http://schemas.openxmlformats.org/officeDocument/2006/math">
                    <m:r>
                      <a:rPr lang="es-CO" sz="2200" i="1" spc="-140" dirty="0" smtClean="0">
                        <a:solidFill>
                          <a:srgbClr val="3C3C3C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s-CO" sz="2200" i="1" spc="-140" dirty="0">
                        <a:solidFill>
                          <a:srgbClr val="3C3C3C"/>
                        </a:solidFill>
                        <a:latin typeface="Cambria Math" panose="02040503050406030204" pitchFamily="18" charset="0"/>
                      </a:rPr>
                      <m:t>´´(</m:t>
                    </m:r>
                    <m:r>
                      <a:rPr lang="es-CO" sz="2200" i="1" spc="-140" dirty="0">
                        <a:solidFill>
                          <a:srgbClr val="3C3C3C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CO" sz="2200" i="1" spc="-140" dirty="0">
                        <a:solidFill>
                          <a:srgbClr val="3C3C3C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s-CO" sz="2200" spc="-140" dirty="0">
                    <a:solidFill>
                      <a:srgbClr val="3C3C3C"/>
                    </a:solidFill>
                    <a:latin typeface="Trebuchet MS"/>
                  </a:rPr>
                  <a:t>dan información acerca de las</a:t>
                </a: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EEF76D05-36EB-98BB-1EC4-2AFCC3514A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2125343"/>
                <a:ext cx="7307129" cy="430887"/>
              </a:xfrm>
              <a:prstGeom prst="rect">
                <a:avLst/>
              </a:prstGeom>
              <a:blipFill>
                <a:blip r:embed="rId3"/>
                <a:stretch>
                  <a:fillRect l="-1084" t="-11429" b="-27143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508000" y="794788"/>
            <a:ext cx="8162546" cy="1259205"/>
          </a:xfrm>
          <a:custGeom>
            <a:avLst/>
            <a:gdLst/>
            <a:ahLst/>
            <a:cxnLst/>
            <a:rect l="l" t="t" r="r" b="b"/>
            <a:pathLst>
              <a:path w="8239125" h="1259205">
                <a:moveTo>
                  <a:pt x="8238744" y="0"/>
                </a:moveTo>
                <a:lnTo>
                  <a:pt x="0" y="0"/>
                </a:lnTo>
                <a:lnTo>
                  <a:pt x="0" y="1258824"/>
                </a:lnTo>
                <a:lnTo>
                  <a:pt x="8238744" y="1258824"/>
                </a:lnTo>
                <a:lnTo>
                  <a:pt x="8238744" y="0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81000" y="1233479"/>
            <a:ext cx="86868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4154">
              <a:lnSpc>
                <a:spcPct val="100000"/>
              </a:lnSpc>
              <a:spcBef>
                <a:spcPts val="100"/>
              </a:spcBef>
              <a:tabLst>
                <a:tab pos="7442200" algn="l"/>
              </a:tabLst>
            </a:pPr>
            <a:r>
              <a:rPr sz="2400" spc="204" dirty="0"/>
              <a:t>FUNCIÓN</a:t>
            </a:r>
            <a:r>
              <a:rPr sz="2400" spc="-65" dirty="0"/>
              <a:t> </a:t>
            </a:r>
            <a:r>
              <a:rPr sz="2400" spc="140" dirty="0"/>
              <a:t>DE</a:t>
            </a:r>
            <a:r>
              <a:rPr sz="2400" spc="-355" dirty="0"/>
              <a:t> </a:t>
            </a:r>
            <a:r>
              <a:rPr sz="2400" spc="85" dirty="0"/>
              <a:t>AVERSIÓN</a:t>
            </a:r>
            <a:r>
              <a:rPr sz="2400" spc="-360" dirty="0"/>
              <a:t> </a:t>
            </a:r>
            <a:r>
              <a:rPr sz="2400" spc="85" dirty="0"/>
              <a:t>AL</a:t>
            </a:r>
            <a:r>
              <a:rPr sz="2400" spc="-60" dirty="0"/>
              <a:t> </a:t>
            </a:r>
            <a:r>
              <a:rPr sz="2400" spc="70" dirty="0"/>
              <a:t>RIESGO</a:t>
            </a:r>
            <a:r>
              <a:rPr sz="2400" spc="-75" dirty="0"/>
              <a:t> </a:t>
            </a:r>
            <a:r>
              <a:rPr sz="2400" spc="-250" dirty="0"/>
              <a:t>(F.A.R.),</a:t>
            </a:r>
            <a:r>
              <a:rPr sz="2400" spc="-350" dirty="0"/>
              <a:t> </a:t>
            </a:r>
            <a:r>
              <a:rPr sz="2400" dirty="0">
                <a:latin typeface="Cambria Math"/>
                <a:cs typeface="Cambria Math"/>
              </a:rPr>
              <a:t>𝑟</a:t>
            </a:r>
            <a:r>
              <a:rPr lang="es-CO" sz="2400" dirty="0">
                <a:latin typeface="Cambria Math"/>
                <a:cs typeface="Cambria Math"/>
              </a:rPr>
              <a:t>(x)</a:t>
            </a:r>
            <a:endParaRPr sz="2400" dirty="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96706" y="6481571"/>
            <a:ext cx="13970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30" dirty="0">
                <a:solidFill>
                  <a:srgbClr val="4590B8"/>
                </a:solidFill>
                <a:latin typeface="Trebuchet MS"/>
                <a:cs typeface="Trebuchet MS"/>
              </a:rPr>
              <a:t>1</a:t>
            </a:r>
            <a:r>
              <a:rPr lang="es-CO" sz="900" spc="-30" dirty="0">
                <a:solidFill>
                  <a:srgbClr val="4590B8"/>
                </a:solidFill>
                <a:latin typeface="Trebuchet MS"/>
                <a:cs typeface="Trebuchet MS"/>
              </a:rPr>
              <a:t>4</a:t>
            </a:r>
            <a:endParaRPr sz="900" dirty="0">
              <a:latin typeface="Trebuchet MS"/>
              <a:cs typeface="Trebuchet MS"/>
            </a:endParaRP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97E14CBB-D2DE-4706-9CAC-260FC38A92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133601"/>
            <a:ext cx="6896104" cy="653778"/>
          </a:xfrm>
          <a:prstGeom prst="rect">
            <a:avLst/>
          </a:prstGeom>
        </p:spPr>
      </p:pic>
      <p:grpSp>
        <p:nvGrpSpPr>
          <p:cNvPr id="7" name="Grupo 6">
            <a:extLst>
              <a:ext uri="{FF2B5EF4-FFF2-40B4-BE49-F238E27FC236}">
                <a16:creationId xmlns:a16="http://schemas.microsoft.com/office/drawing/2014/main" id="{C3C091A0-8283-9A48-8BA1-ECBE121325C9}"/>
              </a:ext>
            </a:extLst>
          </p:cNvPr>
          <p:cNvGrpSpPr/>
          <p:nvPr/>
        </p:nvGrpSpPr>
        <p:grpSpPr>
          <a:xfrm>
            <a:off x="533400" y="3048000"/>
            <a:ext cx="8286530" cy="2356747"/>
            <a:chOff x="533400" y="2870471"/>
            <a:chExt cx="8286530" cy="2356747"/>
          </a:xfrm>
        </p:grpSpPr>
        <p:pic>
          <p:nvPicPr>
            <p:cNvPr id="19" name="Imagen 18">
              <a:extLst>
                <a:ext uri="{FF2B5EF4-FFF2-40B4-BE49-F238E27FC236}">
                  <a16:creationId xmlns:a16="http://schemas.microsoft.com/office/drawing/2014/main" id="{A4C94E03-400B-4037-9C52-3C301602B6A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3400" y="2914025"/>
              <a:ext cx="6481577" cy="2313193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CuadroTexto 1">
                  <a:extLst>
                    <a:ext uri="{FF2B5EF4-FFF2-40B4-BE49-F238E27FC236}">
                      <a16:creationId xmlns:a16="http://schemas.microsoft.com/office/drawing/2014/main" id="{1C1450FD-E9A5-1510-6442-F6E392749791}"/>
                    </a:ext>
                  </a:extLst>
                </p:cNvPr>
                <p:cNvSpPr txBox="1"/>
                <p:nvPr/>
              </p:nvSpPr>
              <p:spPr>
                <a:xfrm>
                  <a:off x="7143530" y="2870471"/>
                  <a:ext cx="1676400" cy="923330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es-CO" dirty="0"/>
                    <a:t>En funciones exponenciales:</a:t>
                  </a:r>
                </a:p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d>
                          <m:dPr>
                            <m:ctrlPr>
                              <a:rPr lang="es-CO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CO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=−</m:t>
                        </m:r>
                        <m:sSup>
                          <m:sSupPr>
                            <m:ctrlPr>
                              <a:rPr lang="es-CO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CO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s-CO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CO" b="0" i="1" smtClean="0">
                                <a:latin typeface="Cambria Math" panose="02040503050406030204" pitchFamily="18" charset="0"/>
                              </a:rPr>
                              <m:t>𝑐𝑥</m:t>
                            </m:r>
                          </m:sup>
                        </m:sSup>
                      </m:oMath>
                    </m:oMathPara>
                  </a14:m>
                  <a:endParaRPr lang="es-CO" dirty="0"/>
                </a:p>
              </p:txBody>
            </p:sp>
          </mc:Choice>
          <mc:Fallback xmlns="">
            <p:sp>
              <p:nvSpPr>
                <p:cNvPr id="2" name="CuadroTexto 1">
                  <a:extLst>
                    <a:ext uri="{FF2B5EF4-FFF2-40B4-BE49-F238E27FC236}">
                      <a16:creationId xmlns:a16="http://schemas.microsoft.com/office/drawing/2014/main" id="{1C1450FD-E9A5-1510-6442-F6E3927497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43530" y="2870471"/>
                  <a:ext cx="1676400" cy="923330"/>
                </a:xfrm>
                <a:prstGeom prst="rect">
                  <a:avLst/>
                </a:prstGeom>
                <a:blipFill>
                  <a:blip r:embed="rId4"/>
                  <a:stretch>
                    <a:fillRect l="-3273" t="-3311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EF5308A9-5ED0-760A-1E2A-7CE3E190E2D6}"/>
                </a:ext>
              </a:extLst>
            </p:cNvPr>
            <p:cNvSpPr/>
            <p:nvPr/>
          </p:nvSpPr>
          <p:spPr>
            <a:xfrm>
              <a:off x="5334000" y="3048000"/>
              <a:ext cx="1752600" cy="57013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C1BECD-34DE-A599-D21C-ECD866095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5" y="599695"/>
            <a:ext cx="8239125" cy="747208"/>
          </a:xfrm>
        </p:spPr>
        <p:txBody>
          <a:bodyPr/>
          <a:lstStyle/>
          <a:p>
            <a:endParaRPr lang="es-CO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4FD6B3A-C2C9-E390-BE3E-EB423C9C85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107" y="1487451"/>
            <a:ext cx="8153779" cy="1107996"/>
          </a:xfrm>
        </p:spPr>
        <p:txBody>
          <a:bodyPr/>
          <a:lstStyle/>
          <a:p>
            <a:r>
              <a:rPr lang="es-CO" dirty="0"/>
              <a:t>La primera, segunda derivada de la función de utilidad nos dan noción del tipo de agente económico (averso, neutral o amante al riesgo). Igualmente, podemos cuantificar la aversión al riesgo del decisor, que se mide a través de la métrica de Arrow-Pratt.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45D929ED-2EC1-CA80-7C10-19E00B82EA5B}"/>
              </a:ext>
            </a:extLst>
          </p:cNvPr>
          <p:cNvSpPr/>
          <p:nvPr/>
        </p:nvSpPr>
        <p:spPr>
          <a:xfrm>
            <a:off x="448054" y="583946"/>
            <a:ext cx="8239125" cy="734338"/>
          </a:xfrm>
          <a:custGeom>
            <a:avLst/>
            <a:gdLst/>
            <a:ahLst/>
            <a:cxnLst/>
            <a:rect l="l" t="t" r="r" b="b"/>
            <a:pathLst>
              <a:path w="8239125" h="1259205">
                <a:moveTo>
                  <a:pt x="8238744" y="0"/>
                </a:moveTo>
                <a:lnTo>
                  <a:pt x="0" y="0"/>
                </a:lnTo>
                <a:lnTo>
                  <a:pt x="0" y="1258824"/>
                </a:lnTo>
                <a:lnTo>
                  <a:pt x="8238744" y="1258824"/>
                </a:lnTo>
                <a:lnTo>
                  <a:pt x="8238744" y="0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>
            <a:r>
              <a:rPr lang="es-419" sz="4000" dirty="0">
                <a:solidFill>
                  <a:schemeClr val="bg1"/>
                </a:solidFill>
              </a:rPr>
              <a:t>Función Aversión al Riesgo</a:t>
            </a:r>
            <a:endParaRPr sz="40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A448CC73-63B1-835A-5C70-F4357F391F39}"/>
                  </a:ext>
                </a:extLst>
              </p:cNvPr>
              <p:cNvSpPr txBox="1"/>
              <p:nvPr/>
            </p:nvSpPr>
            <p:spPr>
              <a:xfrm>
                <a:off x="-47555" y="4421040"/>
                <a:ext cx="88575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419" sz="2400" b="1" i="1" smtClean="0">
                          <a:latin typeface="Cambria Math" panose="02040503050406030204" pitchFamily="18" charset="0"/>
                        </a:rPr>
                        <m:t>𝒖</m:t>
                      </m:r>
                      <m:d>
                        <m:dPr>
                          <m:ctrlPr>
                            <a:rPr lang="es-419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419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s-CO" sz="2400" b="1" dirty="0"/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A448CC73-63B1-835A-5C70-F4357F391F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7555" y="4421040"/>
                <a:ext cx="885755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07F1B104-D303-B752-A15A-E043A6CCF3C5}"/>
                  </a:ext>
                </a:extLst>
              </p:cNvPr>
              <p:cNvSpPr txBox="1"/>
              <p:nvPr/>
            </p:nvSpPr>
            <p:spPr>
              <a:xfrm>
                <a:off x="533400" y="2979186"/>
                <a:ext cx="76371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s-419" i="1">
                          <a:latin typeface="Cambria Math" panose="02040503050406030204" pitchFamily="18" charset="0"/>
                        </a:rPr>
                        <m:t>´</m:t>
                      </m:r>
                      <m:d>
                        <m:dPr>
                          <m:ctrlPr>
                            <a:rPr lang="es-419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&gt;0 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𝑈𝑡𝑖𝑙𝑖𝑑𝑎𝑑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𝑐𝑟𝑒𝑐𝑖𝑒𝑛𝑡𝑒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es-419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á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𝑟𝑖𝑞𝑢𝑒𝑧𝑎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es-419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á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𝑢𝑡𝑖𝑙𝑖𝑑𝑎𝑑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07F1B104-D303-B752-A15A-E043A6CCF3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2979186"/>
                <a:ext cx="7637141" cy="369332"/>
              </a:xfrm>
              <a:prstGeom prst="rect">
                <a:avLst/>
              </a:prstGeom>
              <a:blipFill>
                <a:blip r:embed="rId3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uadroTexto 7">
            <a:extLst>
              <a:ext uri="{FF2B5EF4-FFF2-40B4-BE49-F238E27FC236}">
                <a16:creationId xmlns:a16="http://schemas.microsoft.com/office/drawing/2014/main" id="{B11D4846-F572-7C86-AFD2-4D9785517CCA}"/>
              </a:ext>
            </a:extLst>
          </p:cNvPr>
          <p:cNvSpPr txBox="1"/>
          <p:nvPr/>
        </p:nvSpPr>
        <p:spPr>
          <a:xfrm>
            <a:off x="2955758" y="2581613"/>
            <a:ext cx="3692101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s-CO" b="1" dirty="0"/>
              <a:t>Primera Derivada: Utilidad Marginal.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CAA60549-0D94-E738-84D8-ED86F0DDF506}"/>
                  </a:ext>
                </a:extLst>
              </p:cNvPr>
              <p:cNvSpPr txBox="1"/>
              <p:nvPr/>
            </p:nvSpPr>
            <p:spPr>
              <a:xfrm>
                <a:off x="1143000" y="3377136"/>
                <a:ext cx="784860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419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´</m:t>
                    </m:r>
                    <m:d>
                      <m:dPr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419" b="0" i="1" smtClean="0">
                        <a:latin typeface="Cambria Math" panose="02040503050406030204" pitchFamily="18" charset="0"/>
                      </a:rPr>
                      <m:t>&lt;0 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𝑈𝑡𝑖𝑙𝑖𝑑𝑎𝑑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𝑑𝑒𝑐𝑟𝑒𝑐𝑖𝑒𝑛𝑡𝑒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á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𝑟𝑖𝑞𝑢𝑒𝑧𝑎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𝑚𝑒𝑛𝑜𝑠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𝑢𝑡𝑖𝑙𝑖𝑑𝑎𝑑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s-CO" dirty="0"/>
                  <a:t> 	       (raro caso en la economía)</a:t>
                </a:r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CAA60549-0D94-E738-84D8-ED86F0DDF5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0" y="3377136"/>
                <a:ext cx="7848600" cy="646331"/>
              </a:xfrm>
              <a:prstGeom prst="rect">
                <a:avLst/>
              </a:prstGeom>
              <a:blipFill>
                <a:blip r:embed="rId4"/>
                <a:stretch>
                  <a:fillRect l="-809" b="-13462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90065760-2948-666F-66A2-8AC86377661A}"/>
                  </a:ext>
                </a:extLst>
              </p:cNvPr>
              <p:cNvSpPr txBox="1"/>
              <p:nvPr/>
            </p:nvSpPr>
            <p:spPr>
              <a:xfrm>
                <a:off x="144379" y="4421040"/>
                <a:ext cx="672675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s-419" i="1">
                          <a:latin typeface="Cambria Math" panose="02040503050406030204" pitchFamily="18" charset="0"/>
                        </a:rPr>
                        <m:t>´</m:t>
                      </m:r>
                      <m:r>
                        <a:rPr lang="es-419" i="1" smtClean="0">
                          <a:latin typeface="Cambria Math" panose="02040503050406030204" pitchFamily="18" charset="0"/>
                        </a:rPr>
                        <m:t>´</m:t>
                      </m:r>
                      <m:d>
                        <m:dPr>
                          <m:ctrlPr>
                            <a:rPr lang="es-419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&gt;0 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𝐶𝑜𝑛𝑣𝑒𝑥𝑎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𝑃𝑟𝑜𝑝𝑒𝑛𝑠𝑜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𝑎𝑙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𝑟𝑖𝑒𝑠𝑔𝑜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s-CO" dirty="0"/>
              </a:p>
            </p:txBody>
          </p:sp>
        </mc:Choice>
        <mc:Fallback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90065760-2948-666F-66A2-8AC8637766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379" y="4421040"/>
                <a:ext cx="6726751" cy="369332"/>
              </a:xfrm>
              <a:prstGeom prst="rect">
                <a:avLst/>
              </a:prstGeom>
              <a:blipFill>
                <a:blip r:embed="rId5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574BCD14-5ED1-1D75-BBE7-CAD8983DC30A}"/>
                  </a:ext>
                </a:extLst>
              </p:cNvPr>
              <p:cNvSpPr txBox="1"/>
              <p:nvPr/>
            </p:nvSpPr>
            <p:spPr>
              <a:xfrm>
                <a:off x="-230083" y="4856177"/>
                <a:ext cx="710121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s-419" i="1">
                          <a:latin typeface="Cambria Math" panose="02040503050406030204" pitchFamily="18" charset="0"/>
                        </a:rPr>
                        <m:t>´´</m:t>
                      </m:r>
                      <m:d>
                        <m:dPr>
                          <m:ctrlPr>
                            <a:rPr lang="es-419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&lt;0 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  <m:r>
                        <a:rPr lang="es-419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ó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𝑛𝑐𝑎𝑣𝑜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𝐴𝑣𝑒𝑟𝑠𝑜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𝑎𝑙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𝑅𝑖𝑒𝑠𝑔𝑜</m:t>
                      </m:r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574BCD14-5ED1-1D75-BBE7-CAD8983DC3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30083" y="4856177"/>
                <a:ext cx="7101213" cy="369332"/>
              </a:xfrm>
              <a:prstGeom prst="rect">
                <a:avLst/>
              </a:prstGeom>
              <a:blipFill>
                <a:blip r:embed="rId6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CuadroTexto 13">
            <a:extLst>
              <a:ext uri="{FF2B5EF4-FFF2-40B4-BE49-F238E27FC236}">
                <a16:creationId xmlns:a16="http://schemas.microsoft.com/office/drawing/2014/main" id="{D3C0B73B-0EDB-3C72-6953-3FB3611FA8E1}"/>
              </a:ext>
            </a:extLst>
          </p:cNvPr>
          <p:cNvSpPr txBox="1"/>
          <p:nvPr/>
        </p:nvSpPr>
        <p:spPr>
          <a:xfrm>
            <a:off x="2967790" y="4117513"/>
            <a:ext cx="4572000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CO" b="1" dirty="0"/>
              <a:t>Segunda Derivada: Curvatura.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B15CDDDA-E518-1421-4E74-4889315401D0}"/>
                  </a:ext>
                </a:extLst>
              </p:cNvPr>
              <p:cNvSpPr txBox="1"/>
              <p:nvPr/>
            </p:nvSpPr>
            <p:spPr>
              <a:xfrm>
                <a:off x="1163799" y="5650209"/>
                <a:ext cx="31796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419" b="0" dirty="0"/>
                  <a:t>r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419" b="0" i="1" smtClean="0">
                        <a:latin typeface="Cambria Math" panose="02040503050406030204" pitchFamily="18" charset="0"/>
                      </a:rPr>
                      <m:t>&gt;0 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𝐴𝑣𝑒𝑟𝑠𝑜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𝑎𝑙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𝑟𝑖𝑒𝑠𝑔𝑜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s-CO" dirty="0"/>
              </a:p>
            </p:txBody>
          </p:sp>
        </mc:Choice>
        <mc:Fallback xmlns="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B15CDDDA-E518-1421-4E74-4889315401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3799" y="5650209"/>
                <a:ext cx="3179601" cy="369332"/>
              </a:xfrm>
              <a:prstGeom prst="rect">
                <a:avLst/>
              </a:prstGeom>
              <a:blipFill>
                <a:blip r:embed="rId7"/>
                <a:stretch>
                  <a:fillRect l="-1587" t="-6667" b="-2666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0E559DD4-673C-1185-3B50-677F38A04B02}"/>
                  </a:ext>
                </a:extLst>
              </p:cNvPr>
              <p:cNvSpPr txBox="1"/>
              <p:nvPr/>
            </p:nvSpPr>
            <p:spPr>
              <a:xfrm>
                <a:off x="1151022" y="5983966"/>
                <a:ext cx="335660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419" b="0" dirty="0"/>
                  <a:t>r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419" b="0" i="1" smtClean="0">
                        <a:latin typeface="Cambria Math" panose="02040503050406030204" pitchFamily="18" charset="0"/>
                      </a:rPr>
                      <m:t>&lt;0 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𝑃𝑟𝑜𝑝𝑒𝑛𝑠𝑜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𝑎𝑙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𝑟𝑖𝑒𝑠𝑔𝑜</m:t>
                    </m:r>
                  </m:oMath>
                </a14:m>
                <a:endParaRPr lang="es-CO" dirty="0"/>
              </a:p>
            </p:txBody>
          </p:sp>
        </mc:Choice>
        <mc:Fallback xmlns="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0E559DD4-673C-1185-3B50-677F38A04B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1022" y="5983966"/>
                <a:ext cx="3356602" cy="369332"/>
              </a:xfrm>
              <a:prstGeom prst="rect">
                <a:avLst/>
              </a:prstGeom>
              <a:blipFill>
                <a:blip r:embed="rId8"/>
                <a:stretch>
                  <a:fillRect l="-1509" t="-10000" b="-23333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CuadroTexto 16">
            <a:extLst>
              <a:ext uri="{FF2B5EF4-FFF2-40B4-BE49-F238E27FC236}">
                <a16:creationId xmlns:a16="http://schemas.microsoft.com/office/drawing/2014/main" id="{0694B3D2-9985-5489-13D5-78C9CBB89EDD}"/>
              </a:ext>
            </a:extLst>
          </p:cNvPr>
          <p:cNvSpPr txBox="1"/>
          <p:nvPr/>
        </p:nvSpPr>
        <p:spPr>
          <a:xfrm>
            <a:off x="1143000" y="5265730"/>
            <a:ext cx="3469469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CO" b="1" dirty="0"/>
              <a:t>Arrow-Pratt: r(x) Aversión al riesgo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27A4EC35-6BC1-79B1-9AF3-E7E0FEDA99CD}"/>
                  </a:ext>
                </a:extLst>
              </p:cNvPr>
              <p:cNvSpPr txBox="1"/>
              <p:nvPr/>
            </p:nvSpPr>
            <p:spPr>
              <a:xfrm>
                <a:off x="1151022" y="6312369"/>
                <a:ext cx="335660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419" b="0" dirty="0"/>
                  <a:t>r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419" b="0" i="1" smtClean="0">
                        <a:latin typeface="Cambria Math" panose="02040503050406030204" pitchFamily="18" charset="0"/>
                      </a:rPr>
                      <m:t>=0 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𝑁𝑒𝑢𝑡𝑟𝑎𝑙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𝑎𝑙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𝑟𝑖𝑒𝑠𝑔𝑜</m:t>
                    </m:r>
                  </m:oMath>
                </a14:m>
                <a:endParaRPr lang="es-CO" dirty="0"/>
              </a:p>
            </p:txBody>
          </p:sp>
        </mc:Choice>
        <mc:Fallback xmlns="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27A4EC35-6BC1-79B1-9AF3-E7E0FEDA99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1022" y="6312369"/>
                <a:ext cx="3356602" cy="369332"/>
              </a:xfrm>
              <a:prstGeom prst="rect">
                <a:avLst/>
              </a:prstGeom>
              <a:blipFill>
                <a:blip r:embed="rId9"/>
                <a:stretch>
                  <a:fillRect l="-1509" t="-6452" b="-22581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9645085C-319F-DCF6-9BD7-FC15B4B29E8D}"/>
                  </a:ext>
                </a:extLst>
              </p:cNvPr>
              <p:cNvSpPr txBox="1"/>
              <p:nvPr/>
            </p:nvSpPr>
            <p:spPr>
              <a:xfrm>
                <a:off x="4781755" y="6013284"/>
                <a:ext cx="208937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419" dirty="0"/>
                  <a:t>r</a:t>
                </a:r>
                <a:r>
                  <a:rPr lang="es-419" b="0" dirty="0"/>
                  <a:t>´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419" b="0" i="1" smtClean="0">
                        <a:latin typeface="Cambria Math" panose="02040503050406030204" pitchFamily="18" charset="0"/>
                      </a:rPr>
                      <m:t>&gt;0 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𝐼𝐴𝑅𝐴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s-CO" dirty="0"/>
              </a:p>
            </p:txBody>
          </p:sp>
        </mc:Choice>
        <mc:Fallback xmlns="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9645085C-319F-DCF6-9BD7-FC15B4B29E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1755" y="6013284"/>
                <a:ext cx="2089375" cy="369332"/>
              </a:xfrm>
              <a:prstGeom prst="rect">
                <a:avLst/>
              </a:prstGeom>
              <a:blipFill>
                <a:blip r:embed="rId10"/>
                <a:stretch>
                  <a:fillRect l="-2424" t="-6667" b="-2666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C2699596-B584-A1E8-5FCC-2609DD45E2B3}"/>
                  </a:ext>
                </a:extLst>
              </p:cNvPr>
              <p:cNvSpPr txBox="1"/>
              <p:nvPr/>
            </p:nvSpPr>
            <p:spPr>
              <a:xfrm>
                <a:off x="4781756" y="5675284"/>
                <a:ext cx="299064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419" dirty="0"/>
                  <a:t>r</a:t>
                </a:r>
                <a:r>
                  <a:rPr lang="es-419" b="0" dirty="0"/>
                  <a:t> ´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419" b="0" i="1" smtClean="0">
                        <a:latin typeface="Cambria Math" panose="02040503050406030204" pitchFamily="18" charset="0"/>
                      </a:rPr>
                      <m:t>&lt;0 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𝐷𝐴𝑅𝐴</m:t>
                    </m:r>
                  </m:oMath>
                </a14:m>
                <a:endParaRPr lang="es-CO" dirty="0"/>
              </a:p>
            </p:txBody>
          </p:sp>
        </mc:Choice>
        <mc:Fallback xmlns="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C2699596-B584-A1E8-5FCC-2609DD45E2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1756" y="5675284"/>
                <a:ext cx="2990644" cy="369332"/>
              </a:xfrm>
              <a:prstGeom prst="rect">
                <a:avLst/>
              </a:prstGeom>
              <a:blipFill>
                <a:blip r:embed="rId11"/>
                <a:stretch>
                  <a:fillRect l="-1695" t="-6452" b="-22581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4E84E5ED-D951-7427-AF59-58C58174D666}"/>
                  </a:ext>
                </a:extLst>
              </p:cNvPr>
              <p:cNvSpPr txBox="1"/>
              <p:nvPr/>
            </p:nvSpPr>
            <p:spPr>
              <a:xfrm>
                <a:off x="4762522" y="6323082"/>
                <a:ext cx="208937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419" dirty="0"/>
                  <a:t>r</a:t>
                </a:r>
                <a14:m>
                  <m:oMath xmlns:m="http://schemas.openxmlformats.org/officeDocument/2006/math">
                    <m:r>
                      <a:rPr lang="es-419" i="1" dirty="0">
                        <a:latin typeface="Cambria Math" panose="02040503050406030204" pitchFamily="18" charset="0"/>
                      </a:rPr>
                      <m:t>´</m:t>
                    </m:r>
                    <m:d>
                      <m:dPr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419" b="0" i="1" smtClean="0">
                        <a:latin typeface="Cambria Math" panose="02040503050406030204" pitchFamily="18" charset="0"/>
                      </a:rPr>
                      <m:t>=0 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𝐶𝐴𝑅𝐴</m:t>
                    </m:r>
                  </m:oMath>
                </a14:m>
                <a:endParaRPr lang="es-CO" dirty="0"/>
              </a:p>
            </p:txBody>
          </p:sp>
        </mc:Choice>
        <mc:Fallback xmlns="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4E84E5ED-D951-7427-AF59-58C58174D6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2522" y="6323082"/>
                <a:ext cx="2089375" cy="369332"/>
              </a:xfrm>
              <a:prstGeom prst="rect">
                <a:avLst/>
              </a:prstGeom>
              <a:blipFill>
                <a:blip r:embed="rId12"/>
                <a:stretch>
                  <a:fillRect l="-1807" t="-6452" b="-22581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CuadroTexto 21">
            <a:extLst>
              <a:ext uri="{FF2B5EF4-FFF2-40B4-BE49-F238E27FC236}">
                <a16:creationId xmlns:a16="http://schemas.microsoft.com/office/drawing/2014/main" id="{776BB2EB-41FD-BD60-06EE-F3445E2A653A}"/>
              </a:ext>
            </a:extLst>
          </p:cNvPr>
          <p:cNvSpPr txBox="1"/>
          <p:nvPr/>
        </p:nvSpPr>
        <p:spPr>
          <a:xfrm>
            <a:off x="4762522" y="5265730"/>
            <a:ext cx="3859364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CO" b="1" dirty="0"/>
              <a:t>r´(x) Cómo evoluciona r(x) con riqueza</a:t>
            </a:r>
          </a:p>
        </p:txBody>
      </p:sp>
      <p:sp>
        <p:nvSpPr>
          <p:cNvPr id="23" name="Abrir llave 22">
            <a:extLst>
              <a:ext uri="{FF2B5EF4-FFF2-40B4-BE49-F238E27FC236}">
                <a16:creationId xmlns:a16="http://schemas.microsoft.com/office/drawing/2014/main" id="{23924B9D-4E8A-ADCE-EDCA-865CFE9D7CA2}"/>
              </a:ext>
            </a:extLst>
          </p:cNvPr>
          <p:cNvSpPr/>
          <p:nvPr/>
        </p:nvSpPr>
        <p:spPr>
          <a:xfrm>
            <a:off x="838200" y="2666846"/>
            <a:ext cx="325598" cy="4014855"/>
          </a:xfrm>
          <a:prstGeom prst="leftBrace">
            <a:avLst>
              <a:gd name="adj1" fmla="val 16228"/>
              <a:gd name="adj2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260922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ABD3D-AC54-CF75-948F-538D8C22D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F72101-81E4-8ABC-BA21-CD35946E6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5" y="599695"/>
            <a:ext cx="8239125" cy="747208"/>
          </a:xfrm>
        </p:spPr>
        <p:txBody>
          <a:bodyPr/>
          <a:lstStyle/>
          <a:p>
            <a:endParaRPr lang="es-CO" dirty="0"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0CBD64DD-726A-729B-9756-F32F7F279C87}"/>
              </a:ext>
            </a:extLst>
          </p:cNvPr>
          <p:cNvSpPr/>
          <p:nvPr/>
        </p:nvSpPr>
        <p:spPr>
          <a:xfrm>
            <a:off x="448054" y="583946"/>
            <a:ext cx="8239125" cy="734338"/>
          </a:xfrm>
          <a:custGeom>
            <a:avLst/>
            <a:gdLst/>
            <a:ahLst/>
            <a:cxnLst/>
            <a:rect l="l" t="t" r="r" b="b"/>
            <a:pathLst>
              <a:path w="8239125" h="1259205">
                <a:moveTo>
                  <a:pt x="8238744" y="0"/>
                </a:moveTo>
                <a:lnTo>
                  <a:pt x="0" y="0"/>
                </a:lnTo>
                <a:lnTo>
                  <a:pt x="0" y="1258824"/>
                </a:lnTo>
                <a:lnTo>
                  <a:pt x="8238744" y="1258824"/>
                </a:lnTo>
                <a:lnTo>
                  <a:pt x="8238744" y="0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>
            <a:r>
              <a:rPr lang="es-419" sz="4000" dirty="0">
                <a:solidFill>
                  <a:schemeClr val="bg1"/>
                </a:solidFill>
              </a:rPr>
              <a:t>Función Aversión al Riesgo</a:t>
            </a:r>
            <a:endParaRPr sz="4000" dirty="0">
              <a:solidFill>
                <a:schemeClr val="bg1"/>
              </a:solidFill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112B9240-257D-2C94-99D0-289EF754F94E}"/>
              </a:ext>
            </a:extLst>
          </p:cNvPr>
          <p:cNvSpPr txBox="1"/>
          <p:nvPr/>
        </p:nvSpPr>
        <p:spPr>
          <a:xfrm>
            <a:off x="2743200" y="1498076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b="1" dirty="0"/>
              <a:t>Arrow-Pratt: r(x) Aversión al riesgo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7AD3C64-EF29-6671-43D8-0F4291D0F44D}"/>
              </a:ext>
            </a:extLst>
          </p:cNvPr>
          <p:cNvSpPr txBox="1"/>
          <p:nvPr/>
        </p:nvSpPr>
        <p:spPr>
          <a:xfrm>
            <a:off x="529016" y="1956658"/>
            <a:ext cx="807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DARA</a:t>
            </a:r>
            <a:r>
              <a:rPr lang="es-CO" dirty="0"/>
              <a:t>: </a:t>
            </a:r>
            <a:r>
              <a:rPr lang="es-CO" i="1" dirty="0" err="1"/>
              <a:t>Decreasing</a:t>
            </a:r>
            <a:r>
              <a:rPr lang="es-CO" i="1" dirty="0"/>
              <a:t> Absolute </a:t>
            </a:r>
            <a:r>
              <a:rPr lang="es-CO" i="1" dirty="0" err="1"/>
              <a:t>Risk</a:t>
            </a:r>
            <a:r>
              <a:rPr lang="es-CO" i="1" dirty="0"/>
              <a:t> </a:t>
            </a:r>
            <a:r>
              <a:rPr lang="es-CO" i="1" dirty="0" err="1"/>
              <a:t>Aversion</a:t>
            </a:r>
            <a:r>
              <a:rPr lang="es-CO" dirty="0"/>
              <a:t>. Es una función decreciente. Significa que, la aversión disminuye conforme se incrementa la riqueza.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0718635B-2BBD-B8D2-BE96-C4511D2F82E2}"/>
              </a:ext>
            </a:extLst>
          </p:cNvPr>
          <p:cNvSpPr txBox="1"/>
          <p:nvPr/>
        </p:nvSpPr>
        <p:spPr>
          <a:xfrm>
            <a:off x="533400" y="2684686"/>
            <a:ext cx="807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IARA</a:t>
            </a:r>
            <a:r>
              <a:rPr lang="es-CO" dirty="0"/>
              <a:t>: </a:t>
            </a:r>
            <a:r>
              <a:rPr lang="es-CO" i="1" dirty="0" err="1"/>
              <a:t>Increasing</a:t>
            </a:r>
            <a:r>
              <a:rPr lang="es-CO" i="1" dirty="0"/>
              <a:t> Absolute </a:t>
            </a:r>
            <a:r>
              <a:rPr lang="es-CO" i="1" dirty="0" err="1"/>
              <a:t>Risk</a:t>
            </a:r>
            <a:r>
              <a:rPr lang="es-CO" i="1" dirty="0"/>
              <a:t> </a:t>
            </a:r>
            <a:r>
              <a:rPr lang="es-CO" i="1" dirty="0" err="1"/>
              <a:t>Aversion</a:t>
            </a:r>
            <a:r>
              <a:rPr lang="es-CO" i="1" dirty="0"/>
              <a:t> </a:t>
            </a:r>
            <a:r>
              <a:rPr lang="es-CO" dirty="0"/>
              <a:t>Es una función creciente. Significa que, la aversión aumenta conforme se incrementa la riqueza.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727A9099-3501-DA6E-0B3A-F1EF2FB112FB}"/>
              </a:ext>
            </a:extLst>
          </p:cNvPr>
          <p:cNvSpPr txBox="1"/>
          <p:nvPr/>
        </p:nvSpPr>
        <p:spPr>
          <a:xfrm>
            <a:off x="533400" y="3412714"/>
            <a:ext cx="807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CARA</a:t>
            </a:r>
            <a:r>
              <a:rPr lang="es-CO" dirty="0"/>
              <a:t>: </a:t>
            </a:r>
            <a:r>
              <a:rPr lang="es-CO" i="1" dirty="0" err="1"/>
              <a:t>Constant</a:t>
            </a:r>
            <a:r>
              <a:rPr lang="es-CO" i="1" dirty="0"/>
              <a:t> Absolute </a:t>
            </a:r>
            <a:r>
              <a:rPr lang="es-CO" i="1" dirty="0" err="1"/>
              <a:t>Risk</a:t>
            </a:r>
            <a:r>
              <a:rPr lang="es-CO" i="1" dirty="0"/>
              <a:t> </a:t>
            </a:r>
            <a:r>
              <a:rPr lang="es-CO" i="1" dirty="0" err="1"/>
              <a:t>Aversion</a:t>
            </a:r>
            <a:r>
              <a:rPr lang="es-CO" i="1" dirty="0"/>
              <a:t> </a:t>
            </a:r>
            <a:r>
              <a:rPr lang="es-CO" dirty="0"/>
              <a:t>Es una función constante. Significa que, la aversión permanece constante conforme se incrementa la riqueza.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21BC0172-7F4C-9FA0-44DF-CBBD952EEF23}"/>
              </a:ext>
            </a:extLst>
          </p:cNvPr>
          <p:cNvSpPr txBox="1"/>
          <p:nvPr/>
        </p:nvSpPr>
        <p:spPr>
          <a:xfrm>
            <a:off x="484630" y="4495800"/>
            <a:ext cx="79735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Estas medidas son intuitivamente aplicables al caso de individuos aversos al riesgo. </a:t>
            </a:r>
          </a:p>
          <a:p>
            <a:r>
              <a:rPr lang="es-CO" dirty="0"/>
              <a:t>Sin embargo, la F.A.R(x) puede ser interpretable a funciones convexas.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0537AF3B-FB98-CAAD-A7CA-2D6AEC319C21}"/>
              </a:ext>
            </a:extLst>
          </p:cNvPr>
          <p:cNvSpPr txBox="1"/>
          <p:nvPr/>
        </p:nvSpPr>
        <p:spPr>
          <a:xfrm>
            <a:off x="103807" y="6230874"/>
            <a:ext cx="8811593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CO" sz="1050" dirty="0"/>
              <a:t>Damodaran, A. </a:t>
            </a:r>
            <a:r>
              <a:rPr lang="es-CO" sz="1050" i="1" dirty="0" err="1"/>
              <a:t>Risk</a:t>
            </a:r>
            <a:r>
              <a:rPr lang="es-CO" sz="1050" i="1" dirty="0"/>
              <a:t> </a:t>
            </a:r>
            <a:r>
              <a:rPr lang="es-CO" sz="1050" i="1" dirty="0" err="1"/>
              <a:t>Aversion</a:t>
            </a:r>
            <a:r>
              <a:rPr lang="es-CO" sz="1050" i="1" dirty="0"/>
              <a:t> and </a:t>
            </a:r>
            <a:r>
              <a:rPr lang="es-CO" sz="1050" i="1" dirty="0" err="1"/>
              <a:t>Risk</a:t>
            </a:r>
            <a:r>
              <a:rPr lang="es-CO" sz="1050" i="1" dirty="0"/>
              <a:t> </a:t>
            </a:r>
            <a:r>
              <a:rPr lang="es-CO" sz="1050" i="1" dirty="0" err="1"/>
              <a:t>Attraction</a:t>
            </a:r>
            <a:r>
              <a:rPr lang="es-CO" sz="1050" i="1" dirty="0"/>
              <a:t> in Human </a:t>
            </a:r>
            <a:r>
              <a:rPr lang="es-CO" sz="1050" i="1" dirty="0" err="1"/>
              <a:t>Behavior</a:t>
            </a:r>
            <a:r>
              <a:rPr lang="es-CO" sz="1050" dirty="0"/>
              <a:t>, NYU Stern (</a:t>
            </a:r>
            <a:r>
              <a:rPr lang="es-CO" sz="1050" dirty="0">
                <a:hlinkClick r:id="rId2"/>
              </a:rPr>
              <a:t>pages.stern.nyu.edu</a:t>
            </a:r>
            <a:r>
              <a:rPr lang="es-CO" sz="1050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O" sz="1050" dirty="0" err="1"/>
              <a:t>Hsee</a:t>
            </a:r>
            <a:r>
              <a:rPr lang="es-CO" sz="1050" dirty="0"/>
              <a:t> &amp; Weber (1997). </a:t>
            </a:r>
            <a:r>
              <a:rPr lang="es-CO" sz="1050" i="1" dirty="0" err="1"/>
              <a:t>Risk</a:t>
            </a:r>
            <a:r>
              <a:rPr lang="es-CO" sz="1050" i="1" dirty="0"/>
              <a:t> </a:t>
            </a:r>
            <a:r>
              <a:rPr lang="es-CO" sz="1050" i="1" dirty="0" err="1"/>
              <a:t>preference</a:t>
            </a:r>
            <a:r>
              <a:rPr lang="es-CO" sz="1050" i="1" dirty="0"/>
              <a:t> </a:t>
            </a:r>
            <a:r>
              <a:rPr lang="es-CO" sz="1050" i="1" dirty="0" err="1"/>
              <a:t>differences</a:t>
            </a:r>
            <a:r>
              <a:rPr lang="es-CO" sz="1050" i="1" dirty="0"/>
              <a:t> </a:t>
            </a:r>
            <a:r>
              <a:rPr lang="es-CO" sz="1050" i="1" dirty="0" err="1"/>
              <a:t>across</a:t>
            </a:r>
            <a:r>
              <a:rPr lang="es-CO" sz="1050" i="1" dirty="0"/>
              <a:t> cultures and </a:t>
            </a:r>
            <a:r>
              <a:rPr lang="es-CO" sz="1050" i="1" dirty="0" err="1"/>
              <a:t>individuals</a:t>
            </a:r>
            <a:r>
              <a:rPr lang="es-CO" sz="1050" dirty="0"/>
              <a:t>. </a:t>
            </a:r>
            <a:r>
              <a:rPr lang="es-CO" sz="1050" dirty="0" err="1"/>
              <a:t>Journal</a:t>
            </a:r>
            <a:r>
              <a:rPr lang="es-CO" sz="1050" dirty="0"/>
              <a:t> </a:t>
            </a:r>
            <a:r>
              <a:rPr lang="es-CO" sz="1050" dirty="0" err="1"/>
              <a:t>of</a:t>
            </a:r>
            <a:r>
              <a:rPr lang="es-CO" sz="1050" dirty="0"/>
              <a:t> </a:t>
            </a:r>
            <a:r>
              <a:rPr lang="es-CO" sz="1050" dirty="0" err="1"/>
              <a:t>Behavioral</a:t>
            </a:r>
            <a:r>
              <a:rPr lang="es-CO" sz="1050" dirty="0"/>
              <a:t> </a:t>
            </a:r>
            <a:r>
              <a:rPr lang="es-CO" sz="1050" dirty="0" err="1"/>
              <a:t>Decision</a:t>
            </a:r>
            <a:r>
              <a:rPr lang="es-CO" sz="1050" dirty="0"/>
              <a:t> </a:t>
            </a:r>
            <a:r>
              <a:rPr lang="es-CO" sz="1050" dirty="0" err="1"/>
              <a:t>Making</a:t>
            </a:r>
            <a:r>
              <a:rPr lang="es-CO" sz="105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O" sz="1050" dirty="0"/>
              <a:t>Gómez-Mejía et al. (2005). </a:t>
            </a:r>
            <a:r>
              <a:rPr lang="es-CO" sz="1050" i="1" dirty="0"/>
              <a:t>General </a:t>
            </a:r>
            <a:r>
              <a:rPr lang="es-CO" sz="1050" i="1" dirty="0" err="1"/>
              <a:t>Risk</a:t>
            </a:r>
            <a:r>
              <a:rPr lang="es-CO" sz="1050" i="1" dirty="0"/>
              <a:t> </a:t>
            </a:r>
            <a:r>
              <a:rPr lang="es-CO" sz="1050" i="1" dirty="0" err="1"/>
              <a:t>Propensity</a:t>
            </a:r>
            <a:r>
              <a:rPr lang="es-CO" sz="1050" i="1" dirty="0"/>
              <a:t> </a:t>
            </a:r>
            <a:r>
              <a:rPr lang="es-CO" sz="1050" i="1" dirty="0" err="1"/>
              <a:t>Scale</a:t>
            </a:r>
            <a:r>
              <a:rPr lang="es-CO" sz="1050" i="1" dirty="0"/>
              <a:t> (</a:t>
            </a:r>
            <a:r>
              <a:rPr lang="es-CO" sz="1050" i="1" dirty="0" err="1"/>
              <a:t>GRiPS</a:t>
            </a:r>
            <a:r>
              <a:rPr lang="es-CO" sz="1050" i="1" dirty="0"/>
              <a:t>)</a:t>
            </a:r>
            <a:r>
              <a:rPr lang="es-CO" sz="1050" dirty="0"/>
              <a:t>, Redalyc.</a:t>
            </a:r>
          </a:p>
        </p:txBody>
      </p:sp>
    </p:spTree>
    <p:extLst>
      <p:ext uri="{BB962C8B-B14F-4D97-AF65-F5344CB8AC3E}">
        <p14:creationId xmlns:p14="http://schemas.microsoft.com/office/powerpoint/2010/main" val="42615597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0315FE-15EC-6CB4-C404-8F29B7BC1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5" y="599694"/>
            <a:ext cx="8239125" cy="430887"/>
          </a:xfrm>
        </p:spPr>
        <p:txBody>
          <a:bodyPr/>
          <a:lstStyle/>
          <a:p>
            <a:r>
              <a:rPr lang="es-CO" dirty="0">
                <a:solidFill>
                  <a:schemeClr val="tx2"/>
                </a:solidFill>
              </a:rPr>
              <a:t>EJEMPLOS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a 3">
                <a:extLst>
                  <a:ext uri="{FF2B5EF4-FFF2-40B4-BE49-F238E27FC236}">
                    <a16:creationId xmlns:a16="http://schemas.microsoft.com/office/drawing/2014/main" id="{47636921-509C-E829-458C-A810F9A21F6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2425742"/>
                  </p:ext>
                </p:extLst>
              </p:nvPr>
            </p:nvGraphicFramePr>
            <p:xfrm>
              <a:off x="41432" y="1295400"/>
              <a:ext cx="9052369" cy="51892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98969">
                      <a:extLst>
                        <a:ext uri="{9D8B030D-6E8A-4147-A177-3AD203B41FA5}">
                          <a16:colId xmlns:a16="http://schemas.microsoft.com/office/drawing/2014/main" val="2700305613"/>
                        </a:ext>
                      </a:extLst>
                    </a:gridCol>
                    <a:gridCol w="1234180">
                      <a:extLst>
                        <a:ext uri="{9D8B030D-6E8A-4147-A177-3AD203B41FA5}">
                          <a16:colId xmlns:a16="http://schemas.microsoft.com/office/drawing/2014/main" val="1995327960"/>
                        </a:ext>
                      </a:extLst>
                    </a:gridCol>
                    <a:gridCol w="939712">
                      <a:extLst>
                        <a:ext uri="{9D8B030D-6E8A-4147-A177-3AD203B41FA5}">
                          <a16:colId xmlns:a16="http://schemas.microsoft.com/office/drawing/2014/main" val="1079273157"/>
                        </a:ext>
                      </a:extLst>
                    </a:gridCol>
                    <a:gridCol w="1252950">
                      <a:extLst>
                        <a:ext uri="{9D8B030D-6E8A-4147-A177-3AD203B41FA5}">
                          <a16:colId xmlns:a16="http://schemas.microsoft.com/office/drawing/2014/main" val="2648705473"/>
                        </a:ext>
                      </a:extLst>
                    </a:gridCol>
                    <a:gridCol w="1174640">
                      <a:extLst>
                        <a:ext uri="{9D8B030D-6E8A-4147-A177-3AD203B41FA5}">
                          <a16:colId xmlns:a16="http://schemas.microsoft.com/office/drawing/2014/main" val="599129963"/>
                        </a:ext>
                      </a:extLst>
                    </a:gridCol>
                    <a:gridCol w="1409568">
                      <a:extLst>
                        <a:ext uri="{9D8B030D-6E8A-4147-A177-3AD203B41FA5}">
                          <a16:colId xmlns:a16="http://schemas.microsoft.com/office/drawing/2014/main" val="410776540"/>
                        </a:ext>
                      </a:extLst>
                    </a:gridCol>
                    <a:gridCol w="2142350">
                      <a:extLst>
                        <a:ext uri="{9D8B030D-6E8A-4147-A177-3AD203B41FA5}">
                          <a16:colId xmlns:a16="http://schemas.microsoft.com/office/drawing/2014/main" val="3476724424"/>
                        </a:ext>
                      </a:extLst>
                    </a:gridCol>
                  </a:tblGrid>
                  <a:tr h="742950">
                    <a:tc>
                      <a:txBody>
                        <a:bodyPr/>
                        <a:lstStyle/>
                        <a:p>
                          <a:r>
                            <a:rPr lang="es-CO" sz="1050" dirty="0"/>
                            <a:t>Tipo Individuo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CO" sz="1050" dirty="0"/>
                            <a:t>Ejemplo </a:t>
                          </a:r>
                          <a14:m>
                            <m:oMath xmlns:m="http://schemas.openxmlformats.org/officeDocument/2006/math">
                              <m:r>
                                <a:rPr lang="es-419" sz="1050" b="1" i="1" dirty="0" smtClean="0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  <m:r>
                                <a:rPr lang="es-CO" sz="1050" i="1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s-CO" sz="105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CO" sz="1050" i="1" dirty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s-CO" sz="105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s-419" sz="1050" b="1" i="1" dirty="0" smtClean="0">
                                    <a:latin typeface="Cambria Math" panose="02040503050406030204" pitchFamily="18" charset="0"/>
                                  </a:rPr>
                                  <m:t>𝒖</m:t>
                                </m:r>
                                <m:r>
                                  <a:rPr lang="es-CO" sz="1050" b="1" i="1" dirty="0" smtClean="0">
                                    <a:latin typeface="Cambria Math" panose="02040503050406030204" pitchFamily="18" charset="0"/>
                                  </a:rPr>
                                  <m:t>´</m:t>
                                </m:r>
                                <m:r>
                                  <a:rPr lang="es-CO" sz="1050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CO" sz="105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CO" sz="1050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s-CO" sz="105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s-419" sz="1050" b="1" i="1" dirty="0" smtClean="0">
                                    <a:latin typeface="Cambria Math" panose="02040503050406030204" pitchFamily="18" charset="0"/>
                                  </a:rPr>
                                  <m:t>𝒖</m:t>
                                </m:r>
                                <m:r>
                                  <a:rPr lang="es-CO" sz="1050" b="1" i="1" dirty="0" smtClean="0">
                                    <a:latin typeface="Cambria Math" panose="02040503050406030204" pitchFamily="18" charset="0"/>
                                  </a:rPr>
                                  <m:t>´</m:t>
                                </m:r>
                                <m:r>
                                  <a:rPr lang="es-419" sz="1050" b="1" i="1" dirty="0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  <m:r>
                                  <a:rPr lang="es-CO" sz="1050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CO" sz="105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CO" sz="1050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s-CO" sz="105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s-419" sz="1050" b="1" i="1" dirty="0" smtClean="0"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  <m:d>
                                  <m:dPr>
                                    <m:ctrlPr>
                                      <a:rPr lang="es-419" sz="105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419" sz="1050" b="1" i="1" dirty="0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</m:d>
                                <m:r>
                                  <a:rPr lang="es-419" sz="1050" b="1" i="1" dirty="0" smtClean="0"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f>
                                  <m:fPr>
                                    <m:ctrlPr>
                                      <a:rPr lang="es-419" sz="105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419" sz="1050" b="1" i="1" dirty="0" smtClean="0">
                                        <a:latin typeface="Cambria Math" panose="02040503050406030204" pitchFamily="18" charset="0"/>
                                      </a:rPr>
                                      <m:t>𝒖</m:t>
                                    </m:r>
                                    <m:r>
                                      <a:rPr lang="es-419" sz="1050" b="1" i="0" dirty="0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  <m:r>
                                      <a:rPr lang="es-419" sz="1050" b="1" i="1" dirty="0" smtClean="0">
                                        <a:latin typeface="Cambria Math" panose="02040503050406030204" pitchFamily="18" charset="0"/>
                                      </a:rPr>
                                      <m:t>´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s-419" sz="1050" b="1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s-419" sz="1050" b="1" i="1" dirty="0" smtClean="0">
                                            <a:latin typeface="Cambria Math" panose="02040503050406030204" pitchFamily="18" charset="0"/>
                                          </a:rPr>
                                          <m:t>𝒖</m:t>
                                        </m:r>
                                      </m:e>
                                      <m:sup>
                                        <m:r>
                                          <a:rPr lang="es-419" sz="1050" b="1" i="1" dirty="0" smtClean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es-CO" sz="1050" dirty="0"/>
                        </a:p>
                        <a:p>
                          <a:endParaRPr lang="es-CO" sz="105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s-419" sz="1050" b="1" i="1" dirty="0" smtClean="0"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  <m:r>
                                  <a:rPr lang="es-419" sz="1050" b="1" i="1" dirty="0" smtClean="0">
                                    <a:latin typeface="Cambria Math" panose="02040503050406030204" pitchFamily="18" charset="0"/>
                                  </a:rPr>
                                  <m:t>´</m:t>
                                </m:r>
                                <m:d>
                                  <m:dPr>
                                    <m:ctrlPr>
                                      <a:rPr lang="es-419" sz="105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419" sz="1050" b="1" i="1" dirty="0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CO" sz="105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CO" sz="1050" dirty="0"/>
                            <a:t>Interpretación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52905769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r>
                            <a:rPr lang="es-CO" sz="1200" b="1" dirty="0"/>
                            <a:t>Averso al Riesgo</a:t>
                          </a:r>
                        </a:p>
                        <a:p>
                          <a:r>
                            <a:rPr lang="es-CO" sz="1200" b="1" dirty="0"/>
                            <a:t>(Cóncava)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sty m:val="p"/>
                                  </m:rPr>
                                  <a:rPr lang="es-419" sz="1050" b="0" i="1" smtClean="0">
                                    <a:latin typeface="Cambria Math" panose="02040503050406030204" pitchFamily="18" charset="0"/>
                                  </a:rPr>
                                  <m:t>u</m:t>
                                </m:r>
                                <m:d>
                                  <m:dPr>
                                    <m:ctrlPr>
                                      <a:rPr lang="es-419" sz="1050" b="0" i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s-419" sz="1050" b="0" i="0" smtClean="0"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</m:e>
                                </m:d>
                                <m:r>
                                  <a:rPr lang="es-419" sz="1050" b="0" i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sty m:val="p"/>
                                  </m:rPr>
                                  <a:rPr lang="es-419" sz="1050" b="0" i="0" smtClean="0">
                                    <a:latin typeface="Cambria Math" panose="02040503050406030204" pitchFamily="18" charset="0"/>
                                  </a:rPr>
                                  <m:t>ln</m:t>
                                </m:r>
                                <m:r>
                                  <a:rPr lang="es-419" sz="1050" b="0" i="1" smtClean="0">
                                    <a:latin typeface="Cambria Math" panose="02040503050406030204" pitchFamily="18" charset="0"/>
                                  </a:rPr>
                                  <m:t>⁡(1+</m:t>
                                </m:r>
                                <m:r>
                                  <a:rPr lang="es-419" sz="105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419" sz="105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s-CO" sz="105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s-419" sz="105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419" sz="105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s-419" sz="105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  <m:r>
                                <a:rPr lang="es-419" sz="1050" b="0" i="1" smtClean="0">
                                  <a:latin typeface="Cambria Math" panose="02040503050406030204" pitchFamily="18" charset="0"/>
                                </a:rPr>
                                <m:t>&gt;0</m:t>
                              </m:r>
                            </m:oMath>
                          </a14:m>
                          <a:r>
                            <a:rPr lang="es-CO" sz="1050" dirty="0"/>
                            <a:t> 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s-419" sz="105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s-419" sz="105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419" sz="105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s-419" sz="105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s-419" sz="105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s-419" sz="1050" b="0" i="1" smtClean="0">
                                                <a:latin typeface="Cambria Math" panose="02040503050406030204" pitchFamily="18" charset="0"/>
                                              </a:rPr>
                                              <m:t>1+</m:t>
                                            </m:r>
                                            <m:r>
                                              <a:rPr lang="es-419" sz="105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s-419" sz="105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  <m:r>
                                  <a:rPr lang="es-419" sz="1050" b="0" i="1" smtClean="0">
                                    <a:latin typeface="Cambria Math" panose="02040503050406030204" pitchFamily="18" charset="0"/>
                                  </a:rPr>
                                  <m:t>&lt;0</m:t>
                                </m:r>
                              </m:oMath>
                            </m:oMathPara>
                          </a14:m>
                          <a:endParaRPr lang="es-CO" sz="105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s-419" sz="105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419" sz="105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s-419" sz="1050" b="0" i="1" smtClean="0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es-419" sz="105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  <m:r>
                                <a:rPr lang="es-419" sz="1050" b="0" i="1" smtClean="0">
                                  <a:latin typeface="Cambria Math" panose="02040503050406030204" pitchFamily="18" charset="0"/>
                                </a:rPr>
                                <m:t>&gt;0</m:t>
                              </m:r>
                            </m:oMath>
                          </a14:m>
                          <a:r>
                            <a:rPr lang="es-CO" sz="1050" dirty="0"/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s-419" sz="105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s-419" sz="105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419" sz="105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s-419" sz="105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s-419" sz="105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s-419" sz="1050" b="0" i="1" smtClean="0">
                                                <a:latin typeface="Cambria Math" panose="02040503050406030204" pitchFamily="18" charset="0"/>
                                              </a:rPr>
                                              <m:t>1+</m:t>
                                            </m:r>
                                            <m:r>
                                              <a:rPr lang="es-419" sz="105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s-419" sz="105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  <m:r>
                                  <a:rPr lang="es-419" sz="1050" b="0" i="1" smtClean="0">
                                    <a:latin typeface="Cambria Math" panose="02040503050406030204" pitchFamily="18" charset="0"/>
                                  </a:rPr>
                                  <m:t>&lt;0</m:t>
                                </m:r>
                              </m:oMath>
                            </m:oMathPara>
                          </a14:m>
                          <a:endParaRPr lang="es-CO" sz="1050" dirty="0"/>
                        </a:p>
                        <a:p>
                          <a:pPr algn="ctr"/>
                          <a:endParaRPr lang="es-CO" sz="105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s-419" sz="1100" b="1" i="1" dirty="0" smtClean="0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  <m:r>
                                <a:rPr lang="es-CO" sz="1100" b="1" i="1" dirty="0" smtClean="0">
                                  <a:latin typeface="Cambria Math" panose="02040503050406030204" pitchFamily="18" charset="0"/>
                                </a:rPr>
                                <m:t>´</m:t>
                              </m:r>
                              <m:r>
                                <a:rPr lang="es-CO" sz="1100" i="1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s-CO" sz="110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CO" sz="1100" i="1" dirty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s-CO" sz="1100" dirty="0"/>
                            <a:t>&gt;0: </a:t>
                          </a:r>
                        </a:p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CO" sz="1100" dirty="0"/>
                            <a:t>Utilidad Creciente, a más riqueza, más utilidad. </a:t>
                          </a:r>
                          <a14:m>
                            <m:oMath xmlns:m="http://schemas.openxmlformats.org/officeDocument/2006/math">
                              <m:r>
                                <a:rPr lang="es-419" sz="1100" b="1" i="1" dirty="0" smtClean="0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  <m:r>
                                <a:rPr lang="es-CO" sz="1100" b="1" i="1" dirty="0" smtClean="0">
                                  <a:latin typeface="Cambria Math" panose="02040503050406030204" pitchFamily="18" charset="0"/>
                                </a:rPr>
                                <m:t>´</m:t>
                              </m:r>
                              <m:r>
                                <a:rPr lang="es-419" sz="1100" b="1" i="1" dirty="0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  <m:r>
                                <a:rPr lang="es-CO" sz="1100" i="1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s-CO" sz="110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CO" sz="1100" i="1" dirty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s-CO" sz="1100" dirty="0"/>
                            <a:t>&lt;0: Averso al riesgo.</a:t>
                          </a:r>
                        </a:p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s-419" sz="1100" b="1" i="1" dirty="0" smtClean="0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  <m:d>
                                <m:dPr>
                                  <m:ctrlPr>
                                    <a:rPr lang="es-419" sz="1100" b="1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419" sz="1100" b="1" i="1" dirty="0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</m:oMath>
                          </a14:m>
                          <a:r>
                            <a:rPr lang="es-CO" sz="1100" dirty="0"/>
                            <a:t>&gt;0:</a:t>
                          </a:r>
                          <a:r>
                            <a:rPr lang="es-CO" sz="1100" baseline="0" dirty="0"/>
                            <a:t> Averso al riesgo. </a:t>
                          </a:r>
                          <a14:m>
                            <m:oMath xmlns:m="http://schemas.openxmlformats.org/officeDocument/2006/math">
                              <m:r>
                                <a:rPr lang="es-419" sz="1100" b="1" i="1" dirty="0" smtClean="0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  <m:r>
                                <a:rPr lang="es-419" sz="1100" b="1" i="1" dirty="0" smtClean="0">
                                  <a:latin typeface="Cambria Math" panose="02040503050406030204" pitchFamily="18" charset="0"/>
                                </a:rPr>
                                <m:t>´</m:t>
                              </m:r>
                              <m:d>
                                <m:dPr>
                                  <m:ctrlPr>
                                    <a:rPr lang="es-419" sz="1100" b="1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419" sz="1100" b="1" i="1" dirty="0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  <m:r>
                                <a:rPr lang="es-419" sz="1100" b="1" i="1" dirty="0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s-419" sz="1100" b="1" i="1" dirty="0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s-419" sz="1100" b="1" i="1" dirty="0" smtClean="0">
                                  <a:latin typeface="Cambria Math" panose="02040503050406030204" pitchFamily="18" charset="0"/>
                                </a:rPr>
                                <m:t>: </m:t>
                              </m:r>
                            </m:oMath>
                          </a14:m>
                          <a:r>
                            <a:rPr lang="es-CO" sz="1100" dirty="0"/>
                            <a:t>Aversión Decreciente</a:t>
                          </a:r>
                          <a:r>
                            <a:rPr lang="es-CO" sz="1100" baseline="0" dirty="0"/>
                            <a:t> o </a:t>
                          </a:r>
                          <a:r>
                            <a:rPr lang="es-CO" sz="1100" b="1" baseline="0" dirty="0"/>
                            <a:t>DARA</a:t>
                          </a:r>
                          <a:r>
                            <a:rPr lang="es-CO" sz="1100" dirty="0"/>
                            <a:t> (</a:t>
                          </a:r>
                          <a:r>
                            <a:rPr lang="es-CO" sz="1100" i="1" dirty="0" err="1"/>
                            <a:t>Decreasing</a:t>
                          </a:r>
                          <a:r>
                            <a:rPr lang="es-CO" sz="1100" i="1" baseline="0" dirty="0"/>
                            <a:t> Absolute </a:t>
                          </a:r>
                          <a:r>
                            <a:rPr lang="es-CO" sz="1100" i="1" baseline="0" dirty="0" err="1"/>
                            <a:t>Risk</a:t>
                          </a:r>
                          <a:r>
                            <a:rPr lang="es-CO" sz="1100" i="1" baseline="0" dirty="0"/>
                            <a:t> </a:t>
                          </a:r>
                          <a:r>
                            <a:rPr lang="es-CO" sz="1100" i="1" baseline="0" dirty="0" err="1"/>
                            <a:t>Aversion</a:t>
                          </a:r>
                          <a:r>
                            <a:rPr lang="es-CO" sz="1100" baseline="0" dirty="0"/>
                            <a:t>: </a:t>
                          </a:r>
                          <a:r>
                            <a:rPr lang="es-CO" sz="1100" dirty="0"/>
                            <a:t>a más riqueza, menos averso)</a:t>
                          </a:r>
                        </a:p>
                        <a:p>
                          <a:pPr algn="ctr"/>
                          <a:endParaRPr lang="es-CO" sz="11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55951302"/>
                      </a:ext>
                    </a:extLst>
                  </a:tr>
                  <a:tr h="742950">
                    <a:tc>
                      <a:txBody>
                        <a:bodyPr/>
                        <a:lstStyle/>
                        <a:p>
                          <a:r>
                            <a:rPr lang="es-CO" sz="1200" b="1" dirty="0"/>
                            <a:t>Neutral al Riesgo</a:t>
                          </a:r>
                        </a:p>
                        <a:p>
                          <a:r>
                            <a:rPr lang="es-CO" sz="1200" b="1" dirty="0"/>
                            <a:t>(Lineal)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s-419" sz="1050" b="0" i="1" dirty="0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d>
                                  <m:dPr>
                                    <m:ctrlPr>
                                      <a:rPr lang="es-419" sz="105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419" sz="1050" b="0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s-419" sz="1050" b="0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s-CO" sz="105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s-CO" sz="105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1050" dirty="0"/>
                            <a:t>1&gt;0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105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105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105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1100" dirty="0"/>
                            <a:t>Utilidad Marginal constante. Individuo neutral. Aversión absoluta constante nula.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44611446"/>
                      </a:ext>
                    </a:extLst>
                  </a:tr>
                  <a:tr h="742950">
                    <a:tc>
                      <a:txBody>
                        <a:bodyPr/>
                        <a:lstStyle/>
                        <a:p>
                          <a:r>
                            <a:rPr lang="es-CO" sz="1200" b="1" dirty="0">
                              <a:solidFill>
                                <a:schemeClr val="tx2"/>
                              </a:solidFill>
                            </a:rPr>
                            <a:t>Propenso al Riesgo (Convexa)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s-419" sz="105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419" sz="1050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  <m:d>
                                      <m:dPr>
                                        <m:ctrlPr>
                                          <a:rPr lang="es-419" sz="105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419" sz="105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  <m:r>
                                      <a:rPr lang="es-419" sz="1050" b="0" i="1" smtClean="0">
                                        <a:latin typeface="Cambria Math" panose="02040503050406030204" pitchFamily="18" charset="0"/>
                                      </a:rPr>
                                      <m:t>=(</m:t>
                                    </m:r>
                                    <m:r>
                                      <a:rPr lang="es-419" sz="105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s-419" sz="1050" b="0" i="1" smtClean="0">
                                        <a:latin typeface="Cambria Math" panose="02040503050406030204" pitchFamily="18" charset="0"/>
                                      </a:rPr>
                                      <m:t>+1)</m:t>
                                    </m:r>
                                  </m:e>
                                  <m:sup>
                                    <m:r>
                                      <a:rPr lang="es-419" sz="105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05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s-419" sz="105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d>
                                  <m:dPr>
                                    <m:ctrlPr>
                                      <a:rPr lang="es-419" sz="105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419" sz="105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s-419" sz="1050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e>
                                </m:d>
                                <m:r>
                                  <a:rPr lang="es-419" sz="1050" b="0" i="1" smtClean="0">
                                    <a:latin typeface="Cambria Math" panose="02040503050406030204" pitchFamily="18" charset="0"/>
                                  </a:rPr>
                                  <m:t>&gt;0</m:t>
                                </m:r>
                              </m:oMath>
                            </m:oMathPara>
                          </a14:m>
                          <a:endParaRPr lang="es-CO" sz="105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s-419" sz="1050" b="0" i="1" smtClean="0">
                                    <a:latin typeface="Cambria Math" panose="02040503050406030204" pitchFamily="18" charset="0"/>
                                  </a:rPr>
                                  <m:t>2&gt;0</m:t>
                                </m:r>
                              </m:oMath>
                            </m:oMathPara>
                          </a14:m>
                          <a:endParaRPr lang="es-CO" sz="105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s-419" sz="105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s-419" sz="105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419" sz="105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d>
                                      <m:dPr>
                                        <m:ctrlPr>
                                          <a:rPr lang="es-419" sz="105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419" sz="105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s-419" sz="1050" b="0" i="1" smtClean="0">
                                            <a:latin typeface="Cambria Math" panose="02040503050406030204" pitchFamily="18" charset="0"/>
                                          </a:rPr>
                                          <m:t>+1</m:t>
                                        </m:r>
                                      </m:e>
                                    </m:d>
                                  </m:den>
                                </m:f>
                                <m:r>
                                  <a:rPr lang="es-419" sz="1050" b="0" i="1" smtClean="0">
                                    <a:latin typeface="Cambria Math" panose="02040503050406030204" pitchFamily="18" charset="0"/>
                                  </a:rPr>
                                  <m:t>&lt;0</m:t>
                                </m:r>
                              </m:oMath>
                            </m:oMathPara>
                          </a14:m>
                          <a:endParaRPr lang="es-CO" sz="105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es-419" sz="105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419" sz="105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s-419" sz="105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s-419" sz="1050" b="0" i="1" smtClean="0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s-419" sz="105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s-419" sz="1050" b="0" i="1" smtClean="0">
                                            <a:latin typeface="Cambria Math" panose="02040503050406030204" pitchFamily="18" charset="0"/>
                                          </a:rPr>
                                          <m:t>+1)</m:t>
                                        </m:r>
                                      </m:e>
                                      <m:sup>
                                        <m:r>
                                          <a:rPr lang="es-419" sz="105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  <m:r>
                                  <a:rPr lang="es-419" sz="1050" b="0" i="1" smtClean="0">
                                    <a:latin typeface="Cambria Math" panose="02040503050406030204" pitchFamily="18" charset="0"/>
                                  </a:rPr>
                                  <m:t>&gt;0</m:t>
                                </m:r>
                              </m:oMath>
                            </m:oMathPara>
                          </a14:m>
                          <a:endParaRPr lang="es-CO" sz="105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s-419" sz="1100" b="1" i="1" dirty="0" smtClean="0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  <m:r>
                                <a:rPr lang="es-CO" sz="1100" b="1" i="1" dirty="0" smtClean="0">
                                  <a:latin typeface="Cambria Math" panose="02040503050406030204" pitchFamily="18" charset="0"/>
                                </a:rPr>
                                <m:t>´</m:t>
                              </m:r>
                              <m:r>
                                <a:rPr lang="es-CO" sz="1100" i="1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s-CO" sz="110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CO" sz="1100" i="1" dirty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s-CO" sz="1100" dirty="0"/>
                            <a:t>&gt;0: </a:t>
                          </a:r>
                        </a:p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CO" sz="1100" dirty="0"/>
                            <a:t>Utilidad Creciente, a más riqueza, más utilidad. </a:t>
                          </a:r>
                          <a14:m>
                            <m:oMath xmlns:m="http://schemas.openxmlformats.org/officeDocument/2006/math">
                              <m:r>
                                <a:rPr lang="es-419" sz="1100" b="1" i="1" dirty="0" smtClean="0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  <m:sSup>
                                <m:sSupPr>
                                  <m:ctrlPr>
                                    <a:rPr lang="es-CO" sz="1100" b="1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CO" sz="1100" b="1" i="1" dirty="0" smtClean="0">
                                      <a:latin typeface="Cambria Math" panose="02040503050406030204" pitchFamily="18" charset="0"/>
                                    </a:rPr>
                                    <m:t>´</m:t>
                                  </m:r>
                                </m:e>
                                <m:sup>
                                  <m:r>
                                    <a:rPr lang="es-419" sz="1100" b="1" i="1" dirty="0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s-CO" sz="11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CO" sz="110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s-419" sz="1100" b="0" i="0" dirty="0" smtClean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</m:oMath>
                          </a14:m>
                          <a:r>
                            <a:rPr lang="es-CO" sz="1100" dirty="0"/>
                            <a:t>0: Propenso al riesgo (prefiere lotería a pago seguro).</a:t>
                          </a:r>
                        </a:p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s-419" sz="1100" b="1" i="1" dirty="0" smtClean="0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  <m:d>
                                <m:dPr>
                                  <m:ctrlPr>
                                    <a:rPr lang="es-419" sz="1100" b="1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419" sz="1100" b="1" i="1" dirty="0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  <m:r>
                                <a:rPr lang="es-419" sz="1100" b="0" i="0" dirty="0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</m:oMath>
                          </a14:m>
                          <a:r>
                            <a:rPr lang="es-CO" sz="1100" dirty="0"/>
                            <a:t>0:</a:t>
                          </a:r>
                          <a:r>
                            <a:rPr lang="es-CO" sz="1100" baseline="0" dirty="0"/>
                            <a:t> Propenso al riesgo. </a:t>
                          </a:r>
                          <a14:m>
                            <m:oMath xmlns:m="http://schemas.openxmlformats.org/officeDocument/2006/math">
                              <m:r>
                                <a:rPr lang="es-419" sz="1100" b="1" i="1" dirty="0" smtClean="0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  <m:r>
                                <a:rPr lang="es-419" sz="1100" b="1" i="1" dirty="0" smtClean="0">
                                  <a:latin typeface="Cambria Math" panose="02040503050406030204" pitchFamily="18" charset="0"/>
                                </a:rPr>
                                <m:t>´</m:t>
                              </m:r>
                              <m:d>
                                <m:dPr>
                                  <m:ctrlPr>
                                    <a:rPr lang="es-419" sz="1100" b="1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419" sz="1100" b="1" i="1" dirty="0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  <m:r>
                                <a:rPr lang="es-419" sz="1100" b="1" i="1" dirty="0" smtClean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s-419" sz="1100" b="1" i="1" dirty="0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s-419" sz="1100" b="1" i="1" dirty="0" smtClean="0">
                                  <a:latin typeface="Cambria Math" panose="02040503050406030204" pitchFamily="18" charset="0"/>
                                </a:rPr>
                                <m:t>: </m:t>
                              </m:r>
                            </m:oMath>
                          </a14:m>
                          <a:r>
                            <a:rPr lang="es-CO" sz="1100" dirty="0"/>
                            <a:t>Aversión Creciente</a:t>
                          </a:r>
                          <a:r>
                            <a:rPr lang="es-CO" sz="1100" baseline="0" dirty="0"/>
                            <a:t> o </a:t>
                          </a:r>
                          <a:r>
                            <a:rPr lang="es-CO" sz="1100" b="1" baseline="0" dirty="0"/>
                            <a:t>IPARA</a:t>
                          </a:r>
                          <a:r>
                            <a:rPr lang="es-CO" sz="1100" dirty="0"/>
                            <a:t> (</a:t>
                          </a:r>
                          <a:r>
                            <a:rPr lang="es-CO" sz="1100" i="1" dirty="0" err="1"/>
                            <a:t>Increasing</a:t>
                          </a:r>
                          <a:r>
                            <a:rPr lang="es-CO" sz="1100" i="1" dirty="0"/>
                            <a:t> </a:t>
                          </a:r>
                          <a:r>
                            <a:rPr lang="es-CO" sz="1100" i="1" dirty="0" err="1"/>
                            <a:t>Propensity</a:t>
                          </a:r>
                          <a:r>
                            <a:rPr lang="es-CO" sz="1100" i="1" dirty="0"/>
                            <a:t> </a:t>
                          </a:r>
                          <a:r>
                            <a:rPr lang="es-CO" sz="1100" i="1" dirty="0" err="1"/>
                            <a:t>to</a:t>
                          </a:r>
                          <a:r>
                            <a:rPr lang="es-CO" sz="1100" i="1" dirty="0"/>
                            <a:t> Absolute </a:t>
                          </a:r>
                          <a:r>
                            <a:rPr lang="es-CO" sz="1100" i="1" dirty="0" err="1"/>
                            <a:t>Risk</a:t>
                          </a:r>
                          <a:r>
                            <a:rPr lang="es-CO" sz="1100" i="1" dirty="0"/>
                            <a:t> </a:t>
                          </a:r>
                          <a:r>
                            <a:rPr lang="es-CO" sz="1100" i="1" dirty="0" err="1"/>
                            <a:t>Aversion</a:t>
                          </a:r>
                          <a:r>
                            <a:rPr lang="es-CO" sz="1100" dirty="0"/>
                            <a:t>:</a:t>
                          </a:r>
                          <a:r>
                            <a:rPr lang="es-CO" sz="1100" baseline="0" dirty="0"/>
                            <a:t> </a:t>
                          </a:r>
                          <a:r>
                            <a:rPr lang="es-CO" sz="1100" dirty="0"/>
                            <a:t>a </a:t>
                          </a:r>
                          <a:r>
                            <a:rPr lang="es-CO" sz="1100" baseline="0" dirty="0"/>
                            <a:t>más riqueza, más propensión al riesgo</a:t>
                          </a:r>
                          <a:r>
                            <a:rPr lang="es-CO" sz="1100" dirty="0"/>
                            <a:t>)</a:t>
                          </a:r>
                        </a:p>
                        <a:p>
                          <a:pPr algn="ctr"/>
                          <a:endParaRPr lang="es-CO" sz="11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5124036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a 3">
                <a:extLst>
                  <a:ext uri="{FF2B5EF4-FFF2-40B4-BE49-F238E27FC236}">
                    <a16:creationId xmlns:a16="http://schemas.microsoft.com/office/drawing/2014/main" id="{47636921-509C-E829-458C-A810F9A21F6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2425742"/>
                  </p:ext>
                </p:extLst>
              </p:nvPr>
            </p:nvGraphicFramePr>
            <p:xfrm>
              <a:off x="41432" y="1295400"/>
              <a:ext cx="9052369" cy="51892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98969">
                      <a:extLst>
                        <a:ext uri="{9D8B030D-6E8A-4147-A177-3AD203B41FA5}">
                          <a16:colId xmlns:a16="http://schemas.microsoft.com/office/drawing/2014/main" val="2700305613"/>
                        </a:ext>
                      </a:extLst>
                    </a:gridCol>
                    <a:gridCol w="1234180">
                      <a:extLst>
                        <a:ext uri="{9D8B030D-6E8A-4147-A177-3AD203B41FA5}">
                          <a16:colId xmlns:a16="http://schemas.microsoft.com/office/drawing/2014/main" val="1995327960"/>
                        </a:ext>
                      </a:extLst>
                    </a:gridCol>
                    <a:gridCol w="939712">
                      <a:extLst>
                        <a:ext uri="{9D8B030D-6E8A-4147-A177-3AD203B41FA5}">
                          <a16:colId xmlns:a16="http://schemas.microsoft.com/office/drawing/2014/main" val="1079273157"/>
                        </a:ext>
                      </a:extLst>
                    </a:gridCol>
                    <a:gridCol w="1252950">
                      <a:extLst>
                        <a:ext uri="{9D8B030D-6E8A-4147-A177-3AD203B41FA5}">
                          <a16:colId xmlns:a16="http://schemas.microsoft.com/office/drawing/2014/main" val="2648705473"/>
                        </a:ext>
                      </a:extLst>
                    </a:gridCol>
                    <a:gridCol w="1174640">
                      <a:extLst>
                        <a:ext uri="{9D8B030D-6E8A-4147-A177-3AD203B41FA5}">
                          <a16:colId xmlns:a16="http://schemas.microsoft.com/office/drawing/2014/main" val="599129963"/>
                        </a:ext>
                      </a:extLst>
                    </a:gridCol>
                    <a:gridCol w="1409568">
                      <a:extLst>
                        <a:ext uri="{9D8B030D-6E8A-4147-A177-3AD203B41FA5}">
                          <a16:colId xmlns:a16="http://schemas.microsoft.com/office/drawing/2014/main" val="410776540"/>
                        </a:ext>
                      </a:extLst>
                    </a:gridCol>
                    <a:gridCol w="2142350">
                      <a:extLst>
                        <a:ext uri="{9D8B030D-6E8A-4147-A177-3AD203B41FA5}">
                          <a16:colId xmlns:a16="http://schemas.microsoft.com/office/drawing/2014/main" val="3476724424"/>
                        </a:ext>
                      </a:extLst>
                    </a:gridCol>
                  </a:tblGrid>
                  <a:tr h="742950">
                    <a:tc>
                      <a:txBody>
                        <a:bodyPr/>
                        <a:lstStyle/>
                        <a:p>
                          <a:r>
                            <a:rPr lang="es-CO" sz="1050" dirty="0"/>
                            <a:t>Tipo Individuo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4227" t="-1695" r="-564948" b="-5949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28378" t="-1695" r="-640541" b="-5949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45455" t="-1695" r="-378788" b="-5949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67742" t="-1695" r="-303226" b="-5949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91892" t="-1695" r="-154054" b="-5949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1050" dirty="0"/>
                            <a:t>Interpretación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52905769"/>
                      </a:ext>
                    </a:extLst>
                  </a:tr>
                  <a:tr h="1767840">
                    <a:tc>
                      <a:txBody>
                        <a:bodyPr/>
                        <a:lstStyle/>
                        <a:p>
                          <a:r>
                            <a:rPr lang="es-CO" sz="1200" b="1" dirty="0"/>
                            <a:t>Averso al Riesgo</a:t>
                          </a:r>
                        </a:p>
                        <a:p>
                          <a:r>
                            <a:rPr lang="es-CO" sz="1200" b="1" dirty="0"/>
                            <a:t>(Cóncava)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4227" t="-43165" r="-564948" b="-1525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28378" t="-43165" r="-640541" b="-1525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45455" t="-43165" r="-378788" b="-1525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67742" t="-43165" r="-303226" b="-1525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91892" t="-43165" r="-154054" b="-1525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23077" t="-43165" r="-1183" b="-1525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5951302"/>
                      </a:ext>
                    </a:extLst>
                  </a:tr>
                  <a:tr h="742950">
                    <a:tc>
                      <a:txBody>
                        <a:bodyPr/>
                        <a:lstStyle/>
                        <a:p>
                          <a:r>
                            <a:rPr lang="es-CO" sz="1200" b="1" dirty="0"/>
                            <a:t>Neutral al Riesgo</a:t>
                          </a:r>
                        </a:p>
                        <a:p>
                          <a:r>
                            <a:rPr lang="es-CO" sz="1200" b="1" dirty="0"/>
                            <a:t>(Lineal)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4227" t="-343103" r="-564948" b="-2655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1050" dirty="0"/>
                            <a:t>1&gt;0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105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105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105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1100" dirty="0"/>
                            <a:t>Utilidad Marginal constante. Individuo neutral. Aversión absoluta constante nula.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44611446"/>
                      </a:ext>
                    </a:extLst>
                  </a:tr>
                  <a:tr h="1935480">
                    <a:tc>
                      <a:txBody>
                        <a:bodyPr/>
                        <a:lstStyle/>
                        <a:p>
                          <a:r>
                            <a:rPr lang="es-CO" sz="1200" b="1" dirty="0">
                              <a:solidFill>
                                <a:schemeClr val="tx2"/>
                              </a:solidFill>
                            </a:rPr>
                            <a:t>Propenso al Riesgo (Convexa)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4227" t="-167974" r="-564948" b="-6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28378" t="-167974" r="-640541" b="-6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45455" t="-167974" r="-378788" b="-6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67742" t="-167974" r="-303226" b="-6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91892" t="-167974" r="-154054" b="-6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23077" t="-167974" r="-1183" b="-6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124036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185647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10A582-EDA8-D46C-6DC6-B64E87734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9497"/>
            <a:ext cx="8239125" cy="369332"/>
          </a:xfrm>
        </p:spPr>
        <p:txBody>
          <a:bodyPr/>
          <a:lstStyle/>
          <a:p>
            <a:r>
              <a:rPr lang="es-CO" sz="2400" b="1" dirty="0">
                <a:solidFill>
                  <a:schemeClr val="tx2"/>
                </a:solidFill>
              </a:rPr>
              <a:t>Ejemplos F.A.R(x) Agentes Aversos al Riesgo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565CB275-82C4-876F-ABA0-B07E2436BB98}"/>
              </a:ext>
            </a:extLst>
          </p:cNvPr>
          <p:cNvGrpSpPr/>
          <p:nvPr/>
        </p:nvGrpSpPr>
        <p:grpSpPr>
          <a:xfrm>
            <a:off x="9890" y="5753624"/>
            <a:ext cx="9071453" cy="1017885"/>
            <a:chOff x="188434" y="1987669"/>
            <a:chExt cx="8822219" cy="1017885"/>
          </a:xfrm>
        </p:grpSpPr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1D4C384C-6E05-B008-E83E-9E3C39655DD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2221" b="49999"/>
            <a:stretch>
              <a:fillRect/>
            </a:stretch>
          </p:blipFill>
          <p:spPr>
            <a:xfrm>
              <a:off x="476253" y="1987669"/>
              <a:ext cx="8534400" cy="503577"/>
            </a:xfrm>
            <a:prstGeom prst="rect">
              <a:avLst/>
            </a:prstGeom>
          </p:spPr>
        </p:pic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D7BEFB2C-9452-BAEF-B86A-FAE5A0A33D13}"/>
                </a:ext>
              </a:extLst>
            </p:cNvPr>
            <p:cNvSpPr txBox="1"/>
            <p:nvPr/>
          </p:nvSpPr>
          <p:spPr>
            <a:xfrm>
              <a:off x="188434" y="2209800"/>
              <a:ext cx="3354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600" dirty="0"/>
                <a:t>a)</a:t>
              </a:r>
            </a:p>
          </p:txBody>
        </p:sp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D209E41C-9482-E728-1373-1DE9732AA45E}"/>
                </a:ext>
              </a:extLst>
            </p:cNvPr>
            <p:cNvSpPr txBox="1"/>
            <p:nvPr/>
          </p:nvSpPr>
          <p:spPr>
            <a:xfrm>
              <a:off x="215602" y="2667000"/>
              <a:ext cx="33374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600" dirty="0"/>
                <a:t>c)</a:t>
              </a:r>
            </a:p>
          </p:txBody>
        </p:sp>
      </p:grp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1DFAE50-1CB8-0039-547E-64DE09B0E285}"/>
              </a:ext>
            </a:extLst>
          </p:cNvPr>
          <p:cNvSpPr txBox="1"/>
          <p:nvPr/>
        </p:nvSpPr>
        <p:spPr>
          <a:xfrm>
            <a:off x="17471" y="956552"/>
            <a:ext cx="3497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600" dirty="0"/>
              <a:t>a)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CF505BA3-12BB-9E16-9AB9-66346139BBB3}"/>
              </a:ext>
            </a:extLst>
          </p:cNvPr>
          <p:cNvSpPr txBox="1"/>
          <p:nvPr/>
        </p:nvSpPr>
        <p:spPr>
          <a:xfrm>
            <a:off x="0" y="1384980"/>
            <a:ext cx="3545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600" dirty="0"/>
              <a:t>b)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40492D4E-6892-3064-F73F-CFA75D7933BF}"/>
              </a:ext>
            </a:extLst>
          </p:cNvPr>
          <p:cNvSpPr txBox="1"/>
          <p:nvPr/>
        </p:nvSpPr>
        <p:spPr>
          <a:xfrm>
            <a:off x="17471" y="1776388"/>
            <a:ext cx="3337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600" dirty="0"/>
              <a:t>c)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780B3D3A-E90F-3A7B-DA1B-D9DD04793A84}"/>
              </a:ext>
            </a:extLst>
          </p:cNvPr>
          <p:cNvSpPr txBox="1"/>
          <p:nvPr/>
        </p:nvSpPr>
        <p:spPr>
          <a:xfrm>
            <a:off x="6400800" y="838200"/>
            <a:ext cx="2311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200" dirty="0"/>
              <a:t>-</a:t>
            </a:r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808EAE9C-B74A-D8BA-3FE6-27C9237CE0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361"/>
          <a:stretch>
            <a:fillRect/>
          </a:stretch>
        </p:blipFill>
        <p:spPr>
          <a:xfrm>
            <a:off x="2969994" y="2498626"/>
            <a:ext cx="3430806" cy="3440684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9" name="Tabla 28">
                <a:extLst>
                  <a:ext uri="{FF2B5EF4-FFF2-40B4-BE49-F238E27FC236}">
                    <a16:creationId xmlns:a16="http://schemas.microsoft.com/office/drawing/2014/main" id="{A5243D77-1236-7226-2CA7-ECB0FA13361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35635862"/>
                  </p:ext>
                </p:extLst>
              </p:nvPr>
            </p:nvGraphicFramePr>
            <p:xfrm>
              <a:off x="351217" y="517722"/>
              <a:ext cx="8716583" cy="187420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48983">
                      <a:extLst>
                        <a:ext uri="{9D8B030D-6E8A-4147-A177-3AD203B41FA5}">
                          <a16:colId xmlns:a16="http://schemas.microsoft.com/office/drawing/2014/main" val="4213363097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789659702"/>
                        </a:ext>
                      </a:extLst>
                    </a:gridCol>
                    <a:gridCol w="1600200">
                      <a:extLst>
                        <a:ext uri="{9D8B030D-6E8A-4147-A177-3AD203B41FA5}">
                          <a16:colId xmlns:a16="http://schemas.microsoft.com/office/drawing/2014/main" val="524808569"/>
                        </a:ext>
                      </a:extLst>
                    </a:gridCol>
                    <a:gridCol w="1295400">
                      <a:extLst>
                        <a:ext uri="{9D8B030D-6E8A-4147-A177-3AD203B41FA5}">
                          <a16:colId xmlns:a16="http://schemas.microsoft.com/office/drawing/2014/main" val="515012452"/>
                        </a:ext>
                      </a:extLst>
                    </a:gridCol>
                    <a:gridCol w="1143000">
                      <a:extLst>
                        <a:ext uri="{9D8B030D-6E8A-4147-A177-3AD203B41FA5}">
                          <a16:colId xmlns:a16="http://schemas.microsoft.com/office/drawing/2014/main" val="3231161383"/>
                        </a:ext>
                      </a:extLst>
                    </a:gridCol>
                    <a:gridCol w="2209800">
                      <a:extLst>
                        <a:ext uri="{9D8B030D-6E8A-4147-A177-3AD203B41FA5}">
                          <a16:colId xmlns:a16="http://schemas.microsoft.com/office/drawing/2014/main" val="518769217"/>
                        </a:ext>
                      </a:extLst>
                    </a:gridCol>
                  </a:tblGrid>
                  <a:tr h="33909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s-419" sz="1100" b="1" i="1" smtClean="0">
                                    <a:latin typeface="Cambria Math" panose="02040503050406030204" pitchFamily="18" charset="0"/>
                                  </a:rPr>
                                  <m:t>𝒖</m:t>
                                </m:r>
                                <m:r>
                                  <a:rPr lang="es-419" sz="1100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419" sz="11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s-419" sz="1100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s-CO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s-419" sz="1100" b="1" i="1" smtClean="0">
                                    <a:latin typeface="Cambria Math" panose="02040503050406030204" pitchFamily="18" charset="0"/>
                                  </a:rPr>
                                  <m:t>𝒖</m:t>
                                </m:r>
                                <m:r>
                                  <a:rPr lang="es-419" sz="1100" b="1" i="1" smtClean="0">
                                    <a:latin typeface="Cambria Math" panose="02040503050406030204" pitchFamily="18" charset="0"/>
                                  </a:rPr>
                                  <m:t>´(</m:t>
                                </m:r>
                                <m:r>
                                  <a:rPr lang="es-419" sz="11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s-419" sz="1100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s-CO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s-419" sz="1100" b="1" i="1" smtClean="0">
                                    <a:latin typeface="Cambria Math" panose="02040503050406030204" pitchFamily="18" charset="0"/>
                                  </a:rPr>
                                  <m:t>𝒖</m:t>
                                </m:r>
                                <m:r>
                                  <a:rPr lang="es-419" sz="1100" b="1" i="1" smtClean="0">
                                    <a:latin typeface="Cambria Math" panose="02040503050406030204" pitchFamily="18" charset="0"/>
                                  </a:rPr>
                                  <m:t>´´(</m:t>
                                </m:r>
                                <m:r>
                                  <a:rPr lang="es-419" sz="11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s-419" sz="1100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s-CO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419" sz="1100" b="1" dirty="0"/>
                            <a:t>r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s-419" sz="11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419" sz="11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  <m:r>
                                <a:rPr lang="es-419" sz="1100" b="1" i="1" smtClean="0"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f>
                                <m:fPr>
                                  <m:ctrlPr>
                                    <a:rPr lang="es-419" sz="11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s-419" sz="11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s-419" sz="1100" b="1" i="1" smtClean="0">
                                          <a:latin typeface="Cambria Math" panose="02040503050406030204" pitchFamily="18" charset="0"/>
                                        </a:rPr>
                                        <m:t>𝒖</m:t>
                                      </m:r>
                                    </m:e>
                                    <m:sup>
                                      <m:r>
                                        <a:rPr lang="es-419" sz="1100" b="1" i="1" smtClean="0">
                                          <a:latin typeface="Cambria Math" panose="02040503050406030204" pitchFamily="18" charset="0"/>
                                        </a:rPr>
                                        <m:t>′′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s-419" sz="1100" b="1" i="1" smtClean="0">
                                      <a:latin typeface="Cambria Math" panose="02040503050406030204" pitchFamily="18" charset="0"/>
                                    </a:rPr>
                                    <m:t>𝒖</m:t>
                                  </m:r>
                                  <m:r>
                                    <a:rPr lang="es-419" sz="1100" b="1" i="1" smtClean="0">
                                      <a:latin typeface="Cambria Math" panose="02040503050406030204" pitchFamily="18" charset="0"/>
                                    </a:rPr>
                                    <m:t>´</m:t>
                                  </m:r>
                                </m:den>
                              </m:f>
                            </m:oMath>
                          </a14:m>
                          <a:endParaRPr lang="es-CO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419" sz="1100" b="1" dirty="0"/>
                            <a:t>r</a:t>
                          </a:r>
                          <a14:m>
                            <m:oMath xmlns:m="http://schemas.openxmlformats.org/officeDocument/2006/math">
                              <m:r>
                                <a:rPr lang="es-419" sz="1100" b="1" i="1" smtClean="0">
                                  <a:latin typeface="Cambria Math" panose="02040503050406030204" pitchFamily="18" charset="0"/>
                                </a:rPr>
                                <m:t>´(</m:t>
                              </m:r>
                              <m:r>
                                <a:rPr lang="es-419" sz="11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s-419" sz="1100" b="1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s-CO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1100" dirty="0"/>
                            <a:t>Caso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85203022"/>
                      </a:ext>
                    </a:extLst>
                  </a:tr>
                  <a:tr h="5130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s-419" sz="1100" b="0" i="0" smtClean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  <m:r>
                                <a:rPr lang="es-419" sz="1100" b="0" i="1" smtClean="0">
                                  <a:latin typeface="Cambria Math" panose="02040503050406030204" pitchFamily="18" charset="0"/>
                                </a:rPr>
                                <m:t>⁡(1+</m:t>
                              </m:r>
                              <m:r>
                                <a:rPr lang="es-419" sz="11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419" sz="11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s-CO" sz="1100" dirty="0"/>
                            <a:t>,</a:t>
                          </a: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s-419" sz="11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419" sz="1100" b="0" i="1" smtClean="0">
                                    <a:latin typeface="Cambria Math" panose="02040503050406030204" pitchFamily="18" charset="0"/>
                                  </a:rPr>
                                  <m:t>≻1</m:t>
                                </m:r>
                              </m:oMath>
                            </m:oMathPara>
                          </a14:m>
                          <a:endParaRPr lang="es-CO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s-419" sz="1100" b="0" i="1" smtClean="0">
                                    <a:latin typeface="Cambria Math" panose="02040503050406030204" pitchFamily="18" charset="0"/>
                                  </a:rPr>
                                  <m:t>1/(1+</m:t>
                                </m:r>
                                <m:r>
                                  <a:rPr lang="es-419" sz="11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419" sz="1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s-CO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s-419" sz="11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s-419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419" sz="11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s-419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s-419" sz="1100" b="0" i="1" smtClean="0">
                                            <a:latin typeface="Cambria Math" panose="02040503050406030204" pitchFamily="18" charset="0"/>
                                          </a:rPr>
                                          <m:t>(1+</m:t>
                                        </m:r>
                                        <m:r>
                                          <a:rPr lang="es-419" sz="11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s-419" sz="1100" b="0" i="1" smtClean="0"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e>
                                      <m:sup>
                                        <m:r>
                                          <a:rPr lang="es-419" sz="11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es-CO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es-419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419" sz="11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s-419" sz="1100" b="0" i="1" smtClean="0"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r>
                                      <a:rPr lang="es-419" sz="11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  <m:r>
                                  <a:rPr lang="es-419" sz="1100" b="0" i="1" smtClean="0">
                                    <a:latin typeface="Cambria Math" panose="02040503050406030204" pitchFamily="18" charset="0"/>
                                  </a:rPr>
                                  <m:t>&gt;0</m:t>
                                </m:r>
                              </m:oMath>
                            </m:oMathPara>
                          </a14:m>
                          <a:endParaRPr lang="es-CO" sz="1100" dirty="0"/>
                        </a:p>
                        <a:p>
                          <a:endParaRPr lang="es-CO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s-419" sz="11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s-419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419" sz="11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s-419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s-419" sz="11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s-419" sz="1100" b="0" i="1" smtClean="0">
                                                <a:latin typeface="Cambria Math" panose="02040503050406030204" pitchFamily="18" charset="0"/>
                                              </a:rPr>
                                              <m:t>1+</m:t>
                                            </m:r>
                                            <m:r>
                                              <a:rPr lang="es-419" sz="11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s-419" sz="11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  <m:r>
                                  <a:rPr lang="es-419" sz="1100" b="0" i="1" smtClean="0">
                                    <a:latin typeface="Cambria Math" panose="02040503050406030204" pitchFamily="18" charset="0"/>
                                  </a:rPr>
                                  <m:t>&lt;0</m:t>
                                </m:r>
                              </m:oMath>
                            </m:oMathPara>
                          </a14:m>
                          <a:endParaRPr lang="es-CO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1000" dirty="0"/>
                            <a:t>DARA: </a:t>
                          </a:r>
                        </a:p>
                        <a:p>
                          <a:pPr algn="ctr"/>
                          <a:r>
                            <a:rPr lang="es-CO" sz="1000" dirty="0" err="1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Decreasing</a:t>
                          </a:r>
                          <a:r>
                            <a:rPr lang="es-CO" sz="10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Absolute </a:t>
                          </a:r>
                          <a:r>
                            <a:rPr lang="es-CO" sz="1000" dirty="0" err="1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Risk</a:t>
                          </a:r>
                          <a:r>
                            <a:rPr lang="es-CO" sz="10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lang="es-CO" sz="1000" dirty="0" err="1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Aversion</a:t>
                          </a:r>
                          <a:endParaRPr lang="es-CO" sz="10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algn="ctr"/>
                          <a:r>
                            <a:rPr lang="es-CO" sz="10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(A más riqueza, menos averso)</a:t>
                          </a:r>
                          <a:r>
                            <a:rPr lang="es-CO" sz="1000" dirty="0">
                              <a:effectLst/>
                            </a:rPr>
                            <a:t> </a:t>
                          </a:r>
                          <a:endParaRPr lang="es-CO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07560544"/>
                      </a:ext>
                    </a:extLst>
                  </a:tr>
                  <a:tr h="38111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s-419" sz="11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s-419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419" sz="1100" b="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s-419" sz="1100" b="0" i="1" smtClean="0">
                                        <a:latin typeface="Cambria Math" panose="02040503050406030204" pitchFamily="18" charset="0"/>
                                      </a:rPr>
                                      <m:t>−0.6</m:t>
                                    </m:r>
                                    <m:r>
                                      <a:rPr lang="es-419" sz="11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s-419" sz="1100" b="0" i="1" smtClean="0">
                                    <a:latin typeface="Cambria Math" panose="02040503050406030204" pitchFamily="18" charset="0"/>
                                  </a:rPr>
                                  <m:t>0.6 </m:t>
                                </m:r>
                                <m:sSup>
                                  <m:sSupPr>
                                    <m:ctrlPr>
                                      <a:rPr lang="es-419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419" sz="1100" b="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s-419" sz="1100" b="0" i="1" smtClean="0">
                                        <a:latin typeface="Cambria Math" panose="02040503050406030204" pitchFamily="18" charset="0"/>
                                      </a:rPr>
                                      <m:t>−0.6</m:t>
                                    </m:r>
                                    <m:r>
                                      <a:rPr lang="es-419" sz="11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s-419" sz="11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s-419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419" sz="1100" b="0" i="1" smtClean="0">
                                        <a:latin typeface="Cambria Math" panose="02040503050406030204" pitchFamily="18" charset="0"/>
                                      </a:rPr>
                                      <m:t>0.36  </m:t>
                                    </m:r>
                                    <m:r>
                                      <a:rPr lang="es-419" sz="1100" b="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s-419" sz="1100" b="0" i="1" smtClean="0">
                                        <a:latin typeface="Cambria Math" panose="02040503050406030204" pitchFamily="18" charset="0"/>
                                      </a:rPr>
                                      <m:t>−0.6</m:t>
                                    </m:r>
                                    <m:r>
                                      <a:rPr lang="es-419" sz="11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s-419" sz="1100" b="0" i="1" smtClean="0">
                                    <a:latin typeface="Cambria Math" panose="02040503050406030204" pitchFamily="18" charset="0"/>
                                  </a:rPr>
                                  <m:t>0.6&gt;0</m:t>
                                </m:r>
                              </m:oMath>
                            </m:oMathPara>
                          </a14:m>
                          <a:endParaRPr lang="es-CO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11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1000" dirty="0"/>
                            <a:t>CARA: </a:t>
                          </a:r>
                        </a:p>
                        <a:p>
                          <a:pPr algn="ctr"/>
                          <a:r>
                            <a:rPr lang="es-CO" sz="1000" dirty="0" err="1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Constant</a:t>
                          </a:r>
                          <a:r>
                            <a:rPr lang="es-CO" sz="10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Absolute </a:t>
                          </a:r>
                          <a:r>
                            <a:rPr lang="es-CO" sz="1000" dirty="0" err="1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Risk</a:t>
                          </a:r>
                          <a:r>
                            <a:rPr lang="es-CO" sz="10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lang="es-CO" sz="1000" dirty="0" err="1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Aversion</a:t>
                          </a:r>
                          <a:r>
                            <a:rPr lang="es-CO" sz="1000" dirty="0">
                              <a:effectLst/>
                            </a:rPr>
                            <a:t> </a:t>
                          </a:r>
                          <a:endParaRPr lang="es-CO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7683236"/>
                      </a:ext>
                    </a:extLst>
                  </a:tr>
                  <a:tr h="535027"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s-419" sz="11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s-419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419" sz="11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s-419" sz="11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s-419" sz="11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s-419" sz="11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s-419" sz="11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sup>
                              </m:sSup>
                            </m:oMath>
                          </a14:m>
                          <a:r>
                            <a:rPr lang="es-CO" sz="1100" dirty="0"/>
                            <a:t> ,</a:t>
                          </a:r>
                        </a:p>
                        <a:p>
                          <a:pPr marL="0" marR="0" lvl="0" indent="0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s-419" sz="11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419" sz="1100" b="0" i="1" smtClean="0">
                                    <a:latin typeface="Cambria Math" panose="02040503050406030204" pitchFamily="18" charset="0"/>
                                  </a:rPr>
                                  <m:t>&gt;1/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s-419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s-419" sz="11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s-CO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s-419" sz="11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s-419" sz="11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sSup>
                                  <m:sSupPr>
                                    <m:ctrlPr>
                                      <a:rPr lang="es-419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419" sz="1100" b="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s-419" sz="11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p>
                                      <m:sSupPr>
                                        <m:ctrlPr>
                                          <a:rPr lang="es-419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s-419" sz="11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s-419" sz="11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sup>
                                </m:sSup>
                              </m:oMath>
                            </m:oMathPara>
                          </a14:m>
                          <a:endParaRPr lang="es-CO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s-419" sz="1100" b="0" i="1" smtClean="0"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  <m:sSup>
                                <m:sSupPr>
                                  <m:ctrlPr>
                                    <a:rPr lang="es-419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419" sz="11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s-419" sz="11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s-419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419" sz="11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s-419" sz="11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s-419" sz="11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s-419" sz="11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s-419" sz="11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sup>
                              </m:sSup>
                            </m:oMath>
                          </a14:m>
                          <a:r>
                            <a:rPr lang="es-419" sz="1100" b="0" i="0" dirty="0">
                              <a:latin typeface="Cambria Math" panose="02040503050406030204" pitchFamily="18" charset="0"/>
                            </a:rPr>
                            <a:t>+2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s-419" sz="1100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419" sz="1100" b="0" i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s-419" sz="1100" b="0" i="0" smtClean="0">
                                      <a:latin typeface="Cambria Math" panose="02040503050406030204" pitchFamily="18" charset="0"/>
                                    </a:rPr>
                                    <m:t>e</m:t>
                                  </m:r>
                                </m:e>
                                <m:sup>
                                  <m:r>
                                    <a:rPr lang="es-419" sz="1100" b="0" i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s-419" sz="1100" b="0" i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s-419" sz="1100" b="0" i="0" smtClean="0">
                                          <a:latin typeface="Cambria Math" panose="02040503050406030204" pitchFamily="18" charset="0"/>
                                        </a:rPr>
                                        <m:t>x</m:t>
                                      </m:r>
                                    </m:e>
                                    <m:sup>
                                      <m:r>
                                        <a:rPr lang="es-419" sz="1100" b="0" i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sup>
                              </m:sSup>
                            </m:oMath>
                          </a14:m>
                          <a:endParaRPr lang="es-419" sz="1100" b="0" i="0" dirty="0"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s-419" sz="1100" b="0" i="1" smtClean="0">
                                    <a:latin typeface="Cambria Math" panose="02040503050406030204" pitchFamily="18" charset="0"/>
                                  </a:rPr>
                                  <m:t>=2</m:t>
                                </m:r>
                                <m:sSup>
                                  <m:sSupPr>
                                    <m:ctrlPr>
                                      <a:rPr lang="es-419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419" sz="1100" b="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s-419" sz="11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p>
                                      <m:sSupPr>
                                        <m:ctrlPr>
                                          <a:rPr lang="es-419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s-419" sz="11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s-419" sz="11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sup>
                                </m:sSup>
                                <m:r>
                                  <a:rPr lang="es-419" sz="1100" b="0" i="1" smtClean="0">
                                    <a:latin typeface="Cambria Math" panose="02040503050406030204" pitchFamily="18" charset="0"/>
                                  </a:rPr>
                                  <m:t>(1−2</m:t>
                                </m:r>
                                <m:sSup>
                                  <m:sSupPr>
                                    <m:ctrlPr>
                                      <a:rPr lang="es-419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419" sz="11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s-419" sz="11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s-419" sz="1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s-CO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s-419" sz="1100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s-419" sz="1100" b="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419" sz="1100" b="0" i="1" dirty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s-419" sz="11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419" sz="1100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s-419" sz="1100" b="0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  <m:r>
                                  <a:rPr lang="es-419" sz="1100" b="0" i="1" dirty="0" smtClean="0">
                                    <a:latin typeface="Cambria Math" panose="02040503050406030204" pitchFamily="18" charset="0"/>
                                  </a:rPr>
                                  <m:t>&gt;0</m:t>
                                </m:r>
                              </m:oMath>
                            </m:oMathPara>
                          </a14:m>
                          <a:endParaRPr lang="es-CO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s-419" sz="1100" b="0" i="1" dirty="0" smtClean="0">
                                    <a:latin typeface="Cambria Math" panose="02040503050406030204" pitchFamily="18" charset="0"/>
                                  </a:rPr>
                                  <m:t>2+</m:t>
                                </m:r>
                                <m:f>
                                  <m:fPr>
                                    <m:ctrlPr>
                                      <a:rPr lang="es-419" sz="11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419" sz="1100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s-419" sz="11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s-419" sz="1100" b="0" i="1" dirty="0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s-419" sz="1100" b="0" i="1" dirty="0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  <m:r>
                                  <a:rPr lang="es-419" sz="1100" b="0" i="1" dirty="0" smtClean="0">
                                    <a:latin typeface="Cambria Math" panose="02040503050406030204" pitchFamily="18" charset="0"/>
                                  </a:rPr>
                                  <m:t>&gt;0</m:t>
                                </m:r>
                              </m:oMath>
                            </m:oMathPara>
                          </a14:m>
                          <a:endParaRPr lang="es-CO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1000" dirty="0"/>
                            <a:t>IARA:</a:t>
                          </a:r>
                        </a:p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CO" sz="1000" dirty="0" err="1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Increasing</a:t>
                          </a:r>
                          <a:r>
                            <a:rPr lang="es-CO" sz="10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Absolute </a:t>
                          </a:r>
                          <a:r>
                            <a:rPr lang="es-CO" sz="1000" dirty="0" err="1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Risk</a:t>
                          </a:r>
                          <a:r>
                            <a:rPr lang="es-CO" sz="10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lang="es-CO" sz="1000" dirty="0" err="1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Aversion</a:t>
                          </a:r>
                          <a:r>
                            <a:rPr lang="es-CO" sz="1000" dirty="0">
                              <a:effectLst/>
                            </a:rPr>
                            <a:t> </a:t>
                          </a:r>
                        </a:p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CO" sz="10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(A más riqueza, más averso)</a:t>
                          </a:r>
                          <a:r>
                            <a:rPr lang="es-CO" sz="1000" dirty="0">
                              <a:effectLst/>
                            </a:rPr>
                            <a:t> </a:t>
                          </a:r>
                          <a:endParaRPr lang="es-CO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6910083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9" name="Tabla 28">
                <a:extLst>
                  <a:ext uri="{FF2B5EF4-FFF2-40B4-BE49-F238E27FC236}">
                    <a16:creationId xmlns:a16="http://schemas.microsoft.com/office/drawing/2014/main" id="{A5243D77-1236-7226-2CA7-ECB0FA13361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35635862"/>
                  </p:ext>
                </p:extLst>
              </p:nvPr>
            </p:nvGraphicFramePr>
            <p:xfrm>
              <a:off x="351217" y="517722"/>
              <a:ext cx="8716583" cy="187420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48983">
                      <a:extLst>
                        <a:ext uri="{9D8B030D-6E8A-4147-A177-3AD203B41FA5}">
                          <a16:colId xmlns:a16="http://schemas.microsoft.com/office/drawing/2014/main" val="4213363097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789659702"/>
                        </a:ext>
                      </a:extLst>
                    </a:gridCol>
                    <a:gridCol w="1600200">
                      <a:extLst>
                        <a:ext uri="{9D8B030D-6E8A-4147-A177-3AD203B41FA5}">
                          <a16:colId xmlns:a16="http://schemas.microsoft.com/office/drawing/2014/main" val="524808569"/>
                        </a:ext>
                      </a:extLst>
                    </a:gridCol>
                    <a:gridCol w="1295400">
                      <a:extLst>
                        <a:ext uri="{9D8B030D-6E8A-4147-A177-3AD203B41FA5}">
                          <a16:colId xmlns:a16="http://schemas.microsoft.com/office/drawing/2014/main" val="515012452"/>
                        </a:ext>
                      </a:extLst>
                    </a:gridCol>
                    <a:gridCol w="1143000">
                      <a:extLst>
                        <a:ext uri="{9D8B030D-6E8A-4147-A177-3AD203B41FA5}">
                          <a16:colId xmlns:a16="http://schemas.microsoft.com/office/drawing/2014/main" val="3231161383"/>
                        </a:ext>
                      </a:extLst>
                    </a:gridCol>
                    <a:gridCol w="2209800">
                      <a:extLst>
                        <a:ext uri="{9D8B030D-6E8A-4147-A177-3AD203B41FA5}">
                          <a16:colId xmlns:a16="http://schemas.microsoft.com/office/drawing/2014/main" val="518769217"/>
                        </a:ext>
                      </a:extLst>
                    </a:gridCol>
                  </a:tblGrid>
                  <a:tr h="352552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1020" t="-3571" r="-604082" b="-44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102062" t="-3571" r="-510309" b="-44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155556" t="-3571" r="-292857" b="-44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315686" t="-3571" r="-261765" b="-44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471111" t="-3571" r="-196667" b="-44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1100" dirty="0"/>
                            <a:t>Caso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85203022"/>
                      </a:ext>
                    </a:extLst>
                  </a:tr>
                  <a:tr h="576771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1020" t="-63043" r="-604082" b="-1695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102062" t="-63043" r="-510309" b="-1695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155556" t="-63043" r="-292857" b="-1695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315686" t="-63043" r="-261765" b="-1695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471111" t="-63043" r="-196667" b="-1695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1000" dirty="0"/>
                            <a:t>DARA: </a:t>
                          </a:r>
                        </a:p>
                        <a:p>
                          <a:pPr algn="ctr"/>
                          <a:r>
                            <a:rPr lang="es-CO" sz="1000" dirty="0" err="1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Decreasing</a:t>
                          </a:r>
                          <a:r>
                            <a:rPr lang="es-CO" sz="10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Absolute </a:t>
                          </a:r>
                          <a:r>
                            <a:rPr lang="es-CO" sz="1000" dirty="0" err="1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Risk</a:t>
                          </a:r>
                          <a:r>
                            <a:rPr lang="es-CO" sz="10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lang="es-CO" sz="1000" dirty="0" err="1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Aversion</a:t>
                          </a:r>
                          <a:endParaRPr lang="es-CO" sz="10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algn="ctr"/>
                          <a:r>
                            <a:rPr lang="es-CO" sz="10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(A más riqueza, menos averso)</a:t>
                          </a:r>
                          <a:r>
                            <a:rPr lang="es-CO" sz="1000" dirty="0">
                              <a:effectLst/>
                            </a:rPr>
                            <a:t> </a:t>
                          </a:r>
                          <a:endParaRPr lang="es-CO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07560544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1020" t="-241935" r="-604082" b="-1516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102062" t="-241935" r="-510309" b="-1516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155556" t="-241935" r="-292857" b="-1516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315686" t="-241935" r="-261765" b="-1516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11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1000" dirty="0"/>
                            <a:t>CARA: </a:t>
                          </a:r>
                        </a:p>
                        <a:p>
                          <a:pPr algn="ctr"/>
                          <a:r>
                            <a:rPr lang="es-CO" sz="1000" dirty="0" err="1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Constant</a:t>
                          </a:r>
                          <a:r>
                            <a:rPr lang="es-CO" sz="10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Absolute </a:t>
                          </a:r>
                          <a:r>
                            <a:rPr lang="es-CO" sz="1000" dirty="0" err="1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Risk</a:t>
                          </a:r>
                          <a:r>
                            <a:rPr lang="es-CO" sz="10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lang="es-CO" sz="1000" dirty="0" err="1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Aversion</a:t>
                          </a:r>
                          <a:r>
                            <a:rPr lang="es-CO" sz="1000" dirty="0">
                              <a:effectLst/>
                            </a:rPr>
                            <a:t> </a:t>
                          </a:r>
                          <a:endParaRPr lang="es-CO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7683236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1020" t="-240909" r="-604082" b="-6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102062" t="-240909" r="-510309" b="-6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155556" t="-240909" r="-292857" b="-6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315686" t="-240909" r="-261765" b="-6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471111" t="-240909" r="-196667" b="-6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1000" dirty="0"/>
                            <a:t>IARA:</a:t>
                          </a:r>
                        </a:p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CO" sz="1000" dirty="0" err="1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Increasing</a:t>
                          </a:r>
                          <a:r>
                            <a:rPr lang="es-CO" sz="10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Absolute </a:t>
                          </a:r>
                          <a:r>
                            <a:rPr lang="es-CO" sz="1000" dirty="0" err="1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Risk</a:t>
                          </a:r>
                          <a:r>
                            <a:rPr lang="es-CO" sz="10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lang="es-CO" sz="1000" dirty="0" err="1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Aversion</a:t>
                          </a:r>
                          <a:r>
                            <a:rPr lang="es-CO" sz="1000" dirty="0">
                              <a:effectLst/>
                            </a:rPr>
                            <a:t> </a:t>
                          </a:r>
                        </a:p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CO" sz="10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(A más riqueza, más averso)</a:t>
                          </a:r>
                          <a:r>
                            <a:rPr lang="es-CO" sz="1000" dirty="0">
                              <a:effectLst/>
                            </a:rPr>
                            <a:t> </a:t>
                          </a:r>
                          <a:endParaRPr lang="es-CO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6910083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3" name="CuadroTexto 32">
            <a:extLst>
              <a:ext uri="{FF2B5EF4-FFF2-40B4-BE49-F238E27FC236}">
                <a16:creationId xmlns:a16="http://schemas.microsoft.com/office/drawing/2014/main" id="{CA8940DE-3AB8-1EAD-09F9-BB98C77CBC5C}"/>
              </a:ext>
            </a:extLst>
          </p:cNvPr>
          <p:cNvSpPr txBox="1"/>
          <p:nvPr/>
        </p:nvSpPr>
        <p:spPr>
          <a:xfrm>
            <a:off x="3581400" y="5105400"/>
            <a:ext cx="3497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600" dirty="0"/>
              <a:t>a)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D6BF0608-85CF-F908-EE25-4063454F8365}"/>
              </a:ext>
            </a:extLst>
          </p:cNvPr>
          <p:cNvSpPr txBox="1"/>
          <p:nvPr/>
        </p:nvSpPr>
        <p:spPr>
          <a:xfrm>
            <a:off x="4816212" y="5105400"/>
            <a:ext cx="3545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600" dirty="0"/>
              <a:t>b)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175F5C28-D962-F88C-9560-560B3D80109F}"/>
              </a:ext>
            </a:extLst>
          </p:cNvPr>
          <p:cNvSpPr txBox="1"/>
          <p:nvPr/>
        </p:nvSpPr>
        <p:spPr>
          <a:xfrm>
            <a:off x="5706056" y="5113133"/>
            <a:ext cx="3337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600" dirty="0"/>
              <a:t>c)</a:t>
            </a:r>
          </a:p>
        </p:txBody>
      </p:sp>
      <p:pic>
        <p:nvPicPr>
          <p:cNvPr id="36" name="Imagen 35">
            <a:extLst>
              <a:ext uri="{FF2B5EF4-FFF2-40B4-BE49-F238E27FC236}">
                <a16:creationId xmlns:a16="http://schemas.microsoft.com/office/drawing/2014/main" id="{9435565C-5181-9FB1-29CD-E0DAD764AD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5019" b="30465"/>
          <a:stretch>
            <a:fillRect/>
          </a:stretch>
        </p:blipFill>
        <p:spPr>
          <a:xfrm>
            <a:off x="304800" y="6506107"/>
            <a:ext cx="8534400" cy="258381"/>
          </a:xfrm>
          <a:prstGeom prst="rect">
            <a:avLst/>
          </a:prstGeom>
        </p:spPr>
      </p:pic>
      <p:pic>
        <p:nvPicPr>
          <p:cNvPr id="37" name="Imagen 36">
            <a:extLst>
              <a:ext uri="{FF2B5EF4-FFF2-40B4-BE49-F238E27FC236}">
                <a16:creationId xmlns:a16="http://schemas.microsoft.com/office/drawing/2014/main" id="{159A2D00-3108-E691-AD7C-7C13DF6888C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7878"/>
          <a:stretch>
            <a:fillRect/>
          </a:stretch>
        </p:blipFill>
        <p:spPr>
          <a:xfrm>
            <a:off x="304800" y="6203803"/>
            <a:ext cx="8534400" cy="338554"/>
          </a:xfrm>
          <a:prstGeom prst="rect">
            <a:avLst/>
          </a:prstGeom>
        </p:spPr>
      </p:pic>
      <p:sp>
        <p:nvSpPr>
          <p:cNvPr id="38" name="CuadroTexto 37">
            <a:extLst>
              <a:ext uri="{FF2B5EF4-FFF2-40B4-BE49-F238E27FC236}">
                <a16:creationId xmlns:a16="http://schemas.microsoft.com/office/drawing/2014/main" id="{1FA77E4F-2E0C-3F3D-E1E3-F1F5419A5FBC}"/>
              </a:ext>
            </a:extLst>
          </p:cNvPr>
          <p:cNvSpPr txBox="1"/>
          <p:nvPr/>
        </p:nvSpPr>
        <p:spPr>
          <a:xfrm>
            <a:off x="12663" y="6197886"/>
            <a:ext cx="3545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600" dirty="0"/>
              <a:t>b)</a:t>
            </a:r>
          </a:p>
        </p:txBody>
      </p:sp>
    </p:spTree>
    <p:extLst>
      <p:ext uri="{BB962C8B-B14F-4D97-AF65-F5344CB8AC3E}">
        <p14:creationId xmlns:p14="http://schemas.microsoft.com/office/powerpoint/2010/main" val="7265111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ángulo 21">
            <a:extLst>
              <a:ext uri="{FF2B5EF4-FFF2-40B4-BE49-F238E27FC236}">
                <a16:creationId xmlns:a16="http://schemas.microsoft.com/office/drawing/2014/main" id="{0F7FDB12-5BE7-3DAC-E31E-9195AEFDC99D}"/>
              </a:ext>
            </a:extLst>
          </p:cNvPr>
          <p:cNvSpPr/>
          <p:nvPr/>
        </p:nvSpPr>
        <p:spPr>
          <a:xfrm>
            <a:off x="105675" y="5072483"/>
            <a:ext cx="8613688" cy="170162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28647" y="12087"/>
            <a:ext cx="823912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4154">
              <a:lnSpc>
                <a:spcPct val="100000"/>
              </a:lnSpc>
              <a:spcBef>
                <a:spcPts val="100"/>
              </a:spcBef>
              <a:tabLst>
                <a:tab pos="1491615" algn="l"/>
              </a:tabLst>
            </a:pPr>
            <a:r>
              <a:rPr spc="-280" dirty="0">
                <a:solidFill>
                  <a:schemeClr val="tx2"/>
                </a:solidFill>
              </a:rPr>
              <a:t>F.A.R.,</a:t>
            </a:r>
            <a:r>
              <a:rPr spc="-370" dirty="0">
                <a:solidFill>
                  <a:schemeClr val="tx2"/>
                </a:solidFill>
              </a:rPr>
              <a:t> </a:t>
            </a:r>
            <a:r>
              <a:rPr dirty="0">
                <a:solidFill>
                  <a:schemeClr val="tx2"/>
                </a:solidFill>
                <a:latin typeface="Cambria Math"/>
                <a:cs typeface="Cambria Math"/>
              </a:rPr>
              <a:t>𝑟</a:t>
            </a:r>
            <a:r>
              <a:rPr lang="es-CO" dirty="0">
                <a:solidFill>
                  <a:schemeClr val="tx2"/>
                </a:solidFill>
                <a:latin typeface="Cambria Math"/>
                <a:cs typeface="Cambria Math"/>
              </a:rPr>
              <a:t>(</a:t>
            </a:r>
            <a:r>
              <a:rPr dirty="0">
                <a:solidFill>
                  <a:schemeClr val="tx2"/>
                </a:solidFill>
                <a:latin typeface="Cambria Math"/>
                <a:cs typeface="Cambria Math"/>
              </a:rPr>
              <a:t>𝑥</a:t>
            </a:r>
            <a:r>
              <a:rPr lang="es-CO" dirty="0">
                <a:solidFill>
                  <a:schemeClr val="tx2"/>
                </a:solidFill>
                <a:latin typeface="Cambria Math"/>
                <a:cs typeface="Cambria Math"/>
              </a:rPr>
              <a:t>). </a:t>
            </a:r>
            <a:r>
              <a:rPr spc="-135" dirty="0">
                <a:solidFill>
                  <a:schemeClr val="tx2"/>
                </a:solidFill>
              </a:rPr>
              <a:t>P</a:t>
            </a:r>
            <a:r>
              <a:rPr spc="-110" dirty="0">
                <a:solidFill>
                  <a:schemeClr val="tx2"/>
                </a:solidFill>
              </a:rPr>
              <a:t>R</a:t>
            </a:r>
            <a:r>
              <a:rPr spc="20" dirty="0">
                <a:solidFill>
                  <a:schemeClr val="tx2"/>
                </a:solidFill>
              </a:rPr>
              <a:t>OPIE</a:t>
            </a:r>
            <a:r>
              <a:rPr spc="220" dirty="0">
                <a:solidFill>
                  <a:schemeClr val="tx2"/>
                </a:solidFill>
              </a:rPr>
              <a:t>D</a:t>
            </a:r>
            <a:r>
              <a:rPr spc="204" dirty="0">
                <a:solidFill>
                  <a:schemeClr val="tx2"/>
                </a:solidFill>
              </a:rPr>
              <a:t>A</a:t>
            </a:r>
            <a:r>
              <a:rPr spc="70" dirty="0">
                <a:solidFill>
                  <a:schemeClr val="tx2"/>
                </a:solidFill>
              </a:rPr>
              <a:t>DES</a:t>
            </a:r>
            <a:r>
              <a:rPr spc="-505" dirty="0">
                <a:solidFill>
                  <a:schemeClr val="tx2"/>
                </a:solidFill>
              </a:rPr>
              <a:t> </a:t>
            </a:r>
            <a:r>
              <a:rPr spc="95" dirty="0">
                <a:solidFill>
                  <a:schemeClr val="tx2"/>
                </a:solidFill>
              </a:rPr>
              <a:t>Y</a:t>
            </a:r>
            <a:r>
              <a:rPr spc="-65" dirty="0">
                <a:solidFill>
                  <a:schemeClr val="tx2"/>
                </a:solidFill>
              </a:rPr>
              <a:t> </a:t>
            </a:r>
            <a:r>
              <a:rPr spc="-60" dirty="0">
                <a:solidFill>
                  <a:schemeClr val="tx2"/>
                </a:solidFill>
              </a:rPr>
              <a:t>EJEMPLOS</a:t>
            </a:r>
            <a:r>
              <a:rPr lang="es-419" spc="-60" dirty="0">
                <a:solidFill>
                  <a:schemeClr val="tx2"/>
                </a:solidFill>
              </a:rPr>
              <a:t> AVERSOS</a:t>
            </a:r>
            <a:endParaRPr spc="-60" dirty="0">
              <a:solidFill>
                <a:schemeClr val="tx2"/>
              </a:solidFill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19363" y="6400800"/>
            <a:ext cx="13970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30" dirty="0">
                <a:solidFill>
                  <a:srgbClr val="4590B8"/>
                </a:solidFill>
                <a:latin typeface="Trebuchet MS"/>
                <a:cs typeface="Trebuchet MS"/>
              </a:rPr>
              <a:t>1</a:t>
            </a:r>
            <a:r>
              <a:rPr lang="es-CO" sz="900" spc="-30" dirty="0">
                <a:solidFill>
                  <a:srgbClr val="4590B8"/>
                </a:solidFill>
                <a:latin typeface="Trebuchet MS"/>
                <a:cs typeface="Trebuchet MS"/>
              </a:rPr>
              <a:t>5</a:t>
            </a:r>
            <a:endParaRPr sz="900" dirty="0">
              <a:latin typeface="Trebuchet MS"/>
              <a:cs typeface="Trebuchet MS"/>
            </a:endParaRPr>
          </a:p>
        </p:txBody>
      </p:sp>
      <p:pic>
        <p:nvPicPr>
          <p:cNvPr id="28" name="Imagen 27">
            <a:extLst>
              <a:ext uri="{FF2B5EF4-FFF2-40B4-BE49-F238E27FC236}">
                <a16:creationId xmlns:a16="http://schemas.microsoft.com/office/drawing/2014/main" id="{48DA41D9-987D-4698-A4CE-D39B89E3A8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185" y="1715845"/>
            <a:ext cx="7391400" cy="1084313"/>
          </a:xfrm>
          <a:prstGeom prst="rect">
            <a:avLst/>
          </a:prstGeom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820F8C10-E589-44FF-8490-EBE1967F19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651" y="2819594"/>
            <a:ext cx="7181622" cy="784281"/>
          </a:xfrm>
          <a:prstGeom prst="rect">
            <a:avLst/>
          </a:prstGeom>
        </p:spPr>
      </p:pic>
      <p:grpSp>
        <p:nvGrpSpPr>
          <p:cNvPr id="38" name="Grupo 37">
            <a:extLst>
              <a:ext uri="{FF2B5EF4-FFF2-40B4-BE49-F238E27FC236}">
                <a16:creationId xmlns:a16="http://schemas.microsoft.com/office/drawing/2014/main" id="{ABA6FB6C-58B4-07B9-BDEA-EDC86B66559A}"/>
              </a:ext>
            </a:extLst>
          </p:cNvPr>
          <p:cNvGrpSpPr/>
          <p:nvPr/>
        </p:nvGrpSpPr>
        <p:grpSpPr>
          <a:xfrm>
            <a:off x="258651" y="591494"/>
            <a:ext cx="8831837" cy="1053963"/>
            <a:chOff x="178816" y="1987669"/>
            <a:chExt cx="8831837" cy="1053963"/>
          </a:xfrm>
        </p:grpSpPr>
        <p:pic>
          <p:nvPicPr>
            <p:cNvPr id="27" name="Imagen 26">
              <a:extLst>
                <a:ext uri="{FF2B5EF4-FFF2-40B4-BE49-F238E27FC236}">
                  <a16:creationId xmlns:a16="http://schemas.microsoft.com/office/drawing/2014/main" id="{0D18F078-80C6-4FC4-93A1-DBD9372A237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6253" y="1987669"/>
              <a:ext cx="8534400" cy="1053963"/>
            </a:xfrm>
            <a:prstGeom prst="rect">
              <a:avLst/>
            </a:prstGeom>
          </p:spPr>
        </p:pic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9E1712D3-C89A-7093-BE76-83F2EDF5C60A}"/>
                </a:ext>
              </a:extLst>
            </p:cNvPr>
            <p:cNvSpPr txBox="1"/>
            <p:nvPr/>
          </p:nvSpPr>
          <p:spPr>
            <a:xfrm>
              <a:off x="188434" y="2209800"/>
              <a:ext cx="34977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600" b="1" dirty="0"/>
                <a:t>a)</a:t>
              </a:r>
            </a:p>
          </p:txBody>
        </p:sp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45A1AA07-3363-889D-E3FC-5F333A023031}"/>
                </a:ext>
              </a:extLst>
            </p:cNvPr>
            <p:cNvSpPr txBox="1"/>
            <p:nvPr/>
          </p:nvSpPr>
          <p:spPr>
            <a:xfrm>
              <a:off x="178816" y="2438400"/>
              <a:ext cx="35458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600" dirty="0"/>
                <a:t>b)</a:t>
              </a:r>
            </a:p>
          </p:txBody>
        </p:sp>
        <p:sp>
          <p:nvSpPr>
            <p:cNvPr id="15" name="CuadroTexto 14">
              <a:extLst>
                <a:ext uri="{FF2B5EF4-FFF2-40B4-BE49-F238E27FC236}">
                  <a16:creationId xmlns:a16="http://schemas.microsoft.com/office/drawing/2014/main" id="{7D0CDF8D-F9C1-5D0E-5E96-3AEBF688B2B6}"/>
                </a:ext>
              </a:extLst>
            </p:cNvPr>
            <p:cNvSpPr txBox="1"/>
            <p:nvPr/>
          </p:nvSpPr>
          <p:spPr>
            <a:xfrm>
              <a:off x="178816" y="2667000"/>
              <a:ext cx="33374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600" dirty="0"/>
                <a:t>c)</a:t>
              </a:r>
            </a:p>
          </p:txBody>
        </p:sp>
      </p:grpSp>
      <p:grpSp>
        <p:nvGrpSpPr>
          <p:cNvPr id="40" name="Grupo 39">
            <a:extLst>
              <a:ext uri="{FF2B5EF4-FFF2-40B4-BE49-F238E27FC236}">
                <a16:creationId xmlns:a16="http://schemas.microsoft.com/office/drawing/2014/main" id="{5F6E3B86-328D-F911-EE8E-AD8E31ECF73D}"/>
              </a:ext>
            </a:extLst>
          </p:cNvPr>
          <p:cNvGrpSpPr/>
          <p:nvPr/>
        </p:nvGrpSpPr>
        <p:grpSpPr>
          <a:xfrm>
            <a:off x="1073112" y="5324685"/>
            <a:ext cx="6769395" cy="951296"/>
            <a:chOff x="1234394" y="3182481"/>
            <a:chExt cx="6538007" cy="762350"/>
          </a:xfrm>
        </p:grpSpPr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CC21475F-6962-7A20-21EC-03B670E39BF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-1" t="17494" r="50001" b="5127"/>
            <a:stretch/>
          </p:blipFill>
          <p:spPr>
            <a:xfrm>
              <a:off x="1605008" y="3185209"/>
              <a:ext cx="1012877" cy="697765"/>
            </a:xfrm>
            <a:prstGeom prst="rect">
              <a:avLst/>
            </a:prstGeom>
          </p:spPr>
        </p:pic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3D9E2D1A-31FF-272A-6917-0D8772D3E31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993246" y="3182481"/>
              <a:ext cx="1187511" cy="762350"/>
            </a:xfrm>
            <a:prstGeom prst="rect">
              <a:avLst/>
            </a:prstGeom>
          </p:spPr>
        </p:pic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BDCFAB7D-4A8F-31A5-0335-A5241CDC252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477001" y="3182482"/>
              <a:ext cx="1295400" cy="762347"/>
            </a:xfrm>
            <a:prstGeom prst="rect">
              <a:avLst/>
            </a:prstGeom>
          </p:spPr>
        </p:pic>
        <p:sp>
          <p:nvSpPr>
            <p:cNvPr id="17" name="CuadroTexto 16">
              <a:extLst>
                <a:ext uri="{FF2B5EF4-FFF2-40B4-BE49-F238E27FC236}">
                  <a16:creationId xmlns:a16="http://schemas.microsoft.com/office/drawing/2014/main" id="{5371FA46-9E1B-900C-71A7-DF62F22E45DF}"/>
                </a:ext>
              </a:extLst>
            </p:cNvPr>
            <p:cNvSpPr txBox="1"/>
            <p:nvPr/>
          </p:nvSpPr>
          <p:spPr>
            <a:xfrm>
              <a:off x="3619419" y="3242846"/>
              <a:ext cx="373827" cy="271311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s-CO" sz="1600" b="1" dirty="0"/>
                <a:t>b)</a:t>
              </a:r>
            </a:p>
          </p:txBody>
        </p: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9B28D4EA-663A-ED34-F5A5-0D75EA2FE4C4}"/>
                </a:ext>
              </a:extLst>
            </p:cNvPr>
            <p:cNvSpPr txBox="1"/>
            <p:nvPr/>
          </p:nvSpPr>
          <p:spPr>
            <a:xfrm>
              <a:off x="6143254" y="3195537"/>
              <a:ext cx="333746" cy="33855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s-CO" sz="1600" b="1" dirty="0"/>
                <a:t>c)</a:t>
              </a:r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A5FD674A-F255-83B5-86E6-74B8FA378259}"/>
                </a:ext>
              </a:extLst>
            </p:cNvPr>
            <p:cNvSpPr txBox="1"/>
            <p:nvPr/>
          </p:nvSpPr>
          <p:spPr>
            <a:xfrm>
              <a:off x="1234394" y="3212068"/>
              <a:ext cx="370614" cy="369332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a)</a:t>
              </a:r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BCABE1BB-4D99-53C5-4D2D-A9F62F3602EB}"/>
              </a:ext>
            </a:extLst>
          </p:cNvPr>
          <p:cNvGrpSpPr/>
          <p:nvPr/>
        </p:nvGrpSpPr>
        <p:grpSpPr>
          <a:xfrm>
            <a:off x="877029" y="3603875"/>
            <a:ext cx="1942371" cy="1383587"/>
            <a:chOff x="3531644" y="650622"/>
            <a:chExt cx="2111196" cy="1435548"/>
          </a:xfrm>
        </p:grpSpPr>
        <p:pic>
          <p:nvPicPr>
            <p:cNvPr id="30" name="Imagen 29">
              <a:extLst>
                <a:ext uri="{FF2B5EF4-FFF2-40B4-BE49-F238E27FC236}">
                  <a16:creationId xmlns:a16="http://schemas.microsoft.com/office/drawing/2014/main" id="{B0E7C1F9-7C4E-41B9-D72A-A758C8BD739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r="32487" b="89433"/>
            <a:stretch/>
          </p:blipFill>
          <p:spPr>
            <a:xfrm>
              <a:off x="3774586" y="650622"/>
              <a:ext cx="1639174" cy="256555"/>
            </a:xfrm>
            <a:prstGeom prst="rect">
              <a:avLst/>
            </a:prstGeom>
          </p:spPr>
        </p:pic>
        <p:pic>
          <p:nvPicPr>
            <p:cNvPr id="32" name="Imagen 31">
              <a:extLst>
                <a:ext uri="{FF2B5EF4-FFF2-40B4-BE49-F238E27FC236}">
                  <a16:creationId xmlns:a16="http://schemas.microsoft.com/office/drawing/2014/main" id="{497F45BD-4705-CD28-B79E-EDA0B379C72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t="43565" b="1"/>
            <a:stretch/>
          </p:blipFill>
          <p:spPr>
            <a:xfrm>
              <a:off x="3531644" y="894715"/>
              <a:ext cx="2111196" cy="1191455"/>
            </a:xfrm>
            <a:prstGeom prst="rect">
              <a:avLst/>
            </a:prstGeom>
          </p:spPr>
        </p:pic>
      </p:grpSp>
      <p:grpSp>
        <p:nvGrpSpPr>
          <p:cNvPr id="4" name="Grupo 3">
            <a:extLst>
              <a:ext uri="{FF2B5EF4-FFF2-40B4-BE49-F238E27FC236}">
                <a16:creationId xmlns:a16="http://schemas.microsoft.com/office/drawing/2014/main" id="{E22AEB67-250B-A643-05A3-E8F4132A043D}"/>
              </a:ext>
            </a:extLst>
          </p:cNvPr>
          <p:cNvGrpSpPr/>
          <p:nvPr/>
        </p:nvGrpSpPr>
        <p:grpSpPr>
          <a:xfrm>
            <a:off x="6382634" y="3543886"/>
            <a:ext cx="1419212" cy="1394350"/>
            <a:chOff x="1085749" y="536039"/>
            <a:chExt cx="1746367" cy="1494171"/>
          </a:xfrm>
        </p:grpSpPr>
        <p:pic>
          <p:nvPicPr>
            <p:cNvPr id="24" name="Imagen 23">
              <a:extLst>
                <a:ext uri="{FF2B5EF4-FFF2-40B4-BE49-F238E27FC236}">
                  <a16:creationId xmlns:a16="http://schemas.microsoft.com/office/drawing/2014/main" id="{83B68751-7447-6F50-5E79-4EC833A9EBC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t="30602"/>
            <a:stretch/>
          </p:blipFill>
          <p:spPr>
            <a:xfrm>
              <a:off x="1085750" y="838755"/>
              <a:ext cx="1746366" cy="1191455"/>
            </a:xfrm>
            <a:prstGeom prst="rect">
              <a:avLst/>
            </a:prstGeom>
          </p:spPr>
        </p:pic>
        <p:pic>
          <p:nvPicPr>
            <p:cNvPr id="33" name="Imagen 32">
              <a:extLst>
                <a:ext uri="{FF2B5EF4-FFF2-40B4-BE49-F238E27FC236}">
                  <a16:creationId xmlns:a16="http://schemas.microsoft.com/office/drawing/2014/main" id="{5EE53845-4D2A-0BC6-6C5F-4F5B0F99A1B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r="37633" b="82477"/>
            <a:stretch/>
          </p:blipFill>
          <p:spPr>
            <a:xfrm>
              <a:off x="1085749" y="536039"/>
              <a:ext cx="1639173" cy="452785"/>
            </a:xfrm>
            <a:prstGeom prst="rect">
              <a:avLst/>
            </a:prstGeom>
          </p:spPr>
        </p:pic>
      </p:grpSp>
      <p:pic>
        <p:nvPicPr>
          <p:cNvPr id="35" name="Imagen 34">
            <a:extLst>
              <a:ext uri="{FF2B5EF4-FFF2-40B4-BE49-F238E27FC236}">
                <a16:creationId xmlns:a16="http://schemas.microsoft.com/office/drawing/2014/main" id="{ECD908FF-96CF-1E5E-62A4-16E2F07E77F0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b="90392"/>
          <a:stretch/>
        </p:blipFill>
        <p:spPr>
          <a:xfrm>
            <a:off x="3542545" y="3603876"/>
            <a:ext cx="1371833" cy="242729"/>
          </a:xfrm>
          <a:prstGeom prst="rect">
            <a:avLst/>
          </a:prstGeom>
        </p:spPr>
      </p:pic>
      <p:sp>
        <p:nvSpPr>
          <p:cNvPr id="39" name="CuadroTexto 38">
            <a:extLst>
              <a:ext uri="{FF2B5EF4-FFF2-40B4-BE49-F238E27FC236}">
                <a16:creationId xmlns:a16="http://schemas.microsoft.com/office/drawing/2014/main" id="{5C0A354D-35EC-F544-BFD6-2B64BEDEC5C0}"/>
              </a:ext>
            </a:extLst>
          </p:cNvPr>
          <p:cNvSpPr txBox="1"/>
          <p:nvPr/>
        </p:nvSpPr>
        <p:spPr>
          <a:xfrm>
            <a:off x="105675" y="5443667"/>
            <a:ext cx="891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b="1" dirty="0" err="1">
                <a:solidFill>
                  <a:schemeClr val="tx2"/>
                </a:solidFill>
              </a:rPr>
              <a:t>F.A.R´s</a:t>
            </a:r>
            <a:r>
              <a:rPr lang="es-CO" b="1" dirty="0">
                <a:solidFill>
                  <a:schemeClr val="tx2"/>
                </a:solidFill>
              </a:rPr>
              <a:t>: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EF273FA6-BBE0-41B8-7D33-2A5D9A7952B4}"/>
              </a:ext>
            </a:extLst>
          </p:cNvPr>
          <p:cNvSpPr txBox="1"/>
          <p:nvPr/>
        </p:nvSpPr>
        <p:spPr>
          <a:xfrm>
            <a:off x="209499" y="865245"/>
            <a:ext cx="349174" cy="27699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sz="1200" b="1" dirty="0"/>
              <a:t>a)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0C64427E-CBA7-FE63-3872-B829069A55B8}"/>
              </a:ext>
            </a:extLst>
          </p:cNvPr>
          <p:cNvSpPr txBox="1"/>
          <p:nvPr/>
        </p:nvSpPr>
        <p:spPr>
          <a:xfrm>
            <a:off x="210350" y="1107037"/>
            <a:ext cx="340928" cy="27699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sz="1200" b="1" dirty="0"/>
              <a:t>b)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64ECBA94-1FFC-C76F-1B29-2E726923ED49}"/>
              </a:ext>
            </a:extLst>
          </p:cNvPr>
          <p:cNvSpPr txBox="1"/>
          <p:nvPr/>
        </p:nvSpPr>
        <p:spPr>
          <a:xfrm>
            <a:off x="220651" y="1364763"/>
            <a:ext cx="338022" cy="27699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sz="1200" b="1" dirty="0"/>
              <a:t>c)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48DC5AE6-3CF8-83A0-1229-EDDC313ACC27}"/>
              </a:ext>
            </a:extLst>
          </p:cNvPr>
          <p:cNvSpPr txBox="1"/>
          <p:nvPr/>
        </p:nvSpPr>
        <p:spPr>
          <a:xfrm>
            <a:off x="2990785" y="1881926"/>
            <a:ext cx="333746" cy="25391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sz="1050" b="1" dirty="0"/>
              <a:t>c)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D3C1AEC5-191E-9856-A6A5-CAFE2250AA35}"/>
              </a:ext>
            </a:extLst>
          </p:cNvPr>
          <p:cNvSpPr txBox="1"/>
          <p:nvPr/>
        </p:nvSpPr>
        <p:spPr>
          <a:xfrm>
            <a:off x="3515716" y="2320774"/>
            <a:ext cx="333746" cy="25391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sz="1050" b="1" dirty="0"/>
              <a:t>a)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632C84B0-6936-605F-1938-C80D2E148AF8}"/>
              </a:ext>
            </a:extLst>
          </p:cNvPr>
          <p:cNvSpPr txBox="1"/>
          <p:nvPr/>
        </p:nvSpPr>
        <p:spPr>
          <a:xfrm>
            <a:off x="4413944" y="2835207"/>
            <a:ext cx="316112" cy="27699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s-CO" sz="1200" b="1" dirty="0"/>
              <a:t>b)</a:t>
            </a:r>
          </a:p>
        </p:txBody>
      </p:sp>
      <p:pic>
        <p:nvPicPr>
          <p:cNvPr id="42" name="Imagen 41">
            <a:extLst>
              <a:ext uri="{FF2B5EF4-FFF2-40B4-BE49-F238E27FC236}">
                <a16:creationId xmlns:a16="http://schemas.microsoft.com/office/drawing/2014/main" id="{7774F1A0-9CB6-8F39-38CD-A28E0164B150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t="30522"/>
          <a:stretch/>
        </p:blipFill>
        <p:spPr>
          <a:xfrm>
            <a:off x="3515716" y="3908351"/>
            <a:ext cx="1671187" cy="111185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3F138219-E4C4-70F5-0B28-59211884C549}"/>
                  </a:ext>
                </a:extLst>
              </p:cNvPr>
              <p:cNvSpPr txBox="1"/>
              <p:nvPr/>
            </p:nvSpPr>
            <p:spPr>
              <a:xfrm>
                <a:off x="293996" y="4464280"/>
                <a:ext cx="51456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3F138219-E4C4-70F5-0B28-59211884C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996" y="4464280"/>
                <a:ext cx="514564" cy="276999"/>
              </a:xfrm>
              <a:prstGeom prst="rect">
                <a:avLst/>
              </a:prstGeom>
              <a:blipFill>
                <a:blip r:embed="rId12"/>
                <a:stretch>
                  <a:fillRect l="-7317" t="-4348" r="-17073" b="-34783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CuadroTexto 8">
            <a:extLst>
              <a:ext uri="{FF2B5EF4-FFF2-40B4-BE49-F238E27FC236}">
                <a16:creationId xmlns:a16="http://schemas.microsoft.com/office/drawing/2014/main" id="{3DCB3A25-F98D-128C-C9EB-D8FEB2126B08}"/>
              </a:ext>
            </a:extLst>
          </p:cNvPr>
          <p:cNvSpPr txBox="1"/>
          <p:nvPr/>
        </p:nvSpPr>
        <p:spPr>
          <a:xfrm>
            <a:off x="1752600" y="6404780"/>
            <a:ext cx="715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dirty="0"/>
              <a:t>DARA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EA43C4F6-1546-A076-10DA-8AC42639C9F5}"/>
              </a:ext>
            </a:extLst>
          </p:cNvPr>
          <p:cNvSpPr txBox="1"/>
          <p:nvPr/>
        </p:nvSpPr>
        <p:spPr>
          <a:xfrm>
            <a:off x="4255050" y="6404780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dirty="0"/>
              <a:t>IARA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6CBB965C-E81E-5932-EB49-4E4A8BAB2430}"/>
              </a:ext>
            </a:extLst>
          </p:cNvPr>
          <p:cNvSpPr txBox="1"/>
          <p:nvPr/>
        </p:nvSpPr>
        <p:spPr>
          <a:xfrm>
            <a:off x="6859391" y="6435449"/>
            <a:ext cx="699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dirty="0"/>
              <a:t>CARA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25" grpId="0" animBg="1"/>
      <p:bldP spid="34" grpId="0" animBg="1"/>
      <p:bldP spid="37" grpId="0" animBg="1"/>
      <p:bldP spid="2" grpId="0"/>
      <p:bldP spid="9" grpId="0"/>
      <p:bldP spid="20" grpId="0"/>
      <p:bldP spid="2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BF026E-B828-05CC-A1FC-270D395BB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5" y="599694"/>
            <a:ext cx="8239125" cy="430887"/>
          </a:xfrm>
        </p:spPr>
        <p:txBody>
          <a:bodyPr/>
          <a:lstStyle/>
          <a:p>
            <a:r>
              <a:rPr lang="es-CO" spc="-280" dirty="0">
                <a:solidFill>
                  <a:schemeClr val="tx2"/>
                </a:solidFill>
              </a:rPr>
              <a:t>F.A.R.,</a:t>
            </a:r>
            <a:r>
              <a:rPr lang="es-CO" spc="-370" dirty="0">
                <a:solidFill>
                  <a:schemeClr val="tx2"/>
                </a:solidFill>
              </a:rPr>
              <a:t> </a:t>
            </a:r>
            <a:r>
              <a:rPr lang="es-CO" dirty="0">
                <a:solidFill>
                  <a:schemeClr val="tx2"/>
                </a:solidFill>
                <a:latin typeface="Cambria Math"/>
                <a:cs typeface="Cambria Math"/>
              </a:rPr>
              <a:t>𝑟(𝑥). </a:t>
            </a:r>
            <a:r>
              <a:rPr lang="es-CO" spc="-60" dirty="0">
                <a:solidFill>
                  <a:schemeClr val="tx2"/>
                </a:solidFill>
              </a:rPr>
              <a:t>EJEMPLOS PROPENSOS AL RIESGO</a:t>
            </a:r>
            <a:endParaRPr lang="es-CO" spc="20" dirty="0">
              <a:solidFill>
                <a:schemeClr val="tx2"/>
              </a:solidFill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0FC0D8D-A17E-8EE6-AEFC-F5802E6B10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8055" y="1371600"/>
            <a:ext cx="8305800" cy="830997"/>
          </a:xfrm>
        </p:spPr>
        <p:txBody>
          <a:bodyPr/>
          <a:lstStyle/>
          <a:p>
            <a:r>
              <a:rPr lang="es-CO" dirty="0"/>
              <a:t>En el caso de funciones u(x) tipo </a:t>
            </a:r>
            <a:r>
              <a:rPr lang="es-CO" b="1" dirty="0"/>
              <a:t>propensos</a:t>
            </a:r>
            <a:r>
              <a:rPr lang="es-CO" dirty="0"/>
              <a:t> al riesgo, es también posible caracterizar su F.A.R, aunque no tan estudiados en la literatura, como los casos aversos*.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a 6">
                <a:extLst>
                  <a:ext uri="{FF2B5EF4-FFF2-40B4-BE49-F238E27FC236}">
                    <a16:creationId xmlns:a16="http://schemas.microsoft.com/office/drawing/2014/main" id="{4CD5F19F-B63A-9DC5-B39E-92112462030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50173851"/>
                  </p:ext>
                </p:extLst>
              </p:nvPr>
            </p:nvGraphicFramePr>
            <p:xfrm>
              <a:off x="216759" y="2438400"/>
              <a:ext cx="8698641" cy="283038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98617">
                      <a:extLst>
                        <a:ext uri="{9D8B030D-6E8A-4147-A177-3AD203B41FA5}">
                          <a16:colId xmlns:a16="http://schemas.microsoft.com/office/drawing/2014/main" val="4213363097"/>
                        </a:ext>
                      </a:extLst>
                    </a:gridCol>
                    <a:gridCol w="1246824">
                      <a:extLst>
                        <a:ext uri="{9D8B030D-6E8A-4147-A177-3AD203B41FA5}">
                          <a16:colId xmlns:a16="http://schemas.microsoft.com/office/drawing/2014/main" val="524808569"/>
                        </a:ext>
                      </a:extLst>
                    </a:gridCol>
                    <a:gridCol w="990600">
                      <a:extLst>
                        <a:ext uri="{9D8B030D-6E8A-4147-A177-3AD203B41FA5}">
                          <a16:colId xmlns:a16="http://schemas.microsoft.com/office/drawing/2014/main" val="1423611691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515012452"/>
                        </a:ext>
                      </a:extLst>
                    </a:gridCol>
                    <a:gridCol w="1447800">
                      <a:extLst>
                        <a:ext uri="{9D8B030D-6E8A-4147-A177-3AD203B41FA5}">
                          <a16:colId xmlns:a16="http://schemas.microsoft.com/office/drawing/2014/main" val="3231161383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val="518769217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val="3045001573"/>
                        </a:ext>
                      </a:extLst>
                    </a:gridCol>
                  </a:tblGrid>
                  <a:tr h="17716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s-419" sz="1100" b="1" i="1" smtClean="0">
                                    <a:latin typeface="Cambria Math" panose="02040503050406030204" pitchFamily="18" charset="0"/>
                                  </a:rPr>
                                  <m:t>𝒖</m:t>
                                </m:r>
                                <m:r>
                                  <a:rPr lang="es-419" sz="1100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419" sz="11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s-419" sz="1100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s-CO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s-419" sz="1100" b="1" i="1" smtClean="0">
                                    <a:latin typeface="Cambria Math" panose="02040503050406030204" pitchFamily="18" charset="0"/>
                                  </a:rPr>
                                  <m:t>𝒖</m:t>
                                </m:r>
                                <m:r>
                                  <a:rPr lang="es-419" sz="1100" b="1" i="1" smtClean="0">
                                    <a:latin typeface="Cambria Math" panose="02040503050406030204" pitchFamily="18" charset="0"/>
                                  </a:rPr>
                                  <m:t>´´(</m:t>
                                </m:r>
                                <m:r>
                                  <a:rPr lang="es-419" sz="11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s-419" sz="1100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s-CO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CO" sz="1100" dirty="0"/>
                            <a:t>Tipo de Decisor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419" sz="1100" b="1" dirty="0"/>
                            <a:t>r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s-419" sz="11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419" sz="11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  <m:r>
                                <a:rPr lang="es-419" sz="1100" b="1" i="1" smtClean="0"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f>
                                <m:fPr>
                                  <m:ctrlPr>
                                    <a:rPr lang="es-419" sz="11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s-419" sz="11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s-419" sz="1100" b="1" i="1" smtClean="0">
                                          <a:latin typeface="Cambria Math" panose="02040503050406030204" pitchFamily="18" charset="0"/>
                                        </a:rPr>
                                        <m:t>𝒖</m:t>
                                      </m:r>
                                    </m:e>
                                    <m:sup>
                                      <m:r>
                                        <a:rPr lang="es-419" sz="1100" b="1" i="1" smtClean="0">
                                          <a:latin typeface="Cambria Math" panose="02040503050406030204" pitchFamily="18" charset="0"/>
                                        </a:rPr>
                                        <m:t>′′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s-419" sz="1100" b="1" i="1" smtClean="0">
                                      <a:latin typeface="Cambria Math" panose="02040503050406030204" pitchFamily="18" charset="0"/>
                                    </a:rPr>
                                    <m:t>𝒖</m:t>
                                  </m:r>
                                  <m:r>
                                    <a:rPr lang="es-419" sz="1100" b="1" i="1" smtClean="0">
                                      <a:latin typeface="Cambria Math" panose="02040503050406030204" pitchFamily="18" charset="0"/>
                                    </a:rPr>
                                    <m:t>´</m:t>
                                  </m:r>
                                </m:den>
                              </m:f>
                            </m:oMath>
                          </a14:m>
                          <a:endParaRPr lang="es-CO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419" sz="1100" b="1" dirty="0"/>
                            <a:t>r</a:t>
                          </a:r>
                          <a14:m>
                            <m:oMath xmlns:m="http://schemas.openxmlformats.org/officeDocument/2006/math">
                              <m:r>
                                <a:rPr lang="es-419" sz="1100" b="1" i="1" smtClean="0">
                                  <a:latin typeface="Cambria Math" panose="02040503050406030204" pitchFamily="18" charset="0"/>
                                </a:rPr>
                                <m:t>´(</m:t>
                              </m:r>
                              <m:r>
                                <a:rPr lang="es-419" sz="11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s-419" sz="1100" b="1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s-CO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1100" dirty="0"/>
                            <a:t>Caso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1100" dirty="0"/>
                            <a:t>Interpretación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85203022"/>
                      </a:ext>
                    </a:extLst>
                  </a:tr>
                  <a:tr h="31280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s-419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419" sz="11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s-419" sz="11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s-419" sz="1100" b="0" i="1" smtClean="0">
                                      <a:latin typeface="Cambria Math" panose="02040503050406030204" pitchFamily="18" charset="0"/>
                                    </a:rPr>
                                    <m:t>+1)</m:t>
                                  </m:r>
                                  <m:r>
                                    <m:rPr>
                                      <m:nor/>
                                    </m:rPr>
                                    <a:rPr lang="es-CO" sz="1100" i="0" dirty="0"/>
                                    <m:t> </m:t>
                                  </m:r>
                                </m:e>
                                <m:sup>
                                  <m:r>
                                    <a:rPr lang="es-419" sz="11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s-CO" sz="1100" dirty="0"/>
                            <a:t>,</a:t>
                          </a: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s-CO" sz="1000" i="1" dirty="0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s-CO" sz="1000" i="1" dirty="0" smtClean="0">
                                    <a:latin typeface="Cambria Math" panose="02040503050406030204" pitchFamily="18" charset="0"/>
                                  </a:rPr>
                                  <m:t>&gt;−1</m:t>
                                </m:r>
                              </m:oMath>
                            </m:oMathPara>
                          </a14:m>
                          <a:endParaRPr lang="es-CO" sz="1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s-CO" sz="1100" i="1" dirty="0" smtClean="0">
                                    <a:latin typeface="Cambria Math" panose="02040503050406030204" pitchFamily="18" charset="0"/>
                                  </a:rPr>
                                  <m:t>2&gt;0</m:t>
                                </m:r>
                              </m:oMath>
                            </m:oMathPara>
                          </a14:m>
                          <a:endParaRPr lang="es-CO" sz="11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CO" sz="1100" dirty="0"/>
                            <a:t>Propenso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s-419" sz="11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s-419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419" sz="11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d>
                                      <m:dPr>
                                        <m:ctrlPr>
                                          <a:rPr lang="es-419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419" sz="11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s-419" sz="1100" b="0" i="1" smtClean="0">
                                            <a:latin typeface="Cambria Math" panose="02040503050406030204" pitchFamily="18" charset="0"/>
                                          </a:rPr>
                                          <m:t>+1</m:t>
                                        </m:r>
                                      </m:e>
                                    </m:d>
                                  </m:den>
                                </m:f>
                                <m:r>
                                  <a:rPr lang="es-419" sz="1100" b="0" i="1" smtClean="0">
                                    <a:latin typeface="Cambria Math" panose="02040503050406030204" pitchFamily="18" charset="0"/>
                                  </a:rPr>
                                  <m:t>&lt;0</m:t>
                                </m:r>
                              </m:oMath>
                            </m:oMathPara>
                          </a14:m>
                          <a:endParaRPr lang="es-CO" sz="1100" dirty="0"/>
                        </a:p>
                        <a:p>
                          <a:pPr algn="ctr"/>
                          <a:r>
                            <a:rPr lang="es-CO" sz="1100" dirty="0"/>
                            <a:t>(Propenso al riesgo)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es-419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419" sz="11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s-419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s-419" sz="11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s-419" sz="11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  <m:r>
                                              <a:rPr lang="es-419" sz="1100" b="0" i="1" smtClean="0">
                                                <a:latin typeface="Cambria Math" panose="02040503050406030204" pitchFamily="18" charset="0"/>
                                              </a:rPr>
                                              <m:t>+1</m:t>
                                            </m:r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s-419" sz="11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es-419" sz="1100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 algn="ctr"/>
                          <a:endParaRPr lang="es-419" sz="1100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s-419" sz="11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s-419" sz="1100" b="0" i="1" smtClean="0">
                                  <a:latin typeface="Cambria Math" panose="02040503050406030204" pitchFamily="18" charset="0"/>
                                </a:rPr>
                                <m:t>´</m:t>
                              </m:r>
                              <m:d>
                                <m:dPr>
                                  <m:ctrlPr>
                                    <a:rPr lang="es-419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419" sz="11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s-419" sz="1100" b="0" i="1" smtClean="0">
                                  <a:latin typeface="Cambria Math" panose="02040503050406030204" pitchFamily="18" charset="0"/>
                                </a:rPr>
                                <m:t>&gt;0</m:t>
                              </m:r>
                            </m:oMath>
                          </a14:m>
                          <a:r>
                            <a:rPr lang="es-CO" sz="1100" dirty="0"/>
                            <a:t> </a:t>
                          </a:r>
                        </a:p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s-CO" sz="10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∀</m:t>
                              </m:r>
                            </m:oMath>
                          </a14:m>
                          <a:r>
                            <a:rPr lang="es-CO" sz="100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s-CO" sz="100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s-CO" sz="1000" i="1" dirty="0" smtClean="0">
                                  <a:latin typeface="Cambria Math" panose="02040503050406030204" pitchFamily="18" charset="0"/>
                                </a:rPr>
                                <m:t>&gt;−1</m:t>
                              </m:r>
                            </m:oMath>
                          </a14:m>
                          <a:endParaRPr lang="es-CO" sz="1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1050" dirty="0"/>
                            <a:t>Creciente IPARA</a:t>
                          </a:r>
                        </a:p>
                        <a:p>
                          <a:pPr algn="ctr"/>
                          <a:r>
                            <a:rPr lang="es-CO" sz="1050" dirty="0"/>
                            <a:t>(</a:t>
                          </a:r>
                          <a:r>
                            <a:rPr lang="es-CO" sz="1050" dirty="0" err="1"/>
                            <a:t>Increasing</a:t>
                          </a:r>
                          <a:r>
                            <a:rPr lang="es-CO" sz="1050" dirty="0"/>
                            <a:t> </a:t>
                          </a:r>
                          <a:r>
                            <a:rPr lang="es-CO" sz="1050" dirty="0" err="1"/>
                            <a:t>Propensity</a:t>
                          </a:r>
                          <a:r>
                            <a:rPr lang="es-CO" sz="1050" dirty="0"/>
                            <a:t> </a:t>
                          </a:r>
                          <a:r>
                            <a:rPr lang="es-CO" sz="1050" dirty="0" err="1"/>
                            <a:t>for</a:t>
                          </a:r>
                          <a:r>
                            <a:rPr lang="es-CO" sz="1050" dirty="0"/>
                            <a:t> Absolute </a:t>
                          </a:r>
                          <a:r>
                            <a:rPr lang="es-CO" sz="1050" dirty="0" err="1"/>
                            <a:t>Risk</a:t>
                          </a:r>
                          <a:r>
                            <a:rPr lang="es-CO" sz="1050" dirty="0"/>
                            <a:t> </a:t>
                          </a:r>
                          <a:r>
                            <a:rPr lang="es-CO" sz="1050" dirty="0" err="1"/>
                            <a:t>Aversion</a:t>
                          </a:r>
                          <a:r>
                            <a:rPr lang="es-CO" sz="1050" dirty="0"/>
                            <a:t>) </a:t>
                          </a:r>
                        </a:p>
                        <a:p>
                          <a:pPr algn="ctr"/>
                          <a:endParaRPr lang="es-CO" sz="105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1050" dirty="0"/>
                            <a:t>A más riqueza, más propenso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07560544"/>
                      </a:ext>
                    </a:extLst>
                  </a:tr>
                  <a:tr h="31280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s-419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419" sz="1100" b="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s-419" sz="11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100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s-419" sz="11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419" sz="11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s-419" sz="11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ℝ</m:t>
                                </m:r>
                              </m:oMath>
                            </m:oMathPara>
                          </a14:m>
                          <a:endParaRPr lang="es-CO" sz="11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s-419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419" sz="1100" b="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s-419" sz="11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p>
                                </m:sSup>
                                <m:r>
                                  <a:rPr lang="es-419" sz="1100" b="0" i="1" smtClean="0">
                                    <a:latin typeface="Cambria Math" panose="02040503050406030204" pitchFamily="18" charset="0"/>
                                  </a:rPr>
                                  <m:t>&gt;0</m:t>
                                </m:r>
                              </m:oMath>
                            </m:oMathPara>
                          </a14:m>
                          <a:endParaRPr lang="es-CO" sz="11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CO" sz="1100" dirty="0"/>
                            <a:t>Propenso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1100" dirty="0"/>
                            <a:t>-1 </a:t>
                          </a:r>
                          <a14:m>
                            <m:oMath xmlns:m="http://schemas.openxmlformats.org/officeDocument/2006/math">
                              <m:r>
                                <a:rPr lang="es-419" sz="1100" b="0" i="1" smtClean="0">
                                  <a:latin typeface="Cambria Math" panose="02040503050406030204" pitchFamily="18" charset="0"/>
                                </a:rPr>
                                <m:t>&lt;0</m:t>
                              </m:r>
                            </m:oMath>
                          </a14:m>
                          <a:endParaRPr lang="es-CO" sz="1100" dirty="0"/>
                        </a:p>
                        <a:p>
                          <a:pPr algn="ctr"/>
                          <a:r>
                            <a:rPr lang="es-CO" sz="1100" dirty="0"/>
                            <a:t>(Propenso al riesgo)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s-419" sz="11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s-419" sz="1100" b="0" i="1" smtClean="0">
                                    <a:latin typeface="Cambria Math" panose="02040503050406030204" pitchFamily="18" charset="0"/>
                                  </a:rPr>
                                  <m:t>´</m:t>
                                </m:r>
                                <m:d>
                                  <m:dPr>
                                    <m:ctrlPr>
                                      <a:rPr lang="es-419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419" sz="11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s-419" sz="1100" b="0" i="1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s-CO" sz="11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1000" dirty="0"/>
                            <a:t>Constante CPARA</a:t>
                          </a:r>
                        </a:p>
                        <a:p>
                          <a:pPr algn="ctr"/>
                          <a:r>
                            <a:rPr lang="es-CO" sz="1000" dirty="0"/>
                            <a:t>(</a:t>
                          </a:r>
                          <a:r>
                            <a:rPr lang="es-CO" sz="1000" dirty="0" err="1"/>
                            <a:t>Constant</a:t>
                          </a:r>
                          <a:r>
                            <a:rPr lang="es-CO" sz="1000" dirty="0"/>
                            <a:t> </a:t>
                          </a:r>
                          <a:r>
                            <a:rPr lang="es-CO" sz="1000" dirty="0" err="1"/>
                            <a:t>Propensity</a:t>
                          </a:r>
                          <a:r>
                            <a:rPr lang="es-CO" sz="1000" dirty="0"/>
                            <a:t> </a:t>
                          </a:r>
                          <a:r>
                            <a:rPr lang="es-CO" sz="1000" dirty="0" err="1"/>
                            <a:t>for</a:t>
                          </a:r>
                          <a:r>
                            <a:rPr lang="es-CO" sz="1000" dirty="0"/>
                            <a:t> Absolute </a:t>
                          </a:r>
                          <a:r>
                            <a:rPr lang="es-CO" sz="1000" dirty="0" err="1"/>
                            <a:t>Risk</a:t>
                          </a:r>
                          <a:r>
                            <a:rPr lang="es-CO" sz="1000" dirty="0"/>
                            <a:t> </a:t>
                          </a:r>
                          <a:r>
                            <a:rPr lang="es-CO" sz="1000" dirty="0" err="1"/>
                            <a:t>Aversion</a:t>
                          </a:r>
                          <a:r>
                            <a:rPr lang="es-CO" sz="1000" dirty="0"/>
                            <a:t>)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1000" dirty="0"/>
                            <a:t>La propensión al riesgo es constante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97683236"/>
                      </a:ext>
                    </a:extLst>
                  </a:tr>
                  <a:tr h="31280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s-419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419" sz="1100" b="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sSup>
                                      <m:sSupPr>
                                        <m:ctrlPr>
                                          <a:rPr lang="es-419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s-419" sz="11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s-419" sz="11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sup>
                                </m:sSup>
                              </m:oMath>
                            </m:oMathPara>
                          </a14:m>
                          <a:endParaRPr lang="es-CO" sz="1100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s-419" sz="11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419" sz="11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&gt;1</m:t>
                                </m:r>
                              </m:oMath>
                            </m:oMathPara>
                          </a14:m>
                          <a:endParaRPr lang="es-CO" sz="11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s-419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p>
                                      <m:sSupPr>
                                        <m:ctrlPr>
                                          <a:rPr lang="es-419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s-419" sz="1100" b="0" i="1" smtClean="0">
                                            <a:latin typeface="Cambria Math" panose="02040503050406030204" pitchFamily="18" charset="0"/>
                                          </a:rPr>
                                          <m:t>(4</m:t>
                                        </m:r>
                                        <m:r>
                                          <a:rPr lang="es-419" sz="11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s-419" sz="11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s-419" sz="1100" b="0" i="1" smtClean="0">
                                        <a:latin typeface="Cambria Math" panose="02040503050406030204" pitchFamily="18" charset="0"/>
                                      </a:rPr>
                                      <m:t>+2)</m:t>
                                    </m:r>
                                    <m:r>
                                      <a:rPr lang="es-419" sz="1100" b="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sSup>
                                      <m:sSupPr>
                                        <m:ctrlPr>
                                          <a:rPr lang="es-419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s-419" sz="11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s-419" sz="11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sup>
                                </m:sSup>
                                <m:r>
                                  <a:rPr lang="es-419" sz="1100" b="0" i="1" smtClean="0">
                                    <a:latin typeface="Cambria Math" panose="02040503050406030204" pitchFamily="18" charset="0"/>
                                  </a:rPr>
                                  <m:t>&gt;0</m:t>
                                </m:r>
                              </m:oMath>
                            </m:oMathPara>
                          </a14:m>
                          <a:endParaRPr lang="es-CO" sz="11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1100" dirty="0"/>
                            <a:t>Propenso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s-419" sz="11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419" sz="110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s-419" sz="11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419" sz="11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s-419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419" sz="11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s-419" sz="11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</m:oMath>
                          </a14:m>
                          <a:r>
                            <a:rPr lang="es-419" sz="1100" b="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s-419" sz="1100" b="0" i="1" smtClean="0">
                                  <a:latin typeface="Cambria Math" panose="02040503050406030204" pitchFamily="18" charset="0"/>
                                </a:rPr>
                                <m:t>&lt;0</m:t>
                              </m:r>
                            </m:oMath>
                          </a14:m>
                          <a:endParaRPr lang="es-CO" sz="1100" dirty="0"/>
                        </a:p>
                        <a:p>
                          <a:pPr algn="ctr"/>
                          <a:r>
                            <a:rPr lang="es-CO" sz="1100" dirty="0"/>
                            <a:t>(Propenso al riesgo)</a:t>
                          </a:r>
                          <a:endParaRPr lang="es-419" sz="1100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s-419" sz="11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s-419" sz="1100" b="0" i="1" smtClean="0">
                                    <a:latin typeface="Cambria Math" panose="02040503050406030204" pitchFamily="18" charset="0"/>
                                  </a:rPr>
                                  <m:t>´</m:t>
                                </m:r>
                                <m:d>
                                  <m:dPr>
                                    <m:ctrlPr>
                                      <a:rPr lang="es-419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419" sz="11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s-419" sz="1100" b="0" i="1" smtClean="0"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d>
                                  <m:dPr>
                                    <m:ctrlPr>
                                      <a:rPr lang="es-419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419" sz="1100" b="0" i="1" smtClean="0">
                                        <a:latin typeface="Cambria Math" panose="02040503050406030204" pitchFamily="18" charset="0"/>
                                      </a:rPr>
                                      <m:t>2−</m:t>
                                    </m:r>
                                    <m:f>
                                      <m:fPr>
                                        <m:ctrlPr>
                                          <a:rPr lang="es-419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s-419" sz="11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sSup>
                                          <m:sSupPr>
                                            <m:ctrlPr>
                                              <a:rPr lang="es-419" sz="11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s-419" sz="11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p>
                                            <m:r>
                                              <a:rPr lang="es-419" sz="1100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s-419" sz="1100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s-419" sz="11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s-419" sz="1100" b="0" i="1" smtClean="0">
                                    <a:latin typeface="Cambria Math" panose="02040503050406030204" pitchFamily="18" charset="0"/>
                                  </a:rPr>
                                  <m:t>´</m:t>
                                </m:r>
                                <m:d>
                                  <m:dPr>
                                    <m:ctrlPr>
                                      <a:rPr lang="es-419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419" sz="11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s-419" sz="1100" b="0" i="1" smtClean="0">
                                    <a:latin typeface="Cambria Math" panose="02040503050406030204" pitchFamily="18" charset="0"/>
                                  </a:rPr>
                                  <m:t>&lt;0</m:t>
                                </m:r>
                              </m:oMath>
                            </m:oMathPara>
                          </a14:m>
                          <a:endParaRPr lang="es-CO" sz="11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CO" sz="1050" dirty="0"/>
                            <a:t>Decreciente DPARA (</a:t>
                          </a:r>
                          <a:r>
                            <a:rPr lang="es-CO" sz="1050" dirty="0" err="1"/>
                            <a:t>Decreasing</a:t>
                          </a:r>
                          <a:r>
                            <a:rPr lang="es-CO" sz="1050" dirty="0"/>
                            <a:t> </a:t>
                          </a:r>
                          <a:r>
                            <a:rPr lang="es-CO" sz="1050" dirty="0" err="1"/>
                            <a:t>Propensity</a:t>
                          </a:r>
                          <a:r>
                            <a:rPr lang="es-CO" sz="1050" dirty="0"/>
                            <a:t> </a:t>
                          </a:r>
                          <a:r>
                            <a:rPr lang="es-CO" sz="1050" dirty="0" err="1"/>
                            <a:t>for</a:t>
                          </a:r>
                          <a:r>
                            <a:rPr lang="es-CO" sz="1050" dirty="0"/>
                            <a:t> Absolute </a:t>
                          </a:r>
                          <a:r>
                            <a:rPr lang="es-CO" sz="1050" dirty="0" err="1"/>
                            <a:t>Risk</a:t>
                          </a:r>
                          <a:r>
                            <a:rPr lang="es-CO" sz="1050" dirty="0"/>
                            <a:t> </a:t>
                          </a:r>
                          <a:r>
                            <a:rPr lang="es-CO" sz="1050" dirty="0" err="1"/>
                            <a:t>Aversion</a:t>
                          </a:r>
                          <a:r>
                            <a:rPr lang="es-CO" sz="1050" dirty="0"/>
                            <a:t>)</a:t>
                          </a:r>
                        </a:p>
                        <a:p>
                          <a:pPr algn="ctr"/>
                          <a:endParaRPr lang="es-CO" sz="105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1050" dirty="0"/>
                            <a:t>A más riqueza, menos propenso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6910083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a 6">
                <a:extLst>
                  <a:ext uri="{FF2B5EF4-FFF2-40B4-BE49-F238E27FC236}">
                    <a16:creationId xmlns:a16="http://schemas.microsoft.com/office/drawing/2014/main" id="{4CD5F19F-B63A-9DC5-B39E-92112462030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50173851"/>
                  </p:ext>
                </p:extLst>
              </p:nvPr>
            </p:nvGraphicFramePr>
            <p:xfrm>
              <a:off x="216759" y="2438400"/>
              <a:ext cx="8698641" cy="283038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98617">
                      <a:extLst>
                        <a:ext uri="{9D8B030D-6E8A-4147-A177-3AD203B41FA5}">
                          <a16:colId xmlns:a16="http://schemas.microsoft.com/office/drawing/2014/main" val="4213363097"/>
                        </a:ext>
                      </a:extLst>
                    </a:gridCol>
                    <a:gridCol w="1246824">
                      <a:extLst>
                        <a:ext uri="{9D8B030D-6E8A-4147-A177-3AD203B41FA5}">
                          <a16:colId xmlns:a16="http://schemas.microsoft.com/office/drawing/2014/main" val="524808569"/>
                        </a:ext>
                      </a:extLst>
                    </a:gridCol>
                    <a:gridCol w="990600">
                      <a:extLst>
                        <a:ext uri="{9D8B030D-6E8A-4147-A177-3AD203B41FA5}">
                          <a16:colId xmlns:a16="http://schemas.microsoft.com/office/drawing/2014/main" val="1423611691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515012452"/>
                        </a:ext>
                      </a:extLst>
                    </a:gridCol>
                    <a:gridCol w="1447800">
                      <a:extLst>
                        <a:ext uri="{9D8B030D-6E8A-4147-A177-3AD203B41FA5}">
                          <a16:colId xmlns:a16="http://schemas.microsoft.com/office/drawing/2014/main" val="3231161383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val="518769217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val="3045001573"/>
                        </a:ext>
                      </a:extLst>
                    </a:gridCol>
                  </a:tblGrid>
                  <a:tr h="42672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1408" t="-2941" r="-869014" b="-56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73469" t="-2941" r="-529592" b="-56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CO" sz="1100" dirty="0"/>
                            <a:t>Tipo de Decisor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258333" t="-2941" r="-359375" b="-56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301754" t="-2941" r="-202632" b="-56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1100" dirty="0"/>
                            <a:t>Caso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1100" dirty="0"/>
                            <a:t>Interpretación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85203022"/>
                      </a:ext>
                    </a:extLst>
                  </a:tr>
                  <a:tr h="917766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408" t="-48611" r="-869014" b="-1652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3469" t="-48611" r="-529592" b="-1652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CO" sz="1100" dirty="0"/>
                            <a:t>Propenso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58333" t="-48611" r="-359375" b="-1652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01754" t="-48611" r="-202632" b="-1652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1050" dirty="0"/>
                            <a:t>Creciente IPARA</a:t>
                          </a:r>
                        </a:p>
                        <a:p>
                          <a:pPr algn="ctr"/>
                          <a:r>
                            <a:rPr lang="es-CO" sz="1050" dirty="0"/>
                            <a:t>(</a:t>
                          </a:r>
                          <a:r>
                            <a:rPr lang="es-CO" sz="1050" dirty="0" err="1"/>
                            <a:t>Increasing</a:t>
                          </a:r>
                          <a:r>
                            <a:rPr lang="es-CO" sz="1050" dirty="0"/>
                            <a:t> </a:t>
                          </a:r>
                          <a:r>
                            <a:rPr lang="es-CO" sz="1050" dirty="0" err="1"/>
                            <a:t>Propensity</a:t>
                          </a:r>
                          <a:r>
                            <a:rPr lang="es-CO" sz="1050" dirty="0"/>
                            <a:t> </a:t>
                          </a:r>
                          <a:r>
                            <a:rPr lang="es-CO" sz="1050" dirty="0" err="1"/>
                            <a:t>for</a:t>
                          </a:r>
                          <a:r>
                            <a:rPr lang="es-CO" sz="1050" dirty="0"/>
                            <a:t> Absolute </a:t>
                          </a:r>
                          <a:r>
                            <a:rPr lang="es-CO" sz="1050" dirty="0" err="1"/>
                            <a:t>Risk</a:t>
                          </a:r>
                          <a:r>
                            <a:rPr lang="es-CO" sz="1050" dirty="0"/>
                            <a:t> </a:t>
                          </a:r>
                          <a:r>
                            <a:rPr lang="es-CO" sz="1050" dirty="0" err="1"/>
                            <a:t>Aversion</a:t>
                          </a:r>
                          <a:r>
                            <a:rPr lang="es-CO" sz="1050" dirty="0"/>
                            <a:t>) </a:t>
                          </a:r>
                        </a:p>
                        <a:p>
                          <a:pPr algn="ctr"/>
                          <a:endParaRPr lang="es-CO" sz="105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1050" dirty="0"/>
                            <a:t>A más riqueza, más propenso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07560544"/>
                      </a:ext>
                    </a:extLst>
                  </a:tr>
                  <a:tr h="59436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408" t="-227660" r="-869014" b="-1531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3469" t="-227660" r="-529592" b="-1531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CO" sz="1100" dirty="0"/>
                            <a:t>Propenso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58333" t="-227660" r="-359375" b="-1531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01754" t="-227660" r="-202632" b="-1531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1000" dirty="0"/>
                            <a:t>Constante CPARA</a:t>
                          </a:r>
                        </a:p>
                        <a:p>
                          <a:pPr algn="ctr"/>
                          <a:r>
                            <a:rPr lang="es-CO" sz="1000" dirty="0"/>
                            <a:t>(</a:t>
                          </a:r>
                          <a:r>
                            <a:rPr lang="es-CO" sz="1000" dirty="0" err="1"/>
                            <a:t>Constant</a:t>
                          </a:r>
                          <a:r>
                            <a:rPr lang="es-CO" sz="1000" dirty="0"/>
                            <a:t> </a:t>
                          </a:r>
                          <a:r>
                            <a:rPr lang="es-CO" sz="1000" dirty="0" err="1"/>
                            <a:t>Propensity</a:t>
                          </a:r>
                          <a:r>
                            <a:rPr lang="es-CO" sz="1000" dirty="0"/>
                            <a:t> </a:t>
                          </a:r>
                          <a:r>
                            <a:rPr lang="es-CO" sz="1000" dirty="0" err="1"/>
                            <a:t>for</a:t>
                          </a:r>
                          <a:r>
                            <a:rPr lang="es-CO" sz="1000" dirty="0"/>
                            <a:t> Absolute </a:t>
                          </a:r>
                          <a:r>
                            <a:rPr lang="es-CO" sz="1000" dirty="0" err="1"/>
                            <a:t>Risk</a:t>
                          </a:r>
                          <a:r>
                            <a:rPr lang="es-CO" sz="1000" dirty="0"/>
                            <a:t> </a:t>
                          </a:r>
                          <a:r>
                            <a:rPr lang="es-CO" sz="1000" dirty="0" err="1"/>
                            <a:t>Aversion</a:t>
                          </a:r>
                          <a:r>
                            <a:rPr lang="es-CO" sz="1000" dirty="0"/>
                            <a:t>)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1000" dirty="0"/>
                            <a:t>La propensión al riesgo es constante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97683236"/>
                      </a:ext>
                    </a:extLst>
                  </a:tr>
                  <a:tr h="89154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408" t="-220000" r="-869014" b="-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3469" t="-220000" r="-529592" b="-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1100" dirty="0"/>
                            <a:t>Propenso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58333" t="-220000" r="-359375" b="-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01754" t="-220000" r="-202632" b="-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CO" sz="1050" dirty="0"/>
                            <a:t>Decreciente DPARA (</a:t>
                          </a:r>
                          <a:r>
                            <a:rPr lang="es-CO" sz="1050" dirty="0" err="1"/>
                            <a:t>Decreasing</a:t>
                          </a:r>
                          <a:r>
                            <a:rPr lang="es-CO" sz="1050" dirty="0"/>
                            <a:t> </a:t>
                          </a:r>
                          <a:r>
                            <a:rPr lang="es-CO" sz="1050" dirty="0" err="1"/>
                            <a:t>Propensity</a:t>
                          </a:r>
                          <a:r>
                            <a:rPr lang="es-CO" sz="1050" dirty="0"/>
                            <a:t> </a:t>
                          </a:r>
                          <a:r>
                            <a:rPr lang="es-CO" sz="1050" dirty="0" err="1"/>
                            <a:t>for</a:t>
                          </a:r>
                          <a:r>
                            <a:rPr lang="es-CO" sz="1050" dirty="0"/>
                            <a:t> Absolute </a:t>
                          </a:r>
                          <a:r>
                            <a:rPr lang="es-CO" sz="1050" dirty="0" err="1"/>
                            <a:t>Risk</a:t>
                          </a:r>
                          <a:r>
                            <a:rPr lang="es-CO" sz="1050" dirty="0"/>
                            <a:t> </a:t>
                          </a:r>
                          <a:r>
                            <a:rPr lang="es-CO" sz="1050" dirty="0" err="1"/>
                            <a:t>Aversion</a:t>
                          </a:r>
                          <a:r>
                            <a:rPr lang="es-CO" sz="1050" dirty="0"/>
                            <a:t>)</a:t>
                          </a:r>
                        </a:p>
                        <a:p>
                          <a:pPr algn="ctr"/>
                          <a:endParaRPr lang="es-CO" sz="105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1050" dirty="0"/>
                            <a:t>A más riqueza, menos propenso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6910083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CuadroTexto 8">
            <a:extLst>
              <a:ext uri="{FF2B5EF4-FFF2-40B4-BE49-F238E27FC236}">
                <a16:creationId xmlns:a16="http://schemas.microsoft.com/office/drawing/2014/main" id="{874E4C51-F49B-35AF-323C-1D0CA01BE093}"/>
              </a:ext>
            </a:extLst>
          </p:cNvPr>
          <p:cNvSpPr txBox="1"/>
          <p:nvPr/>
        </p:nvSpPr>
        <p:spPr>
          <a:xfrm>
            <a:off x="103807" y="6230874"/>
            <a:ext cx="8811593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CO" sz="1050" dirty="0"/>
              <a:t>Damodaran, A. </a:t>
            </a:r>
            <a:r>
              <a:rPr lang="es-CO" sz="1050" i="1" dirty="0" err="1"/>
              <a:t>Risk</a:t>
            </a:r>
            <a:r>
              <a:rPr lang="es-CO" sz="1050" i="1" dirty="0"/>
              <a:t> </a:t>
            </a:r>
            <a:r>
              <a:rPr lang="es-CO" sz="1050" i="1" dirty="0" err="1"/>
              <a:t>Aversion</a:t>
            </a:r>
            <a:r>
              <a:rPr lang="es-CO" sz="1050" i="1" dirty="0"/>
              <a:t> and </a:t>
            </a:r>
            <a:r>
              <a:rPr lang="es-CO" sz="1050" i="1" dirty="0" err="1"/>
              <a:t>Risk</a:t>
            </a:r>
            <a:r>
              <a:rPr lang="es-CO" sz="1050" i="1" dirty="0"/>
              <a:t> </a:t>
            </a:r>
            <a:r>
              <a:rPr lang="es-CO" sz="1050" i="1" dirty="0" err="1"/>
              <a:t>Attraction</a:t>
            </a:r>
            <a:r>
              <a:rPr lang="es-CO" sz="1050" i="1" dirty="0"/>
              <a:t> in Human </a:t>
            </a:r>
            <a:r>
              <a:rPr lang="es-CO" sz="1050" i="1" dirty="0" err="1"/>
              <a:t>Behavior</a:t>
            </a:r>
            <a:r>
              <a:rPr lang="es-CO" sz="1050" dirty="0"/>
              <a:t>, NYU Stern (</a:t>
            </a:r>
            <a:r>
              <a:rPr lang="es-CO" sz="1050" dirty="0">
                <a:hlinkClick r:id="rId4"/>
              </a:rPr>
              <a:t>pages.stern.nyu.edu</a:t>
            </a:r>
            <a:r>
              <a:rPr lang="es-CO" sz="1050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O" sz="1050" dirty="0" err="1"/>
              <a:t>Hsee</a:t>
            </a:r>
            <a:r>
              <a:rPr lang="es-CO" sz="1050" dirty="0"/>
              <a:t> &amp; Weber (1997). </a:t>
            </a:r>
            <a:r>
              <a:rPr lang="es-CO" sz="1050" i="1" dirty="0" err="1"/>
              <a:t>Risk</a:t>
            </a:r>
            <a:r>
              <a:rPr lang="es-CO" sz="1050" i="1" dirty="0"/>
              <a:t> </a:t>
            </a:r>
            <a:r>
              <a:rPr lang="es-CO" sz="1050" i="1" dirty="0" err="1"/>
              <a:t>preference</a:t>
            </a:r>
            <a:r>
              <a:rPr lang="es-CO" sz="1050" i="1" dirty="0"/>
              <a:t> </a:t>
            </a:r>
            <a:r>
              <a:rPr lang="es-CO" sz="1050" i="1" dirty="0" err="1"/>
              <a:t>differences</a:t>
            </a:r>
            <a:r>
              <a:rPr lang="es-CO" sz="1050" i="1" dirty="0"/>
              <a:t> </a:t>
            </a:r>
            <a:r>
              <a:rPr lang="es-CO" sz="1050" i="1" dirty="0" err="1"/>
              <a:t>across</a:t>
            </a:r>
            <a:r>
              <a:rPr lang="es-CO" sz="1050" i="1" dirty="0"/>
              <a:t> cultures and </a:t>
            </a:r>
            <a:r>
              <a:rPr lang="es-CO" sz="1050" i="1" dirty="0" err="1"/>
              <a:t>individuals</a:t>
            </a:r>
            <a:r>
              <a:rPr lang="es-CO" sz="1050" dirty="0"/>
              <a:t>. </a:t>
            </a:r>
            <a:r>
              <a:rPr lang="es-CO" sz="1050" dirty="0" err="1"/>
              <a:t>Journal</a:t>
            </a:r>
            <a:r>
              <a:rPr lang="es-CO" sz="1050" dirty="0"/>
              <a:t> </a:t>
            </a:r>
            <a:r>
              <a:rPr lang="es-CO" sz="1050" dirty="0" err="1"/>
              <a:t>of</a:t>
            </a:r>
            <a:r>
              <a:rPr lang="es-CO" sz="1050" dirty="0"/>
              <a:t> </a:t>
            </a:r>
            <a:r>
              <a:rPr lang="es-CO" sz="1050" dirty="0" err="1"/>
              <a:t>Behavioral</a:t>
            </a:r>
            <a:r>
              <a:rPr lang="es-CO" sz="1050" dirty="0"/>
              <a:t> </a:t>
            </a:r>
            <a:r>
              <a:rPr lang="es-CO" sz="1050" dirty="0" err="1"/>
              <a:t>Decision</a:t>
            </a:r>
            <a:r>
              <a:rPr lang="es-CO" sz="1050" dirty="0"/>
              <a:t> </a:t>
            </a:r>
            <a:r>
              <a:rPr lang="es-CO" sz="1050" dirty="0" err="1"/>
              <a:t>Making</a:t>
            </a:r>
            <a:r>
              <a:rPr lang="es-CO" sz="105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O" sz="1050" dirty="0"/>
              <a:t>Gómez-Mejía et al. (2005). </a:t>
            </a:r>
            <a:r>
              <a:rPr lang="es-CO" sz="1050" i="1" dirty="0"/>
              <a:t>General </a:t>
            </a:r>
            <a:r>
              <a:rPr lang="es-CO" sz="1050" i="1" dirty="0" err="1"/>
              <a:t>Risk</a:t>
            </a:r>
            <a:r>
              <a:rPr lang="es-CO" sz="1050" i="1" dirty="0"/>
              <a:t> </a:t>
            </a:r>
            <a:r>
              <a:rPr lang="es-CO" sz="1050" i="1" dirty="0" err="1"/>
              <a:t>Propensity</a:t>
            </a:r>
            <a:r>
              <a:rPr lang="es-CO" sz="1050" i="1" dirty="0"/>
              <a:t> </a:t>
            </a:r>
            <a:r>
              <a:rPr lang="es-CO" sz="1050" i="1" dirty="0" err="1"/>
              <a:t>Scale</a:t>
            </a:r>
            <a:r>
              <a:rPr lang="es-CO" sz="1050" i="1" dirty="0"/>
              <a:t> (</a:t>
            </a:r>
            <a:r>
              <a:rPr lang="es-CO" sz="1050" i="1" dirty="0" err="1"/>
              <a:t>GRiPS</a:t>
            </a:r>
            <a:r>
              <a:rPr lang="es-CO" sz="1050" i="1" dirty="0"/>
              <a:t>)</a:t>
            </a:r>
            <a:r>
              <a:rPr lang="es-CO" sz="1050" dirty="0"/>
              <a:t>, Redalyc.</a:t>
            </a:r>
          </a:p>
        </p:txBody>
      </p:sp>
    </p:spTree>
    <p:extLst>
      <p:ext uri="{BB962C8B-B14F-4D97-AF65-F5344CB8AC3E}">
        <p14:creationId xmlns:p14="http://schemas.microsoft.com/office/powerpoint/2010/main" val="4639735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Rectángulo 110">
            <a:extLst>
              <a:ext uri="{FF2B5EF4-FFF2-40B4-BE49-F238E27FC236}">
                <a16:creationId xmlns:a16="http://schemas.microsoft.com/office/drawing/2014/main" id="{120607C5-E556-9FAC-307D-4BEBD5F22093}"/>
              </a:ext>
            </a:extLst>
          </p:cNvPr>
          <p:cNvSpPr/>
          <p:nvPr/>
        </p:nvSpPr>
        <p:spPr>
          <a:xfrm>
            <a:off x="58951" y="2514600"/>
            <a:ext cx="9008849" cy="3505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16E8645-3BE4-BDF3-D0BF-8B6AF3DBB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5" y="599694"/>
            <a:ext cx="8239125" cy="430887"/>
          </a:xfrm>
        </p:spPr>
        <p:txBody>
          <a:bodyPr/>
          <a:lstStyle/>
          <a:p>
            <a:r>
              <a:rPr lang="es-CO" dirty="0">
                <a:solidFill>
                  <a:schemeClr val="tx2"/>
                </a:solidFill>
              </a:rPr>
              <a:t>Prima de Riesgo de Pratt - Arrow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texto 2">
                <a:extLst>
                  <a:ext uri="{FF2B5EF4-FFF2-40B4-BE49-F238E27FC236}">
                    <a16:creationId xmlns:a16="http://schemas.microsoft.com/office/drawing/2014/main" id="{3602210B-662B-06C4-5B05-5F1BA207268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399871" y="1130089"/>
                <a:ext cx="8010145" cy="1107996"/>
              </a:xfrm>
            </p:spPr>
            <p:txBody>
              <a:bodyPr/>
              <a:lstStyle/>
              <a:p>
                <a:r>
                  <a:rPr lang="es-CO" dirty="0"/>
                  <a:t>En 1964, Pratt&amp; Arrow propusieron un método para modelar el valor de la aversión absoluta de riesgo (ARA). En el método, se parte de un status quo (riqueza inicial </a:t>
                </a:r>
                <a14:m>
                  <m:oMath xmlns:m="http://schemas.openxmlformats.org/officeDocument/2006/math">
                    <m:r>
                      <a:rPr lang="es-419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s-CO" dirty="0"/>
                  <a:t>empleando una lotería justa, donde </a:t>
                </a:r>
                <a14:m>
                  <m:oMath xmlns:m="http://schemas.openxmlformats.org/officeDocument/2006/math">
                    <m:r>
                      <a:rPr lang="es-419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s-419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s-419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a:rPr lang="es-419" b="0" i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419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s-419" b="0" i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s-CO" dirty="0"/>
                  <a:t>. </a:t>
                </a:r>
              </a:p>
              <a:p>
                <a:r>
                  <a:rPr lang="es-CO" dirty="0"/>
                  <a:t>Ante una prima pequeña, se deben igualar los puntos </a:t>
                </a:r>
                <a14:m>
                  <m:oMath xmlns:m="http://schemas.openxmlformats.org/officeDocument/2006/math">
                    <m:r>
                      <a:rPr lang="es-419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̃"/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s-419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s-CO" dirty="0"/>
                  <a:t> y </a:t>
                </a:r>
                <a14:m>
                  <m:oMath xmlns:m="http://schemas.openxmlformats.org/officeDocument/2006/math">
                    <m:r>
                      <a:rPr lang="es-419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</m:d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s-CO" dirty="0"/>
                  <a:t> </a:t>
                </a:r>
              </a:p>
            </p:txBody>
          </p:sp>
        </mc:Choice>
        <mc:Fallback xmlns="">
          <p:sp>
            <p:nvSpPr>
              <p:cNvPr id="3" name="Marcador de texto 2">
                <a:extLst>
                  <a:ext uri="{FF2B5EF4-FFF2-40B4-BE49-F238E27FC236}">
                    <a16:creationId xmlns:a16="http://schemas.microsoft.com/office/drawing/2014/main" id="{3602210B-662B-06C4-5B05-5F1BA20726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99871" y="1130089"/>
                <a:ext cx="8010145" cy="1107996"/>
              </a:xfrm>
              <a:blipFill>
                <a:blip r:embed="rId2"/>
                <a:stretch>
                  <a:fillRect l="-1741" t="-5618" r="-158" b="-11236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A9157FE8-C62C-2936-B44A-4D6651DD3486}"/>
              </a:ext>
            </a:extLst>
          </p:cNvPr>
          <p:cNvCxnSpPr>
            <a:cxnSpLocks/>
          </p:cNvCxnSpPr>
          <p:nvPr/>
        </p:nvCxnSpPr>
        <p:spPr>
          <a:xfrm>
            <a:off x="1330414" y="5456904"/>
            <a:ext cx="3066187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A3D92633-DE73-2F92-F9B2-713925240435}"/>
              </a:ext>
            </a:extLst>
          </p:cNvPr>
          <p:cNvCxnSpPr/>
          <p:nvPr/>
        </p:nvCxnSpPr>
        <p:spPr>
          <a:xfrm flipV="1">
            <a:off x="1330414" y="2879626"/>
            <a:ext cx="0" cy="2577278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5DE64D50-65AF-10C0-66F9-33BD51A3F5C0}"/>
              </a:ext>
            </a:extLst>
          </p:cNvPr>
          <p:cNvCxnSpPr>
            <a:cxnSpLocks/>
            <a:endCxn id="38" idx="27"/>
          </p:cNvCxnSpPr>
          <p:nvPr/>
        </p:nvCxnSpPr>
        <p:spPr>
          <a:xfrm flipV="1">
            <a:off x="1330414" y="3493568"/>
            <a:ext cx="2102620" cy="8729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98761143-0AAF-0106-6CEE-2424744C7E97}"/>
              </a:ext>
            </a:extLst>
          </p:cNvPr>
          <p:cNvCxnSpPr>
            <a:cxnSpLocks/>
            <a:endCxn id="38" idx="22"/>
          </p:cNvCxnSpPr>
          <p:nvPr/>
        </p:nvCxnSpPr>
        <p:spPr>
          <a:xfrm flipH="1" flipV="1">
            <a:off x="2858721" y="3583101"/>
            <a:ext cx="4786" cy="18738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98BA50D8-F36A-BEA0-DDFD-E5DE5E4B0475}"/>
                  </a:ext>
                </a:extLst>
              </p:cNvPr>
              <p:cNvSpPr txBox="1"/>
              <p:nvPr/>
            </p:nvSpPr>
            <p:spPr>
              <a:xfrm>
                <a:off x="1164618" y="3318481"/>
                <a:ext cx="1087999" cy="3603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419" sz="120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s-419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419" sz="1200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s-419" sz="1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419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es-CO" sz="1200" dirty="0"/>
              </a:p>
            </p:txBody>
          </p:sp>
        </mc:Choice>
        <mc:Fallback xmlns=""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98BA50D8-F36A-BEA0-DDFD-E5DE5E4B04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4618" y="3318481"/>
                <a:ext cx="1087999" cy="3603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Forma libre 37">
            <a:extLst>
              <a:ext uri="{FF2B5EF4-FFF2-40B4-BE49-F238E27FC236}">
                <a16:creationId xmlns:a16="http://schemas.microsoft.com/office/drawing/2014/main" id="{FA542456-A541-F3BC-C93F-1BE8CFB07755}"/>
              </a:ext>
            </a:extLst>
          </p:cNvPr>
          <p:cNvSpPr/>
          <p:nvPr/>
        </p:nvSpPr>
        <p:spPr>
          <a:xfrm>
            <a:off x="1378273" y="3442394"/>
            <a:ext cx="2782221" cy="920926"/>
          </a:xfrm>
          <a:custGeom>
            <a:avLst/>
            <a:gdLst>
              <a:gd name="connsiteX0" fmla="*/ 0 w 2143432"/>
              <a:gd name="connsiteY0" fmla="*/ 707932 h 707932"/>
              <a:gd name="connsiteX1" fmla="*/ 29497 w 2143432"/>
              <a:gd name="connsiteY1" fmla="*/ 639106 h 707932"/>
              <a:gd name="connsiteX2" fmla="*/ 49161 w 2143432"/>
              <a:gd name="connsiteY2" fmla="*/ 609609 h 707932"/>
              <a:gd name="connsiteX3" fmla="*/ 58994 w 2143432"/>
              <a:gd name="connsiteY3" fmla="*/ 580113 h 707932"/>
              <a:gd name="connsiteX4" fmla="*/ 88490 w 2143432"/>
              <a:gd name="connsiteY4" fmla="*/ 550616 h 707932"/>
              <a:gd name="connsiteX5" fmla="*/ 157316 w 2143432"/>
              <a:gd name="connsiteY5" fmla="*/ 471958 h 707932"/>
              <a:gd name="connsiteX6" fmla="*/ 226142 w 2143432"/>
              <a:gd name="connsiteY6" fmla="*/ 403132 h 707932"/>
              <a:gd name="connsiteX7" fmla="*/ 294968 w 2143432"/>
              <a:gd name="connsiteY7" fmla="*/ 363803 h 707932"/>
              <a:gd name="connsiteX8" fmla="*/ 324464 w 2143432"/>
              <a:gd name="connsiteY8" fmla="*/ 344138 h 707932"/>
              <a:gd name="connsiteX9" fmla="*/ 363794 w 2143432"/>
              <a:gd name="connsiteY9" fmla="*/ 334306 h 707932"/>
              <a:gd name="connsiteX10" fmla="*/ 393290 w 2143432"/>
              <a:gd name="connsiteY10" fmla="*/ 324474 h 707932"/>
              <a:gd name="connsiteX11" fmla="*/ 422787 w 2143432"/>
              <a:gd name="connsiteY11" fmla="*/ 304809 h 707932"/>
              <a:gd name="connsiteX12" fmla="*/ 481781 w 2143432"/>
              <a:gd name="connsiteY12" fmla="*/ 285145 h 707932"/>
              <a:gd name="connsiteX13" fmla="*/ 511277 w 2143432"/>
              <a:gd name="connsiteY13" fmla="*/ 275313 h 707932"/>
              <a:gd name="connsiteX14" fmla="*/ 550606 w 2143432"/>
              <a:gd name="connsiteY14" fmla="*/ 255648 h 707932"/>
              <a:gd name="connsiteX15" fmla="*/ 629264 w 2143432"/>
              <a:gd name="connsiteY15" fmla="*/ 235984 h 707932"/>
              <a:gd name="connsiteX16" fmla="*/ 688258 w 2143432"/>
              <a:gd name="connsiteY16" fmla="*/ 216319 h 707932"/>
              <a:gd name="connsiteX17" fmla="*/ 727587 w 2143432"/>
              <a:gd name="connsiteY17" fmla="*/ 206487 h 707932"/>
              <a:gd name="connsiteX18" fmla="*/ 786581 w 2143432"/>
              <a:gd name="connsiteY18" fmla="*/ 186822 h 707932"/>
              <a:gd name="connsiteX19" fmla="*/ 865239 w 2143432"/>
              <a:gd name="connsiteY19" fmla="*/ 167158 h 707932"/>
              <a:gd name="connsiteX20" fmla="*/ 924232 w 2143432"/>
              <a:gd name="connsiteY20" fmla="*/ 147493 h 707932"/>
              <a:gd name="connsiteX21" fmla="*/ 983226 w 2143432"/>
              <a:gd name="connsiteY21" fmla="*/ 137661 h 707932"/>
              <a:gd name="connsiteX22" fmla="*/ 1140542 w 2143432"/>
              <a:gd name="connsiteY22" fmla="*/ 108164 h 707932"/>
              <a:gd name="connsiteX23" fmla="*/ 1238864 w 2143432"/>
              <a:gd name="connsiteY23" fmla="*/ 98332 h 707932"/>
              <a:gd name="connsiteX24" fmla="*/ 1366684 w 2143432"/>
              <a:gd name="connsiteY24" fmla="*/ 78667 h 707932"/>
              <a:gd name="connsiteX25" fmla="*/ 1415845 w 2143432"/>
              <a:gd name="connsiteY25" fmla="*/ 68835 h 707932"/>
              <a:gd name="connsiteX26" fmla="*/ 1445342 w 2143432"/>
              <a:gd name="connsiteY26" fmla="*/ 59003 h 707932"/>
              <a:gd name="connsiteX27" fmla="*/ 1582994 w 2143432"/>
              <a:gd name="connsiteY27" fmla="*/ 39338 h 707932"/>
              <a:gd name="connsiteX28" fmla="*/ 1632155 w 2143432"/>
              <a:gd name="connsiteY28" fmla="*/ 29506 h 707932"/>
              <a:gd name="connsiteX29" fmla="*/ 1740310 w 2143432"/>
              <a:gd name="connsiteY29" fmla="*/ 19674 h 707932"/>
              <a:gd name="connsiteX30" fmla="*/ 1809135 w 2143432"/>
              <a:gd name="connsiteY30" fmla="*/ 9842 h 707932"/>
              <a:gd name="connsiteX31" fmla="*/ 2143432 w 2143432"/>
              <a:gd name="connsiteY31" fmla="*/ 9 h 707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2143432" h="707932">
                <a:moveTo>
                  <a:pt x="0" y="707932"/>
                </a:moveTo>
                <a:cubicBezTo>
                  <a:pt x="9832" y="684990"/>
                  <a:pt x="18335" y="661431"/>
                  <a:pt x="29497" y="639106"/>
                </a:cubicBezTo>
                <a:cubicBezTo>
                  <a:pt x="34782" y="628537"/>
                  <a:pt x="43876" y="620178"/>
                  <a:pt x="49161" y="609609"/>
                </a:cubicBezTo>
                <a:cubicBezTo>
                  <a:pt x="53796" y="600339"/>
                  <a:pt x="53245" y="588736"/>
                  <a:pt x="58994" y="580113"/>
                </a:cubicBezTo>
                <a:cubicBezTo>
                  <a:pt x="66707" y="568544"/>
                  <a:pt x="79953" y="561592"/>
                  <a:pt x="88490" y="550616"/>
                </a:cubicBezTo>
                <a:cubicBezTo>
                  <a:pt x="150255" y="471203"/>
                  <a:pt x="100214" y="510025"/>
                  <a:pt x="157316" y="471958"/>
                </a:cubicBezTo>
                <a:cubicBezTo>
                  <a:pt x="174622" y="420040"/>
                  <a:pt x="158524" y="448210"/>
                  <a:pt x="226142" y="403132"/>
                </a:cubicBezTo>
                <a:cubicBezTo>
                  <a:pt x="298022" y="355212"/>
                  <a:pt x="207627" y="413713"/>
                  <a:pt x="294968" y="363803"/>
                </a:cubicBezTo>
                <a:cubicBezTo>
                  <a:pt x="305228" y="357940"/>
                  <a:pt x="313603" y="348793"/>
                  <a:pt x="324464" y="344138"/>
                </a:cubicBezTo>
                <a:cubicBezTo>
                  <a:pt x="336885" y="338815"/>
                  <a:pt x="350800" y="338018"/>
                  <a:pt x="363794" y="334306"/>
                </a:cubicBezTo>
                <a:cubicBezTo>
                  <a:pt x="373759" y="331459"/>
                  <a:pt x="383458" y="327751"/>
                  <a:pt x="393290" y="324474"/>
                </a:cubicBezTo>
                <a:cubicBezTo>
                  <a:pt x="403122" y="317919"/>
                  <a:pt x="411988" y="309608"/>
                  <a:pt x="422787" y="304809"/>
                </a:cubicBezTo>
                <a:cubicBezTo>
                  <a:pt x="441729" y="296390"/>
                  <a:pt x="462116" y="291700"/>
                  <a:pt x="481781" y="285145"/>
                </a:cubicBezTo>
                <a:cubicBezTo>
                  <a:pt x="491613" y="281868"/>
                  <a:pt x="502007" y="279948"/>
                  <a:pt x="511277" y="275313"/>
                </a:cubicBezTo>
                <a:cubicBezTo>
                  <a:pt x="524387" y="268758"/>
                  <a:pt x="536701" y="260283"/>
                  <a:pt x="550606" y="255648"/>
                </a:cubicBezTo>
                <a:cubicBezTo>
                  <a:pt x="576245" y="247102"/>
                  <a:pt x="603625" y="244531"/>
                  <a:pt x="629264" y="235984"/>
                </a:cubicBezTo>
                <a:cubicBezTo>
                  <a:pt x="648929" y="229429"/>
                  <a:pt x="668148" y="221346"/>
                  <a:pt x="688258" y="216319"/>
                </a:cubicBezTo>
                <a:cubicBezTo>
                  <a:pt x="701368" y="213042"/>
                  <a:pt x="714644" y="210370"/>
                  <a:pt x="727587" y="206487"/>
                </a:cubicBezTo>
                <a:cubicBezTo>
                  <a:pt x="747441" y="200531"/>
                  <a:pt x="766471" y="191849"/>
                  <a:pt x="786581" y="186822"/>
                </a:cubicBezTo>
                <a:cubicBezTo>
                  <a:pt x="812800" y="180267"/>
                  <a:pt x="839600" y="175705"/>
                  <a:pt x="865239" y="167158"/>
                </a:cubicBezTo>
                <a:cubicBezTo>
                  <a:pt x="884903" y="160603"/>
                  <a:pt x="903786" y="150901"/>
                  <a:pt x="924232" y="147493"/>
                </a:cubicBezTo>
                <a:cubicBezTo>
                  <a:pt x="943897" y="144216"/>
                  <a:pt x="963677" y="141571"/>
                  <a:pt x="983226" y="137661"/>
                </a:cubicBezTo>
                <a:cubicBezTo>
                  <a:pt x="1070568" y="120193"/>
                  <a:pt x="981690" y="124049"/>
                  <a:pt x="1140542" y="108164"/>
                </a:cubicBezTo>
                <a:lnTo>
                  <a:pt x="1238864" y="98332"/>
                </a:lnTo>
                <a:cubicBezTo>
                  <a:pt x="1320737" y="77865"/>
                  <a:pt x="1234564" y="97542"/>
                  <a:pt x="1366684" y="78667"/>
                </a:cubicBezTo>
                <a:cubicBezTo>
                  <a:pt x="1383228" y="76304"/>
                  <a:pt x="1399632" y="72888"/>
                  <a:pt x="1415845" y="68835"/>
                </a:cubicBezTo>
                <a:cubicBezTo>
                  <a:pt x="1425900" y="66321"/>
                  <a:pt x="1435136" y="60804"/>
                  <a:pt x="1445342" y="59003"/>
                </a:cubicBezTo>
                <a:cubicBezTo>
                  <a:pt x="1490987" y="50948"/>
                  <a:pt x="1537544" y="48428"/>
                  <a:pt x="1582994" y="39338"/>
                </a:cubicBezTo>
                <a:cubicBezTo>
                  <a:pt x="1599381" y="36061"/>
                  <a:pt x="1615573" y="31579"/>
                  <a:pt x="1632155" y="29506"/>
                </a:cubicBezTo>
                <a:cubicBezTo>
                  <a:pt x="1668076" y="25016"/>
                  <a:pt x="1704331" y="23672"/>
                  <a:pt x="1740310" y="19674"/>
                </a:cubicBezTo>
                <a:cubicBezTo>
                  <a:pt x="1763343" y="17115"/>
                  <a:pt x="1785998" y="11164"/>
                  <a:pt x="1809135" y="9842"/>
                </a:cubicBezTo>
                <a:cubicBezTo>
                  <a:pt x="1993491" y="-693"/>
                  <a:pt x="2016297" y="9"/>
                  <a:pt x="2143432" y="9"/>
                </a:cubicBezTo>
              </a:path>
            </a:pathLst>
          </a:cu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9E143B25-8BFE-3F22-9A2A-0E6C7D94874C}"/>
              </a:ext>
            </a:extLst>
          </p:cNvPr>
          <p:cNvCxnSpPr>
            <a:cxnSpLocks/>
          </p:cNvCxnSpPr>
          <p:nvPr/>
        </p:nvCxnSpPr>
        <p:spPr>
          <a:xfrm flipV="1">
            <a:off x="1840913" y="3864492"/>
            <a:ext cx="0" cy="15924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Elipse 43">
            <a:extLst>
              <a:ext uri="{FF2B5EF4-FFF2-40B4-BE49-F238E27FC236}">
                <a16:creationId xmlns:a16="http://schemas.microsoft.com/office/drawing/2014/main" id="{A11AAECE-410B-3409-AECD-E4AE72B49965}"/>
              </a:ext>
            </a:extLst>
          </p:cNvPr>
          <p:cNvSpPr/>
          <p:nvPr/>
        </p:nvSpPr>
        <p:spPr>
          <a:xfrm>
            <a:off x="1840913" y="3811413"/>
            <a:ext cx="59344" cy="5947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CuadroTexto 46">
                <a:extLst>
                  <a:ext uri="{FF2B5EF4-FFF2-40B4-BE49-F238E27FC236}">
                    <a16:creationId xmlns:a16="http://schemas.microsoft.com/office/drawing/2014/main" id="{4022FD79-F340-FF8E-0524-FD7D7894247E}"/>
                  </a:ext>
                </a:extLst>
              </p:cNvPr>
              <p:cNvSpPr txBox="1"/>
              <p:nvPr/>
            </p:nvSpPr>
            <p:spPr>
              <a:xfrm>
                <a:off x="2367367" y="5466497"/>
                <a:ext cx="982708" cy="3603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419" sz="1200" i="1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s-419" sz="1200" i="1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̃"/>
                          <m:ctrlPr>
                            <a:rPr lang="es-419" sz="12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419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es-CO" sz="1200" dirty="0"/>
              </a:p>
            </p:txBody>
          </p:sp>
        </mc:Choice>
        <mc:Fallback xmlns="">
          <p:sp>
            <p:nvSpPr>
              <p:cNvPr id="47" name="CuadroTexto 46">
                <a:extLst>
                  <a:ext uri="{FF2B5EF4-FFF2-40B4-BE49-F238E27FC236}">
                    <a16:creationId xmlns:a16="http://schemas.microsoft.com/office/drawing/2014/main" id="{4022FD79-F340-FF8E-0524-FD7D789424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7367" y="5466497"/>
                <a:ext cx="982708" cy="3603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CuadroTexto 49">
                <a:extLst>
                  <a:ext uri="{FF2B5EF4-FFF2-40B4-BE49-F238E27FC236}">
                    <a16:creationId xmlns:a16="http://schemas.microsoft.com/office/drawing/2014/main" id="{A265ACF9-F7BD-6011-9569-5BE61068EE5A}"/>
                  </a:ext>
                </a:extLst>
              </p:cNvPr>
              <p:cNvSpPr txBox="1"/>
              <p:nvPr/>
            </p:nvSpPr>
            <p:spPr>
              <a:xfrm>
                <a:off x="1324342" y="5487141"/>
                <a:ext cx="1113505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419" sz="105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sz="105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419" sz="105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s-419" sz="105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419" sz="1050" b="0" i="1" smtClean="0">
                          <a:latin typeface="Cambria Math" panose="02040503050406030204" pitchFamily="18" charset="0"/>
                        </a:rPr>
                        <m:t>𝐸𝑀𝐶</m:t>
                      </m:r>
                    </m:oMath>
                  </m:oMathPara>
                </a14:m>
                <a:endParaRPr lang="es-419" sz="105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0" name="CuadroTexto 49">
                <a:extLst>
                  <a:ext uri="{FF2B5EF4-FFF2-40B4-BE49-F238E27FC236}">
                    <a16:creationId xmlns:a16="http://schemas.microsoft.com/office/drawing/2014/main" id="{A265ACF9-F7BD-6011-9569-5BE61068EE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4342" y="5487141"/>
                <a:ext cx="1113505" cy="25391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CuadroTexto 51">
                <a:extLst>
                  <a:ext uri="{FF2B5EF4-FFF2-40B4-BE49-F238E27FC236}">
                    <a16:creationId xmlns:a16="http://schemas.microsoft.com/office/drawing/2014/main" id="{51BC530A-DE0E-7EF2-7F7D-3B3C59429C0E}"/>
                  </a:ext>
                </a:extLst>
              </p:cNvPr>
              <p:cNvSpPr txBox="1"/>
              <p:nvPr/>
            </p:nvSpPr>
            <p:spPr>
              <a:xfrm>
                <a:off x="2104621" y="4339833"/>
                <a:ext cx="445088" cy="36033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l-G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π</m:t>
                      </m:r>
                    </m:oMath>
                  </m:oMathPara>
                </a14:m>
                <a:endParaRPr lang="es-CO" sz="1200" dirty="0"/>
              </a:p>
            </p:txBody>
          </p:sp>
        </mc:Choice>
        <mc:Fallback xmlns="">
          <p:sp>
            <p:nvSpPr>
              <p:cNvPr id="52" name="CuadroTexto 51">
                <a:extLst>
                  <a:ext uri="{FF2B5EF4-FFF2-40B4-BE49-F238E27FC236}">
                    <a16:creationId xmlns:a16="http://schemas.microsoft.com/office/drawing/2014/main" id="{51BC530A-DE0E-7EF2-7F7D-3B3C59429C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4621" y="4339833"/>
                <a:ext cx="445088" cy="36033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Conector recto 55">
            <a:extLst>
              <a:ext uri="{FF2B5EF4-FFF2-40B4-BE49-F238E27FC236}">
                <a16:creationId xmlns:a16="http://schemas.microsoft.com/office/drawing/2014/main" id="{8FD63E34-B911-6487-643A-ACC19E2B519C}"/>
              </a:ext>
            </a:extLst>
          </p:cNvPr>
          <p:cNvCxnSpPr>
            <a:cxnSpLocks/>
          </p:cNvCxnSpPr>
          <p:nvPr/>
        </p:nvCxnSpPr>
        <p:spPr>
          <a:xfrm flipH="1">
            <a:off x="1355938" y="3439196"/>
            <a:ext cx="1378777" cy="632213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69" name="Forma libre 68">
            <a:extLst>
              <a:ext uri="{FF2B5EF4-FFF2-40B4-BE49-F238E27FC236}">
                <a16:creationId xmlns:a16="http://schemas.microsoft.com/office/drawing/2014/main" id="{0AF179B6-0FA7-B80B-17A5-AC7CB31E2FA6}"/>
              </a:ext>
            </a:extLst>
          </p:cNvPr>
          <p:cNvSpPr/>
          <p:nvPr/>
        </p:nvSpPr>
        <p:spPr>
          <a:xfrm>
            <a:off x="1546480" y="3735326"/>
            <a:ext cx="932700" cy="463517"/>
          </a:xfrm>
          <a:custGeom>
            <a:avLst/>
            <a:gdLst>
              <a:gd name="connsiteX0" fmla="*/ 0 w 2143432"/>
              <a:gd name="connsiteY0" fmla="*/ 707932 h 707932"/>
              <a:gd name="connsiteX1" fmla="*/ 29497 w 2143432"/>
              <a:gd name="connsiteY1" fmla="*/ 639106 h 707932"/>
              <a:gd name="connsiteX2" fmla="*/ 49161 w 2143432"/>
              <a:gd name="connsiteY2" fmla="*/ 609609 h 707932"/>
              <a:gd name="connsiteX3" fmla="*/ 58994 w 2143432"/>
              <a:gd name="connsiteY3" fmla="*/ 580113 h 707932"/>
              <a:gd name="connsiteX4" fmla="*/ 88490 w 2143432"/>
              <a:gd name="connsiteY4" fmla="*/ 550616 h 707932"/>
              <a:gd name="connsiteX5" fmla="*/ 157316 w 2143432"/>
              <a:gd name="connsiteY5" fmla="*/ 471958 h 707932"/>
              <a:gd name="connsiteX6" fmla="*/ 226142 w 2143432"/>
              <a:gd name="connsiteY6" fmla="*/ 403132 h 707932"/>
              <a:gd name="connsiteX7" fmla="*/ 294968 w 2143432"/>
              <a:gd name="connsiteY7" fmla="*/ 363803 h 707932"/>
              <a:gd name="connsiteX8" fmla="*/ 324464 w 2143432"/>
              <a:gd name="connsiteY8" fmla="*/ 344138 h 707932"/>
              <a:gd name="connsiteX9" fmla="*/ 363794 w 2143432"/>
              <a:gd name="connsiteY9" fmla="*/ 334306 h 707932"/>
              <a:gd name="connsiteX10" fmla="*/ 393290 w 2143432"/>
              <a:gd name="connsiteY10" fmla="*/ 324474 h 707932"/>
              <a:gd name="connsiteX11" fmla="*/ 422787 w 2143432"/>
              <a:gd name="connsiteY11" fmla="*/ 304809 h 707932"/>
              <a:gd name="connsiteX12" fmla="*/ 481781 w 2143432"/>
              <a:gd name="connsiteY12" fmla="*/ 285145 h 707932"/>
              <a:gd name="connsiteX13" fmla="*/ 511277 w 2143432"/>
              <a:gd name="connsiteY13" fmla="*/ 275313 h 707932"/>
              <a:gd name="connsiteX14" fmla="*/ 550606 w 2143432"/>
              <a:gd name="connsiteY14" fmla="*/ 255648 h 707932"/>
              <a:gd name="connsiteX15" fmla="*/ 629264 w 2143432"/>
              <a:gd name="connsiteY15" fmla="*/ 235984 h 707932"/>
              <a:gd name="connsiteX16" fmla="*/ 688258 w 2143432"/>
              <a:gd name="connsiteY16" fmla="*/ 216319 h 707932"/>
              <a:gd name="connsiteX17" fmla="*/ 727587 w 2143432"/>
              <a:gd name="connsiteY17" fmla="*/ 206487 h 707932"/>
              <a:gd name="connsiteX18" fmla="*/ 786581 w 2143432"/>
              <a:gd name="connsiteY18" fmla="*/ 186822 h 707932"/>
              <a:gd name="connsiteX19" fmla="*/ 865239 w 2143432"/>
              <a:gd name="connsiteY19" fmla="*/ 167158 h 707932"/>
              <a:gd name="connsiteX20" fmla="*/ 924232 w 2143432"/>
              <a:gd name="connsiteY20" fmla="*/ 147493 h 707932"/>
              <a:gd name="connsiteX21" fmla="*/ 983226 w 2143432"/>
              <a:gd name="connsiteY21" fmla="*/ 137661 h 707932"/>
              <a:gd name="connsiteX22" fmla="*/ 1140542 w 2143432"/>
              <a:gd name="connsiteY22" fmla="*/ 108164 h 707932"/>
              <a:gd name="connsiteX23" fmla="*/ 1238864 w 2143432"/>
              <a:gd name="connsiteY23" fmla="*/ 98332 h 707932"/>
              <a:gd name="connsiteX24" fmla="*/ 1366684 w 2143432"/>
              <a:gd name="connsiteY24" fmla="*/ 78667 h 707932"/>
              <a:gd name="connsiteX25" fmla="*/ 1415845 w 2143432"/>
              <a:gd name="connsiteY25" fmla="*/ 68835 h 707932"/>
              <a:gd name="connsiteX26" fmla="*/ 1445342 w 2143432"/>
              <a:gd name="connsiteY26" fmla="*/ 59003 h 707932"/>
              <a:gd name="connsiteX27" fmla="*/ 1582994 w 2143432"/>
              <a:gd name="connsiteY27" fmla="*/ 39338 h 707932"/>
              <a:gd name="connsiteX28" fmla="*/ 1632155 w 2143432"/>
              <a:gd name="connsiteY28" fmla="*/ 29506 h 707932"/>
              <a:gd name="connsiteX29" fmla="*/ 1740310 w 2143432"/>
              <a:gd name="connsiteY29" fmla="*/ 19674 h 707932"/>
              <a:gd name="connsiteX30" fmla="*/ 1809135 w 2143432"/>
              <a:gd name="connsiteY30" fmla="*/ 9842 h 707932"/>
              <a:gd name="connsiteX31" fmla="*/ 2143432 w 2143432"/>
              <a:gd name="connsiteY31" fmla="*/ 9 h 707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2143432" h="707932">
                <a:moveTo>
                  <a:pt x="0" y="707932"/>
                </a:moveTo>
                <a:cubicBezTo>
                  <a:pt x="9832" y="684990"/>
                  <a:pt x="18335" y="661431"/>
                  <a:pt x="29497" y="639106"/>
                </a:cubicBezTo>
                <a:cubicBezTo>
                  <a:pt x="34782" y="628537"/>
                  <a:pt x="43876" y="620178"/>
                  <a:pt x="49161" y="609609"/>
                </a:cubicBezTo>
                <a:cubicBezTo>
                  <a:pt x="53796" y="600339"/>
                  <a:pt x="53245" y="588736"/>
                  <a:pt x="58994" y="580113"/>
                </a:cubicBezTo>
                <a:cubicBezTo>
                  <a:pt x="66707" y="568544"/>
                  <a:pt x="79953" y="561592"/>
                  <a:pt x="88490" y="550616"/>
                </a:cubicBezTo>
                <a:cubicBezTo>
                  <a:pt x="150255" y="471203"/>
                  <a:pt x="100214" y="510025"/>
                  <a:pt x="157316" y="471958"/>
                </a:cubicBezTo>
                <a:cubicBezTo>
                  <a:pt x="174622" y="420040"/>
                  <a:pt x="158524" y="448210"/>
                  <a:pt x="226142" y="403132"/>
                </a:cubicBezTo>
                <a:cubicBezTo>
                  <a:pt x="298022" y="355212"/>
                  <a:pt x="207627" y="413713"/>
                  <a:pt x="294968" y="363803"/>
                </a:cubicBezTo>
                <a:cubicBezTo>
                  <a:pt x="305228" y="357940"/>
                  <a:pt x="313603" y="348793"/>
                  <a:pt x="324464" y="344138"/>
                </a:cubicBezTo>
                <a:cubicBezTo>
                  <a:pt x="336885" y="338815"/>
                  <a:pt x="350800" y="338018"/>
                  <a:pt x="363794" y="334306"/>
                </a:cubicBezTo>
                <a:cubicBezTo>
                  <a:pt x="373759" y="331459"/>
                  <a:pt x="383458" y="327751"/>
                  <a:pt x="393290" y="324474"/>
                </a:cubicBezTo>
                <a:cubicBezTo>
                  <a:pt x="403122" y="317919"/>
                  <a:pt x="411988" y="309608"/>
                  <a:pt x="422787" y="304809"/>
                </a:cubicBezTo>
                <a:cubicBezTo>
                  <a:pt x="441729" y="296390"/>
                  <a:pt x="462116" y="291700"/>
                  <a:pt x="481781" y="285145"/>
                </a:cubicBezTo>
                <a:cubicBezTo>
                  <a:pt x="491613" y="281868"/>
                  <a:pt x="502007" y="279948"/>
                  <a:pt x="511277" y="275313"/>
                </a:cubicBezTo>
                <a:cubicBezTo>
                  <a:pt x="524387" y="268758"/>
                  <a:pt x="536701" y="260283"/>
                  <a:pt x="550606" y="255648"/>
                </a:cubicBezTo>
                <a:cubicBezTo>
                  <a:pt x="576245" y="247102"/>
                  <a:pt x="603625" y="244531"/>
                  <a:pt x="629264" y="235984"/>
                </a:cubicBezTo>
                <a:cubicBezTo>
                  <a:pt x="648929" y="229429"/>
                  <a:pt x="668148" y="221346"/>
                  <a:pt x="688258" y="216319"/>
                </a:cubicBezTo>
                <a:cubicBezTo>
                  <a:pt x="701368" y="213042"/>
                  <a:pt x="714644" y="210370"/>
                  <a:pt x="727587" y="206487"/>
                </a:cubicBezTo>
                <a:cubicBezTo>
                  <a:pt x="747441" y="200531"/>
                  <a:pt x="766471" y="191849"/>
                  <a:pt x="786581" y="186822"/>
                </a:cubicBezTo>
                <a:cubicBezTo>
                  <a:pt x="812800" y="180267"/>
                  <a:pt x="839600" y="175705"/>
                  <a:pt x="865239" y="167158"/>
                </a:cubicBezTo>
                <a:cubicBezTo>
                  <a:pt x="884903" y="160603"/>
                  <a:pt x="903786" y="150901"/>
                  <a:pt x="924232" y="147493"/>
                </a:cubicBezTo>
                <a:cubicBezTo>
                  <a:pt x="943897" y="144216"/>
                  <a:pt x="963677" y="141571"/>
                  <a:pt x="983226" y="137661"/>
                </a:cubicBezTo>
                <a:cubicBezTo>
                  <a:pt x="1070568" y="120193"/>
                  <a:pt x="981690" y="124049"/>
                  <a:pt x="1140542" y="108164"/>
                </a:cubicBezTo>
                <a:lnTo>
                  <a:pt x="1238864" y="98332"/>
                </a:lnTo>
                <a:cubicBezTo>
                  <a:pt x="1320737" y="77865"/>
                  <a:pt x="1234564" y="97542"/>
                  <a:pt x="1366684" y="78667"/>
                </a:cubicBezTo>
                <a:cubicBezTo>
                  <a:pt x="1383228" y="76304"/>
                  <a:pt x="1399632" y="72888"/>
                  <a:pt x="1415845" y="68835"/>
                </a:cubicBezTo>
                <a:cubicBezTo>
                  <a:pt x="1425900" y="66321"/>
                  <a:pt x="1435136" y="60804"/>
                  <a:pt x="1445342" y="59003"/>
                </a:cubicBezTo>
                <a:cubicBezTo>
                  <a:pt x="1490987" y="50948"/>
                  <a:pt x="1537544" y="48428"/>
                  <a:pt x="1582994" y="39338"/>
                </a:cubicBezTo>
                <a:cubicBezTo>
                  <a:pt x="1599381" y="36061"/>
                  <a:pt x="1615573" y="31579"/>
                  <a:pt x="1632155" y="29506"/>
                </a:cubicBezTo>
                <a:cubicBezTo>
                  <a:pt x="1668076" y="25016"/>
                  <a:pt x="1704331" y="23672"/>
                  <a:pt x="1740310" y="19674"/>
                </a:cubicBezTo>
                <a:cubicBezTo>
                  <a:pt x="1763343" y="17115"/>
                  <a:pt x="1785998" y="11164"/>
                  <a:pt x="1809135" y="9842"/>
                </a:cubicBezTo>
                <a:cubicBezTo>
                  <a:pt x="1993491" y="-693"/>
                  <a:pt x="2016297" y="9"/>
                  <a:pt x="2143432" y="9"/>
                </a:cubicBezTo>
              </a:path>
            </a:pathLst>
          </a:cu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76" name="Grupo 75">
            <a:extLst>
              <a:ext uri="{FF2B5EF4-FFF2-40B4-BE49-F238E27FC236}">
                <a16:creationId xmlns:a16="http://schemas.microsoft.com/office/drawing/2014/main" id="{CB329AF1-94BF-47D5-7124-9A4EB18D949B}"/>
              </a:ext>
            </a:extLst>
          </p:cNvPr>
          <p:cNvGrpSpPr/>
          <p:nvPr/>
        </p:nvGrpSpPr>
        <p:grpSpPr>
          <a:xfrm>
            <a:off x="4753783" y="3572373"/>
            <a:ext cx="4093517" cy="1191783"/>
            <a:chOff x="4343400" y="2513588"/>
            <a:chExt cx="4038600" cy="1191783"/>
          </a:xfrm>
        </p:grpSpPr>
        <p:sp>
          <p:nvSpPr>
            <p:cNvPr id="75" name="Rectángulo 74">
              <a:extLst>
                <a:ext uri="{FF2B5EF4-FFF2-40B4-BE49-F238E27FC236}">
                  <a16:creationId xmlns:a16="http://schemas.microsoft.com/office/drawing/2014/main" id="{CA356DED-89DB-5A24-D03D-B1B973E26B28}"/>
                </a:ext>
              </a:extLst>
            </p:cNvPr>
            <p:cNvSpPr/>
            <p:nvPr/>
          </p:nvSpPr>
          <p:spPr>
            <a:xfrm>
              <a:off x="4343400" y="2513588"/>
              <a:ext cx="4038600" cy="119178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  <p:cxnSp>
          <p:nvCxnSpPr>
            <p:cNvPr id="59" name="Conector recto 58">
              <a:extLst>
                <a:ext uri="{FF2B5EF4-FFF2-40B4-BE49-F238E27FC236}">
                  <a16:creationId xmlns:a16="http://schemas.microsoft.com/office/drawing/2014/main" id="{6C649F6C-110E-D1AC-782F-71ED58F6F2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48200" y="2697816"/>
              <a:ext cx="304800" cy="0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sp>
          <p:nvSpPr>
            <p:cNvPr id="62" name="CuadroTexto 61">
              <a:extLst>
                <a:ext uri="{FF2B5EF4-FFF2-40B4-BE49-F238E27FC236}">
                  <a16:creationId xmlns:a16="http://schemas.microsoft.com/office/drawing/2014/main" id="{2CD47C58-8A21-6796-9521-29B46DEC8C1E}"/>
                </a:ext>
              </a:extLst>
            </p:cNvPr>
            <p:cNvSpPr txBox="1"/>
            <p:nvPr/>
          </p:nvSpPr>
          <p:spPr>
            <a:xfrm>
              <a:off x="5062585" y="2513588"/>
              <a:ext cx="27671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dirty="0"/>
                <a:t>Expansión lineal tangencial </a:t>
              </a:r>
            </a:p>
          </p:txBody>
        </p:sp>
        <p:sp>
          <p:nvSpPr>
            <p:cNvPr id="70" name="Forma libre 69">
              <a:extLst>
                <a:ext uri="{FF2B5EF4-FFF2-40B4-BE49-F238E27FC236}">
                  <a16:creationId xmlns:a16="http://schemas.microsoft.com/office/drawing/2014/main" id="{F4AA1586-D45A-2395-5D82-5090C40726F1}"/>
                </a:ext>
              </a:extLst>
            </p:cNvPr>
            <p:cNvSpPr/>
            <p:nvPr/>
          </p:nvSpPr>
          <p:spPr>
            <a:xfrm>
              <a:off x="4589720" y="3422053"/>
              <a:ext cx="422358" cy="164811"/>
            </a:xfrm>
            <a:custGeom>
              <a:avLst/>
              <a:gdLst>
                <a:gd name="connsiteX0" fmla="*/ 0 w 2143432"/>
                <a:gd name="connsiteY0" fmla="*/ 707932 h 707932"/>
                <a:gd name="connsiteX1" fmla="*/ 29497 w 2143432"/>
                <a:gd name="connsiteY1" fmla="*/ 639106 h 707932"/>
                <a:gd name="connsiteX2" fmla="*/ 49161 w 2143432"/>
                <a:gd name="connsiteY2" fmla="*/ 609609 h 707932"/>
                <a:gd name="connsiteX3" fmla="*/ 58994 w 2143432"/>
                <a:gd name="connsiteY3" fmla="*/ 580113 h 707932"/>
                <a:gd name="connsiteX4" fmla="*/ 88490 w 2143432"/>
                <a:gd name="connsiteY4" fmla="*/ 550616 h 707932"/>
                <a:gd name="connsiteX5" fmla="*/ 157316 w 2143432"/>
                <a:gd name="connsiteY5" fmla="*/ 471958 h 707932"/>
                <a:gd name="connsiteX6" fmla="*/ 226142 w 2143432"/>
                <a:gd name="connsiteY6" fmla="*/ 403132 h 707932"/>
                <a:gd name="connsiteX7" fmla="*/ 294968 w 2143432"/>
                <a:gd name="connsiteY7" fmla="*/ 363803 h 707932"/>
                <a:gd name="connsiteX8" fmla="*/ 324464 w 2143432"/>
                <a:gd name="connsiteY8" fmla="*/ 344138 h 707932"/>
                <a:gd name="connsiteX9" fmla="*/ 363794 w 2143432"/>
                <a:gd name="connsiteY9" fmla="*/ 334306 h 707932"/>
                <a:gd name="connsiteX10" fmla="*/ 393290 w 2143432"/>
                <a:gd name="connsiteY10" fmla="*/ 324474 h 707932"/>
                <a:gd name="connsiteX11" fmla="*/ 422787 w 2143432"/>
                <a:gd name="connsiteY11" fmla="*/ 304809 h 707932"/>
                <a:gd name="connsiteX12" fmla="*/ 481781 w 2143432"/>
                <a:gd name="connsiteY12" fmla="*/ 285145 h 707932"/>
                <a:gd name="connsiteX13" fmla="*/ 511277 w 2143432"/>
                <a:gd name="connsiteY13" fmla="*/ 275313 h 707932"/>
                <a:gd name="connsiteX14" fmla="*/ 550606 w 2143432"/>
                <a:gd name="connsiteY14" fmla="*/ 255648 h 707932"/>
                <a:gd name="connsiteX15" fmla="*/ 629264 w 2143432"/>
                <a:gd name="connsiteY15" fmla="*/ 235984 h 707932"/>
                <a:gd name="connsiteX16" fmla="*/ 688258 w 2143432"/>
                <a:gd name="connsiteY16" fmla="*/ 216319 h 707932"/>
                <a:gd name="connsiteX17" fmla="*/ 727587 w 2143432"/>
                <a:gd name="connsiteY17" fmla="*/ 206487 h 707932"/>
                <a:gd name="connsiteX18" fmla="*/ 786581 w 2143432"/>
                <a:gd name="connsiteY18" fmla="*/ 186822 h 707932"/>
                <a:gd name="connsiteX19" fmla="*/ 865239 w 2143432"/>
                <a:gd name="connsiteY19" fmla="*/ 167158 h 707932"/>
                <a:gd name="connsiteX20" fmla="*/ 924232 w 2143432"/>
                <a:gd name="connsiteY20" fmla="*/ 147493 h 707932"/>
                <a:gd name="connsiteX21" fmla="*/ 983226 w 2143432"/>
                <a:gd name="connsiteY21" fmla="*/ 137661 h 707932"/>
                <a:gd name="connsiteX22" fmla="*/ 1140542 w 2143432"/>
                <a:gd name="connsiteY22" fmla="*/ 108164 h 707932"/>
                <a:gd name="connsiteX23" fmla="*/ 1238864 w 2143432"/>
                <a:gd name="connsiteY23" fmla="*/ 98332 h 707932"/>
                <a:gd name="connsiteX24" fmla="*/ 1366684 w 2143432"/>
                <a:gd name="connsiteY24" fmla="*/ 78667 h 707932"/>
                <a:gd name="connsiteX25" fmla="*/ 1415845 w 2143432"/>
                <a:gd name="connsiteY25" fmla="*/ 68835 h 707932"/>
                <a:gd name="connsiteX26" fmla="*/ 1445342 w 2143432"/>
                <a:gd name="connsiteY26" fmla="*/ 59003 h 707932"/>
                <a:gd name="connsiteX27" fmla="*/ 1582994 w 2143432"/>
                <a:gd name="connsiteY27" fmla="*/ 39338 h 707932"/>
                <a:gd name="connsiteX28" fmla="*/ 1632155 w 2143432"/>
                <a:gd name="connsiteY28" fmla="*/ 29506 h 707932"/>
                <a:gd name="connsiteX29" fmla="*/ 1740310 w 2143432"/>
                <a:gd name="connsiteY29" fmla="*/ 19674 h 707932"/>
                <a:gd name="connsiteX30" fmla="*/ 1809135 w 2143432"/>
                <a:gd name="connsiteY30" fmla="*/ 9842 h 707932"/>
                <a:gd name="connsiteX31" fmla="*/ 2143432 w 2143432"/>
                <a:gd name="connsiteY31" fmla="*/ 9 h 707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143432" h="707932">
                  <a:moveTo>
                    <a:pt x="0" y="707932"/>
                  </a:moveTo>
                  <a:cubicBezTo>
                    <a:pt x="9832" y="684990"/>
                    <a:pt x="18335" y="661431"/>
                    <a:pt x="29497" y="639106"/>
                  </a:cubicBezTo>
                  <a:cubicBezTo>
                    <a:pt x="34782" y="628537"/>
                    <a:pt x="43876" y="620178"/>
                    <a:pt x="49161" y="609609"/>
                  </a:cubicBezTo>
                  <a:cubicBezTo>
                    <a:pt x="53796" y="600339"/>
                    <a:pt x="53245" y="588736"/>
                    <a:pt x="58994" y="580113"/>
                  </a:cubicBezTo>
                  <a:cubicBezTo>
                    <a:pt x="66707" y="568544"/>
                    <a:pt x="79953" y="561592"/>
                    <a:pt x="88490" y="550616"/>
                  </a:cubicBezTo>
                  <a:cubicBezTo>
                    <a:pt x="150255" y="471203"/>
                    <a:pt x="100214" y="510025"/>
                    <a:pt x="157316" y="471958"/>
                  </a:cubicBezTo>
                  <a:cubicBezTo>
                    <a:pt x="174622" y="420040"/>
                    <a:pt x="158524" y="448210"/>
                    <a:pt x="226142" y="403132"/>
                  </a:cubicBezTo>
                  <a:cubicBezTo>
                    <a:pt x="298022" y="355212"/>
                    <a:pt x="207627" y="413713"/>
                    <a:pt x="294968" y="363803"/>
                  </a:cubicBezTo>
                  <a:cubicBezTo>
                    <a:pt x="305228" y="357940"/>
                    <a:pt x="313603" y="348793"/>
                    <a:pt x="324464" y="344138"/>
                  </a:cubicBezTo>
                  <a:cubicBezTo>
                    <a:pt x="336885" y="338815"/>
                    <a:pt x="350800" y="338018"/>
                    <a:pt x="363794" y="334306"/>
                  </a:cubicBezTo>
                  <a:cubicBezTo>
                    <a:pt x="373759" y="331459"/>
                    <a:pt x="383458" y="327751"/>
                    <a:pt x="393290" y="324474"/>
                  </a:cubicBezTo>
                  <a:cubicBezTo>
                    <a:pt x="403122" y="317919"/>
                    <a:pt x="411988" y="309608"/>
                    <a:pt x="422787" y="304809"/>
                  </a:cubicBezTo>
                  <a:cubicBezTo>
                    <a:pt x="441729" y="296390"/>
                    <a:pt x="462116" y="291700"/>
                    <a:pt x="481781" y="285145"/>
                  </a:cubicBezTo>
                  <a:cubicBezTo>
                    <a:pt x="491613" y="281868"/>
                    <a:pt x="502007" y="279948"/>
                    <a:pt x="511277" y="275313"/>
                  </a:cubicBezTo>
                  <a:cubicBezTo>
                    <a:pt x="524387" y="268758"/>
                    <a:pt x="536701" y="260283"/>
                    <a:pt x="550606" y="255648"/>
                  </a:cubicBezTo>
                  <a:cubicBezTo>
                    <a:pt x="576245" y="247102"/>
                    <a:pt x="603625" y="244531"/>
                    <a:pt x="629264" y="235984"/>
                  </a:cubicBezTo>
                  <a:cubicBezTo>
                    <a:pt x="648929" y="229429"/>
                    <a:pt x="668148" y="221346"/>
                    <a:pt x="688258" y="216319"/>
                  </a:cubicBezTo>
                  <a:cubicBezTo>
                    <a:pt x="701368" y="213042"/>
                    <a:pt x="714644" y="210370"/>
                    <a:pt x="727587" y="206487"/>
                  </a:cubicBezTo>
                  <a:cubicBezTo>
                    <a:pt x="747441" y="200531"/>
                    <a:pt x="766471" y="191849"/>
                    <a:pt x="786581" y="186822"/>
                  </a:cubicBezTo>
                  <a:cubicBezTo>
                    <a:pt x="812800" y="180267"/>
                    <a:pt x="839600" y="175705"/>
                    <a:pt x="865239" y="167158"/>
                  </a:cubicBezTo>
                  <a:cubicBezTo>
                    <a:pt x="884903" y="160603"/>
                    <a:pt x="903786" y="150901"/>
                    <a:pt x="924232" y="147493"/>
                  </a:cubicBezTo>
                  <a:cubicBezTo>
                    <a:pt x="943897" y="144216"/>
                    <a:pt x="963677" y="141571"/>
                    <a:pt x="983226" y="137661"/>
                  </a:cubicBezTo>
                  <a:cubicBezTo>
                    <a:pt x="1070568" y="120193"/>
                    <a:pt x="981690" y="124049"/>
                    <a:pt x="1140542" y="108164"/>
                  </a:cubicBezTo>
                  <a:lnTo>
                    <a:pt x="1238864" y="98332"/>
                  </a:lnTo>
                  <a:cubicBezTo>
                    <a:pt x="1320737" y="77865"/>
                    <a:pt x="1234564" y="97542"/>
                    <a:pt x="1366684" y="78667"/>
                  </a:cubicBezTo>
                  <a:cubicBezTo>
                    <a:pt x="1383228" y="76304"/>
                    <a:pt x="1399632" y="72888"/>
                    <a:pt x="1415845" y="68835"/>
                  </a:cubicBezTo>
                  <a:cubicBezTo>
                    <a:pt x="1425900" y="66321"/>
                    <a:pt x="1435136" y="60804"/>
                    <a:pt x="1445342" y="59003"/>
                  </a:cubicBezTo>
                  <a:cubicBezTo>
                    <a:pt x="1490987" y="50948"/>
                    <a:pt x="1537544" y="48428"/>
                    <a:pt x="1582994" y="39338"/>
                  </a:cubicBezTo>
                  <a:cubicBezTo>
                    <a:pt x="1599381" y="36061"/>
                    <a:pt x="1615573" y="31579"/>
                    <a:pt x="1632155" y="29506"/>
                  </a:cubicBezTo>
                  <a:cubicBezTo>
                    <a:pt x="1668076" y="25016"/>
                    <a:pt x="1704331" y="23672"/>
                    <a:pt x="1740310" y="19674"/>
                  </a:cubicBezTo>
                  <a:cubicBezTo>
                    <a:pt x="1763343" y="17115"/>
                    <a:pt x="1785998" y="11164"/>
                    <a:pt x="1809135" y="9842"/>
                  </a:cubicBezTo>
                  <a:cubicBezTo>
                    <a:pt x="1993491" y="-693"/>
                    <a:pt x="2016297" y="9"/>
                    <a:pt x="2143432" y="9"/>
                  </a:cubicBezTo>
                </a:path>
              </a:pathLst>
            </a:custGeom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71" name="CuadroTexto 70">
              <a:extLst>
                <a:ext uri="{FF2B5EF4-FFF2-40B4-BE49-F238E27FC236}">
                  <a16:creationId xmlns:a16="http://schemas.microsoft.com/office/drawing/2014/main" id="{C35538FD-158F-7975-50D5-923F32FDABEA}"/>
                </a:ext>
              </a:extLst>
            </p:cNvPr>
            <p:cNvSpPr txBox="1"/>
            <p:nvPr/>
          </p:nvSpPr>
          <p:spPr>
            <a:xfrm>
              <a:off x="5062585" y="2891690"/>
              <a:ext cx="31560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dirty="0"/>
                <a:t>Expansión cuadrática sobre u(x)</a:t>
              </a:r>
            </a:p>
          </p:txBody>
        </p:sp>
        <p:sp>
          <p:nvSpPr>
            <p:cNvPr id="72" name="Forma libre 71">
              <a:extLst>
                <a:ext uri="{FF2B5EF4-FFF2-40B4-BE49-F238E27FC236}">
                  <a16:creationId xmlns:a16="http://schemas.microsoft.com/office/drawing/2014/main" id="{406F3590-6A0A-6083-B923-C5EFFBD7364B}"/>
                </a:ext>
              </a:extLst>
            </p:cNvPr>
            <p:cNvSpPr/>
            <p:nvPr/>
          </p:nvSpPr>
          <p:spPr>
            <a:xfrm rot="3018611">
              <a:off x="4616539" y="2919684"/>
              <a:ext cx="329585" cy="339534"/>
            </a:xfrm>
            <a:custGeom>
              <a:avLst/>
              <a:gdLst>
                <a:gd name="connsiteX0" fmla="*/ 0 w 2143432"/>
                <a:gd name="connsiteY0" fmla="*/ 707932 h 707932"/>
                <a:gd name="connsiteX1" fmla="*/ 29497 w 2143432"/>
                <a:gd name="connsiteY1" fmla="*/ 639106 h 707932"/>
                <a:gd name="connsiteX2" fmla="*/ 49161 w 2143432"/>
                <a:gd name="connsiteY2" fmla="*/ 609609 h 707932"/>
                <a:gd name="connsiteX3" fmla="*/ 58994 w 2143432"/>
                <a:gd name="connsiteY3" fmla="*/ 580113 h 707932"/>
                <a:gd name="connsiteX4" fmla="*/ 88490 w 2143432"/>
                <a:gd name="connsiteY4" fmla="*/ 550616 h 707932"/>
                <a:gd name="connsiteX5" fmla="*/ 157316 w 2143432"/>
                <a:gd name="connsiteY5" fmla="*/ 471958 h 707932"/>
                <a:gd name="connsiteX6" fmla="*/ 226142 w 2143432"/>
                <a:gd name="connsiteY6" fmla="*/ 403132 h 707932"/>
                <a:gd name="connsiteX7" fmla="*/ 294968 w 2143432"/>
                <a:gd name="connsiteY7" fmla="*/ 363803 h 707932"/>
                <a:gd name="connsiteX8" fmla="*/ 324464 w 2143432"/>
                <a:gd name="connsiteY8" fmla="*/ 344138 h 707932"/>
                <a:gd name="connsiteX9" fmla="*/ 363794 w 2143432"/>
                <a:gd name="connsiteY9" fmla="*/ 334306 h 707932"/>
                <a:gd name="connsiteX10" fmla="*/ 393290 w 2143432"/>
                <a:gd name="connsiteY10" fmla="*/ 324474 h 707932"/>
                <a:gd name="connsiteX11" fmla="*/ 422787 w 2143432"/>
                <a:gd name="connsiteY11" fmla="*/ 304809 h 707932"/>
                <a:gd name="connsiteX12" fmla="*/ 481781 w 2143432"/>
                <a:gd name="connsiteY12" fmla="*/ 285145 h 707932"/>
                <a:gd name="connsiteX13" fmla="*/ 511277 w 2143432"/>
                <a:gd name="connsiteY13" fmla="*/ 275313 h 707932"/>
                <a:gd name="connsiteX14" fmla="*/ 550606 w 2143432"/>
                <a:gd name="connsiteY14" fmla="*/ 255648 h 707932"/>
                <a:gd name="connsiteX15" fmla="*/ 629264 w 2143432"/>
                <a:gd name="connsiteY15" fmla="*/ 235984 h 707932"/>
                <a:gd name="connsiteX16" fmla="*/ 688258 w 2143432"/>
                <a:gd name="connsiteY16" fmla="*/ 216319 h 707932"/>
                <a:gd name="connsiteX17" fmla="*/ 727587 w 2143432"/>
                <a:gd name="connsiteY17" fmla="*/ 206487 h 707932"/>
                <a:gd name="connsiteX18" fmla="*/ 786581 w 2143432"/>
                <a:gd name="connsiteY18" fmla="*/ 186822 h 707932"/>
                <a:gd name="connsiteX19" fmla="*/ 865239 w 2143432"/>
                <a:gd name="connsiteY19" fmla="*/ 167158 h 707932"/>
                <a:gd name="connsiteX20" fmla="*/ 924232 w 2143432"/>
                <a:gd name="connsiteY20" fmla="*/ 147493 h 707932"/>
                <a:gd name="connsiteX21" fmla="*/ 983226 w 2143432"/>
                <a:gd name="connsiteY21" fmla="*/ 137661 h 707932"/>
                <a:gd name="connsiteX22" fmla="*/ 1140542 w 2143432"/>
                <a:gd name="connsiteY22" fmla="*/ 108164 h 707932"/>
                <a:gd name="connsiteX23" fmla="*/ 1238864 w 2143432"/>
                <a:gd name="connsiteY23" fmla="*/ 98332 h 707932"/>
                <a:gd name="connsiteX24" fmla="*/ 1366684 w 2143432"/>
                <a:gd name="connsiteY24" fmla="*/ 78667 h 707932"/>
                <a:gd name="connsiteX25" fmla="*/ 1415845 w 2143432"/>
                <a:gd name="connsiteY25" fmla="*/ 68835 h 707932"/>
                <a:gd name="connsiteX26" fmla="*/ 1445342 w 2143432"/>
                <a:gd name="connsiteY26" fmla="*/ 59003 h 707932"/>
                <a:gd name="connsiteX27" fmla="*/ 1582994 w 2143432"/>
                <a:gd name="connsiteY27" fmla="*/ 39338 h 707932"/>
                <a:gd name="connsiteX28" fmla="*/ 1632155 w 2143432"/>
                <a:gd name="connsiteY28" fmla="*/ 29506 h 707932"/>
                <a:gd name="connsiteX29" fmla="*/ 1740310 w 2143432"/>
                <a:gd name="connsiteY29" fmla="*/ 19674 h 707932"/>
                <a:gd name="connsiteX30" fmla="*/ 1809135 w 2143432"/>
                <a:gd name="connsiteY30" fmla="*/ 9842 h 707932"/>
                <a:gd name="connsiteX31" fmla="*/ 2143432 w 2143432"/>
                <a:gd name="connsiteY31" fmla="*/ 9 h 707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143432" h="707932">
                  <a:moveTo>
                    <a:pt x="0" y="707932"/>
                  </a:moveTo>
                  <a:cubicBezTo>
                    <a:pt x="9832" y="684990"/>
                    <a:pt x="18335" y="661431"/>
                    <a:pt x="29497" y="639106"/>
                  </a:cubicBezTo>
                  <a:cubicBezTo>
                    <a:pt x="34782" y="628537"/>
                    <a:pt x="43876" y="620178"/>
                    <a:pt x="49161" y="609609"/>
                  </a:cubicBezTo>
                  <a:cubicBezTo>
                    <a:pt x="53796" y="600339"/>
                    <a:pt x="53245" y="588736"/>
                    <a:pt x="58994" y="580113"/>
                  </a:cubicBezTo>
                  <a:cubicBezTo>
                    <a:pt x="66707" y="568544"/>
                    <a:pt x="79953" y="561592"/>
                    <a:pt x="88490" y="550616"/>
                  </a:cubicBezTo>
                  <a:cubicBezTo>
                    <a:pt x="150255" y="471203"/>
                    <a:pt x="100214" y="510025"/>
                    <a:pt x="157316" y="471958"/>
                  </a:cubicBezTo>
                  <a:cubicBezTo>
                    <a:pt x="174622" y="420040"/>
                    <a:pt x="158524" y="448210"/>
                    <a:pt x="226142" y="403132"/>
                  </a:cubicBezTo>
                  <a:cubicBezTo>
                    <a:pt x="298022" y="355212"/>
                    <a:pt x="207627" y="413713"/>
                    <a:pt x="294968" y="363803"/>
                  </a:cubicBezTo>
                  <a:cubicBezTo>
                    <a:pt x="305228" y="357940"/>
                    <a:pt x="313603" y="348793"/>
                    <a:pt x="324464" y="344138"/>
                  </a:cubicBezTo>
                  <a:cubicBezTo>
                    <a:pt x="336885" y="338815"/>
                    <a:pt x="350800" y="338018"/>
                    <a:pt x="363794" y="334306"/>
                  </a:cubicBezTo>
                  <a:cubicBezTo>
                    <a:pt x="373759" y="331459"/>
                    <a:pt x="383458" y="327751"/>
                    <a:pt x="393290" y="324474"/>
                  </a:cubicBezTo>
                  <a:cubicBezTo>
                    <a:pt x="403122" y="317919"/>
                    <a:pt x="411988" y="309608"/>
                    <a:pt x="422787" y="304809"/>
                  </a:cubicBezTo>
                  <a:cubicBezTo>
                    <a:pt x="441729" y="296390"/>
                    <a:pt x="462116" y="291700"/>
                    <a:pt x="481781" y="285145"/>
                  </a:cubicBezTo>
                  <a:cubicBezTo>
                    <a:pt x="491613" y="281868"/>
                    <a:pt x="502007" y="279948"/>
                    <a:pt x="511277" y="275313"/>
                  </a:cubicBezTo>
                  <a:cubicBezTo>
                    <a:pt x="524387" y="268758"/>
                    <a:pt x="536701" y="260283"/>
                    <a:pt x="550606" y="255648"/>
                  </a:cubicBezTo>
                  <a:cubicBezTo>
                    <a:pt x="576245" y="247102"/>
                    <a:pt x="603625" y="244531"/>
                    <a:pt x="629264" y="235984"/>
                  </a:cubicBezTo>
                  <a:cubicBezTo>
                    <a:pt x="648929" y="229429"/>
                    <a:pt x="668148" y="221346"/>
                    <a:pt x="688258" y="216319"/>
                  </a:cubicBezTo>
                  <a:cubicBezTo>
                    <a:pt x="701368" y="213042"/>
                    <a:pt x="714644" y="210370"/>
                    <a:pt x="727587" y="206487"/>
                  </a:cubicBezTo>
                  <a:cubicBezTo>
                    <a:pt x="747441" y="200531"/>
                    <a:pt x="766471" y="191849"/>
                    <a:pt x="786581" y="186822"/>
                  </a:cubicBezTo>
                  <a:cubicBezTo>
                    <a:pt x="812800" y="180267"/>
                    <a:pt x="839600" y="175705"/>
                    <a:pt x="865239" y="167158"/>
                  </a:cubicBezTo>
                  <a:cubicBezTo>
                    <a:pt x="884903" y="160603"/>
                    <a:pt x="903786" y="150901"/>
                    <a:pt x="924232" y="147493"/>
                  </a:cubicBezTo>
                  <a:cubicBezTo>
                    <a:pt x="943897" y="144216"/>
                    <a:pt x="963677" y="141571"/>
                    <a:pt x="983226" y="137661"/>
                  </a:cubicBezTo>
                  <a:cubicBezTo>
                    <a:pt x="1070568" y="120193"/>
                    <a:pt x="981690" y="124049"/>
                    <a:pt x="1140542" y="108164"/>
                  </a:cubicBezTo>
                  <a:lnTo>
                    <a:pt x="1238864" y="98332"/>
                  </a:lnTo>
                  <a:cubicBezTo>
                    <a:pt x="1320737" y="77865"/>
                    <a:pt x="1234564" y="97542"/>
                    <a:pt x="1366684" y="78667"/>
                  </a:cubicBezTo>
                  <a:cubicBezTo>
                    <a:pt x="1383228" y="76304"/>
                    <a:pt x="1399632" y="72888"/>
                    <a:pt x="1415845" y="68835"/>
                  </a:cubicBezTo>
                  <a:cubicBezTo>
                    <a:pt x="1425900" y="66321"/>
                    <a:pt x="1435136" y="60804"/>
                    <a:pt x="1445342" y="59003"/>
                  </a:cubicBezTo>
                  <a:cubicBezTo>
                    <a:pt x="1490987" y="50948"/>
                    <a:pt x="1537544" y="48428"/>
                    <a:pt x="1582994" y="39338"/>
                  </a:cubicBezTo>
                  <a:cubicBezTo>
                    <a:pt x="1599381" y="36061"/>
                    <a:pt x="1615573" y="31579"/>
                    <a:pt x="1632155" y="29506"/>
                  </a:cubicBezTo>
                  <a:cubicBezTo>
                    <a:pt x="1668076" y="25016"/>
                    <a:pt x="1704331" y="23672"/>
                    <a:pt x="1740310" y="19674"/>
                  </a:cubicBezTo>
                  <a:cubicBezTo>
                    <a:pt x="1763343" y="17115"/>
                    <a:pt x="1785998" y="11164"/>
                    <a:pt x="1809135" y="9842"/>
                  </a:cubicBezTo>
                  <a:cubicBezTo>
                    <a:pt x="1993491" y="-693"/>
                    <a:pt x="2016297" y="9"/>
                    <a:pt x="2143432" y="9"/>
                  </a:cubicBezTo>
                </a:path>
              </a:pathLst>
            </a:custGeom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  <p:sp>
          <p:nvSpPr>
            <p:cNvPr id="74" name="CuadroTexto 73">
              <a:extLst>
                <a:ext uri="{FF2B5EF4-FFF2-40B4-BE49-F238E27FC236}">
                  <a16:creationId xmlns:a16="http://schemas.microsoft.com/office/drawing/2014/main" id="{01C39EAC-09B7-6982-28E7-0EB3E80E948B}"/>
                </a:ext>
              </a:extLst>
            </p:cNvPr>
            <p:cNvSpPr txBox="1"/>
            <p:nvPr/>
          </p:nvSpPr>
          <p:spPr>
            <a:xfrm>
              <a:off x="5078152" y="3290446"/>
              <a:ext cx="60065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dirty="0"/>
                <a:t>u(x)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CuadroTexto 76">
                <a:extLst>
                  <a:ext uri="{FF2B5EF4-FFF2-40B4-BE49-F238E27FC236}">
                    <a16:creationId xmlns:a16="http://schemas.microsoft.com/office/drawing/2014/main" id="{F11937CA-0EE3-7051-1C82-AF351E3C7D04}"/>
                  </a:ext>
                </a:extLst>
              </p:cNvPr>
              <p:cNvSpPr txBox="1"/>
              <p:nvPr/>
            </p:nvSpPr>
            <p:spPr>
              <a:xfrm>
                <a:off x="5460323" y="5199507"/>
                <a:ext cx="248478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419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</m:d>
                  </m:oMath>
                </a14:m>
                <a:r>
                  <a:rPr lang="es-CO" dirty="0"/>
                  <a:t> </a:t>
                </a:r>
                <a14:m>
                  <m:oMath xmlns:m="http://schemas.openxmlformats.org/officeDocument/2006/math">
                    <m:r>
                      <a:rPr lang="es-CO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s-CO" dirty="0"/>
                  <a:t> </a:t>
                </a:r>
                <a14:m>
                  <m:oMath xmlns:m="http://schemas.openxmlformats.org/officeDocument/2006/math">
                    <m:r>
                      <a:rPr lang="es-419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̃"/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s-419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s-CO" dirty="0"/>
                  <a:t> </a:t>
                </a:r>
              </a:p>
            </p:txBody>
          </p:sp>
        </mc:Choice>
        <mc:Fallback xmlns="">
          <p:sp>
            <p:nvSpPr>
              <p:cNvPr id="77" name="CuadroTexto 76">
                <a:extLst>
                  <a:ext uri="{FF2B5EF4-FFF2-40B4-BE49-F238E27FC236}">
                    <a16:creationId xmlns:a16="http://schemas.microsoft.com/office/drawing/2014/main" id="{F11937CA-0EE3-7051-1C82-AF351E3C7D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0323" y="5199507"/>
                <a:ext cx="2484783" cy="276999"/>
              </a:xfrm>
              <a:prstGeom prst="rect">
                <a:avLst/>
              </a:prstGeom>
              <a:blipFill>
                <a:blip r:embed="rId7"/>
                <a:stretch>
                  <a:fillRect l="-2551" t="-4348" b="-34783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Elipse 77">
            <a:extLst>
              <a:ext uri="{FF2B5EF4-FFF2-40B4-BE49-F238E27FC236}">
                <a16:creationId xmlns:a16="http://schemas.microsoft.com/office/drawing/2014/main" id="{E22D5593-851A-7B24-E075-38CD746DC1D7}"/>
              </a:ext>
            </a:extLst>
          </p:cNvPr>
          <p:cNvSpPr/>
          <p:nvPr/>
        </p:nvSpPr>
        <p:spPr>
          <a:xfrm>
            <a:off x="2840770" y="3566438"/>
            <a:ext cx="59344" cy="5947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80" name="Conector recto de flecha 79">
            <a:extLst>
              <a:ext uri="{FF2B5EF4-FFF2-40B4-BE49-F238E27FC236}">
                <a16:creationId xmlns:a16="http://schemas.microsoft.com/office/drawing/2014/main" id="{469EC83D-2A97-921F-CB92-A798CCC68144}"/>
              </a:ext>
            </a:extLst>
          </p:cNvPr>
          <p:cNvCxnSpPr>
            <a:cxnSpLocks/>
          </p:cNvCxnSpPr>
          <p:nvPr/>
        </p:nvCxnSpPr>
        <p:spPr>
          <a:xfrm flipH="1">
            <a:off x="1815934" y="4618513"/>
            <a:ext cx="1042787" cy="42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82" name="Conector recto 81">
            <a:extLst>
              <a:ext uri="{FF2B5EF4-FFF2-40B4-BE49-F238E27FC236}">
                <a16:creationId xmlns:a16="http://schemas.microsoft.com/office/drawing/2014/main" id="{0951C74A-E419-C32A-2302-12B4870A0F9D}"/>
              </a:ext>
            </a:extLst>
          </p:cNvPr>
          <p:cNvCxnSpPr>
            <a:cxnSpLocks/>
          </p:cNvCxnSpPr>
          <p:nvPr/>
        </p:nvCxnSpPr>
        <p:spPr>
          <a:xfrm flipH="1">
            <a:off x="2590796" y="3455319"/>
            <a:ext cx="632826" cy="216816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89" name="Forma libre 88">
            <a:extLst>
              <a:ext uri="{FF2B5EF4-FFF2-40B4-BE49-F238E27FC236}">
                <a16:creationId xmlns:a16="http://schemas.microsoft.com/office/drawing/2014/main" id="{757B4D49-FFA3-B1A7-BF76-1B4F2AE74970}"/>
              </a:ext>
            </a:extLst>
          </p:cNvPr>
          <p:cNvSpPr/>
          <p:nvPr/>
        </p:nvSpPr>
        <p:spPr>
          <a:xfrm>
            <a:off x="1881095" y="2842241"/>
            <a:ext cx="976664" cy="856932"/>
          </a:xfrm>
          <a:custGeom>
            <a:avLst/>
            <a:gdLst>
              <a:gd name="connsiteX0" fmla="*/ 963561 w 963561"/>
              <a:gd name="connsiteY0" fmla="*/ 689784 h 856932"/>
              <a:gd name="connsiteX1" fmla="*/ 776748 w 963561"/>
              <a:gd name="connsiteY1" fmla="*/ 1526 h 856932"/>
              <a:gd name="connsiteX2" fmla="*/ 0 w 963561"/>
              <a:gd name="connsiteY2" fmla="*/ 856932 h 856932"/>
              <a:gd name="connsiteX3" fmla="*/ 0 w 963561"/>
              <a:gd name="connsiteY3" fmla="*/ 856932 h 856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63561" h="856932">
                <a:moveTo>
                  <a:pt x="963561" y="689784"/>
                </a:moveTo>
                <a:cubicBezTo>
                  <a:pt x="950451" y="331726"/>
                  <a:pt x="937341" y="-26332"/>
                  <a:pt x="776748" y="1526"/>
                </a:cubicBezTo>
                <a:cubicBezTo>
                  <a:pt x="616155" y="29384"/>
                  <a:pt x="0" y="856932"/>
                  <a:pt x="0" y="856932"/>
                </a:cubicBezTo>
                <a:lnTo>
                  <a:pt x="0" y="856932"/>
                </a:lnTo>
              </a:path>
            </a:pathLst>
          </a:custGeom>
          <a:noFill/>
          <a:ln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91" name="Conector curvado 90">
            <a:extLst>
              <a:ext uri="{FF2B5EF4-FFF2-40B4-BE49-F238E27FC236}">
                <a16:creationId xmlns:a16="http://schemas.microsoft.com/office/drawing/2014/main" id="{F05E2216-755C-7D85-94E6-6657CDCCD226}"/>
              </a:ext>
            </a:extLst>
          </p:cNvPr>
          <p:cNvCxnSpPr/>
          <p:nvPr/>
        </p:nvCxnSpPr>
        <p:spPr>
          <a:xfrm>
            <a:off x="1546480" y="3519149"/>
            <a:ext cx="285165" cy="231198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ector recto de flecha 91">
            <a:extLst>
              <a:ext uri="{FF2B5EF4-FFF2-40B4-BE49-F238E27FC236}">
                <a16:creationId xmlns:a16="http://schemas.microsoft.com/office/drawing/2014/main" id="{64DC42A0-8300-A6DB-796C-ABFF7E9CE58E}"/>
              </a:ext>
            </a:extLst>
          </p:cNvPr>
          <p:cNvCxnSpPr>
            <a:cxnSpLocks/>
          </p:cNvCxnSpPr>
          <p:nvPr/>
        </p:nvCxnSpPr>
        <p:spPr>
          <a:xfrm flipH="1">
            <a:off x="2012375" y="4743144"/>
            <a:ext cx="84538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94" name="Conector recto de flecha 93">
            <a:extLst>
              <a:ext uri="{FF2B5EF4-FFF2-40B4-BE49-F238E27FC236}">
                <a16:creationId xmlns:a16="http://schemas.microsoft.com/office/drawing/2014/main" id="{AFBD49DA-0F6C-DDAA-10EB-762C3D835402}"/>
              </a:ext>
            </a:extLst>
          </p:cNvPr>
          <p:cNvCxnSpPr>
            <a:cxnSpLocks/>
          </p:cNvCxnSpPr>
          <p:nvPr/>
        </p:nvCxnSpPr>
        <p:spPr>
          <a:xfrm flipH="1">
            <a:off x="2179530" y="4861838"/>
            <a:ext cx="69091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CuadroTexto 95">
                <a:extLst>
                  <a:ext uri="{FF2B5EF4-FFF2-40B4-BE49-F238E27FC236}">
                    <a16:creationId xmlns:a16="http://schemas.microsoft.com/office/drawing/2014/main" id="{6FB0406A-F170-8162-9330-39CD1285A70C}"/>
                  </a:ext>
                </a:extLst>
              </p:cNvPr>
              <p:cNvSpPr txBox="1"/>
              <p:nvPr/>
            </p:nvSpPr>
            <p:spPr>
              <a:xfrm>
                <a:off x="2755440" y="3168342"/>
                <a:ext cx="108799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419" sz="120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s-419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419" sz="12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s-419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̃"/>
                          <m:ctrlPr>
                            <a:rPr lang="es-419" sz="12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419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s-419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CO" sz="1200" dirty="0"/>
              </a:p>
            </p:txBody>
          </p:sp>
        </mc:Choice>
        <mc:Fallback xmlns="">
          <p:sp>
            <p:nvSpPr>
              <p:cNvPr id="96" name="CuadroTexto 95">
                <a:extLst>
                  <a:ext uri="{FF2B5EF4-FFF2-40B4-BE49-F238E27FC236}">
                    <a16:creationId xmlns:a16="http://schemas.microsoft.com/office/drawing/2014/main" id="{6FB0406A-F170-8162-9330-39CD1285A7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5440" y="3168342"/>
                <a:ext cx="1087999" cy="276999"/>
              </a:xfrm>
              <a:prstGeom prst="rect">
                <a:avLst/>
              </a:prstGeom>
              <a:blipFill>
                <a:blip r:embed="rId8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7" name="Conector curvado 96">
            <a:extLst>
              <a:ext uri="{FF2B5EF4-FFF2-40B4-BE49-F238E27FC236}">
                <a16:creationId xmlns:a16="http://schemas.microsoft.com/office/drawing/2014/main" id="{51EF4833-B15F-B590-A271-FC4452C638D6}"/>
              </a:ext>
            </a:extLst>
          </p:cNvPr>
          <p:cNvCxnSpPr>
            <a:cxnSpLocks/>
            <a:endCxn id="78" idx="7"/>
          </p:cNvCxnSpPr>
          <p:nvPr/>
        </p:nvCxnSpPr>
        <p:spPr>
          <a:xfrm rot="10800000" flipV="1">
            <a:off x="2891425" y="3414038"/>
            <a:ext cx="186945" cy="161110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ector recto de flecha 99">
            <a:extLst>
              <a:ext uri="{FF2B5EF4-FFF2-40B4-BE49-F238E27FC236}">
                <a16:creationId xmlns:a16="http://schemas.microsoft.com/office/drawing/2014/main" id="{5CDBCF5D-4899-AEFB-FE04-8BD787E970F7}"/>
              </a:ext>
            </a:extLst>
          </p:cNvPr>
          <p:cNvCxnSpPr>
            <a:cxnSpLocks/>
          </p:cNvCxnSpPr>
          <p:nvPr/>
        </p:nvCxnSpPr>
        <p:spPr>
          <a:xfrm flipV="1">
            <a:off x="3433034" y="3165144"/>
            <a:ext cx="145884" cy="1992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CuadroTexto 100">
                <a:extLst>
                  <a:ext uri="{FF2B5EF4-FFF2-40B4-BE49-F238E27FC236}">
                    <a16:creationId xmlns:a16="http://schemas.microsoft.com/office/drawing/2014/main" id="{8E45C673-982C-26D6-FB4A-476205C710F6}"/>
                  </a:ext>
                </a:extLst>
              </p:cNvPr>
              <p:cNvSpPr txBox="1"/>
              <p:nvPr/>
            </p:nvSpPr>
            <p:spPr>
              <a:xfrm>
                <a:off x="3455463" y="2958528"/>
                <a:ext cx="566665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̃"/>
                          <m:ctrlPr>
                            <a:rPr lang="es-419" sz="11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419" sz="11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s-419" sz="110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s-CO" sz="1100" dirty="0"/>
              </a:p>
            </p:txBody>
          </p:sp>
        </mc:Choice>
        <mc:Fallback xmlns="">
          <p:sp>
            <p:nvSpPr>
              <p:cNvPr id="101" name="CuadroTexto 100">
                <a:extLst>
                  <a:ext uri="{FF2B5EF4-FFF2-40B4-BE49-F238E27FC236}">
                    <a16:creationId xmlns:a16="http://schemas.microsoft.com/office/drawing/2014/main" id="{8E45C673-982C-26D6-FB4A-476205C710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5463" y="2958528"/>
                <a:ext cx="566665" cy="2616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" name="Elipse 101">
            <a:extLst>
              <a:ext uri="{FF2B5EF4-FFF2-40B4-BE49-F238E27FC236}">
                <a16:creationId xmlns:a16="http://schemas.microsoft.com/office/drawing/2014/main" id="{9FCCF2DC-79A0-57CD-B78B-55EE940E91FC}"/>
              </a:ext>
            </a:extLst>
          </p:cNvPr>
          <p:cNvSpPr/>
          <p:nvPr/>
        </p:nvSpPr>
        <p:spPr>
          <a:xfrm>
            <a:off x="2840770" y="5425719"/>
            <a:ext cx="46341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3" name="Elipse 102">
            <a:extLst>
              <a:ext uri="{FF2B5EF4-FFF2-40B4-BE49-F238E27FC236}">
                <a16:creationId xmlns:a16="http://schemas.microsoft.com/office/drawing/2014/main" id="{45F3D221-B8B1-8F35-4B5C-C5411084605B}"/>
              </a:ext>
            </a:extLst>
          </p:cNvPr>
          <p:cNvSpPr/>
          <p:nvPr/>
        </p:nvSpPr>
        <p:spPr>
          <a:xfrm>
            <a:off x="1815934" y="5438224"/>
            <a:ext cx="46341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CuadroTexto 105">
                <a:extLst>
                  <a:ext uri="{FF2B5EF4-FFF2-40B4-BE49-F238E27FC236}">
                    <a16:creationId xmlns:a16="http://schemas.microsoft.com/office/drawing/2014/main" id="{0101ED91-CB24-9FDC-FEE2-DD81A32E5880}"/>
                  </a:ext>
                </a:extLst>
              </p:cNvPr>
              <p:cNvSpPr txBox="1"/>
              <p:nvPr/>
            </p:nvSpPr>
            <p:spPr>
              <a:xfrm>
                <a:off x="4198153" y="5429047"/>
                <a:ext cx="339456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419" sz="140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es-CO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06" name="CuadroTexto 105">
                <a:extLst>
                  <a:ext uri="{FF2B5EF4-FFF2-40B4-BE49-F238E27FC236}">
                    <a16:creationId xmlns:a16="http://schemas.microsoft.com/office/drawing/2014/main" id="{0101ED91-CB24-9FDC-FEE2-DD81A32E58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8153" y="5429047"/>
                <a:ext cx="339456" cy="3077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CuadroTexto 107">
                <a:extLst>
                  <a:ext uri="{FF2B5EF4-FFF2-40B4-BE49-F238E27FC236}">
                    <a16:creationId xmlns:a16="http://schemas.microsoft.com/office/drawing/2014/main" id="{31DB1D64-44DE-6200-0043-E12ACE7A3D56}"/>
                  </a:ext>
                </a:extLst>
              </p:cNvPr>
              <p:cNvSpPr txBox="1"/>
              <p:nvPr/>
            </p:nvSpPr>
            <p:spPr>
              <a:xfrm>
                <a:off x="933609" y="2667000"/>
                <a:ext cx="45198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419" sz="12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s-419" sz="12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419" sz="12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419" sz="12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CO" sz="12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08" name="CuadroTexto 107">
                <a:extLst>
                  <a:ext uri="{FF2B5EF4-FFF2-40B4-BE49-F238E27FC236}">
                    <a16:creationId xmlns:a16="http://schemas.microsoft.com/office/drawing/2014/main" id="{31DB1D64-44DE-6200-0043-E12ACE7A3D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609" y="2667000"/>
                <a:ext cx="451989" cy="276999"/>
              </a:xfrm>
              <a:prstGeom prst="rect">
                <a:avLst/>
              </a:prstGeom>
              <a:blipFill>
                <a:blip r:embed="rId11"/>
                <a:stretch>
                  <a:fillRect r="-5556" b="-9091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" name="CuadroTexto 111">
            <a:extLst>
              <a:ext uri="{FF2B5EF4-FFF2-40B4-BE49-F238E27FC236}">
                <a16:creationId xmlns:a16="http://schemas.microsoft.com/office/drawing/2014/main" id="{50691CC8-B62A-DF0F-A642-CE337A3CFC01}"/>
              </a:ext>
            </a:extLst>
          </p:cNvPr>
          <p:cNvSpPr txBox="1"/>
          <p:nvPr/>
        </p:nvSpPr>
        <p:spPr>
          <a:xfrm>
            <a:off x="3250791" y="3710918"/>
            <a:ext cx="58381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050" dirty="0"/>
              <a:t>Lotería</a:t>
            </a:r>
          </a:p>
        </p:txBody>
      </p:sp>
      <p:cxnSp>
        <p:nvCxnSpPr>
          <p:cNvPr id="113" name="Conector curvado 112">
            <a:extLst>
              <a:ext uri="{FF2B5EF4-FFF2-40B4-BE49-F238E27FC236}">
                <a16:creationId xmlns:a16="http://schemas.microsoft.com/office/drawing/2014/main" id="{7203ED24-FA76-329E-786B-3AD4B5BED32A}"/>
              </a:ext>
            </a:extLst>
          </p:cNvPr>
          <p:cNvCxnSpPr>
            <a:cxnSpLocks/>
          </p:cNvCxnSpPr>
          <p:nvPr/>
        </p:nvCxnSpPr>
        <p:spPr>
          <a:xfrm rot="10800000">
            <a:off x="2982050" y="3699173"/>
            <a:ext cx="376784" cy="148358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CuadroTexto 117">
            <a:extLst>
              <a:ext uri="{FF2B5EF4-FFF2-40B4-BE49-F238E27FC236}">
                <a16:creationId xmlns:a16="http://schemas.microsoft.com/office/drawing/2014/main" id="{9A6FC8B2-F1CE-BAEA-8AA7-B61B139DB1B5}"/>
              </a:ext>
            </a:extLst>
          </p:cNvPr>
          <p:cNvSpPr txBox="1"/>
          <p:nvPr/>
        </p:nvSpPr>
        <p:spPr>
          <a:xfrm>
            <a:off x="4011888" y="3531886"/>
            <a:ext cx="39305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050" dirty="0"/>
              <a:t>u(x)</a:t>
            </a:r>
          </a:p>
        </p:txBody>
      </p:sp>
      <p:cxnSp>
        <p:nvCxnSpPr>
          <p:cNvPr id="119" name="Conector curvado 118">
            <a:extLst>
              <a:ext uri="{FF2B5EF4-FFF2-40B4-BE49-F238E27FC236}">
                <a16:creationId xmlns:a16="http://schemas.microsoft.com/office/drawing/2014/main" id="{78B13424-0BE7-09BC-53C9-D49FEB7EF3FE}"/>
              </a:ext>
            </a:extLst>
          </p:cNvPr>
          <p:cNvCxnSpPr>
            <a:cxnSpLocks/>
          </p:cNvCxnSpPr>
          <p:nvPr/>
        </p:nvCxnSpPr>
        <p:spPr>
          <a:xfrm rot="10800000">
            <a:off x="3696177" y="3492845"/>
            <a:ext cx="423755" cy="17565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1" name="Imagen 120">
            <a:extLst>
              <a:ext uri="{FF2B5EF4-FFF2-40B4-BE49-F238E27FC236}">
                <a16:creationId xmlns:a16="http://schemas.microsoft.com/office/drawing/2014/main" id="{B228D192-73FE-14CD-ECE4-DDD28597C9E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97669" y="5719565"/>
            <a:ext cx="2806700" cy="254000"/>
          </a:xfrm>
          <a:prstGeom prst="rect">
            <a:avLst/>
          </a:prstGeom>
        </p:spPr>
      </p:pic>
      <p:cxnSp>
        <p:nvCxnSpPr>
          <p:cNvPr id="123" name="Conector curvado 122">
            <a:extLst>
              <a:ext uri="{FF2B5EF4-FFF2-40B4-BE49-F238E27FC236}">
                <a16:creationId xmlns:a16="http://schemas.microsoft.com/office/drawing/2014/main" id="{2A69E5E5-8801-C3CF-6301-177CB9483BFC}"/>
              </a:ext>
            </a:extLst>
          </p:cNvPr>
          <p:cNvCxnSpPr>
            <a:stCxn id="121" idx="1"/>
            <a:endCxn id="44" idx="1"/>
          </p:cNvCxnSpPr>
          <p:nvPr/>
        </p:nvCxnSpPr>
        <p:spPr>
          <a:xfrm rot="10800000">
            <a:off x="1849605" y="3820123"/>
            <a:ext cx="3348065" cy="2026442"/>
          </a:xfrm>
          <a:prstGeom prst="curvedConnector4">
            <a:avLst>
              <a:gd name="adj1" fmla="val 49244"/>
              <a:gd name="adj2" fmla="val 77317"/>
            </a:avLst>
          </a:prstGeom>
          <a:ln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nector recto 125">
            <a:extLst>
              <a:ext uri="{FF2B5EF4-FFF2-40B4-BE49-F238E27FC236}">
                <a16:creationId xmlns:a16="http://schemas.microsoft.com/office/drawing/2014/main" id="{B5FF6585-FC1A-B8B5-36EF-68FAE99C49A0}"/>
              </a:ext>
            </a:extLst>
          </p:cNvPr>
          <p:cNvCxnSpPr>
            <a:cxnSpLocks/>
          </p:cNvCxnSpPr>
          <p:nvPr/>
        </p:nvCxnSpPr>
        <p:spPr>
          <a:xfrm flipV="1">
            <a:off x="1012408" y="3831447"/>
            <a:ext cx="863244" cy="3228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971E75D4-8FB3-85D2-6FC8-FDEE91A4E884}"/>
                  </a:ext>
                </a:extLst>
              </p:cNvPr>
              <p:cNvSpPr txBox="1"/>
              <p:nvPr/>
            </p:nvSpPr>
            <p:spPr>
              <a:xfrm>
                <a:off x="104279" y="3674043"/>
                <a:ext cx="1208248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419" sz="12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s-419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419" sz="1200" i="1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s-419" sz="12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419" sz="1200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s-419" sz="1200" i="1"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̃"/>
                              <m:ctrlPr>
                                <a:rPr lang="es-419" sz="1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419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s-419" sz="12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s-CO" sz="1200" dirty="0"/>
              </a:p>
            </p:txBody>
          </p:sp>
        </mc:Choice>
        <mc:Fallback xmlns="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971E75D4-8FB3-85D2-6FC8-FDEE91A4E8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279" y="3674043"/>
                <a:ext cx="1208248" cy="276999"/>
              </a:xfrm>
              <a:prstGeom prst="rect">
                <a:avLst/>
              </a:prstGeom>
              <a:blipFill>
                <a:blip r:embed="rId13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CuadroTexto 132">
                <a:extLst>
                  <a:ext uri="{FF2B5EF4-FFF2-40B4-BE49-F238E27FC236}">
                    <a16:creationId xmlns:a16="http://schemas.microsoft.com/office/drawing/2014/main" id="{A0294E45-755A-A572-A611-74595E57964E}"/>
                  </a:ext>
                </a:extLst>
              </p:cNvPr>
              <p:cNvSpPr txBox="1"/>
              <p:nvPr/>
            </p:nvSpPr>
            <p:spPr>
              <a:xfrm>
                <a:off x="1480380" y="5655312"/>
                <a:ext cx="78040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419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419" sz="120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s-419" sz="1200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l-G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π</m:t>
                      </m:r>
                    </m:oMath>
                  </m:oMathPara>
                </a14:m>
                <a:endParaRPr lang="es-CO" sz="1200" dirty="0"/>
              </a:p>
            </p:txBody>
          </p:sp>
        </mc:Choice>
        <mc:Fallback xmlns="">
          <p:sp>
            <p:nvSpPr>
              <p:cNvPr id="133" name="CuadroTexto 132">
                <a:extLst>
                  <a:ext uri="{FF2B5EF4-FFF2-40B4-BE49-F238E27FC236}">
                    <a16:creationId xmlns:a16="http://schemas.microsoft.com/office/drawing/2014/main" id="{A0294E45-755A-A572-A611-74595E5796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0380" y="5655312"/>
                <a:ext cx="780409" cy="2769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4" name="Conector curvado 133">
            <a:extLst>
              <a:ext uri="{FF2B5EF4-FFF2-40B4-BE49-F238E27FC236}">
                <a16:creationId xmlns:a16="http://schemas.microsoft.com/office/drawing/2014/main" id="{097176F2-5AC3-8810-F606-02BD3C0F8D78}"/>
              </a:ext>
            </a:extLst>
          </p:cNvPr>
          <p:cNvCxnSpPr>
            <a:cxnSpLocks/>
            <a:endCxn id="69" idx="17"/>
          </p:cNvCxnSpPr>
          <p:nvPr/>
        </p:nvCxnSpPr>
        <p:spPr>
          <a:xfrm rot="10800000">
            <a:off x="1863085" y="3870523"/>
            <a:ext cx="3522856" cy="1491382"/>
          </a:xfrm>
          <a:prstGeom prst="curvedConnector3">
            <a:avLst>
              <a:gd name="adj1" fmla="val 50000"/>
            </a:avLst>
          </a:prstGeom>
          <a:ln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9112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1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52" grpId="0" animBg="1"/>
      <p:bldP spid="69" grpId="0" animBg="1"/>
      <p:bldP spid="89" grpId="0" animBg="1"/>
      <p:bldP spid="96" grpId="0"/>
      <p:bldP spid="101" grpId="0"/>
      <p:bldP spid="112" grpId="0"/>
      <p:bldP spid="118" grpId="0"/>
      <p:bldP spid="13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FDB77-484B-42C8-FD45-68710AFBD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5A1C77-BA65-904E-B391-58BC0D8E3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5" y="599694"/>
            <a:ext cx="8239125" cy="430887"/>
          </a:xfrm>
        </p:spPr>
        <p:txBody>
          <a:bodyPr/>
          <a:lstStyle/>
          <a:p>
            <a:r>
              <a:rPr lang="es-CO" dirty="0">
                <a:solidFill>
                  <a:schemeClr val="tx2"/>
                </a:solidFill>
              </a:rPr>
              <a:t>Prima de Riesgo de Pratt - Arrow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texto 2">
                <a:extLst>
                  <a:ext uri="{FF2B5EF4-FFF2-40B4-BE49-F238E27FC236}">
                    <a16:creationId xmlns:a16="http://schemas.microsoft.com/office/drawing/2014/main" id="{74FF83A5-2879-028B-6B2C-E69C8E9EE3B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399871" y="1130089"/>
                <a:ext cx="8010145" cy="1107996"/>
              </a:xfrm>
            </p:spPr>
            <p:txBody>
              <a:bodyPr/>
              <a:lstStyle/>
              <a:p>
                <a:r>
                  <a:rPr lang="es-CO" dirty="0"/>
                  <a:t>En 1964, Pratt&amp; Arrow propusieron un método para modelar el valor de la aversión absoluta de riesgo (ARA). En el método, se parte de un status quo (riqueza inicial </a:t>
                </a:r>
                <a14:m>
                  <m:oMath xmlns:m="http://schemas.openxmlformats.org/officeDocument/2006/math">
                    <m:r>
                      <a:rPr lang="es-419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s-CO" dirty="0"/>
                  <a:t>empleando una lotería justa, donde </a:t>
                </a:r>
                <a14:m>
                  <m:oMath xmlns:m="http://schemas.openxmlformats.org/officeDocument/2006/math">
                    <m:r>
                      <a:rPr lang="es-419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s-419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s-419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a:rPr lang="es-419" b="0" i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419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s-419" b="0" i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s-CO" dirty="0"/>
                  <a:t>. </a:t>
                </a:r>
              </a:p>
              <a:p>
                <a:r>
                  <a:rPr lang="es-CO" dirty="0"/>
                  <a:t>Ante una prima pequeña, se deben igualar los puntos </a:t>
                </a:r>
                <a14:m>
                  <m:oMath xmlns:m="http://schemas.openxmlformats.org/officeDocument/2006/math">
                    <m:r>
                      <a:rPr lang="es-419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̃"/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s-419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s-CO" dirty="0"/>
                  <a:t> y </a:t>
                </a:r>
                <a14:m>
                  <m:oMath xmlns:m="http://schemas.openxmlformats.org/officeDocument/2006/math">
                    <m:r>
                      <a:rPr lang="es-419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</m:d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s-CO" dirty="0"/>
                  <a:t> </a:t>
                </a:r>
              </a:p>
            </p:txBody>
          </p:sp>
        </mc:Choice>
        <mc:Fallback>
          <p:sp>
            <p:nvSpPr>
              <p:cNvPr id="3" name="Marcador de texto 2">
                <a:extLst>
                  <a:ext uri="{FF2B5EF4-FFF2-40B4-BE49-F238E27FC236}">
                    <a16:creationId xmlns:a16="http://schemas.microsoft.com/office/drawing/2014/main" id="{74FF83A5-2879-028B-6B2C-E69C8E9EE3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99871" y="1130089"/>
                <a:ext cx="8010145" cy="1107996"/>
              </a:xfrm>
              <a:blipFill>
                <a:blip r:embed="rId3"/>
                <a:stretch>
                  <a:fillRect l="-1741" t="-5618" r="-158" b="-11236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E47FDF78-0F49-CB4F-670A-E208648359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2502345"/>
            <a:ext cx="6248400" cy="4235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1828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680606DE-5E6F-7207-F9F9-22E5BF953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5" y="599695"/>
            <a:ext cx="8239125" cy="430887"/>
          </a:xfrm>
        </p:spPr>
        <p:txBody>
          <a:bodyPr/>
          <a:lstStyle/>
          <a:p>
            <a:r>
              <a:rPr lang="es-CO" dirty="0">
                <a:solidFill>
                  <a:schemeClr val="tx2"/>
                </a:solidFill>
              </a:rPr>
              <a:t>Relación entre F.A.R y la Prima de Riesgo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71AE05A9-8890-8CDB-6B3A-315ACB20DE69}"/>
                  </a:ext>
                </a:extLst>
              </p:cNvPr>
              <p:cNvSpPr txBox="1"/>
              <p:nvPr/>
            </p:nvSpPr>
            <p:spPr>
              <a:xfrm>
                <a:off x="316326" y="1053489"/>
                <a:ext cx="8425366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s-CO" sz="2000" dirty="0"/>
                  <a:t>Consideremos dos  </a:t>
                </a:r>
                <a:r>
                  <a:rPr lang="es-CO" sz="2000" dirty="0" err="1"/>
                  <a:t>f.u</a:t>
                </a:r>
                <a:r>
                  <a:rPr lang="es-CO" sz="2000" dirty="0"/>
                  <a:t>.(x) tipo exponencial, </a:t>
                </a:r>
                <a14:m>
                  <m:oMath xmlns:m="http://schemas.openxmlformats.org/officeDocument/2006/math">
                    <m:r>
                      <a:rPr lang="es-CO" sz="2000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s-CO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CO" sz="2000" b="0" i="1" smtClean="0">
                        <a:latin typeface="Cambria Math" panose="02040503050406030204" pitchFamily="18" charset="0"/>
                      </a:rPr>
                      <m:t>=−</m:t>
                    </m:r>
                    <m:sSup>
                      <m:sSupPr>
                        <m:ctrlPr>
                          <a:rPr lang="es-CO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s-CO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CO" sz="2000" b="0" i="1" smtClean="0">
                            <a:latin typeface="Cambria Math" panose="02040503050406030204" pitchFamily="18" charset="0"/>
                          </a:rPr>
                          <m:t>𝑐𝑥</m:t>
                        </m:r>
                      </m:sup>
                    </m:sSup>
                  </m:oMath>
                </a14:m>
                <a:r>
                  <a:rPr lang="es-CO" sz="2000" dirty="0"/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s-CO" sz="2000" dirty="0"/>
                  <a:t>Sabemos que, F.A.R(x) en este tipo de </a:t>
                </a:r>
                <a:r>
                  <a:rPr lang="es-CO" sz="2000" dirty="0" err="1"/>
                  <a:t>f.u</a:t>
                </a:r>
                <a:r>
                  <a:rPr lang="es-CO" sz="2000" dirty="0"/>
                  <a:t>. es constante y se caracteriza por </a:t>
                </a:r>
                <a14:m>
                  <m:oMath xmlns:m="http://schemas.openxmlformats.org/officeDocument/2006/math">
                    <m:r>
                      <a:rPr lang="es-CO" sz="2000" b="1" i="1" smtClean="0">
                        <a:latin typeface="Cambria Math" panose="02040503050406030204" pitchFamily="18" charset="0"/>
                      </a:rPr>
                      <m:t>𝒓</m:t>
                    </m:r>
                    <m:d>
                      <m:dPr>
                        <m:ctrlPr>
                          <a:rPr lang="es-CO" sz="20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sz="20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s-CO" sz="20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CO" sz="2000" b="1" i="1" smtClean="0"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es-CO" sz="2000" b="1" dirty="0"/>
                  <a:t>  </a:t>
                </a:r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71AE05A9-8890-8CDB-6B3A-315ACB20DE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326" y="1053489"/>
                <a:ext cx="8425366" cy="1015663"/>
              </a:xfrm>
              <a:prstGeom prst="rect">
                <a:avLst/>
              </a:prstGeom>
              <a:blipFill>
                <a:blip r:embed="rId2"/>
                <a:stretch>
                  <a:fillRect l="-651" t="-3614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70FD8D30-50FA-6D8F-D619-7F0E6A5DF2B3}"/>
                  </a:ext>
                </a:extLst>
              </p:cNvPr>
              <p:cNvSpPr txBox="1"/>
              <p:nvPr/>
            </p:nvSpPr>
            <p:spPr>
              <a:xfrm>
                <a:off x="685800" y="2249590"/>
                <a:ext cx="1744837" cy="5602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s-CO" b="1" dirty="0"/>
                  <a:t>a) </a:t>
                </a:r>
                <a14:m>
                  <m:oMath xmlns:m="http://schemas.openxmlformats.org/officeDocument/2006/math">
                    <m:r>
                      <a:rPr lang="es-CO" b="1" i="1" smtClean="0">
                        <a:latin typeface="Cambria Math" panose="02040503050406030204" pitchFamily="18" charset="0"/>
                      </a:rPr>
                      <m:t>𝒖</m:t>
                    </m:r>
                    <m:d>
                      <m:dPr>
                        <m:ctrlPr>
                          <a:rPr lang="es-CO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s-CO" b="1" i="1" smtClean="0">
                        <a:latin typeface="Cambria Math" panose="02040503050406030204" pitchFamily="18" charset="0"/>
                      </a:rPr>
                      <m:t>=−</m:t>
                    </m:r>
                    <m:sSup>
                      <m:sSupPr>
                        <m:ctrlPr>
                          <a:rPr lang="es-CO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b="1" i="1" smtClean="0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p>
                        <m:r>
                          <a:rPr lang="es-CO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CO" b="1" i="1" smtClean="0">
                            <a:latin typeface="Cambria Math" panose="02040503050406030204" pitchFamily="18" charset="0"/>
                          </a:rPr>
                          <m:t>𝟐𝟎</m:t>
                        </m:r>
                        <m:r>
                          <a:rPr lang="es-CO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sup>
                    </m:sSup>
                  </m:oMath>
                </a14:m>
                <a:endParaRPr lang="es-CO" b="1" dirty="0"/>
              </a:p>
              <a:p>
                <a:endParaRPr lang="es-CO" b="1" dirty="0"/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70FD8D30-50FA-6D8F-D619-7F0E6A5DF2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2249590"/>
                <a:ext cx="1744837" cy="560218"/>
              </a:xfrm>
              <a:prstGeom prst="rect">
                <a:avLst/>
              </a:prstGeom>
              <a:blipFill>
                <a:blip r:embed="rId3"/>
                <a:stretch>
                  <a:fillRect l="-8392" t="-13043" r="-2098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86EF46CC-4100-4830-5684-E446BA0CCB33}"/>
                  </a:ext>
                </a:extLst>
              </p:cNvPr>
              <p:cNvSpPr txBox="1"/>
              <p:nvPr/>
            </p:nvSpPr>
            <p:spPr>
              <a:xfrm>
                <a:off x="5715000" y="2272450"/>
                <a:ext cx="1873077" cy="5602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s-CO" b="1" dirty="0"/>
                  <a:t>b) </a:t>
                </a:r>
                <a14:m>
                  <m:oMath xmlns:m="http://schemas.openxmlformats.org/officeDocument/2006/math">
                    <m:r>
                      <a:rPr lang="es-CO" b="1" i="1" smtClean="0">
                        <a:latin typeface="Cambria Math" panose="02040503050406030204" pitchFamily="18" charset="0"/>
                      </a:rPr>
                      <m:t>𝒖</m:t>
                    </m:r>
                    <m:d>
                      <m:dPr>
                        <m:ctrlPr>
                          <a:rPr lang="es-CO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d>
                    <m:r>
                      <a:rPr lang="es-CO" b="1" i="1" smtClean="0">
                        <a:latin typeface="Cambria Math" panose="02040503050406030204" pitchFamily="18" charset="0"/>
                      </a:rPr>
                      <m:t>=−</m:t>
                    </m:r>
                    <m:sSup>
                      <m:sSupPr>
                        <m:ctrlPr>
                          <a:rPr lang="es-CO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b="1" i="1" smtClean="0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p>
                        <m:r>
                          <a:rPr lang="es-CO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CO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s-CO" b="1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s-CO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s-CO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sup>
                    </m:sSup>
                  </m:oMath>
                </a14:m>
                <a:endParaRPr lang="es-CO" b="1" dirty="0"/>
              </a:p>
              <a:p>
                <a:endParaRPr lang="es-CO" b="1" dirty="0"/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86EF46CC-4100-4830-5684-E446BA0CCB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0" y="2272450"/>
                <a:ext cx="1873077" cy="560218"/>
              </a:xfrm>
              <a:prstGeom prst="rect">
                <a:avLst/>
              </a:prstGeom>
              <a:blipFill>
                <a:blip r:embed="rId4"/>
                <a:stretch>
                  <a:fillRect l="-7818" t="-13043" r="-1954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3C2415A6-0797-E116-644F-AEF0E7F58F0F}"/>
                  </a:ext>
                </a:extLst>
              </p:cNvPr>
              <p:cNvSpPr txBox="1"/>
              <p:nvPr/>
            </p:nvSpPr>
            <p:spPr>
              <a:xfrm>
                <a:off x="685800" y="2249590"/>
                <a:ext cx="1744837" cy="5602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s-CO" b="1" dirty="0">
                    <a:solidFill>
                      <a:srgbClr val="C00000"/>
                    </a:solidFill>
                  </a:rPr>
                  <a:t>a) </a:t>
                </a:r>
                <a14:m>
                  <m:oMath xmlns:m="http://schemas.openxmlformats.org/officeDocument/2006/math">
                    <m:r>
                      <a:rPr lang="es-CO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𝒖</m:t>
                    </m:r>
                    <m:d>
                      <m:dPr>
                        <m:ctrlPr>
                          <a:rPr lang="es-CO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s-CO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sSup>
                      <m:sSupPr>
                        <m:ctrlPr>
                          <a:rPr lang="es-CO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p>
                        <m:r>
                          <a:rPr lang="es-CO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CO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𝟐𝟎</m:t>
                        </m:r>
                        <m:r>
                          <a:rPr lang="es-CO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sup>
                    </m:sSup>
                  </m:oMath>
                </a14:m>
                <a:endParaRPr lang="es-CO" b="1" dirty="0">
                  <a:solidFill>
                    <a:srgbClr val="C00000"/>
                  </a:solidFill>
                </a:endParaRPr>
              </a:p>
              <a:p>
                <a:endParaRPr lang="es-CO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3C2415A6-0797-E116-644F-AEF0E7F58F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2249590"/>
                <a:ext cx="1744837" cy="560218"/>
              </a:xfrm>
              <a:prstGeom prst="rect">
                <a:avLst/>
              </a:prstGeom>
              <a:blipFill>
                <a:blip r:embed="rId5"/>
                <a:stretch>
                  <a:fillRect l="-8392" t="-13043" r="-2098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D4F5297F-FEC5-D3CD-FE02-2D932976E756}"/>
                  </a:ext>
                </a:extLst>
              </p:cNvPr>
              <p:cNvSpPr txBox="1"/>
              <p:nvPr/>
            </p:nvSpPr>
            <p:spPr>
              <a:xfrm>
                <a:off x="40114" y="5048409"/>
                <a:ext cx="8912878" cy="15990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CO" dirty="0"/>
                  <a:t>La prima de riesgo </a:t>
                </a:r>
                <a14:m>
                  <m:oMath xmlns:m="http://schemas.openxmlformats.org/officeDocument/2006/math">
                    <m:r>
                      <a:rPr lang="es-CO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s-CO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CO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s-CO" dirty="0"/>
                  <a:t> depende del riesgo intrínseco de la lotería, así como de la función F.A.R, r(x), como sigue: </a:t>
                </a:r>
                <a14:m>
                  <m:oMath xmlns:m="http://schemas.openxmlformats.org/officeDocument/2006/math">
                    <m:r>
                      <a:rPr lang="es-CO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𝝅</m:t>
                    </m:r>
                    <m:d>
                      <m:dPr>
                        <m:ctrlPr>
                          <a:rPr lang="es-CO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s-CO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CO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CO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s-CO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s-CO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s-CO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𝝈</m:t>
                        </m:r>
                      </m:e>
                      <m:sup>
                        <m:r>
                          <a:rPr lang="es-419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s-CO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𝒓</m:t>
                    </m:r>
                    <m:r>
                      <a:rPr lang="es-CO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s-CO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  <m:r>
                      <a:rPr lang="es-CO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CO" b="1" dirty="0"/>
                  <a:t>.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CO" dirty="0"/>
                  <a:t>Por tanto, entre </a:t>
                </a:r>
                <a:r>
                  <a:rPr lang="es-CO" b="1" dirty="0"/>
                  <a:t>más</a:t>
                </a:r>
                <a:r>
                  <a:rPr lang="es-CO" dirty="0"/>
                  <a:t> </a:t>
                </a:r>
                <a:r>
                  <a:rPr lang="es-CO" b="1" dirty="0"/>
                  <a:t>averso</a:t>
                </a:r>
                <a:r>
                  <a:rPr lang="es-CO" dirty="0"/>
                  <a:t> sea el decisor, </a:t>
                </a:r>
                <a:r>
                  <a:rPr lang="es-CO" b="1" dirty="0"/>
                  <a:t>mayor</a:t>
                </a:r>
                <a:r>
                  <a:rPr lang="es-CO" dirty="0"/>
                  <a:t> será la prima de riesgo.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CO" dirty="0"/>
                  <a:t>El grado de </a:t>
                </a:r>
                <a:r>
                  <a:rPr lang="es-CO" b="1" dirty="0"/>
                  <a:t>adversidad</a:t>
                </a:r>
                <a:r>
                  <a:rPr lang="es-CO" dirty="0"/>
                  <a:t> al riesgo, se caracteriza por el grado de “</a:t>
                </a:r>
                <a:r>
                  <a:rPr lang="es-CO" b="1" dirty="0"/>
                  <a:t>concavidad</a:t>
                </a:r>
                <a:r>
                  <a:rPr lang="es-CO" dirty="0"/>
                  <a:t>” de la </a:t>
                </a:r>
                <a14:m>
                  <m:oMath xmlns:m="http://schemas.openxmlformats.org/officeDocument/2006/math">
                    <m:r>
                      <a:rPr lang="es-CO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s-CO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CO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CO" dirty="0"/>
                  <a:t>*.</a:t>
                </a:r>
              </a:p>
              <a:p>
                <a:endParaRPr lang="es-CO" dirty="0"/>
              </a:p>
            </p:txBody>
          </p:sp>
        </mc:Choice>
        <mc:Fallback xmlns="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D4F5297F-FEC5-D3CD-FE02-2D932976E7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14" y="5048409"/>
                <a:ext cx="8912878" cy="1599092"/>
              </a:xfrm>
              <a:prstGeom prst="rect">
                <a:avLst/>
              </a:prstGeom>
              <a:blipFill>
                <a:blip r:embed="rId6"/>
                <a:stretch>
                  <a:fillRect l="-427" t="-1575" r="-711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CuadroTexto 19">
            <a:extLst>
              <a:ext uri="{FF2B5EF4-FFF2-40B4-BE49-F238E27FC236}">
                <a16:creationId xmlns:a16="http://schemas.microsoft.com/office/drawing/2014/main" id="{9BBF238F-551D-155E-4805-C215CB0B71C5}"/>
              </a:ext>
            </a:extLst>
          </p:cNvPr>
          <p:cNvSpPr txBox="1"/>
          <p:nvPr/>
        </p:nvSpPr>
        <p:spPr>
          <a:xfrm>
            <a:off x="-32494" y="6627168"/>
            <a:ext cx="91363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Merriweather Sans" pitchFamily="2" charset="0"/>
              </a:rPr>
              <a:t>*Werner, J. (2018). Risk Aversion. In: The New Palgrave Dictionary of Economics. Palgrave Macmillan, London. https://doi.org/10.1057/978-1-349-95189-5_2741</a:t>
            </a:r>
            <a:endParaRPr lang="es-CO" sz="900" dirty="0"/>
          </a:p>
        </p:txBody>
      </p:sp>
      <p:grpSp>
        <p:nvGrpSpPr>
          <p:cNvPr id="27" name="Grupo 26">
            <a:extLst>
              <a:ext uri="{FF2B5EF4-FFF2-40B4-BE49-F238E27FC236}">
                <a16:creationId xmlns:a16="http://schemas.microsoft.com/office/drawing/2014/main" id="{495D5B16-5080-B524-16A7-91B1E72A7784}"/>
              </a:ext>
            </a:extLst>
          </p:cNvPr>
          <p:cNvGrpSpPr/>
          <p:nvPr/>
        </p:nvGrpSpPr>
        <p:grpSpPr>
          <a:xfrm>
            <a:off x="5435571" y="2775584"/>
            <a:ext cx="3638330" cy="2062326"/>
            <a:chOff x="5435571" y="2775584"/>
            <a:chExt cx="3638330" cy="2062326"/>
          </a:xfrm>
        </p:grpSpPr>
        <p:pic>
          <p:nvPicPr>
            <p:cNvPr id="24" name="Imagen 23">
              <a:extLst>
                <a:ext uri="{FF2B5EF4-FFF2-40B4-BE49-F238E27FC236}">
                  <a16:creationId xmlns:a16="http://schemas.microsoft.com/office/drawing/2014/main" id="{FE515195-7034-BA6C-FBCC-62674D03F72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t="32440"/>
            <a:stretch/>
          </p:blipFill>
          <p:spPr>
            <a:xfrm>
              <a:off x="5435571" y="3133855"/>
              <a:ext cx="3638330" cy="1704055"/>
            </a:xfrm>
            <a:prstGeom prst="rect">
              <a:avLst/>
            </a:prstGeom>
          </p:spPr>
        </p:pic>
        <p:pic>
          <p:nvPicPr>
            <p:cNvPr id="23" name="Imagen 22">
              <a:extLst>
                <a:ext uri="{FF2B5EF4-FFF2-40B4-BE49-F238E27FC236}">
                  <a16:creationId xmlns:a16="http://schemas.microsoft.com/office/drawing/2014/main" id="{5F74EAFB-1612-721A-6892-CD2A11FA456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r="52043" b="85398"/>
            <a:stretch/>
          </p:blipFill>
          <p:spPr>
            <a:xfrm>
              <a:off x="5529881" y="2775584"/>
              <a:ext cx="2338393" cy="493597"/>
            </a:xfrm>
            <a:prstGeom prst="rect">
              <a:avLst/>
            </a:prstGeom>
          </p:spPr>
        </p:pic>
      </p:grpSp>
      <p:grpSp>
        <p:nvGrpSpPr>
          <p:cNvPr id="26" name="Grupo 25">
            <a:extLst>
              <a:ext uri="{FF2B5EF4-FFF2-40B4-BE49-F238E27FC236}">
                <a16:creationId xmlns:a16="http://schemas.microsoft.com/office/drawing/2014/main" id="{30DBAD7A-335B-D438-3F77-437DC12C6886}"/>
              </a:ext>
            </a:extLst>
          </p:cNvPr>
          <p:cNvGrpSpPr/>
          <p:nvPr/>
        </p:nvGrpSpPr>
        <p:grpSpPr>
          <a:xfrm>
            <a:off x="76444" y="2832668"/>
            <a:ext cx="3770543" cy="2218113"/>
            <a:chOff x="-32494" y="2769961"/>
            <a:chExt cx="3770543" cy="2218113"/>
          </a:xfrm>
        </p:grpSpPr>
        <p:pic>
          <p:nvPicPr>
            <p:cNvPr id="25" name="Imagen 24">
              <a:extLst>
                <a:ext uri="{FF2B5EF4-FFF2-40B4-BE49-F238E27FC236}">
                  <a16:creationId xmlns:a16="http://schemas.microsoft.com/office/drawing/2014/main" id="{147FAF6F-E3E4-D5DA-12CF-40DEF8DD146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t="30934"/>
            <a:stretch/>
          </p:blipFill>
          <p:spPr>
            <a:xfrm>
              <a:off x="-32494" y="3129469"/>
              <a:ext cx="3770543" cy="1858605"/>
            </a:xfrm>
            <a:prstGeom prst="rect">
              <a:avLst/>
            </a:prstGeom>
          </p:spPr>
        </p:pic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8E33549C-F59B-C563-50AD-93D6EEC664E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r="60111" b="82633"/>
            <a:stretch/>
          </p:blipFill>
          <p:spPr>
            <a:xfrm>
              <a:off x="156370" y="2769961"/>
              <a:ext cx="1925674" cy="598347"/>
            </a:xfrm>
            <a:prstGeom prst="rect">
              <a:avLst/>
            </a:prstGeom>
          </p:spPr>
        </p:pic>
      </p:grpSp>
      <p:sp>
        <p:nvSpPr>
          <p:cNvPr id="12" name="CuadroTexto 11">
            <a:extLst>
              <a:ext uri="{FF2B5EF4-FFF2-40B4-BE49-F238E27FC236}">
                <a16:creationId xmlns:a16="http://schemas.microsoft.com/office/drawing/2014/main" id="{CA236CB8-B7FF-003C-BAAE-26D223015B18}"/>
              </a:ext>
            </a:extLst>
          </p:cNvPr>
          <p:cNvSpPr txBox="1"/>
          <p:nvPr/>
        </p:nvSpPr>
        <p:spPr>
          <a:xfrm>
            <a:off x="3077876" y="4527629"/>
            <a:ext cx="25837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000" b="1" dirty="0">
                <a:solidFill>
                  <a:srgbClr val="0070C0"/>
                </a:solidFill>
              </a:rPr>
              <a:t>¿Cuál es más cóncava?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0DD5E5DA-0DB5-4AA5-8E19-E598A4CB5CD1}"/>
                  </a:ext>
                </a:extLst>
              </p:cNvPr>
              <p:cNvSpPr txBox="1"/>
              <p:nvPr/>
            </p:nvSpPr>
            <p:spPr>
              <a:xfrm>
                <a:off x="3490457" y="3428439"/>
                <a:ext cx="1758622" cy="400110"/>
              </a:xfrm>
              <a:prstGeom prst="rect">
                <a:avLst/>
              </a:prstGeom>
              <a:solidFill>
                <a:srgbClr val="0070C0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O" sz="20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r>
                        <a:rPr lang="es-CO" sz="20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s-CO" sz="20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  <m:r>
                        <a:rPr lang="es-CO" sz="20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 &gt;</m:t>
                      </m:r>
                      <m:r>
                        <a:rPr lang="es-CO" sz="2000" b="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r>
                        <a:rPr lang="es-CO" sz="20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s-CO" sz="20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𝒘</m:t>
                      </m:r>
                      <m:r>
                        <a:rPr lang="es-CO" sz="20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CO" sz="20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0DD5E5DA-0DB5-4AA5-8E19-E598A4CB5C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0457" y="3428439"/>
                <a:ext cx="1758622" cy="400110"/>
              </a:xfrm>
              <a:prstGeom prst="rect">
                <a:avLst/>
              </a:prstGeom>
              <a:blipFill>
                <a:blip r:embed="rId9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8740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6" grpId="0"/>
      <p:bldP spid="12" grpId="0"/>
      <p:bldP spid="21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48055" y="599694"/>
            <a:ext cx="8239125" cy="1259205"/>
            <a:chOff x="448055" y="599694"/>
            <a:chExt cx="8239125" cy="1259205"/>
          </a:xfrm>
        </p:grpSpPr>
        <p:sp>
          <p:nvSpPr>
            <p:cNvPr id="3" name="object 3"/>
            <p:cNvSpPr/>
            <p:nvPr/>
          </p:nvSpPr>
          <p:spPr>
            <a:xfrm>
              <a:off x="448055" y="599694"/>
              <a:ext cx="8239125" cy="1259205"/>
            </a:xfrm>
            <a:custGeom>
              <a:avLst/>
              <a:gdLst/>
              <a:ahLst/>
              <a:cxnLst/>
              <a:rect l="l" t="t" r="r" b="b"/>
              <a:pathLst>
                <a:path w="8239125" h="1259205">
                  <a:moveTo>
                    <a:pt x="8238744" y="0"/>
                  </a:moveTo>
                  <a:lnTo>
                    <a:pt x="0" y="0"/>
                  </a:lnTo>
                  <a:lnTo>
                    <a:pt x="0" y="1258824"/>
                  </a:lnTo>
                  <a:lnTo>
                    <a:pt x="8238744" y="1258824"/>
                  </a:lnTo>
                  <a:lnTo>
                    <a:pt x="8238744" y="0"/>
                  </a:lnTo>
                  <a:close/>
                </a:path>
              </a:pathLst>
            </a:custGeom>
            <a:solidFill>
              <a:srgbClr val="1A31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256663" y="887221"/>
              <a:ext cx="3469004" cy="813435"/>
            </a:xfrm>
            <a:custGeom>
              <a:avLst/>
              <a:gdLst/>
              <a:ahLst/>
              <a:cxnLst/>
              <a:rect l="l" t="t" r="r" b="b"/>
              <a:pathLst>
                <a:path w="3469004" h="813435">
                  <a:moveTo>
                    <a:pt x="125349" y="452247"/>
                  </a:moveTo>
                  <a:lnTo>
                    <a:pt x="120015" y="437007"/>
                  </a:lnTo>
                  <a:lnTo>
                    <a:pt x="92735" y="446849"/>
                  </a:lnTo>
                  <a:lnTo>
                    <a:pt x="68846" y="461111"/>
                  </a:lnTo>
                  <a:lnTo>
                    <a:pt x="31115" y="502920"/>
                  </a:lnTo>
                  <a:lnTo>
                    <a:pt x="7785" y="558838"/>
                  </a:lnTo>
                  <a:lnTo>
                    <a:pt x="0" y="625221"/>
                  </a:lnTo>
                  <a:lnTo>
                    <a:pt x="1943" y="659803"/>
                  </a:lnTo>
                  <a:lnTo>
                    <a:pt x="17462" y="720902"/>
                  </a:lnTo>
                  <a:lnTo>
                    <a:pt x="48120" y="770445"/>
                  </a:lnTo>
                  <a:lnTo>
                    <a:pt x="92646" y="803351"/>
                  </a:lnTo>
                  <a:lnTo>
                    <a:pt x="120015" y="813181"/>
                  </a:lnTo>
                  <a:lnTo>
                    <a:pt x="124841" y="797941"/>
                  </a:lnTo>
                  <a:lnTo>
                    <a:pt x="103352" y="788466"/>
                  </a:lnTo>
                  <a:lnTo>
                    <a:pt x="84836" y="775258"/>
                  </a:lnTo>
                  <a:lnTo>
                    <a:pt x="56642" y="737616"/>
                  </a:lnTo>
                  <a:lnTo>
                    <a:pt x="39954" y="686549"/>
                  </a:lnTo>
                  <a:lnTo>
                    <a:pt x="34417" y="623189"/>
                  </a:lnTo>
                  <a:lnTo>
                    <a:pt x="35788" y="591096"/>
                  </a:lnTo>
                  <a:lnTo>
                    <a:pt x="46888" y="535419"/>
                  </a:lnTo>
                  <a:lnTo>
                    <a:pt x="69303" y="491502"/>
                  </a:lnTo>
                  <a:lnTo>
                    <a:pt x="103682" y="461708"/>
                  </a:lnTo>
                  <a:lnTo>
                    <a:pt x="125349" y="452247"/>
                  </a:lnTo>
                  <a:close/>
                </a:path>
                <a:path w="3469004" h="813435">
                  <a:moveTo>
                    <a:pt x="942340" y="625221"/>
                  </a:moveTo>
                  <a:lnTo>
                    <a:pt x="934542" y="558838"/>
                  </a:lnTo>
                  <a:lnTo>
                    <a:pt x="911225" y="502920"/>
                  </a:lnTo>
                  <a:lnTo>
                    <a:pt x="873480" y="461111"/>
                  </a:lnTo>
                  <a:lnTo>
                    <a:pt x="822325" y="437007"/>
                  </a:lnTo>
                  <a:lnTo>
                    <a:pt x="816991" y="452247"/>
                  </a:lnTo>
                  <a:lnTo>
                    <a:pt x="838720" y="461708"/>
                  </a:lnTo>
                  <a:lnTo>
                    <a:pt x="857453" y="474789"/>
                  </a:lnTo>
                  <a:lnTo>
                    <a:pt x="885825" y="511810"/>
                  </a:lnTo>
                  <a:lnTo>
                    <a:pt x="902385" y="561835"/>
                  </a:lnTo>
                  <a:lnTo>
                    <a:pt x="907923" y="623189"/>
                  </a:lnTo>
                  <a:lnTo>
                    <a:pt x="906538" y="656412"/>
                  </a:lnTo>
                  <a:lnTo>
                    <a:pt x="895438" y="713613"/>
                  </a:lnTo>
                  <a:lnTo>
                    <a:pt x="873074" y="758317"/>
                  </a:lnTo>
                  <a:lnTo>
                    <a:pt x="838974" y="788466"/>
                  </a:lnTo>
                  <a:lnTo>
                    <a:pt x="817499" y="797941"/>
                  </a:lnTo>
                  <a:lnTo>
                    <a:pt x="822325" y="813181"/>
                  </a:lnTo>
                  <a:lnTo>
                    <a:pt x="873645" y="789101"/>
                  </a:lnTo>
                  <a:lnTo>
                    <a:pt x="911352" y="747395"/>
                  </a:lnTo>
                  <a:lnTo>
                    <a:pt x="934554" y="691692"/>
                  </a:lnTo>
                  <a:lnTo>
                    <a:pt x="940384" y="659803"/>
                  </a:lnTo>
                  <a:lnTo>
                    <a:pt x="942340" y="625221"/>
                  </a:lnTo>
                  <a:close/>
                </a:path>
                <a:path w="3469004" h="813435">
                  <a:moveTo>
                    <a:pt x="3145028" y="13462"/>
                  </a:moveTo>
                  <a:lnTo>
                    <a:pt x="3140329" y="0"/>
                  </a:lnTo>
                  <a:lnTo>
                    <a:pt x="3116440" y="8674"/>
                  </a:lnTo>
                  <a:lnTo>
                    <a:pt x="3095498" y="21183"/>
                  </a:lnTo>
                  <a:lnTo>
                    <a:pt x="3062478" y="57785"/>
                  </a:lnTo>
                  <a:lnTo>
                    <a:pt x="3042069" y="106768"/>
                  </a:lnTo>
                  <a:lnTo>
                    <a:pt x="3035300" y="164973"/>
                  </a:lnTo>
                  <a:lnTo>
                    <a:pt x="3036989" y="195249"/>
                  </a:lnTo>
                  <a:lnTo>
                    <a:pt x="3050514" y="248780"/>
                  </a:lnTo>
                  <a:lnTo>
                    <a:pt x="3077362" y="292227"/>
                  </a:lnTo>
                  <a:lnTo>
                    <a:pt x="3116364" y="321081"/>
                  </a:lnTo>
                  <a:lnTo>
                    <a:pt x="3140329" y="329692"/>
                  </a:lnTo>
                  <a:lnTo>
                    <a:pt x="3144520" y="316230"/>
                  </a:lnTo>
                  <a:lnTo>
                    <a:pt x="3125724" y="307949"/>
                  </a:lnTo>
                  <a:lnTo>
                    <a:pt x="3109518" y="296392"/>
                  </a:lnTo>
                  <a:lnTo>
                    <a:pt x="3084830" y="263398"/>
                  </a:lnTo>
                  <a:lnTo>
                    <a:pt x="3070187" y="218630"/>
                  </a:lnTo>
                  <a:lnTo>
                    <a:pt x="3065272" y="163195"/>
                  </a:lnTo>
                  <a:lnTo>
                    <a:pt x="3066504" y="135102"/>
                  </a:lnTo>
                  <a:lnTo>
                    <a:pt x="3076308" y="86334"/>
                  </a:lnTo>
                  <a:lnTo>
                    <a:pt x="3095942" y="47828"/>
                  </a:lnTo>
                  <a:lnTo>
                    <a:pt x="3126041" y="21729"/>
                  </a:lnTo>
                  <a:lnTo>
                    <a:pt x="3145028" y="13462"/>
                  </a:lnTo>
                  <a:close/>
                </a:path>
                <a:path w="3469004" h="813435">
                  <a:moveTo>
                    <a:pt x="3468624" y="164973"/>
                  </a:moveTo>
                  <a:lnTo>
                    <a:pt x="3461842" y="106768"/>
                  </a:lnTo>
                  <a:lnTo>
                    <a:pt x="3441446" y="57785"/>
                  </a:lnTo>
                  <a:lnTo>
                    <a:pt x="3408362" y="21183"/>
                  </a:lnTo>
                  <a:lnTo>
                    <a:pt x="3363468" y="0"/>
                  </a:lnTo>
                  <a:lnTo>
                    <a:pt x="3358769" y="13462"/>
                  </a:lnTo>
                  <a:lnTo>
                    <a:pt x="3377882" y="21729"/>
                  </a:lnTo>
                  <a:lnTo>
                    <a:pt x="3394303" y="33185"/>
                  </a:lnTo>
                  <a:lnTo>
                    <a:pt x="3419094" y="65659"/>
                  </a:lnTo>
                  <a:lnTo>
                    <a:pt x="3433661" y="109474"/>
                  </a:lnTo>
                  <a:lnTo>
                    <a:pt x="3438525" y="163195"/>
                  </a:lnTo>
                  <a:lnTo>
                    <a:pt x="3437305" y="192252"/>
                  </a:lnTo>
                  <a:lnTo>
                    <a:pt x="3427539" y="242354"/>
                  </a:lnTo>
                  <a:lnTo>
                    <a:pt x="3407943" y="281559"/>
                  </a:lnTo>
                  <a:lnTo>
                    <a:pt x="3378085" y="307949"/>
                  </a:lnTo>
                  <a:lnTo>
                    <a:pt x="3359277" y="316230"/>
                  </a:lnTo>
                  <a:lnTo>
                    <a:pt x="3363468" y="329692"/>
                  </a:lnTo>
                  <a:lnTo>
                    <a:pt x="3408426" y="308584"/>
                  </a:lnTo>
                  <a:lnTo>
                    <a:pt x="3441573" y="272034"/>
                  </a:lnTo>
                  <a:lnTo>
                    <a:pt x="3461855" y="223177"/>
                  </a:lnTo>
                  <a:lnTo>
                    <a:pt x="3466922" y="195249"/>
                  </a:lnTo>
                  <a:lnTo>
                    <a:pt x="3468624" y="16497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48055" y="784351"/>
            <a:ext cx="8239125" cy="938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4154">
              <a:lnSpc>
                <a:spcPts val="3350"/>
              </a:lnSpc>
              <a:spcBef>
                <a:spcPts val="100"/>
              </a:spcBef>
              <a:tabLst>
                <a:tab pos="4960620" algn="l"/>
                <a:tab pos="5307965" algn="l"/>
              </a:tabLst>
            </a:pPr>
            <a:r>
              <a:rPr spc="-30" dirty="0"/>
              <a:t>REL</a:t>
            </a:r>
            <a:r>
              <a:rPr spc="100" dirty="0"/>
              <a:t>A</a:t>
            </a:r>
            <a:r>
              <a:rPr spc="260" dirty="0"/>
              <a:t>CIÓN</a:t>
            </a:r>
            <a:r>
              <a:rPr spc="-80" dirty="0"/>
              <a:t> </a:t>
            </a:r>
            <a:r>
              <a:rPr spc="65" dirty="0"/>
              <a:t>ENTRE</a:t>
            </a:r>
            <a:r>
              <a:rPr spc="-90" dirty="0"/>
              <a:t> </a:t>
            </a:r>
            <a:r>
              <a:rPr spc="75" dirty="0"/>
              <a:t>L</a:t>
            </a:r>
            <a:r>
              <a:rPr spc="90" dirty="0"/>
              <a:t>A</a:t>
            </a:r>
            <a:r>
              <a:rPr spc="-70" dirty="0"/>
              <a:t> </a:t>
            </a:r>
            <a:r>
              <a:rPr spc="-555" dirty="0"/>
              <a:t>F</a:t>
            </a:r>
            <a:r>
              <a:rPr spc="-245" dirty="0"/>
              <a:t>.A.R.</a:t>
            </a:r>
            <a:r>
              <a:rPr spc="-195" dirty="0"/>
              <a:t>,</a:t>
            </a:r>
            <a:r>
              <a:rPr spc="-365" dirty="0"/>
              <a:t> </a:t>
            </a:r>
            <a:r>
              <a:rPr dirty="0">
                <a:latin typeface="Cambria Math"/>
                <a:cs typeface="Cambria Math"/>
              </a:rPr>
              <a:t>𝑟	𝑥	</a:t>
            </a:r>
            <a:r>
              <a:rPr spc="-415" dirty="0"/>
              <a:t>,</a:t>
            </a:r>
            <a:r>
              <a:rPr spc="5" dirty="0"/>
              <a:t> </a:t>
            </a:r>
            <a:r>
              <a:rPr spc="95" dirty="0"/>
              <a:t>Y</a:t>
            </a:r>
            <a:r>
              <a:rPr spc="-80" dirty="0"/>
              <a:t> </a:t>
            </a:r>
            <a:r>
              <a:rPr spc="75" dirty="0"/>
              <a:t>L</a:t>
            </a:r>
            <a:r>
              <a:rPr spc="90" dirty="0"/>
              <a:t>A</a:t>
            </a:r>
            <a:r>
              <a:rPr spc="-70" dirty="0"/>
              <a:t> </a:t>
            </a:r>
            <a:r>
              <a:rPr spc="50" dirty="0"/>
              <a:t>PRIMA</a:t>
            </a:r>
            <a:r>
              <a:rPr spc="-95" dirty="0"/>
              <a:t> </a:t>
            </a:r>
            <a:r>
              <a:rPr spc="140" dirty="0"/>
              <a:t>DE</a:t>
            </a:r>
          </a:p>
          <a:p>
            <a:pPr marL="224154">
              <a:lnSpc>
                <a:spcPts val="3829"/>
              </a:lnSpc>
              <a:tabLst>
                <a:tab pos="1941195" algn="l"/>
              </a:tabLst>
            </a:pPr>
            <a:r>
              <a:rPr spc="70" dirty="0"/>
              <a:t>RIESGO</a:t>
            </a:r>
            <a:r>
              <a:rPr spc="-80" dirty="0"/>
              <a:t> </a:t>
            </a:r>
            <a:r>
              <a:rPr sz="3200" spc="-5" dirty="0">
                <a:latin typeface="Cambria Math"/>
                <a:cs typeface="Cambria Math"/>
              </a:rPr>
              <a:t>𝜋</a:t>
            </a:r>
            <a:r>
              <a:rPr sz="3200" dirty="0">
                <a:latin typeface="Cambria Math"/>
                <a:cs typeface="Cambria Math"/>
              </a:rPr>
              <a:t>	</a:t>
            </a:r>
            <a:r>
              <a:rPr sz="3200" spc="70" dirty="0">
                <a:latin typeface="Cambria Math"/>
                <a:cs typeface="Cambria Math"/>
              </a:rPr>
              <a:t>𝑋</a:t>
            </a:r>
            <a:r>
              <a:rPr sz="3200" spc="-5" dirty="0">
                <a:latin typeface="Cambria Math"/>
                <a:cs typeface="Cambria Math"/>
              </a:rPr>
              <a:t>;</a:t>
            </a:r>
            <a:r>
              <a:rPr sz="3200" spc="-165" dirty="0">
                <a:latin typeface="Cambria Math"/>
                <a:cs typeface="Cambria Math"/>
              </a:rPr>
              <a:t> </a:t>
            </a:r>
            <a:r>
              <a:rPr sz="3200" spc="-5" dirty="0">
                <a:latin typeface="Cambria Math"/>
                <a:cs typeface="Cambria Math"/>
              </a:rPr>
              <a:t>𝑥</a:t>
            </a:r>
            <a:endParaRPr sz="3200" dirty="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96706" y="6481571"/>
            <a:ext cx="13970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30" dirty="0">
                <a:solidFill>
                  <a:srgbClr val="4590B8"/>
                </a:solidFill>
                <a:latin typeface="Trebuchet MS"/>
                <a:cs typeface="Trebuchet MS"/>
              </a:rPr>
              <a:t>1</a:t>
            </a:r>
            <a:r>
              <a:rPr lang="es-CO" sz="900" spc="-30" dirty="0">
                <a:solidFill>
                  <a:srgbClr val="4590B8"/>
                </a:solidFill>
                <a:latin typeface="Trebuchet MS"/>
                <a:cs typeface="Trebuchet MS"/>
              </a:rPr>
              <a:t>8</a:t>
            </a:r>
            <a:endParaRPr sz="900" dirty="0">
              <a:latin typeface="Trebuchet MS"/>
              <a:cs typeface="Trebuchet MS"/>
            </a:endParaRP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E9DD675E-2737-444E-829F-D84F1B4999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5" y="2922703"/>
            <a:ext cx="5067300" cy="341492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4ECF9C6E-A656-4C82-BB36-281579EDE9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427" y="3371423"/>
            <a:ext cx="8382380" cy="1202167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C767873C-63CB-41AD-9BD2-3C7FC1A29E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183" y="4566974"/>
            <a:ext cx="8274049" cy="1538853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782390A7-EDFE-4BB7-A2E9-C68DC1DF9A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708" y="1943844"/>
            <a:ext cx="8098500" cy="956904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F11F6FE9-D885-2928-D0D1-38EDFF2B9486}"/>
              </a:ext>
            </a:extLst>
          </p:cNvPr>
          <p:cNvSpPr txBox="1"/>
          <p:nvPr/>
        </p:nvSpPr>
        <p:spPr>
          <a:xfrm>
            <a:off x="2667000" y="4213684"/>
            <a:ext cx="5349285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s-CO" dirty="0"/>
              <a:t>Es decir, si la riqueza incrementa, la aversión disminuye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D1F86FF-8098-345B-D478-83C17D85C1F5}"/>
              </a:ext>
            </a:extLst>
          </p:cNvPr>
          <p:cNvSpPr txBox="1"/>
          <p:nvPr/>
        </p:nvSpPr>
        <p:spPr>
          <a:xfrm>
            <a:off x="2981705" y="4908726"/>
            <a:ext cx="5223738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s-CO" dirty="0"/>
              <a:t>Es decir, si la riqueza incrementa, la aversión aumenta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Imagen 27">
            <a:extLst>
              <a:ext uri="{FF2B5EF4-FFF2-40B4-BE49-F238E27FC236}">
                <a16:creationId xmlns:a16="http://schemas.microsoft.com/office/drawing/2014/main" id="{518CF76D-F6D6-CAC8-48C7-8380321BD2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7008" y="4612572"/>
            <a:ext cx="1050795" cy="1164826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992D9011-7D9A-B764-E508-E4B0E7554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5" y="599694"/>
            <a:ext cx="8239125" cy="430887"/>
          </a:xfrm>
        </p:spPr>
        <p:txBody>
          <a:bodyPr/>
          <a:lstStyle/>
          <a:p>
            <a:endParaRPr lang="es-CO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E80C2062-DDB4-A4EA-14CA-0F0A4C5615D6}"/>
                  </a:ext>
                </a:extLst>
              </p:cNvPr>
              <p:cNvSpPr txBox="1"/>
              <p:nvPr/>
            </p:nvSpPr>
            <p:spPr>
              <a:xfrm>
                <a:off x="3287690" y="2689311"/>
                <a:ext cx="117910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̃"/>
                          <m:ctrlPr>
                            <a:rPr lang="es-419" sz="1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419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s-CO" sz="1400" b="0" i="1" smtClean="0">
                          <a:latin typeface="Cambria Math" panose="02040503050406030204" pitchFamily="18" charset="0"/>
                        </a:rPr>
                        <m:t>&lt;</m:t>
                      </m:r>
                      <m:acc>
                        <m:accPr>
                          <m:chr m:val="̃"/>
                          <m:ctrlPr>
                            <a:rPr lang="es-419" sz="1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419" sz="1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s-CO" sz="140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s-CO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s-CO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s-CO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s-CO" sz="1400" b="0" i="1" smtClean="0">
                          <a:latin typeface="Cambria Math" panose="02040503050406030204" pitchFamily="18" charset="0"/>
                        </a:rPr>
                        <m:t>)&gt;</m:t>
                      </m:r>
                      <m:r>
                        <a:rPr lang="es-CO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s-CO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s-CO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s-CO" sz="1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CO" sz="1400" dirty="0"/>
              </a:p>
            </p:txBody>
          </p:sp>
        </mc:Choice>
        <mc:Fallback xmlns="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E80C2062-DDB4-A4EA-14CA-0F0A4C5615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7690" y="2689311"/>
                <a:ext cx="1179104" cy="523220"/>
              </a:xfrm>
              <a:prstGeom prst="rect">
                <a:avLst/>
              </a:prstGeom>
              <a:blipFill>
                <a:blip r:embed="rId4"/>
                <a:stretch>
                  <a:fillRect b="-4762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4" name="object 2">
            <a:extLst>
              <a:ext uri="{FF2B5EF4-FFF2-40B4-BE49-F238E27FC236}">
                <a16:creationId xmlns:a16="http://schemas.microsoft.com/office/drawing/2014/main" id="{51E50AA0-22F0-E9FD-1677-1B6BA29ABDE5}"/>
              </a:ext>
            </a:extLst>
          </p:cNvPr>
          <p:cNvGrpSpPr/>
          <p:nvPr/>
        </p:nvGrpSpPr>
        <p:grpSpPr>
          <a:xfrm>
            <a:off x="448055" y="599695"/>
            <a:ext cx="8239125" cy="1018674"/>
            <a:chOff x="448055" y="599694"/>
            <a:chExt cx="8239125" cy="1259205"/>
          </a:xfrm>
        </p:grpSpPr>
        <p:sp>
          <p:nvSpPr>
            <p:cNvPr id="65" name="object 3">
              <a:extLst>
                <a:ext uri="{FF2B5EF4-FFF2-40B4-BE49-F238E27FC236}">
                  <a16:creationId xmlns:a16="http://schemas.microsoft.com/office/drawing/2014/main" id="{EC58137C-CDCD-A776-9386-84623EA86A8B}"/>
                </a:ext>
              </a:extLst>
            </p:cNvPr>
            <p:cNvSpPr/>
            <p:nvPr/>
          </p:nvSpPr>
          <p:spPr>
            <a:xfrm>
              <a:off x="448055" y="599694"/>
              <a:ext cx="8239125" cy="1259205"/>
            </a:xfrm>
            <a:custGeom>
              <a:avLst/>
              <a:gdLst/>
              <a:ahLst/>
              <a:cxnLst/>
              <a:rect l="l" t="t" r="r" b="b"/>
              <a:pathLst>
                <a:path w="8239125" h="1259205">
                  <a:moveTo>
                    <a:pt x="8238744" y="0"/>
                  </a:moveTo>
                  <a:lnTo>
                    <a:pt x="0" y="0"/>
                  </a:lnTo>
                  <a:lnTo>
                    <a:pt x="0" y="1258824"/>
                  </a:lnTo>
                  <a:lnTo>
                    <a:pt x="8238744" y="1258824"/>
                  </a:lnTo>
                  <a:lnTo>
                    <a:pt x="8238744" y="0"/>
                  </a:lnTo>
                  <a:close/>
                </a:path>
              </a:pathLst>
            </a:custGeom>
            <a:solidFill>
              <a:srgbClr val="1A315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6" name="object 4">
              <a:extLst>
                <a:ext uri="{FF2B5EF4-FFF2-40B4-BE49-F238E27FC236}">
                  <a16:creationId xmlns:a16="http://schemas.microsoft.com/office/drawing/2014/main" id="{B2EB281E-8E45-B0BF-1058-979E47E38947}"/>
                </a:ext>
              </a:extLst>
            </p:cNvPr>
            <p:cNvSpPr/>
            <p:nvPr/>
          </p:nvSpPr>
          <p:spPr>
            <a:xfrm>
              <a:off x="2256663" y="887221"/>
              <a:ext cx="3469004" cy="813435"/>
            </a:xfrm>
            <a:custGeom>
              <a:avLst/>
              <a:gdLst/>
              <a:ahLst/>
              <a:cxnLst/>
              <a:rect l="l" t="t" r="r" b="b"/>
              <a:pathLst>
                <a:path w="3469004" h="813435">
                  <a:moveTo>
                    <a:pt x="125349" y="452247"/>
                  </a:moveTo>
                  <a:lnTo>
                    <a:pt x="120015" y="437007"/>
                  </a:lnTo>
                  <a:lnTo>
                    <a:pt x="92735" y="446849"/>
                  </a:lnTo>
                  <a:lnTo>
                    <a:pt x="68846" y="461111"/>
                  </a:lnTo>
                  <a:lnTo>
                    <a:pt x="31115" y="502920"/>
                  </a:lnTo>
                  <a:lnTo>
                    <a:pt x="7785" y="558838"/>
                  </a:lnTo>
                  <a:lnTo>
                    <a:pt x="0" y="625221"/>
                  </a:lnTo>
                  <a:lnTo>
                    <a:pt x="1943" y="659803"/>
                  </a:lnTo>
                  <a:lnTo>
                    <a:pt x="17462" y="720902"/>
                  </a:lnTo>
                  <a:lnTo>
                    <a:pt x="48120" y="770445"/>
                  </a:lnTo>
                  <a:lnTo>
                    <a:pt x="92646" y="803351"/>
                  </a:lnTo>
                  <a:lnTo>
                    <a:pt x="120015" y="813181"/>
                  </a:lnTo>
                  <a:lnTo>
                    <a:pt x="124841" y="797941"/>
                  </a:lnTo>
                  <a:lnTo>
                    <a:pt x="103352" y="788466"/>
                  </a:lnTo>
                  <a:lnTo>
                    <a:pt x="84836" y="775258"/>
                  </a:lnTo>
                  <a:lnTo>
                    <a:pt x="56642" y="737616"/>
                  </a:lnTo>
                  <a:lnTo>
                    <a:pt x="39954" y="686549"/>
                  </a:lnTo>
                  <a:lnTo>
                    <a:pt x="34417" y="623189"/>
                  </a:lnTo>
                  <a:lnTo>
                    <a:pt x="35788" y="591096"/>
                  </a:lnTo>
                  <a:lnTo>
                    <a:pt x="46888" y="535419"/>
                  </a:lnTo>
                  <a:lnTo>
                    <a:pt x="69303" y="491502"/>
                  </a:lnTo>
                  <a:lnTo>
                    <a:pt x="103682" y="461708"/>
                  </a:lnTo>
                  <a:lnTo>
                    <a:pt x="125349" y="452247"/>
                  </a:lnTo>
                  <a:close/>
                </a:path>
                <a:path w="3469004" h="813435">
                  <a:moveTo>
                    <a:pt x="942340" y="625221"/>
                  </a:moveTo>
                  <a:lnTo>
                    <a:pt x="934542" y="558838"/>
                  </a:lnTo>
                  <a:lnTo>
                    <a:pt x="911225" y="502920"/>
                  </a:lnTo>
                  <a:lnTo>
                    <a:pt x="873480" y="461111"/>
                  </a:lnTo>
                  <a:lnTo>
                    <a:pt x="822325" y="437007"/>
                  </a:lnTo>
                  <a:lnTo>
                    <a:pt x="816991" y="452247"/>
                  </a:lnTo>
                  <a:lnTo>
                    <a:pt x="838720" y="461708"/>
                  </a:lnTo>
                  <a:lnTo>
                    <a:pt x="857453" y="474789"/>
                  </a:lnTo>
                  <a:lnTo>
                    <a:pt x="885825" y="511810"/>
                  </a:lnTo>
                  <a:lnTo>
                    <a:pt x="902385" y="561835"/>
                  </a:lnTo>
                  <a:lnTo>
                    <a:pt x="907923" y="623189"/>
                  </a:lnTo>
                  <a:lnTo>
                    <a:pt x="906538" y="656412"/>
                  </a:lnTo>
                  <a:lnTo>
                    <a:pt x="895438" y="713613"/>
                  </a:lnTo>
                  <a:lnTo>
                    <a:pt x="873074" y="758317"/>
                  </a:lnTo>
                  <a:lnTo>
                    <a:pt x="838974" y="788466"/>
                  </a:lnTo>
                  <a:lnTo>
                    <a:pt x="817499" y="797941"/>
                  </a:lnTo>
                  <a:lnTo>
                    <a:pt x="822325" y="813181"/>
                  </a:lnTo>
                  <a:lnTo>
                    <a:pt x="873645" y="789101"/>
                  </a:lnTo>
                  <a:lnTo>
                    <a:pt x="911352" y="747395"/>
                  </a:lnTo>
                  <a:lnTo>
                    <a:pt x="934554" y="691692"/>
                  </a:lnTo>
                  <a:lnTo>
                    <a:pt x="940384" y="659803"/>
                  </a:lnTo>
                  <a:lnTo>
                    <a:pt x="942340" y="625221"/>
                  </a:lnTo>
                  <a:close/>
                </a:path>
                <a:path w="3469004" h="813435">
                  <a:moveTo>
                    <a:pt x="3145028" y="13462"/>
                  </a:moveTo>
                  <a:lnTo>
                    <a:pt x="3140329" y="0"/>
                  </a:lnTo>
                  <a:lnTo>
                    <a:pt x="3116440" y="8674"/>
                  </a:lnTo>
                  <a:lnTo>
                    <a:pt x="3095498" y="21183"/>
                  </a:lnTo>
                  <a:lnTo>
                    <a:pt x="3062478" y="57785"/>
                  </a:lnTo>
                  <a:lnTo>
                    <a:pt x="3042069" y="106768"/>
                  </a:lnTo>
                  <a:lnTo>
                    <a:pt x="3035300" y="164973"/>
                  </a:lnTo>
                  <a:lnTo>
                    <a:pt x="3036989" y="195249"/>
                  </a:lnTo>
                  <a:lnTo>
                    <a:pt x="3050514" y="248780"/>
                  </a:lnTo>
                  <a:lnTo>
                    <a:pt x="3077362" y="292227"/>
                  </a:lnTo>
                  <a:lnTo>
                    <a:pt x="3116364" y="321081"/>
                  </a:lnTo>
                  <a:lnTo>
                    <a:pt x="3140329" y="329692"/>
                  </a:lnTo>
                  <a:lnTo>
                    <a:pt x="3144520" y="316230"/>
                  </a:lnTo>
                  <a:lnTo>
                    <a:pt x="3125724" y="307949"/>
                  </a:lnTo>
                  <a:lnTo>
                    <a:pt x="3109518" y="296392"/>
                  </a:lnTo>
                  <a:lnTo>
                    <a:pt x="3084830" y="263398"/>
                  </a:lnTo>
                  <a:lnTo>
                    <a:pt x="3070187" y="218630"/>
                  </a:lnTo>
                  <a:lnTo>
                    <a:pt x="3065272" y="163195"/>
                  </a:lnTo>
                  <a:lnTo>
                    <a:pt x="3066504" y="135102"/>
                  </a:lnTo>
                  <a:lnTo>
                    <a:pt x="3076308" y="86334"/>
                  </a:lnTo>
                  <a:lnTo>
                    <a:pt x="3095942" y="47828"/>
                  </a:lnTo>
                  <a:lnTo>
                    <a:pt x="3126041" y="21729"/>
                  </a:lnTo>
                  <a:lnTo>
                    <a:pt x="3145028" y="13462"/>
                  </a:lnTo>
                  <a:close/>
                </a:path>
                <a:path w="3469004" h="813435">
                  <a:moveTo>
                    <a:pt x="3468624" y="164973"/>
                  </a:moveTo>
                  <a:lnTo>
                    <a:pt x="3461842" y="106768"/>
                  </a:lnTo>
                  <a:lnTo>
                    <a:pt x="3441446" y="57785"/>
                  </a:lnTo>
                  <a:lnTo>
                    <a:pt x="3408362" y="21183"/>
                  </a:lnTo>
                  <a:lnTo>
                    <a:pt x="3363468" y="0"/>
                  </a:lnTo>
                  <a:lnTo>
                    <a:pt x="3358769" y="13462"/>
                  </a:lnTo>
                  <a:lnTo>
                    <a:pt x="3377882" y="21729"/>
                  </a:lnTo>
                  <a:lnTo>
                    <a:pt x="3394303" y="33185"/>
                  </a:lnTo>
                  <a:lnTo>
                    <a:pt x="3419094" y="65659"/>
                  </a:lnTo>
                  <a:lnTo>
                    <a:pt x="3433661" y="109474"/>
                  </a:lnTo>
                  <a:lnTo>
                    <a:pt x="3438525" y="163195"/>
                  </a:lnTo>
                  <a:lnTo>
                    <a:pt x="3437305" y="192252"/>
                  </a:lnTo>
                  <a:lnTo>
                    <a:pt x="3427539" y="242354"/>
                  </a:lnTo>
                  <a:lnTo>
                    <a:pt x="3407943" y="281559"/>
                  </a:lnTo>
                  <a:lnTo>
                    <a:pt x="3378085" y="307949"/>
                  </a:lnTo>
                  <a:lnTo>
                    <a:pt x="3359277" y="316230"/>
                  </a:lnTo>
                  <a:lnTo>
                    <a:pt x="3363468" y="329692"/>
                  </a:lnTo>
                  <a:lnTo>
                    <a:pt x="3408426" y="308584"/>
                  </a:lnTo>
                  <a:lnTo>
                    <a:pt x="3441573" y="272034"/>
                  </a:lnTo>
                  <a:lnTo>
                    <a:pt x="3461855" y="223177"/>
                  </a:lnTo>
                  <a:lnTo>
                    <a:pt x="3466922" y="195249"/>
                  </a:lnTo>
                  <a:lnTo>
                    <a:pt x="3468624" y="16497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7" name="object 5">
            <a:extLst>
              <a:ext uri="{FF2B5EF4-FFF2-40B4-BE49-F238E27FC236}">
                <a16:creationId xmlns:a16="http://schemas.microsoft.com/office/drawing/2014/main" id="{1B8FBFB3-A604-EE39-9C0E-AD98FCFC3199}"/>
              </a:ext>
            </a:extLst>
          </p:cNvPr>
          <p:cNvSpPr txBox="1">
            <a:spLocks/>
          </p:cNvSpPr>
          <p:nvPr/>
        </p:nvSpPr>
        <p:spPr>
          <a:xfrm>
            <a:off x="448054" y="610608"/>
            <a:ext cx="8239125" cy="938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224154">
              <a:lnSpc>
                <a:spcPts val="3350"/>
              </a:lnSpc>
              <a:spcBef>
                <a:spcPts val="100"/>
              </a:spcBef>
              <a:tabLst>
                <a:tab pos="4960620" algn="l"/>
                <a:tab pos="5307965" algn="l"/>
              </a:tabLst>
            </a:pPr>
            <a:r>
              <a:rPr lang="es-ES" kern="0" spc="-30" dirty="0"/>
              <a:t>REL</a:t>
            </a:r>
            <a:r>
              <a:rPr lang="es-ES" kern="0" spc="100" dirty="0"/>
              <a:t>A</a:t>
            </a:r>
            <a:r>
              <a:rPr lang="es-ES" kern="0" spc="260" dirty="0"/>
              <a:t>CIÓN</a:t>
            </a:r>
            <a:r>
              <a:rPr lang="es-ES" kern="0" spc="-80" dirty="0"/>
              <a:t> </a:t>
            </a:r>
            <a:r>
              <a:rPr lang="es-ES" kern="0" spc="65" dirty="0"/>
              <a:t>ENTRE</a:t>
            </a:r>
            <a:r>
              <a:rPr lang="es-ES" kern="0" spc="-90" dirty="0"/>
              <a:t> </a:t>
            </a:r>
            <a:r>
              <a:rPr lang="es-ES" kern="0" spc="75" dirty="0"/>
              <a:t>L</a:t>
            </a:r>
            <a:r>
              <a:rPr lang="es-ES" kern="0" spc="90" dirty="0"/>
              <a:t>A</a:t>
            </a:r>
            <a:r>
              <a:rPr lang="es-ES" kern="0" spc="-70" dirty="0"/>
              <a:t> </a:t>
            </a:r>
            <a:r>
              <a:rPr lang="es-ES" kern="0" spc="-555" dirty="0"/>
              <a:t>F</a:t>
            </a:r>
            <a:r>
              <a:rPr lang="es-ES" kern="0" spc="-245" dirty="0"/>
              <a:t>.A.R.</a:t>
            </a:r>
            <a:r>
              <a:rPr lang="es-ES" kern="0" spc="-195" dirty="0"/>
              <a:t>,</a:t>
            </a:r>
            <a:r>
              <a:rPr lang="es-ES" kern="0" spc="-365" dirty="0"/>
              <a:t> </a:t>
            </a:r>
            <a:r>
              <a:rPr lang="es-ES" kern="0" dirty="0">
                <a:latin typeface="Cambria Math"/>
                <a:cs typeface="Cambria Math"/>
              </a:rPr>
              <a:t>𝑟	𝑥	</a:t>
            </a:r>
            <a:r>
              <a:rPr lang="es-ES" kern="0" spc="-415" dirty="0"/>
              <a:t>,</a:t>
            </a:r>
            <a:r>
              <a:rPr lang="es-ES" kern="0" spc="5" dirty="0"/>
              <a:t> </a:t>
            </a:r>
            <a:r>
              <a:rPr lang="es-ES" kern="0" spc="95" dirty="0"/>
              <a:t>Y</a:t>
            </a:r>
            <a:r>
              <a:rPr lang="es-ES" kern="0" spc="-80" dirty="0"/>
              <a:t> </a:t>
            </a:r>
            <a:r>
              <a:rPr lang="es-ES" kern="0" spc="75" dirty="0"/>
              <a:t>L</a:t>
            </a:r>
            <a:r>
              <a:rPr lang="es-ES" kern="0" spc="90" dirty="0"/>
              <a:t>A</a:t>
            </a:r>
            <a:r>
              <a:rPr lang="es-ES" kern="0" spc="-70" dirty="0"/>
              <a:t> </a:t>
            </a:r>
            <a:r>
              <a:rPr lang="es-ES" kern="0" spc="50" dirty="0"/>
              <a:t>PRIMA</a:t>
            </a:r>
            <a:r>
              <a:rPr lang="es-ES" kern="0" spc="-95" dirty="0"/>
              <a:t> </a:t>
            </a:r>
            <a:r>
              <a:rPr lang="es-ES" kern="0" spc="140" dirty="0"/>
              <a:t>DE</a:t>
            </a:r>
          </a:p>
          <a:p>
            <a:pPr marL="224154">
              <a:lnSpc>
                <a:spcPts val="3829"/>
              </a:lnSpc>
              <a:tabLst>
                <a:tab pos="1941195" algn="l"/>
              </a:tabLst>
            </a:pPr>
            <a:r>
              <a:rPr lang="es-ES" kern="0" spc="70" dirty="0"/>
              <a:t>RIESGO</a:t>
            </a:r>
            <a:r>
              <a:rPr lang="es-ES" kern="0" spc="-80" dirty="0"/>
              <a:t> </a:t>
            </a:r>
            <a:r>
              <a:rPr lang="es-ES" sz="3200" kern="0" spc="-5" dirty="0">
                <a:latin typeface="Cambria Math"/>
                <a:cs typeface="Cambria Math"/>
              </a:rPr>
              <a:t>𝜋</a:t>
            </a:r>
            <a:r>
              <a:rPr lang="es-ES" sz="3200" kern="0" dirty="0">
                <a:latin typeface="Cambria Math"/>
                <a:cs typeface="Cambria Math"/>
              </a:rPr>
              <a:t>	</a:t>
            </a:r>
            <a:r>
              <a:rPr lang="es-ES" sz="3200" kern="0" spc="70" dirty="0">
                <a:latin typeface="Cambria Math"/>
                <a:cs typeface="Cambria Math"/>
              </a:rPr>
              <a:t>𝑋</a:t>
            </a:r>
            <a:r>
              <a:rPr lang="es-ES" sz="3200" kern="0" spc="-5" dirty="0">
                <a:latin typeface="Cambria Math"/>
                <a:cs typeface="Cambria Math"/>
              </a:rPr>
              <a:t>;</a:t>
            </a:r>
            <a:r>
              <a:rPr lang="es-ES" sz="3200" kern="0" spc="-165" dirty="0">
                <a:latin typeface="Cambria Math"/>
                <a:cs typeface="Cambria Math"/>
              </a:rPr>
              <a:t> </a:t>
            </a:r>
            <a:r>
              <a:rPr lang="es-ES" sz="3200" kern="0" spc="-5" dirty="0">
                <a:latin typeface="Cambria Math"/>
                <a:cs typeface="Cambria Math"/>
              </a:rPr>
              <a:t>𝑥</a:t>
            </a:r>
            <a:endParaRPr lang="es-ES" sz="3200" kern="0" dirty="0">
              <a:latin typeface="Cambria Math"/>
              <a:cs typeface="Cambria Math"/>
            </a:endParaRPr>
          </a:p>
        </p:txBody>
      </p:sp>
      <p:pic>
        <p:nvPicPr>
          <p:cNvPr id="68" name="Imagen 67">
            <a:extLst>
              <a:ext uri="{FF2B5EF4-FFF2-40B4-BE49-F238E27FC236}">
                <a16:creationId xmlns:a16="http://schemas.microsoft.com/office/drawing/2014/main" id="{76E3487B-C8B8-8980-4DEF-BE1260C872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2381" y="1761235"/>
            <a:ext cx="5483635" cy="849419"/>
          </a:xfrm>
          <a:prstGeom prst="rect">
            <a:avLst/>
          </a:prstGeom>
        </p:spPr>
      </p:pic>
      <p:pic>
        <p:nvPicPr>
          <p:cNvPr id="69" name="Imagen 68">
            <a:extLst>
              <a:ext uri="{FF2B5EF4-FFF2-40B4-BE49-F238E27FC236}">
                <a16:creationId xmlns:a16="http://schemas.microsoft.com/office/drawing/2014/main" id="{55B8CD3B-442F-BA08-4ACF-9D519D3B90B1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47247"/>
          <a:stretch/>
        </p:blipFill>
        <p:spPr>
          <a:xfrm>
            <a:off x="3337251" y="4256189"/>
            <a:ext cx="5562601" cy="56819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CuadroTexto 120">
                <a:extLst>
                  <a:ext uri="{FF2B5EF4-FFF2-40B4-BE49-F238E27FC236}">
                    <a16:creationId xmlns:a16="http://schemas.microsoft.com/office/drawing/2014/main" id="{D5CF15B0-A0E4-BFCD-0716-DAC5FE3AD2E7}"/>
                  </a:ext>
                </a:extLst>
              </p:cNvPr>
              <p:cNvSpPr txBox="1"/>
              <p:nvPr/>
            </p:nvSpPr>
            <p:spPr>
              <a:xfrm>
                <a:off x="3337251" y="4853555"/>
                <a:ext cx="131888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̃"/>
                          <m:ctrlPr>
                            <a:rPr lang="es-419" sz="1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419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s-CO" sz="1400" i="1" smtClean="0">
                          <a:latin typeface="Cambria Math" panose="02040503050406030204" pitchFamily="18" charset="0"/>
                        </a:rPr>
                        <m:t>&lt;</m:t>
                      </m:r>
                      <m:acc>
                        <m:accPr>
                          <m:chr m:val="̃"/>
                          <m:ctrlPr>
                            <a:rPr lang="es-419" sz="1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419" sz="1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s-CO" sz="140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s-CO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d>
                        <m:dPr>
                          <m:ctrlPr>
                            <a:rPr lang="es-CO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CO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s-CO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s-CO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s-CO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s-CO" sz="1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CO" sz="1400" dirty="0"/>
              </a:p>
            </p:txBody>
          </p:sp>
        </mc:Choice>
        <mc:Fallback xmlns="">
          <p:sp>
            <p:nvSpPr>
              <p:cNvPr id="121" name="CuadroTexto 120">
                <a:extLst>
                  <a:ext uri="{FF2B5EF4-FFF2-40B4-BE49-F238E27FC236}">
                    <a16:creationId xmlns:a16="http://schemas.microsoft.com/office/drawing/2014/main" id="{D5CF15B0-A0E4-BFCD-0716-DAC5FE3AD2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7251" y="4853555"/>
                <a:ext cx="1318883" cy="523220"/>
              </a:xfrm>
              <a:prstGeom prst="rect">
                <a:avLst/>
              </a:prstGeom>
              <a:blipFill>
                <a:blip r:embed="rId7"/>
                <a:stretch>
                  <a:fillRect b="-4762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Imagen 7">
            <a:extLst>
              <a:ext uri="{FF2B5EF4-FFF2-40B4-BE49-F238E27FC236}">
                <a16:creationId xmlns:a16="http://schemas.microsoft.com/office/drawing/2014/main" id="{37F80DCA-FE5F-CE30-048A-F05B7A1E936E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-1" t="17494" r="50001" b="5127"/>
          <a:stretch/>
        </p:blipFill>
        <p:spPr>
          <a:xfrm>
            <a:off x="7247214" y="2595974"/>
            <a:ext cx="1185620" cy="984361"/>
          </a:xfrm>
          <a:prstGeom prst="rect">
            <a:avLst/>
          </a:prstGeom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7F5B87EC-3363-D63F-DE59-2CFD1F98512E}"/>
              </a:ext>
            </a:extLst>
          </p:cNvPr>
          <p:cNvGrpSpPr/>
          <p:nvPr/>
        </p:nvGrpSpPr>
        <p:grpSpPr>
          <a:xfrm>
            <a:off x="5282048" y="2476157"/>
            <a:ext cx="1456172" cy="1096339"/>
            <a:chOff x="3531644" y="650622"/>
            <a:chExt cx="2111196" cy="1435548"/>
          </a:xfrm>
        </p:grpSpPr>
        <p:pic>
          <p:nvPicPr>
            <p:cNvPr id="23" name="Imagen 22">
              <a:extLst>
                <a:ext uri="{FF2B5EF4-FFF2-40B4-BE49-F238E27FC236}">
                  <a16:creationId xmlns:a16="http://schemas.microsoft.com/office/drawing/2014/main" id="{3A77A37E-23F9-7757-B7F7-57D42A9D254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r="32487" b="89433"/>
            <a:stretch/>
          </p:blipFill>
          <p:spPr>
            <a:xfrm>
              <a:off x="3774586" y="650622"/>
              <a:ext cx="1639174" cy="256555"/>
            </a:xfrm>
            <a:prstGeom prst="rect">
              <a:avLst/>
            </a:prstGeom>
          </p:spPr>
        </p:pic>
        <p:pic>
          <p:nvPicPr>
            <p:cNvPr id="24" name="Imagen 23">
              <a:extLst>
                <a:ext uri="{FF2B5EF4-FFF2-40B4-BE49-F238E27FC236}">
                  <a16:creationId xmlns:a16="http://schemas.microsoft.com/office/drawing/2014/main" id="{F79C580E-5EE7-0F13-5273-1CF66EC4E9D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t="43565" b="1"/>
            <a:stretch/>
          </p:blipFill>
          <p:spPr>
            <a:xfrm>
              <a:off x="3531644" y="894715"/>
              <a:ext cx="2111196" cy="1191455"/>
            </a:xfrm>
            <a:prstGeom prst="rect">
              <a:avLst/>
            </a:prstGeom>
          </p:spPr>
        </p:pic>
      </p:grpSp>
      <p:sp>
        <p:nvSpPr>
          <p:cNvPr id="25" name="CuadroTexto 24">
            <a:extLst>
              <a:ext uri="{FF2B5EF4-FFF2-40B4-BE49-F238E27FC236}">
                <a16:creationId xmlns:a16="http://schemas.microsoft.com/office/drawing/2014/main" id="{E1DB7743-9E76-ACB4-4589-2C35488DE704}"/>
              </a:ext>
            </a:extLst>
          </p:cNvPr>
          <p:cNvSpPr txBox="1"/>
          <p:nvPr/>
        </p:nvSpPr>
        <p:spPr>
          <a:xfrm>
            <a:off x="7758399" y="2831360"/>
            <a:ext cx="320601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r(x)</a:t>
            </a:r>
          </a:p>
        </p:txBody>
      </p:sp>
      <p:pic>
        <p:nvPicPr>
          <p:cNvPr id="26" name="Imagen 25">
            <a:extLst>
              <a:ext uri="{FF2B5EF4-FFF2-40B4-BE49-F238E27FC236}">
                <a16:creationId xmlns:a16="http://schemas.microsoft.com/office/drawing/2014/main" id="{500ECE4E-A052-90BF-467C-1BDBAD888016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b="90392"/>
          <a:stretch/>
        </p:blipFill>
        <p:spPr>
          <a:xfrm>
            <a:off x="5244958" y="4751072"/>
            <a:ext cx="1371833" cy="242729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ED529DC3-DAD1-D205-5951-8E9DCBB7C6A2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t="30522"/>
          <a:stretch/>
        </p:blipFill>
        <p:spPr>
          <a:xfrm>
            <a:off x="5287503" y="5047339"/>
            <a:ext cx="1318883" cy="877467"/>
          </a:xfrm>
          <a:prstGeom prst="rect">
            <a:avLst/>
          </a:prstGeom>
        </p:spPr>
      </p:pic>
      <p:sp>
        <p:nvSpPr>
          <p:cNvPr id="29" name="CuadroTexto 28">
            <a:extLst>
              <a:ext uri="{FF2B5EF4-FFF2-40B4-BE49-F238E27FC236}">
                <a16:creationId xmlns:a16="http://schemas.microsoft.com/office/drawing/2014/main" id="{14CDF8C6-953F-F6A0-D4B0-FAC554EF88A3}"/>
              </a:ext>
            </a:extLst>
          </p:cNvPr>
          <p:cNvSpPr txBox="1"/>
          <p:nvPr/>
        </p:nvSpPr>
        <p:spPr>
          <a:xfrm>
            <a:off x="7928722" y="4612572"/>
            <a:ext cx="250068" cy="215444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r(x)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EB9CC79-ADCD-76DB-4193-F4C092C52D52}"/>
              </a:ext>
            </a:extLst>
          </p:cNvPr>
          <p:cNvSpPr txBox="1"/>
          <p:nvPr/>
        </p:nvSpPr>
        <p:spPr>
          <a:xfrm>
            <a:off x="3959168" y="6157182"/>
            <a:ext cx="4600555" cy="3385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s-CO" sz="1600" dirty="0"/>
              <a:t>Conforme avanza en la riqueza, su aversión aumenta.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7A547F7-3117-F7E7-4A99-DC681747446F}"/>
              </a:ext>
            </a:extLst>
          </p:cNvPr>
          <p:cNvSpPr txBox="1"/>
          <p:nvPr/>
        </p:nvSpPr>
        <p:spPr>
          <a:xfrm>
            <a:off x="3876024" y="3705258"/>
            <a:ext cx="4711483" cy="3385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s-CO" sz="1600" dirty="0"/>
              <a:t>Conforme avanza en la riqueza, su aversión disminuye.</a:t>
            </a:r>
          </a:p>
        </p:txBody>
      </p:sp>
      <p:sp>
        <p:nvSpPr>
          <p:cNvPr id="223" name="Rectángulo 222">
            <a:extLst>
              <a:ext uri="{FF2B5EF4-FFF2-40B4-BE49-F238E27FC236}">
                <a16:creationId xmlns:a16="http://schemas.microsoft.com/office/drawing/2014/main" id="{57B6A31A-AD8C-70D9-48C7-0B0DE45329F5}"/>
              </a:ext>
            </a:extLst>
          </p:cNvPr>
          <p:cNvSpPr/>
          <p:nvPr/>
        </p:nvSpPr>
        <p:spPr>
          <a:xfrm>
            <a:off x="0" y="4145281"/>
            <a:ext cx="9144000" cy="45719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231" name="Grupo 230">
            <a:extLst>
              <a:ext uri="{FF2B5EF4-FFF2-40B4-BE49-F238E27FC236}">
                <a16:creationId xmlns:a16="http://schemas.microsoft.com/office/drawing/2014/main" id="{0B9EE6C4-DD42-11B6-F8BD-8C8F90CC53C8}"/>
              </a:ext>
            </a:extLst>
          </p:cNvPr>
          <p:cNvGrpSpPr/>
          <p:nvPr/>
        </p:nvGrpSpPr>
        <p:grpSpPr>
          <a:xfrm>
            <a:off x="216383" y="1844458"/>
            <a:ext cx="3017430" cy="1939655"/>
            <a:chOff x="217098" y="1672288"/>
            <a:chExt cx="3017430" cy="1939655"/>
          </a:xfrm>
        </p:grpSpPr>
        <p:grpSp>
          <p:nvGrpSpPr>
            <p:cNvPr id="222" name="Grupo 221">
              <a:extLst>
                <a:ext uri="{FF2B5EF4-FFF2-40B4-BE49-F238E27FC236}">
                  <a16:creationId xmlns:a16="http://schemas.microsoft.com/office/drawing/2014/main" id="{7D8745C6-BDAF-D922-9095-7F395914CE4C}"/>
                </a:ext>
              </a:extLst>
            </p:cNvPr>
            <p:cNvGrpSpPr/>
            <p:nvPr/>
          </p:nvGrpSpPr>
          <p:grpSpPr>
            <a:xfrm>
              <a:off x="644581" y="1696244"/>
              <a:ext cx="2484368" cy="1895990"/>
              <a:chOff x="685800" y="1881469"/>
              <a:chExt cx="2484368" cy="1895990"/>
            </a:xfrm>
          </p:grpSpPr>
          <p:cxnSp>
            <p:nvCxnSpPr>
              <p:cNvPr id="5" name="Conector recto de flecha 4">
                <a:extLst>
                  <a:ext uri="{FF2B5EF4-FFF2-40B4-BE49-F238E27FC236}">
                    <a16:creationId xmlns:a16="http://schemas.microsoft.com/office/drawing/2014/main" id="{35981E4A-C716-003E-DA54-E858A2ADEFE2}"/>
                  </a:ext>
                </a:extLst>
              </p:cNvPr>
              <p:cNvCxnSpPr/>
              <p:nvPr/>
            </p:nvCxnSpPr>
            <p:spPr>
              <a:xfrm>
                <a:off x="685800" y="3557869"/>
                <a:ext cx="220980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Conector recto de flecha 5">
                <a:extLst>
                  <a:ext uri="{FF2B5EF4-FFF2-40B4-BE49-F238E27FC236}">
                    <a16:creationId xmlns:a16="http://schemas.microsoft.com/office/drawing/2014/main" id="{EA614858-C184-2F9F-9F51-4F9E9A407CB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85800" y="1881469"/>
                <a:ext cx="3544" cy="16764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Conector recto 12">
                <a:extLst>
                  <a:ext uri="{FF2B5EF4-FFF2-40B4-BE49-F238E27FC236}">
                    <a16:creationId xmlns:a16="http://schemas.microsoft.com/office/drawing/2014/main" id="{AD25B2AC-13DE-F8F8-C0E0-3C3643411F1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42140" y="2197928"/>
                <a:ext cx="2009317" cy="77387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CuadroTexto 17">
                    <a:extLst>
                      <a:ext uri="{FF2B5EF4-FFF2-40B4-BE49-F238E27FC236}">
                        <a16:creationId xmlns:a16="http://schemas.microsoft.com/office/drawing/2014/main" id="{9D6A97C8-C6C4-7EA2-1598-39E453FAFAC1}"/>
                      </a:ext>
                    </a:extLst>
                  </p:cNvPr>
                  <p:cNvSpPr txBox="1"/>
                  <p:nvPr/>
                </p:nvSpPr>
                <p:spPr>
                  <a:xfrm>
                    <a:off x="2167766" y="3523543"/>
                    <a:ext cx="457200" cy="253916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acc>
                            <m:accPr>
                              <m:chr m:val="̃"/>
                              <m:ctrlPr>
                                <a:rPr lang="es-419" sz="1050" b="1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419" sz="1050" b="1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oMath>
                      </m:oMathPara>
                    </a14:m>
                    <a:endParaRPr lang="es-CO" sz="1050" b="1" dirty="0"/>
                  </a:p>
                </p:txBody>
              </p:sp>
            </mc:Choice>
            <mc:Fallback xmlns="">
              <p:sp>
                <p:nvSpPr>
                  <p:cNvPr id="18" name="CuadroTexto 17">
                    <a:extLst>
                      <a:ext uri="{FF2B5EF4-FFF2-40B4-BE49-F238E27FC236}">
                        <a16:creationId xmlns:a16="http://schemas.microsoft.com/office/drawing/2014/main" id="{9D6A97C8-C6C4-7EA2-1598-39E453FAFAC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67766" y="3523543"/>
                    <a:ext cx="457200" cy="253916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1" name="Conector recto 20">
                <a:extLst>
                  <a:ext uri="{FF2B5EF4-FFF2-40B4-BE49-F238E27FC236}">
                    <a16:creationId xmlns:a16="http://schemas.microsoft.com/office/drawing/2014/main" id="{7A1D7CE2-112D-C253-1101-94393374EA6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74232" y="2726430"/>
                <a:ext cx="13" cy="838200"/>
              </a:xfrm>
              <a:prstGeom prst="line">
                <a:avLst/>
              </a:prstGeom>
              <a:ln w="19050" cap="flat" cmpd="sng" algn="ctr">
                <a:solidFill>
                  <a:schemeClr val="accent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22" name="Conector recto 21">
                <a:extLst>
                  <a:ext uri="{FF2B5EF4-FFF2-40B4-BE49-F238E27FC236}">
                    <a16:creationId xmlns:a16="http://schemas.microsoft.com/office/drawing/2014/main" id="{F8C19367-787E-7055-B837-2A4F6B25302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39950" y="2699063"/>
                <a:ext cx="647475" cy="54416"/>
              </a:xfrm>
              <a:prstGeom prst="line">
                <a:avLst/>
              </a:prstGeom>
              <a:ln w="19050" cap="flat" cmpd="sng" algn="ctr">
                <a:solidFill>
                  <a:schemeClr val="accent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1" name="Conector recto 30">
                <a:extLst>
                  <a:ext uri="{FF2B5EF4-FFF2-40B4-BE49-F238E27FC236}">
                    <a16:creationId xmlns:a16="http://schemas.microsoft.com/office/drawing/2014/main" id="{FD6EC954-AAC0-6FB3-DB27-012FED0ABFB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9950" y="2733024"/>
                <a:ext cx="0" cy="85434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CuadroTexto 35">
                    <a:extLst>
                      <a:ext uri="{FF2B5EF4-FFF2-40B4-BE49-F238E27FC236}">
                        <a16:creationId xmlns:a16="http://schemas.microsoft.com/office/drawing/2014/main" id="{6FF13B18-E3A8-53AA-C35A-B6E81D7F63F3}"/>
                      </a:ext>
                    </a:extLst>
                  </p:cNvPr>
                  <p:cNvSpPr txBox="1"/>
                  <p:nvPr/>
                </p:nvSpPr>
                <p:spPr>
                  <a:xfrm>
                    <a:off x="694984" y="3518543"/>
                    <a:ext cx="457200" cy="253916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s-CO" sz="105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sz="105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CO" sz="105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oMath>
                      </m:oMathPara>
                    </a14:m>
                    <a:endParaRPr lang="es-CO" sz="1050" dirty="0"/>
                  </a:p>
                </p:txBody>
              </p:sp>
            </mc:Choice>
            <mc:Fallback xmlns="">
              <p:sp>
                <p:nvSpPr>
                  <p:cNvPr id="36" name="CuadroTexto 35">
                    <a:extLst>
                      <a:ext uri="{FF2B5EF4-FFF2-40B4-BE49-F238E27FC236}">
                        <a16:creationId xmlns:a16="http://schemas.microsoft.com/office/drawing/2014/main" id="{6FF13B18-E3A8-53AA-C35A-B6E81D7F63F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4984" y="3518543"/>
                    <a:ext cx="457200" cy="253916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43" name="Conector recto 42">
                <a:extLst>
                  <a:ext uri="{FF2B5EF4-FFF2-40B4-BE49-F238E27FC236}">
                    <a16:creationId xmlns:a16="http://schemas.microsoft.com/office/drawing/2014/main" id="{521043D9-CA21-C897-1574-BF59E2D0038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65923" y="2371906"/>
                <a:ext cx="21974" cy="1147912"/>
              </a:xfrm>
              <a:prstGeom prst="line">
                <a:avLst/>
              </a:prstGeom>
              <a:ln w="19050" cap="flat" cmpd="sng" algn="ctr">
                <a:solidFill>
                  <a:schemeClr val="accent6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45" name="Conector recto 44">
                <a:extLst>
                  <a:ext uri="{FF2B5EF4-FFF2-40B4-BE49-F238E27FC236}">
                    <a16:creationId xmlns:a16="http://schemas.microsoft.com/office/drawing/2014/main" id="{A0527F32-B7E8-14AD-EC51-187FF67B68C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056827" y="2367210"/>
                <a:ext cx="244950" cy="4696"/>
              </a:xfrm>
              <a:prstGeom prst="line">
                <a:avLst/>
              </a:prstGeom>
              <a:ln w="19050" cap="flat" cmpd="sng" algn="ctr">
                <a:solidFill>
                  <a:schemeClr val="accent6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47" name="Conector recto 46">
                <a:extLst>
                  <a:ext uri="{FF2B5EF4-FFF2-40B4-BE49-F238E27FC236}">
                    <a16:creationId xmlns:a16="http://schemas.microsoft.com/office/drawing/2014/main" id="{A5C2EA18-CB0F-B62B-E317-4203238A98B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046305" y="2334699"/>
                <a:ext cx="10522" cy="1252357"/>
              </a:xfrm>
              <a:prstGeom prst="line">
                <a:avLst/>
              </a:prstGeom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" name="CuadroTexto 48">
                    <a:extLst>
                      <a:ext uri="{FF2B5EF4-FFF2-40B4-BE49-F238E27FC236}">
                        <a16:creationId xmlns:a16="http://schemas.microsoft.com/office/drawing/2014/main" id="{66D8BA84-E167-8762-C77C-12BF36F982B1}"/>
                      </a:ext>
                    </a:extLst>
                  </p:cNvPr>
                  <p:cNvSpPr txBox="1"/>
                  <p:nvPr/>
                </p:nvSpPr>
                <p:spPr>
                  <a:xfrm>
                    <a:off x="1847689" y="3506233"/>
                    <a:ext cx="457200" cy="253916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s-CO" sz="105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sz="105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CO" sz="105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oMath>
                      </m:oMathPara>
                    </a14:m>
                    <a:endParaRPr lang="es-CO" sz="1050" dirty="0"/>
                  </a:p>
                </p:txBody>
              </p:sp>
            </mc:Choice>
            <mc:Fallback xmlns="">
              <p:sp>
                <p:nvSpPr>
                  <p:cNvPr id="49" name="CuadroTexto 48">
                    <a:extLst>
                      <a:ext uri="{FF2B5EF4-FFF2-40B4-BE49-F238E27FC236}">
                        <a16:creationId xmlns:a16="http://schemas.microsoft.com/office/drawing/2014/main" id="{66D8BA84-E167-8762-C77C-12BF36F982B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47689" y="3506233"/>
                    <a:ext cx="457200" cy="253916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51" name="Conector recto 50">
                <a:extLst>
                  <a:ext uri="{FF2B5EF4-FFF2-40B4-BE49-F238E27FC236}">
                    <a16:creationId xmlns:a16="http://schemas.microsoft.com/office/drawing/2014/main" id="{083CAB89-5772-216D-BCCC-1ADAF3C447B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39950" y="3255735"/>
                <a:ext cx="647475" cy="28117"/>
              </a:xfrm>
              <a:prstGeom prst="line">
                <a:avLst/>
              </a:prstGeom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Conector recto 56">
                <a:extLst>
                  <a:ext uri="{FF2B5EF4-FFF2-40B4-BE49-F238E27FC236}">
                    <a16:creationId xmlns:a16="http://schemas.microsoft.com/office/drawing/2014/main" id="{5EC3C56C-054A-D535-C7C0-78BAFBFDF5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51395" y="3038478"/>
                <a:ext cx="319485" cy="6912"/>
              </a:xfrm>
              <a:prstGeom prst="line">
                <a:avLst/>
              </a:prstGeom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" name="CuadroTexto 61">
                    <a:extLst>
                      <a:ext uri="{FF2B5EF4-FFF2-40B4-BE49-F238E27FC236}">
                        <a16:creationId xmlns:a16="http://schemas.microsoft.com/office/drawing/2014/main" id="{4FA513ED-F7BA-1CC3-72D1-9DFD26C8FFD7}"/>
                      </a:ext>
                    </a:extLst>
                  </p:cNvPr>
                  <p:cNvSpPr txBox="1"/>
                  <p:nvPr/>
                </p:nvSpPr>
                <p:spPr>
                  <a:xfrm>
                    <a:off x="1979702" y="2745422"/>
                    <a:ext cx="457200" cy="26161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s-CO" sz="11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𝝅</m:t>
                          </m:r>
                          <m:r>
                            <a:rPr lang="es-CO" sz="11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s-CO" sz="11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𝒚</m:t>
                          </m:r>
                          <m:r>
                            <a:rPr lang="es-CO" sz="11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s-CO" sz="1100" dirty="0"/>
                  </a:p>
                </p:txBody>
              </p:sp>
            </mc:Choice>
            <mc:Fallback xmlns="">
              <p:sp>
                <p:nvSpPr>
                  <p:cNvPr id="62" name="CuadroTexto 61">
                    <a:extLst>
                      <a:ext uri="{FF2B5EF4-FFF2-40B4-BE49-F238E27FC236}">
                        <a16:creationId xmlns:a16="http://schemas.microsoft.com/office/drawing/2014/main" id="{4FA513ED-F7BA-1CC3-72D1-9DFD26C8FFD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79702" y="2745422"/>
                    <a:ext cx="457200" cy="261610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b="-4762"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3" name="CuadroTexto 62">
                    <a:extLst>
                      <a:ext uri="{FF2B5EF4-FFF2-40B4-BE49-F238E27FC236}">
                        <a16:creationId xmlns:a16="http://schemas.microsoft.com/office/drawing/2014/main" id="{2DFB4B1D-EADC-1E19-5680-EBA058EBD5D0}"/>
                      </a:ext>
                    </a:extLst>
                  </p:cNvPr>
                  <p:cNvSpPr txBox="1"/>
                  <p:nvPr/>
                </p:nvSpPr>
                <p:spPr>
                  <a:xfrm>
                    <a:off x="817070" y="2994125"/>
                    <a:ext cx="457200" cy="26161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s-CO" sz="11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𝝅</m:t>
                          </m:r>
                          <m:r>
                            <a:rPr lang="es-CO" sz="11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s-CO" sz="11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s-CO" sz="11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s-CO" sz="1100" dirty="0">
                      <a:solidFill>
                        <a:schemeClr val="accent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3" name="CuadroTexto 62">
                    <a:extLst>
                      <a:ext uri="{FF2B5EF4-FFF2-40B4-BE49-F238E27FC236}">
                        <a16:creationId xmlns:a16="http://schemas.microsoft.com/office/drawing/2014/main" id="{2DFB4B1D-EADC-1E19-5680-EBA058EBD5D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17070" y="2994125"/>
                    <a:ext cx="457200" cy="261610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0" name="Connecteur : en arc 9">
                <a:extLst>
                  <a:ext uri="{FF2B5EF4-FFF2-40B4-BE49-F238E27FC236}">
                    <a16:creationId xmlns:a16="http://schemas.microsoft.com/office/drawing/2014/main" id="{01876C9E-C62D-43D7-A6F1-387BAB593EEF}"/>
                  </a:ext>
                </a:extLst>
              </p:cNvPr>
              <p:cNvSpPr/>
              <p:nvPr/>
            </p:nvSpPr>
            <p:spPr>
              <a:xfrm rot="16200000">
                <a:off x="1507043" y="1375352"/>
                <a:ext cx="845428" cy="2480823"/>
              </a:xfrm>
              <a:prstGeom prst="curvedConnector2">
                <a:avLst/>
              </a:prstGeom>
              <a:solidFill>
                <a:srgbClr val="000000">
                  <a:alpha val="5000"/>
                </a:srgbClr>
              </a:solidFill>
              <a:ln w="12600">
                <a:solidFill>
                  <a:srgbClr val="0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wrap="none" rtlCol="0" anchor="ctr" anchorCtr="1"/>
              <a:lstStyle/>
              <a:p>
                <a:endParaRPr lang="es-ES">
                  <a:solidFill>
                    <a:srgbClr val="000000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7" name="CuadroTexto 76">
                    <a:extLst>
                      <a:ext uri="{FF2B5EF4-FFF2-40B4-BE49-F238E27FC236}">
                        <a16:creationId xmlns:a16="http://schemas.microsoft.com/office/drawing/2014/main" id="{402666A8-E118-AB8D-D701-931052F98EA3}"/>
                      </a:ext>
                    </a:extLst>
                  </p:cNvPr>
                  <p:cNvSpPr txBox="1"/>
                  <p:nvPr/>
                </p:nvSpPr>
                <p:spPr>
                  <a:xfrm>
                    <a:off x="1258175" y="3503950"/>
                    <a:ext cx="457200" cy="26161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acc>
                            <m:accPr>
                              <m:chr m:val="̃"/>
                              <m:ctrlPr>
                                <a:rPr lang="es-419" sz="105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419" sz="105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acc>
                        </m:oMath>
                      </m:oMathPara>
                    </a14:m>
                    <a:endParaRPr lang="es-CO" sz="1050" b="1" dirty="0"/>
                  </a:p>
                </p:txBody>
              </p:sp>
            </mc:Choice>
            <mc:Fallback xmlns="">
              <p:sp>
                <p:nvSpPr>
                  <p:cNvPr id="77" name="CuadroTexto 76">
                    <a:extLst>
                      <a:ext uri="{FF2B5EF4-FFF2-40B4-BE49-F238E27FC236}">
                        <a16:creationId xmlns:a16="http://schemas.microsoft.com/office/drawing/2014/main" id="{402666A8-E118-AB8D-D701-931052F98EA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58175" y="3503950"/>
                    <a:ext cx="457200" cy="261610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24" name="CuadroTexto 223">
              <a:extLst>
                <a:ext uri="{FF2B5EF4-FFF2-40B4-BE49-F238E27FC236}">
                  <a16:creationId xmlns:a16="http://schemas.microsoft.com/office/drawing/2014/main" id="{288D4C3D-B3D8-09F3-E0D4-2B5A915AC418}"/>
                </a:ext>
              </a:extLst>
            </p:cNvPr>
            <p:cNvSpPr txBox="1"/>
            <p:nvPr/>
          </p:nvSpPr>
          <p:spPr>
            <a:xfrm>
              <a:off x="2599418" y="3350333"/>
              <a:ext cx="63511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100" dirty="0">
                  <a:solidFill>
                    <a:schemeClr val="tx2"/>
                  </a:solidFill>
                </a:rPr>
                <a:t>Riqueza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7" name="CuadroTexto 226">
                  <a:extLst>
                    <a:ext uri="{FF2B5EF4-FFF2-40B4-BE49-F238E27FC236}">
                      <a16:creationId xmlns:a16="http://schemas.microsoft.com/office/drawing/2014/main" id="{A63209F0-4EC0-98FA-466E-92BDBE01574A}"/>
                    </a:ext>
                  </a:extLst>
                </p:cNvPr>
                <p:cNvSpPr txBox="1"/>
                <p:nvPr/>
              </p:nvSpPr>
              <p:spPr>
                <a:xfrm>
                  <a:off x="217098" y="1672288"/>
                  <a:ext cx="456391" cy="2616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s-419" sz="11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s-419" sz="11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419" sz="11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419" sz="11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O" sz="1100" dirty="0"/>
                </a:p>
              </p:txBody>
            </p:sp>
          </mc:Choice>
          <mc:Fallback xmlns="">
            <p:sp>
              <p:nvSpPr>
                <p:cNvPr id="227" name="CuadroTexto 226">
                  <a:extLst>
                    <a:ext uri="{FF2B5EF4-FFF2-40B4-BE49-F238E27FC236}">
                      <a16:creationId xmlns:a16="http://schemas.microsoft.com/office/drawing/2014/main" id="{A63209F0-4EC0-98FA-466E-92BDBE0157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7098" y="1672288"/>
                  <a:ext cx="456391" cy="261610"/>
                </a:xfrm>
                <a:prstGeom prst="rect">
                  <a:avLst/>
                </a:prstGeom>
                <a:blipFill>
                  <a:blip r:embed="rId18"/>
                  <a:stretch>
                    <a:fillRect b="-4762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30" name="Grupo 229">
            <a:extLst>
              <a:ext uri="{FF2B5EF4-FFF2-40B4-BE49-F238E27FC236}">
                <a16:creationId xmlns:a16="http://schemas.microsoft.com/office/drawing/2014/main" id="{B1D248B6-ADF0-7200-5102-87B1E95F9253}"/>
              </a:ext>
            </a:extLst>
          </p:cNvPr>
          <p:cNvGrpSpPr/>
          <p:nvPr/>
        </p:nvGrpSpPr>
        <p:grpSpPr>
          <a:xfrm>
            <a:off x="222847" y="4298911"/>
            <a:ext cx="3064843" cy="2398545"/>
            <a:chOff x="222847" y="4298911"/>
            <a:chExt cx="3064843" cy="2398545"/>
          </a:xfrm>
        </p:grpSpPr>
        <p:grpSp>
          <p:nvGrpSpPr>
            <p:cNvPr id="220" name="Grupo 219">
              <a:extLst>
                <a:ext uri="{FF2B5EF4-FFF2-40B4-BE49-F238E27FC236}">
                  <a16:creationId xmlns:a16="http://schemas.microsoft.com/office/drawing/2014/main" id="{E8C8A97B-FE41-C9CC-8122-852530AF69E3}"/>
                </a:ext>
              </a:extLst>
            </p:cNvPr>
            <p:cNvGrpSpPr/>
            <p:nvPr/>
          </p:nvGrpSpPr>
          <p:grpSpPr>
            <a:xfrm>
              <a:off x="636197" y="4298911"/>
              <a:ext cx="2301905" cy="2398545"/>
              <a:chOff x="742140" y="3926055"/>
              <a:chExt cx="2301905" cy="2398545"/>
            </a:xfrm>
          </p:grpSpPr>
          <p:cxnSp>
            <p:nvCxnSpPr>
              <p:cNvPr id="12" name="Conector recto de flecha 11">
                <a:extLst>
                  <a:ext uri="{FF2B5EF4-FFF2-40B4-BE49-F238E27FC236}">
                    <a16:creationId xmlns:a16="http://schemas.microsoft.com/office/drawing/2014/main" id="{4AAB6D84-A84E-C566-8DA8-4190E4C70401}"/>
                  </a:ext>
                </a:extLst>
              </p:cNvPr>
              <p:cNvCxnSpPr/>
              <p:nvPr/>
            </p:nvCxnSpPr>
            <p:spPr>
              <a:xfrm>
                <a:off x="742140" y="6094858"/>
                <a:ext cx="220980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Conector recto de flecha 13">
                <a:extLst>
                  <a:ext uri="{FF2B5EF4-FFF2-40B4-BE49-F238E27FC236}">
                    <a16:creationId xmlns:a16="http://schemas.microsoft.com/office/drawing/2014/main" id="{FB3B32C2-ADFA-346E-FA92-FEC2C4F701E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42140" y="4418458"/>
                <a:ext cx="3544" cy="16764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CuadroTexto 16">
                    <a:extLst>
                      <a:ext uri="{FF2B5EF4-FFF2-40B4-BE49-F238E27FC236}">
                        <a16:creationId xmlns:a16="http://schemas.microsoft.com/office/drawing/2014/main" id="{342F8C46-321B-E26B-4973-C09685D95746}"/>
                      </a:ext>
                    </a:extLst>
                  </p:cNvPr>
                  <p:cNvSpPr txBox="1"/>
                  <p:nvPr/>
                </p:nvSpPr>
                <p:spPr>
                  <a:xfrm>
                    <a:off x="2008059" y="6065618"/>
                    <a:ext cx="201741" cy="253916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acc>
                            <m:accPr>
                              <m:chr m:val="̃"/>
                              <m:ctrlPr>
                                <a:rPr lang="es-419" sz="1050" b="1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419" sz="1050" b="1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oMath>
                      </m:oMathPara>
                    </a14:m>
                    <a:endParaRPr lang="es-CO" sz="1050" b="1" dirty="0"/>
                  </a:p>
                </p:txBody>
              </p:sp>
            </mc:Choice>
            <mc:Fallback xmlns="">
              <p:sp>
                <p:nvSpPr>
                  <p:cNvPr id="17" name="CuadroTexto 16">
                    <a:extLst>
                      <a:ext uri="{FF2B5EF4-FFF2-40B4-BE49-F238E27FC236}">
                        <a16:creationId xmlns:a16="http://schemas.microsoft.com/office/drawing/2014/main" id="{342F8C46-321B-E26B-4973-C09685D9574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08059" y="6065618"/>
                    <a:ext cx="201741" cy="253916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r="-11765"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CuadroTexto 29">
                    <a:extLst>
                      <a:ext uri="{FF2B5EF4-FFF2-40B4-BE49-F238E27FC236}">
                        <a16:creationId xmlns:a16="http://schemas.microsoft.com/office/drawing/2014/main" id="{E61479F0-F5AB-0CA3-56AD-BE30282D98C4}"/>
                      </a:ext>
                    </a:extLst>
                  </p:cNvPr>
                  <p:cNvSpPr txBox="1"/>
                  <p:nvPr/>
                </p:nvSpPr>
                <p:spPr>
                  <a:xfrm>
                    <a:off x="747462" y="6030594"/>
                    <a:ext cx="248488" cy="253916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s-CO" sz="105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sz="105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CO" sz="105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oMath>
                      </m:oMathPara>
                    </a14:m>
                    <a:endParaRPr lang="es-CO" sz="1050" dirty="0"/>
                  </a:p>
                </p:txBody>
              </p:sp>
            </mc:Choice>
            <mc:Fallback xmlns="">
              <p:sp>
                <p:nvSpPr>
                  <p:cNvPr id="30" name="CuadroTexto 29">
                    <a:extLst>
                      <a:ext uri="{FF2B5EF4-FFF2-40B4-BE49-F238E27FC236}">
                        <a16:creationId xmlns:a16="http://schemas.microsoft.com/office/drawing/2014/main" id="{E61479F0-F5AB-0CA3-56AD-BE30282D98C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47462" y="6030594"/>
                    <a:ext cx="248488" cy="253916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CuadroTexto 31">
                    <a:extLst>
                      <a:ext uri="{FF2B5EF4-FFF2-40B4-BE49-F238E27FC236}">
                        <a16:creationId xmlns:a16="http://schemas.microsoft.com/office/drawing/2014/main" id="{99A18E00-2867-32E1-2CD1-2CF0818D3090}"/>
                      </a:ext>
                    </a:extLst>
                  </p:cNvPr>
                  <p:cNvSpPr txBox="1"/>
                  <p:nvPr/>
                </p:nvSpPr>
                <p:spPr>
                  <a:xfrm>
                    <a:off x="1396864" y="6026530"/>
                    <a:ext cx="248488" cy="253916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s-CO" sz="105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sz="105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CO" sz="105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oMath>
                      </m:oMathPara>
                    </a14:m>
                    <a:endParaRPr lang="es-CO" sz="1050" dirty="0"/>
                  </a:p>
                </p:txBody>
              </p:sp>
            </mc:Choice>
            <mc:Fallback xmlns="">
              <p:sp>
                <p:nvSpPr>
                  <p:cNvPr id="32" name="CuadroTexto 31">
                    <a:extLst>
                      <a:ext uri="{FF2B5EF4-FFF2-40B4-BE49-F238E27FC236}">
                        <a16:creationId xmlns:a16="http://schemas.microsoft.com/office/drawing/2014/main" id="{99A18E00-2867-32E1-2CD1-2CF0818D309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96864" y="6026530"/>
                    <a:ext cx="248488" cy="253916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CuadroTexto 32">
                    <a:extLst>
                      <a:ext uri="{FF2B5EF4-FFF2-40B4-BE49-F238E27FC236}">
                        <a16:creationId xmlns:a16="http://schemas.microsoft.com/office/drawing/2014/main" id="{41A917F6-70B2-8675-7FC3-94B556440EEB}"/>
                      </a:ext>
                    </a:extLst>
                  </p:cNvPr>
                  <p:cNvSpPr txBox="1"/>
                  <p:nvPr/>
                </p:nvSpPr>
                <p:spPr>
                  <a:xfrm>
                    <a:off x="1069019" y="6070684"/>
                    <a:ext cx="248488" cy="253916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acc>
                            <m:accPr>
                              <m:chr m:val="̃"/>
                              <m:ctrlPr>
                                <a:rPr lang="es-419" sz="105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419" sz="105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acc>
                        </m:oMath>
                      </m:oMathPara>
                    </a14:m>
                    <a:endParaRPr lang="es-CO" sz="1050" b="1" dirty="0"/>
                  </a:p>
                </p:txBody>
              </p:sp>
            </mc:Choice>
            <mc:Fallback xmlns="">
              <p:sp>
                <p:nvSpPr>
                  <p:cNvPr id="33" name="CuadroTexto 32">
                    <a:extLst>
                      <a:ext uri="{FF2B5EF4-FFF2-40B4-BE49-F238E27FC236}">
                        <a16:creationId xmlns:a16="http://schemas.microsoft.com/office/drawing/2014/main" id="{41A917F6-70B2-8675-7FC3-94B556440EE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69019" y="6070684"/>
                    <a:ext cx="248488" cy="253916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4" name="Conector recto 33">
                <a:extLst>
                  <a:ext uri="{FF2B5EF4-FFF2-40B4-BE49-F238E27FC236}">
                    <a16:creationId xmlns:a16="http://schemas.microsoft.com/office/drawing/2014/main" id="{F50FF3AC-5D9E-83BC-0905-8A3A226387B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78699" y="3963005"/>
                <a:ext cx="1862291" cy="182287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Conector recto 40">
                <a:extLst>
                  <a:ext uri="{FF2B5EF4-FFF2-40B4-BE49-F238E27FC236}">
                    <a16:creationId xmlns:a16="http://schemas.microsoft.com/office/drawing/2014/main" id="{F0729141-7DD1-07E3-3E10-AF0B9FA6373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202813" y="5357743"/>
                <a:ext cx="19401" cy="697483"/>
              </a:xfrm>
              <a:prstGeom prst="line">
                <a:avLst/>
              </a:prstGeom>
              <a:ln w="19050" cap="flat" cmpd="sng" algn="ctr">
                <a:solidFill>
                  <a:schemeClr val="accent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42" name="Conector recto 41">
                <a:extLst>
                  <a:ext uri="{FF2B5EF4-FFF2-40B4-BE49-F238E27FC236}">
                    <a16:creationId xmlns:a16="http://schemas.microsoft.com/office/drawing/2014/main" id="{52DC0AA8-9661-8787-9D3A-F3921737503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39950" y="5355908"/>
                <a:ext cx="331129" cy="23930"/>
              </a:xfrm>
              <a:prstGeom prst="line">
                <a:avLst/>
              </a:prstGeom>
              <a:ln w="19050" cap="flat" cmpd="sng" algn="ctr">
                <a:solidFill>
                  <a:schemeClr val="accent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44" name="Conector recto 43">
                <a:extLst>
                  <a:ext uri="{FF2B5EF4-FFF2-40B4-BE49-F238E27FC236}">
                    <a16:creationId xmlns:a16="http://schemas.microsoft.com/office/drawing/2014/main" id="{45C04568-3BF8-0AE2-E2D3-E467567F79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8200" y="5358313"/>
                <a:ext cx="0" cy="70258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Conector recto 54">
                <a:extLst>
                  <a:ext uri="{FF2B5EF4-FFF2-40B4-BE49-F238E27FC236}">
                    <a16:creationId xmlns:a16="http://schemas.microsoft.com/office/drawing/2014/main" id="{AA924F22-0B93-57C1-7B9B-AE790A622B5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125714" y="4428128"/>
                <a:ext cx="9417" cy="1553327"/>
              </a:xfrm>
              <a:prstGeom prst="line">
                <a:avLst/>
              </a:prstGeom>
              <a:ln w="19050" cap="flat" cmpd="sng" algn="ctr">
                <a:solidFill>
                  <a:schemeClr val="accent6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56" name="Conector recto 55">
                <a:extLst>
                  <a:ext uri="{FF2B5EF4-FFF2-40B4-BE49-F238E27FC236}">
                    <a16:creationId xmlns:a16="http://schemas.microsoft.com/office/drawing/2014/main" id="{0B9E6BFE-BC90-EC18-72D5-6F91EE10BB0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82041" y="4454923"/>
                <a:ext cx="649103" cy="7719"/>
              </a:xfrm>
              <a:prstGeom prst="line">
                <a:avLst/>
              </a:prstGeom>
              <a:ln w="19050" cap="flat" cmpd="sng" algn="ctr">
                <a:solidFill>
                  <a:schemeClr val="accent6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58" name="Conector recto 57">
                <a:extLst>
                  <a:ext uri="{FF2B5EF4-FFF2-40B4-BE49-F238E27FC236}">
                    <a16:creationId xmlns:a16="http://schemas.microsoft.com/office/drawing/2014/main" id="{496A1E5F-CF94-E4FC-305F-1790607D714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82041" y="4477570"/>
                <a:ext cx="8734" cy="1627957"/>
              </a:xfrm>
              <a:prstGeom prst="line">
                <a:avLst/>
              </a:prstGeom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129" name="Connecteur : en arc 9">
                <a:extLst>
                  <a:ext uri="{FF2B5EF4-FFF2-40B4-BE49-F238E27FC236}">
                    <a16:creationId xmlns:a16="http://schemas.microsoft.com/office/drawing/2014/main" id="{3E07FE44-86CF-4D4D-F8B0-6DFDF74E4463}"/>
                  </a:ext>
                </a:extLst>
              </p:cNvPr>
              <p:cNvSpPr/>
              <p:nvPr/>
            </p:nvSpPr>
            <p:spPr>
              <a:xfrm rot="16200000">
                <a:off x="999720" y="3713009"/>
                <a:ext cx="1831279" cy="2257371"/>
              </a:xfrm>
              <a:prstGeom prst="curvedConnector2">
                <a:avLst/>
              </a:prstGeom>
              <a:solidFill>
                <a:srgbClr val="000000">
                  <a:alpha val="5000"/>
                </a:srgbClr>
              </a:solidFill>
              <a:ln w="12600">
                <a:solidFill>
                  <a:srgbClr val="0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wrap="none" rtlCol="0" anchor="ctr" anchorCtr="1"/>
              <a:lstStyle/>
              <a:p>
                <a:endParaRPr lang="es-ES">
                  <a:solidFill>
                    <a:srgbClr val="000000"/>
                  </a:solidFill>
                </a:endParaRPr>
              </a:p>
            </p:txBody>
          </p:sp>
          <p:cxnSp>
            <p:nvCxnSpPr>
              <p:cNvPr id="156" name="Conector recto 155">
                <a:extLst>
                  <a:ext uri="{FF2B5EF4-FFF2-40B4-BE49-F238E27FC236}">
                    <a16:creationId xmlns:a16="http://schemas.microsoft.com/office/drawing/2014/main" id="{932B9877-3C05-CD9D-A223-A00FA5A4358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9950" y="5774254"/>
                <a:ext cx="434320" cy="0"/>
              </a:xfrm>
              <a:prstGeom prst="line">
                <a:avLst/>
              </a:prstGeom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Conector recto 157">
                <a:extLst>
                  <a:ext uri="{FF2B5EF4-FFF2-40B4-BE49-F238E27FC236}">
                    <a16:creationId xmlns:a16="http://schemas.microsoft.com/office/drawing/2014/main" id="{04ECBCC9-4DB7-CD2D-0858-5DEC9C4040B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74232" y="5581066"/>
                <a:ext cx="660899" cy="0"/>
              </a:xfrm>
              <a:prstGeom prst="line">
                <a:avLst/>
              </a:prstGeom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9" name="CuadroTexto 158">
                    <a:extLst>
                      <a:ext uri="{FF2B5EF4-FFF2-40B4-BE49-F238E27FC236}">
                        <a16:creationId xmlns:a16="http://schemas.microsoft.com/office/drawing/2014/main" id="{D10B25AF-3026-D46C-B1BD-15C849E27DED}"/>
                      </a:ext>
                    </a:extLst>
                  </p:cNvPr>
                  <p:cNvSpPr txBox="1"/>
                  <p:nvPr/>
                </p:nvSpPr>
                <p:spPr>
                  <a:xfrm>
                    <a:off x="1639881" y="5316921"/>
                    <a:ext cx="457200" cy="26161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s-CO" sz="11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𝝅</m:t>
                          </m:r>
                          <m:r>
                            <a:rPr lang="es-CO" sz="11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s-CO" sz="11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𝒚</m:t>
                          </m:r>
                          <m:r>
                            <a:rPr lang="es-CO" sz="11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s-CO" sz="1100" dirty="0"/>
                  </a:p>
                </p:txBody>
              </p:sp>
            </mc:Choice>
            <mc:Fallback xmlns="">
              <p:sp>
                <p:nvSpPr>
                  <p:cNvPr id="159" name="CuadroTexto 158">
                    <a:extLst>
                      <a:ext uri="{FF2B5EF4-FFF2-40B4-BE49-F238E27FC236}">
                        <a16:creationId xmlns:a16="http://schemas.microsoft.com/office/drawing/2014/main" id="{D10B25AF-3026-D46C-B1BD-15C849E27DE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39881" y="5316921"/>
                    <a:ext cx="457200" cy="261610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0" name="CuadroTexto 159">
                    <a:extLst>
                      <a:ext uri="{FF2B5EF4-FFF2-40B4-BE49-F238E27FC236}">
                        <a16:creationId xmlns:a16="http://schemas.microsoft.com/office/drawing/2014/main" id="{A0B506F2-54EA-D8B1-A318-5018146B2D5C}"/>
                      </a:ext>
                    </a:extLst>
                  </p:cNvPr>
                  <p:cNvSpPr txBox="1"/>
                  <p:nvPr/>
                </p:nvSpPr>
                <p:spPr>
                  <a:xfrm>
                    <a:off x="869259" y="5538105"/>
                    <a:ext cx="457200" cy="246221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s-CO" sz="10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𝝅</m:t>
                          </m:r>
                          <m:r>
                            <a:rPr lang="es-CO" sz="10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s-CO" sz="10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s-CO" sz="1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s-CO" sz="1000" dirty="0">
                      <a:solidFill>
                        <a:schemeClr val="accent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60" name="CuadroTexto 159">
                    <a:extLst>
                      <a:ext uri="{FF2B5EF4-FFF2-40B4-BE49-F238E27FC236}">
                        <a16:creationId xmlns:a16="http://schemas.microsoft.com/office/drawing/2014/main" id="{A0B506F2-54EA-D8B1-A318-5018146B2D5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69259" y="5538105"/>
                    <a:ext cx="457200" cy="246221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25" name="CuadroTexto 224">
              <a:extLst>
                <a:ext uri="{FF2B5EF4-FFF2-40B4-BE49-F238E27FC236}">
                  <a16:creationId xmlns:a16="http://schemas.microsoft.com/office/drawing/2014/main" id="{2F113556-A8C7-39C5-EC83-AC7B8940A3F3}"/>
                </a:ext>
              </a:extLst>
            </p:cNvPr>
            <p:cNvSpPr txBox="1"/>
            <p:nvPr/>
          </p:nvSpPr>
          <p:spPr>
            <a:xfrm>
              <a:off x="2652580" y="6193304"/>
              <a:ext cx="63511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100" dirty="0">
                  <a:solidFill>
                    <a:schemeClr val="tx2"/>
                  </a:solidFill>
                </a:rPr>
                <a:t>Riqueza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8" name="CuadroTexto 227">
                  <a:extLst>
                    <a:ext uri="{FF2B5EF4-FFF2-40B4-BE49-F238E27FC236}">
                      <a16:creationId xmlns:a16="http://schemas.microsoft.com/office/drawing/2014/main" id="{935D8604-2450-6CB6-8423-D14274466FD1}"/>
                    </a:ext>
                  </a:extLst>
                </p:cNvPr>
                <p:cNvSpPr txBox="1"/>
                <p:nvPr/>
              </p:nvSpPr>
              <p:spPr>
                <a:xfrm>
                  <a:off x="222847" y="4496858"/>
                  <a:ext cx="456391" cy="2616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s-419" sz="11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s-419" sz="11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419" sz="11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419" sz="11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O" sz="1100" dirty="0"/>
                </a:p>
              </p:txBody>
            </p:sp>
          </mc:Choice>
          <mc:Fallback xmlns="">
            <p:sp>
              <p:nvSpPr>
                <p:cNvPr id="228" name="CuadroTexto 227">
                  <a:extLst>
                    <a:ext uri="{FF2B5EF4-FFF2-40B4-BE49-F238E27FC236}">
                      <a16:creationId xmlns:a16="http://schemas.microsoft.com/office/drawing/2014/main" id="{935D8604-2450-6CB6-8423-D14274466F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2847" y="4496858"/>
                  <a:ext cx="456391" cy="261610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29" name="Rectángulo 228">
            <a:extLst>
              <a:ext uri="{FF2B5EF4-FFF2-40B4-BE49-F238E27FC236}">
                <a16:creationId xmlns:a16="http://schemas.microsoft.com/office/drawing/2014/main" id="{8FE207A4-D2BC-2493-080E-3A0FE7F06549}"/>
              </a:ext>
            </a:extLst>
          </p:cNvPr>
          <p:cNvSpPr/>
          <p:nvPr/>
        </p:nvSpPr>
        <p:spPr>
          <a:xfrm>
            <a:off x="2583747" y="4215174"/>
            <a:ext cx="464253" cy="28168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84612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21" grpId="0"/>
      <p:bldP spid="25" grpId="0"/>
      <p:bldP spid="29" grpId="0" animBg="1"/>
      <p:bldP spid="4" grpId="0" animBg="1"/>
      <p:bldP spid="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48055" y="599694"/>
            <a:ext cx="8239125" cy="1259205"/>
            <a:chOff x="448055" y="599694"/>
            <a:chExt cx="8239125" cy="1259205"/>
          </a:xfrm>
        </p:grpSpPr>
        <p:sp>
          <p:nvSpPr>
            <p:cNvPr id="3" name="object 3"/>
            <p:cNvSpPr/>
            <p:nvPr/>
          </p:nvSpPr>
          <p:spPr>
            <a:xfrm>
              <a:off x="448055" y="599694"/>
              <a:ext cx="8239125" cy="1259205"/>
            </a:xfrm>
            <a:custGeom>
              <a:avLst/>
              <a:gdLst/>
              <a:ahLst/>
              <a:cxnLst/>
              <a:rect l="l" t="t" r="r" b="b"/>
              <a:pathLst>
                <a:path w="8239125" h="1259205">
                  <a:moveTo>
                    <a:pt x="8238744" y="0"/>
                  </a:moveTo>
                  <a:lnTo>
                    <a:pt x="0" y="0"/>
                  </a:lnTo>
                  <a:lnTo>
                    <a:pt x="0" y="1258824"/>
                  </a:lnTo>
                  <a:lnTo>
                    <a:pt x="8238744" y="1258824"/>
                  </a:lnTo>
                  <a:lnTo>
                    <a:pt x="8238744" y="0"/>
                  </a:lnTo>
                  <a:close/>
                </a:path>
              </a:pathLst>
            </a:custGeom>
            <a:solidFill>
              <a:srgbClr val="1A31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722998" y="1058926"/>
              <a:ext cx="370840" cy="282575"/>
            </a:xfrm>
            <a:custGeom>
              <a:avLst/>
              <a:gdLst/>
              <a:ahLst/>
              <a:cxnLst/>
              <a:rect l="l" t="t" r="r" b="b"/>
              <a:pathLst>
                <a:path w="370840" h="282575">
                  <a:moveTo>
                    <a:pt x="280797" y="0"/>
                  </a:moveTo>
                  <a:lnTo>
                    <a:pt x="276859" y="11429"/>
                  </a:lnTo>
                  <a:lnTo>
                    <a:pt x="293167" y="18522"/>
                  </a:lnTo>
                  <a:lnTo>
                    <a:pt x="307212" y="28352"/>
                  </a:lnTo>
                  <a:lnTo>
                    <a:pt x="335756" y="73852"/>
                  </a:lnTo>
                  <a:lnTo>
                    <a:pt x="344138" y="115623"/>
                  </a:lnTo>
                  <a:lnTo>
                    <a:pt x="345185" y="139700"/>
                  </a:lnTo>
                  <a:lnTo>
                    <a:pt x="344138" y="164635"/>
                  </a:lnTo>
                  <a:lnTo>
                    <a:pt x="335756" y="207601"/>
                  </a:lnTo>
                  <a:lnTo>
                    <a:pt x="307260" y="253857"/>
                  </a:lnTo>
                  <a:lnTo>
                    <a:pt x="277241" y="270890"/>
                  </a:lnTo>
                  <a:lnTo>
                    <a:pt x="280797" y="282321"/>
                  </a:lnTo>
                  <a:lnTo>
                    <a:pt x="319357" y="264255"/>
                  </a:lnTo>
                  <a:lnTo>
                    <a:pt x="347725" y="233045"/>
                  </a:lnTo>
                  <a:lnTo>
                    <a:pt x="365093" y="191135"/>
                  </a:lnTo>
                  <a:lnTo>
                    <a:pt x="370840" y="141224"/>
                  </a:lnTo>
                  <a:lnTo>
                    <a:pt x="369387" y="115341"/>
                  </a:lnTo>
                  <a:lnTo>
                    <a:pt x="357766" y="69482"/>
                  </a:lnTo>
                  <a:lnTo>
                    <a:pt x="334714" y="32146"/>
                  </a:lnTo>
                  <a:lnTo>
                    <a:pt x="301325" y="7381"/>
                  </a:lnTo>
                  <a:lnTo>
                    <a:pt x="280797" y="0"/>
                  </a:lnTo>
                  <a:close/>
                </a:path>
                <a:path w="370840" h="282575">
                  <a:moveTo>
                    <a:pt x="90043" y="0"/>
                  </a:moveTo>
                  <a:lnTo>
                    <a:pt x="51657" y="18097"/>
                  </a:lnTo>
                  <a:lnTo>
                    <a:pt x="23368" y="49529"/>
                  </a:lnTo>
                  <a:lnTo>
                    <a:pt x="5826" y="91424"/>
                  </a:lnTo>
                  <a:lnTo>
                    <a:pt x="0" y="141224"/>
                  </a:lnTo>
                  <a:lnTo>
                    <a:pt x="1452" y="167179"/>
                  </a:lnTo>
                  <a:lnTo>
                    <a:pt x="13073" y="213090"/>
                  </a:lnTo>
                  <a:lnTo>
                    <a:pt x="36125" y="250281"/>
                  </a:lnTo>
                  <a:lnTo>
                    <a:pt x="69514" y="274943"/>
                  </a:lnTo>
                  <a:lnTo>
                    <a:pt x="90043" y="282321"/>
                  </a:lnTo>
                  <a:lnTo>
                    <a:pt x="93599" y="270890"/>
                  </a:lnTo>
                  <a:lnTo>
                    <a:pt x="77549" y="263773"/>
                  </a:lnTo>
                  <a:lnTo>
                    <a:pt x="63690" y="253857"/>
                  </a:lnTo>
                  <a:lnTo>
                    <a:pt x="35210" y="207601"/>
                  </a:lnTo>
                  <a:lnTo>
                    <a:pt x="26828" y="164635"/>
                  </a:lnTo>
                  <a:lnTo>
                    <a:pt x="25780" y="139700"/>
                  </a:lnTo>
                  <a:lnTo>
                    <a:pt x="26828" y="115623"/>
                  </a:lnTo>
                  <a:lnTo>
                    <a:pt x="35210" y="73852"/>
                  </a:lnTo>
                  <a:lnTo>
                    <a:pt x="63801" y="28352"/>
                  </a:lnTo>
                  <a:lnTo>
                    <a:pt x="94106" y="11429"/>
                  </a:lnTo>
                  <a:lnTo>
                    <a:pt x="9004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48055" y="969517"/>
            <a:ext cx="823912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4154">
              <a:lnSpc>
                <a:spcPct val="100000"/>
              </a:lnSpc>
              <a:spcBef>
                <a:spcPts val="100"/>
              </a:spcBef>
              <a:tabLst>
                <a:tab pos="6374765" algn="l"/>
              </a:tabLst>
            </a:pPr>
            <a:r>
              <a:rPr sz="2400" spc="170" dirty="0"/>
              <a:t>FUNCIÓN</a:t>
            </a:r>
            <a:r>
              <a:rPr sz="2400" spc="-45" dirty="0"/>
              <a:t> </a:t>
            </a:r>
            <a:r>
              <a:rPr sz="2400" spc="120" dirty="0"/>
              <a:t>DE</a:t>
            </a:r>
            <a:r>
              <a:rPr sz="2400" spc="-295" dirty="0"/>
              <a:t> </a:t>
            </a:r>
            <a:r>
              <a:rPr sz="2400" spc="70" dirty="0"/>
              <a:t>AVERSIÓN</a:t>
            </a:r>
            <a:r>
              <a:rPr sz="2400" spc="-295" dirty="0"/>
              <a:t> </a:t>
            </a:r>
            <a:r>
              <a:rPr sz="2400" spc="70" dirty="0"/>
              <a:t>AL</a:t>
            </a:r>
            <a:r>
              <a:rPr sz="2400" spc="-40" dirty="0"/>
              <a:t> </a:t>
            </a:r>
            <a:r>
              <a:rPr sz="2400" spc="55" dirty="0"/>
              <a:t>RIESGO</a:t>
            </a:r>
            <a:r>
              <a:rPr sz="2400" spc="-55" dirty="0"/>
              <a:t> </a:t>
            </a:r>
            <a:r>
              <a:rPr sz="2400" spc="-195" dirty="0"/>
              <a:t>(F.A.R.)</a:t>
            </a:r>
            <a:r>
              <a:rPr sz="2400" spc="-45" dirty="0"/>
              <a:t> </a:t>
            </a:r>
            <a:r>
              <a:rPr sz="2400" dirty="0">
                <a:latin typeface="Cambria Math"/>
                <a:cs typeface="Cambria Math"/>
              </a:rPr>
              <a:t>𝑟	𝑥</a:t>
            </a:r>
            <a:endParaRPr sz="2400">
              <a:latin typeface="Cambria Math"/>
              <a:cs typeface="Cambria Math"/>
            </a:endParaRPr>
          </a:p>
          <a:p>
            <a:pPr marL="224154">
              <a:lnSpc>
                <a:spcPct val="100000"/>
              </a:lnSpc>
            </a:pPr>
            <a:r>
              <a:rPr sz="2400" spc="140" dirty="0"/>
              <a:t>ASOCIA</a:t>
            </a:r>
            <a:r>
              <a:rPr sz="2400" spc="190" dirty="0"/>
              <a:t>D</a:t>
            </a:r>
            <a:r>
              <a:rPr sz="2400" spc="185" dirty="0"/>
              <a:t>A</a:t>
            </a:r>
            <a:r>
              <a:rPr sz="2400" spc="-305" dirty="0"/>
              <a:t> </a:t>
            </a:r>
            <a:r>
              <a:rPr sz="2400" spc="185" dirty="0"/>
              <a:t>A</a:t>
            </a:r>
            <a:r>
              <a:rPr sz="2400" spc="-60" dirty="0"/>
              <a:t> </a:t>
            </a:r>
            <a:r>
              <a:rPr sz="2400" spc="130" dirty="0"/>
              <a:t>U</a:t>
            </a:r>
            <a:r>
              <a:rPr sz="2400" spc="340" dirty="0"/>
              <a:t>N</a:t>
            </a:r>
            <a:r>
              <a:rPr sz="2400" spc="-55" dirty="0"/>
              <a:t> </a:t>
            </a:r>
            <a:r>
              <a:rPr sz="2400" spc="110" dirty="0"/>
              <a:t>DECISOR</a:t>
            </a:r>
            <a:r>
              <a:rPr sz="2400" spc="-65" dirty="0"/>
              <a:t> </a:t>
            </a:r>
            <a:r>
              <a:rPr sz="2400" spc="315" dirty="0"/>
              <a:t>–</a:t>
            </a:r>
            <a:r>
              <a:rPr sz="2400" spc="-60" dirty="0"/>
              <a:t> </a:t>
            </a:r>
            <a:r>
              <a:rPr sz="2400" spc="-114" dirty="0"/>
              <a:t>P</a:t>
            </a:r>
            <a:r>
              <a:rPr sz="2400" spc="-90" dirty="0"/>
              <a:t>R</a:t>
            </a:r>
            <a:r>
              <a:rPr sz="2400" spc="15" dirty="0"/>
              <a:t>OPIE</a:t>
            </a:r>
            <a:r>
              <a:rPr sz="2400" spc="195" dirty="0"/>
              <a:t>D</a:t>
            </a:r>
            <a:r>
              <a:rPr sz="2400" spc="254" dirty="0"/>
              <a:t>AD</a:t>
            </a:r>
            <a:r>
              <a:rPr sz="2400" spc="-60" dirty="0"/>
              <a:t> </a:t>
            </a:r>
            <a:r>
              <a:rPr sz="2400" spc="110" dirty="0"/>
              <a:t>FUN</a:t>
            </a:r>
            <a:r>
              <a:rPr sz="2400" spc="195" dirty="0"/>
              <a:t>D</a:t>
            </a:r>
            <a:r>
              <a:rPr sz="2400" spc="150" dirty="0"/>
              <a:t>AMEN</a:t>
            </a:r>
            <a:r>
              <a:rPr sz="2400" spc="-180" dirty="0"/>
              <a:t>T</a:t>
            </a:r>
            <a:r>
              <a:rPr sz="2400" spc="70" dirty="0"/>
              <a:t>AL</a:t>
            </a:r>
            <a:endParaRPr sz="240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860ADE68-DAAC-447C-B6CF-0F06A6D9C7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948308"/>
            <a:ext cx="7315200" cy="4064742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8055" y="599694"/>
            <a:ext cx="8239125" cy="125920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258445" rIns="0" bIns="0" rtlCol="0">
            <a:spAutoFit/>
          </a:bodyPr>
          <a:lstStyle/>
          <a:p>
            <a:pPr marL="224154" marR="1003935">
              <a:lnSpc>
                <a:spcPct val="100000"/>
              </a:lnSpc>
              <a:spcBef>
                <a:spcPts val="2035"/>
              </a:spcBef>
            </a:pPr>
            <a:r>
              <a:rPr spc="10" dirty="0"/>
              <a:t>SÍNTESI</a:t>
            </a:r>
            <a:r>
              <a:rPr spc="-65" dirty="0"/>
              <a:t>S</a:t>
            </a:r>
            <a:r>
              <a:rPr spc="-80" dirty="0"/>
              <a:t> </a:t>
            </a:r>
            <a:r>
              <a:rPr spc="60" dirty="0"/>
              <a:t>SOBRE</a:t>
            </a:r>
            <a:r>
              <a:rPr spc="-75" dirty="0"/>
              <a:t> </a:t>
            </a:r>
            <a:r>
              <a:rPr spc="165" dirty="0"/>
              <a:t>FUNCIONE</a:t>
            </a:r>
            <a:r>
              <a:rPr spc="-65" dirty="0"/>
              <a:t>S</a:t>
            </a:r>
            <a:r>
              <a:rPr spc="-85" dirty="0"/>
              <a:t> </a:t>
            </a:r>
            <a:r>
              <a:rPr spc="140" dirty="0"/>
              <a:t>DE</a:t>
            </a:r>
            <a:r>
              <a:rPr spc="-65" dirty="0"/>
              <a:t> </a:t>
            </a:r>
            <a:r>
              <a:rPr spc="5" dirty="0"/>
              <a:t>UTILI</a:t>
            </a:r>
            <a:r>
              <a:rPr spc="225" dirty="0"/>
              <a:t>D</a:t>
            </a:r>
            <a:r>
              <a:rPr spc="300" dirty="0"/>
              <a:t>AD</a:t>
            </a:r>
            <a:r>
              <a:rPr spc="-500" dirty="0"/>
              <a:t> </a:t>
            </a:r>
            <a:r>
              <a:rPr spc="65" dirty="0"/>
              <a:t>Y  </a:t>
            </a:r>
            <a:r>
              <a:rPr spc="40" dirty="0"/>
              <a:t>TIPOS</a:t>
            </a:r>
            <a:r>
              <a:rPr spc="-85" dirty="0"/>
              <a:t> </a:t>
            </a:r>
            <a:r>
              <a:rPr spc="140" dirty="0"/>
              <a:t>DE</a:t>
            </a:r>
            <a:r>
              <a:rPr spc="-75" dirty="0"/>
              <a:t> </a:t>
            </a:r>
            <a:r>
              <a:rPr spc="85" dirty="0"/>
              <a:t>DECISORES</a:t>
            </a:r>
          </a:p>
        </p:txBody>
      </p:sp>
      <p:pic>
        <p:nvPicPr>
          <p:cNvPr id="36" name="Imagen 35">
            <a:extLst>
              <a:ext uri="{FF2B5EF4-FFF2-40B4-BE49-F238E27FC236}">
                <a16:creationId xmlns:a16="http://schemas.microsoft.com/office/drawing/2014/main" id="{16E32CC4-C1C3-425D-9EEF-0B4A5979FD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" t="10196" r="40492" b="180"/>
          <a:stretch>
            <a:fillRect/>
          </a:stretch>
        </p:blipFill>
        <p:spPr>
          <a:xfrm>
            <a:off x="2094613" y="2590800"/>
            <a:ext cx="4915787" cy="3919108"/>
          </a:xfrm>
          <a:prstGeom prst="rect">
            <a:avLst/>
          </a:prstGeom>
        </p:spPr>
      </p:pic>
      <p:sp>
        <p:nvSpPr>
          <p:cNvPr id="37" name="object 4">
            <a:extLst>
              <a:ext uri="{FF2B5EF4-FFF2-40B4-BE49-F238E27FC236}">
                <a16:creationId xmlns:a16="http://schemas.microsoft.com/office/drawing/2014/main" id="{EE03C9B4-346F-4B46-8D8A-2A960B36EEDC}"/>
              </a:ext>
            </a:extLst>
          </p:cNvPr>
          <p:cNvSpPr txBox="1"/>
          <p:nvPr/>
        </p:nvSpPr>
        <p:spPr>
          <a:xfrm>
            <a:off x="8451850" y="6053329"/>
            <a:ext cx="23533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CO" sz="900" spc="-25" dirty="0">
                <a:solidFill>
                  <a:srgbClr val="4590B8"/>
                </a:solidFill>
                <a:latin typeface="Trebuchet MS"/>
                <a:cs typeface="Trebuchet MS"/>
              </a:rPr>
              <a:t>1</a:t>
            </a:r>
            <a:r>
              <a:rPr sz="900" spc="-25" dirty="0">
                <a:solidFill>
                  <a:srgbClr val="4590B8"/>
                </a:solidFill>
                <a:latin typeface="Trebuchet MS"/>
                <a:cs typeface="Trebuchet MS"/>
              </a:rPr>
              <a:t>9</a:t>
            </a:r>
            <a:endParaRPr sz="900" dirty="0">
              <a:latin typeface="Trebuchet MS"/>
              <a:cs typeface="Trebuchet M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D09023BC-CF93-39B6-033B-CBDC5F7CA06C}"/>
                  </a:ext>
                </a:extLst>
              </p:cNvPr>
              <p:cNvSpPr txBox="1"/>
              <p:nvPr/>
            </p:nvSpPr>
            <p:spPr>
              <a:xfrm>
                <a:off x="3109814" y="2024794"/>
                <a:ext cx="291560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:r>
                  <a:rPr lang="es-419" sz="2000" b="0" dirty="0"/>
                  <a:t>Función de utilidad de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419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s-CO" sz="2000" dirty="0"/>
              </a:p>
            </p:txBody>
          </p:sp>
        </mc:Choice>
        <mc:Fallback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D09023BC-CF93-39B6-033B-CBDC5F7CA0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9814" y="2024794"/>
                <a:ext cx="2915606" cy="400110"/>
              </a:xfrm>
              <a:prstGeom prst="rect">
                <a:avLst/>
              </a:prstGeom>
              <a:blipFill>
                <a:blip r:embed="rId3"/>
                <a:stretch>
                  <a:fillRect l="-1732" t="-9091" b="-24242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n 38">
            <a:extLst>
              <a:ext uri="{FF2B5EF4-FFF2-40B4-BE49-F238E27FC236}">
                <a16:creationId xmlns:a16="http://schemas.microsoft.com/office/drawing/2014/main" id="{9326D130-DC96-43D3-19EF-168AF718D9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2892" y="5831214"/>
            <a:ext cx="3249450" cy="417186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8055" y="599694"/>
            <a:ext cx="8239125" cy="1029969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137795" rIns="0" bIns="0" rtlCol="0">
            <a:spAutoFit/>
          </a:bodyPr>
          <a:lstStyle/>
          <a:p>
            <a:pPr marL="254635" marR="1515745">
              <a:lnSpc>
                <a:spcPct val="100000"/>
              </a:lnSpc>
              <a:spcBef>
                <a:spcPts val="1085"/>
              </a:spcBef>
            </a:pPr>
            <a:r>
              <a:rPr sz="2400" spc="65" dirty="0"/>
              <a:t>PRECIO</a:t>
            </a:r>
            <a:r>
              <a:rPr sz="2400" spc="-55" dirty="0"/>
              <a:t> </a:t>
            </a:r>
            <a:r>
              <a:rPr sz="2400" spc="120" dirty="0"/>
              <a:t>DE</a:t>
            </a:r>
            <a:r>
              <a:rPr sz="2400" spc="-430" dirty="0"/>
              <a:t> </a:t>
            </a:r>
            <a:r>
              <a:rPr sz="2400" spc="55" dirty="0"/>
              <a:t>VENTA</a:t>
            </a:r>
            <a:r>
              <a:rPr sz="2400" spc="-60" dirty="0"/>
              <a:t> </a:t>
            </a:r>
            <a:r>
              <a:rPr sz="2400" spc="-95" dirty="0"/>
              <a:t>(s)</a:t>
            </a:r>
            <a:r>
              <a:rPr sz="2400" spc="-420" dirty="0"/>
              <a:t> </a:t>
            </a:r>
            <a:r>
              <a:rPr sz="2400" spc="80" dirty="0"/>
              <a:t>Y</a:t>
            </a:r>
            <a:r>
              <a:rPr sz="2400" spc="-60" dirty="0"/>
              <a:t> </a:t>
            </a:r>
            <a:r>
              <a:rPr sz="2400" spc="65" dirty="0"/>
              <a:t>PRECIO</a:t>
            </a:r>
            <a:r>
              <a:rPr sz="2400" spc="-55" dirty="0"/>
              <a:t> </a:t>
            </a:r>
            <a:r>
              <a:rPr sz="2400" spc="120" dirty="0"/>
              <a:t>DE</a:t>
            </a:r>
            <a:r>
              <a:rPr sz="2400" spc="-70" dirty="0"/>
              <a:t> </a:t>
            </a:r>
            <a:r>
              <a:rPr sz="2400" spc="150" dirty="0"/>
              <a:t>COMPRA</a:t>
            </a:r>
            <a:r>
              <a:rPr sz="2400" spc="-60" dirty="0"/>
              <a:t> (</a:t>
            </a:r>
            <a:r>
              <a:rPr sz="2400" spc="-60" dirty="0">
                <a:latin typeface="Cambria Math"/>
                <a:cs typeface="Cambria Math"/>
              </a:rPr>
              <a:t>𝑏</a:t>
            </a:r>
            <a:r>
              <a:rPr sz="2400" spc="-60" dirty="0"/>
              <a:t>) </a:t>
            </a:r>
            <a:r>
              <a:rPr sz="2400" spc="-705" dirty="0"/>
              <a:t> </a:t>
            </a:r>
            <a:r>
              <a:rPr sz="2400" spc="120" dirty="0"/>
              <a:t>DE</a:t>
            </a:r>
            <a:r>
              <a:rPr sz="2400" spc="-70" dirty="0"/>
              <a:t> </a:t>
            </a:r>
            <a:r>
              <a:rPr sz="2400" spc="220" dirty="0"/>
              <a:t>UNA</a:t>
            </a:r>
            <a:r>
              <a:rPr sz="2400" spc="-60" dirty="0"/>
              <a:t> </a:t>
            </a:r>
            <a:r>
              <a:rPr sz="2400" spc="40" dirty="0"/>
              <a:t>LOTERÍA</a:t>
            </a:r>
            <a:r>
              <a:rPr sz="2400" spc="-60" dirty="0"/>
              <a:t> </a:t>
            </a:r>
            <a:r>
              <a:rPr sz="2400" spc="360" dirty="0"/>
              <a:t>X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853938" y="1824989"/>
            <a:ext cx="308610" cy="234950"/>
          </a:xfrm>
          <a:custGeom>
            <a:avLst/>
            <a:gdLst/>
            <a:ahLst/>
            <a:cxnLst/>
            <a:rect l="l" t="t" r="r" b="b"/>
            <a:pathLst>
              <a:path w="308610" h="234950">
                <a:moveTo>
                  <a:pt x="233299" y="0"/>
                </a:moveTo>
                <a:lnTo>
                  <a:pt x="229997" y="9525"/>
                </a:lnTo>
                <a:lnTo>
                  <a:pt x="243617" y="15428"/>
                </a:lnTo>
                <a:lnTo>
                  <a:pt x="255333" y="23606"/>
                </a:lnTo>
                <a:lnTo>
                  <a:pt x="279070" y="61450"/>
                </a:lnTo>
                <a:lnTo>
                  <a:pt x="286892" y="116332"/>
                </a:lnTo>
                <a:lnTo>
                  <a:pt x="286013" y="137023"/>
                </a:lnTo>
                <a:lnTo>
                  <a:pt x="272923" y="187833"/>
                </a:lnTo>
                <a:lnTo>
                  <a:pt x="243758" y="219497"/>
                </a:lnTo>
                <a:lnTo>
                  <a:pt x="230377" y="225425"/>
                </a:lnTo>
                <a:lnTo>
                  <a:pt x="233299" y="234950"/>
                </a:lnTo>
                <a:lnTo>
                  <a:pt x="278233" y="208339"/>
                </a:lnTo>
                <a:lnTo>
                  <a:pt x="303498" y="159099"/>
                </a:lnTo>
                <a:lnTo>
                  <a:pt x="308356" y="117601"/>
                </a:lnTo>
                <a:lnTo>
                  <a:pt x="307141" y="96029"/>
                </a:lnTo>
                <a:lnTo>
                  <a:pt x="297426" y="57790"/>
                </a:lnTo>
                <a:lnTo>
                  <a:pt x="265302" y="15049"/>
                </a:lnTo>
                <a:lnTo>
                  <a:pt x="250348" y="6143"/>
                </a:lnTo>
                <a:lnTo>
                  <a:pt x="233299" y="0"/>
                </a:lnTo>
                <a:close/>
              </a:path>
              <a:path w="308610" h="234950">
                <a:moveTo>
                  <a:pt x="74929" y="0"/>
                </a:moveTo>
                <a:lnTo>
                  <a:pt x="30067" y="26717"/>
                </a:lnTo>
                <a:lnTo>
                  <a:pt x="4841" y="76088"/>
                </a:lnTo>
                <a:lnTo>
                  <a:pt x="0" y="117601"/>
                </a:lnTo>
                <a:lnTo>
                  <a:pt x="1194" y="139172"/>
                </a:lnTo>
                <a:lnTo>
                  <a:pt x="10822" y="177359"/>
                </a:lnTo>
                <a:lnTo>
                  <a:pt x="42830" y="219963"/>
                </a:lnTo>
                <a:lnTo>
                  <a:pt x="74929" y="234950"/>
                </a:lnTo>
                <a:lnTo>
                  <a:pt x="77850" y="225425"/>
                </a:lnTo>
                <a:lnTo>
                  <a:pt x="64470" y="219497"/>
                </a:lnTo>
                <a:lnTo>
                  <a:pt x="52911" y="211248"/>
                </a:lnTo>
                <a:lnTo>
                  <a:pt x="29211" y="172785"/>
                </a:lnTo>
                <a:lnTo>
                  <a:pt x="21336" y="116332"/>
                </a:lnTo>
                <a:lnTo>
                  <a:pt x="22215" y="96260"/>
                </a:lnTo>
                <a:lnTo>
                  <a:pt x="35306" y="46736"/>
                </a:lnTo>
                <a:lnTo>
                  <a:pt x="64684" y="15428"/>
                </a:lnTo>
                <a:lnTo>
                  <a:pt x="78232" y="9525"/>
                </a:lnTo>
                <a:lnTo>
                  <a:pt x="74929" y="0"/>
                </a:lnTo>
                <a:close/>
              </a:path>
            </a:pathLst>
          </a:custGeom>
          <a:solidFill>
            <a:srgbClr val="3C3C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5940" y="1748028"/>
            <a:ext cx="7040880" cy="955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60"/>
              </a:lnSpc>
              <a:spcBef>
                <a:spcPts val="100"/>
              </a:spcBef>
            </a:pPr>
            <a:r>
              <a:rPr sz="2000" spc="-30" dirty="0">
                <a:solidFill>
                  <a:srgbClr val="3C3C3C"/>
                </a:solidFill>
                <a:latin typeface="Trebuchet MS"/>
                <a:cs typeface="Trebuchet MS"/>
              </a:rPr>
              <a:t>Conside</a:t>
            </a:r>
            <a:r>
              <a:rPr sz="2000" spc="-65" dirty="0">
                <a:solidFill>
                  <a:srgbClr val="3C3C3C"/>
                </a:solidFill>
                <a:latin typeface="Trebuchet MS"/>
                <a:cs typeface="Trebuchet MS"/>
              </a:rPr>
              <a:t>r</a:t>
            </a:r>
            <a:r>
              <a:rPr sz="2000" spc="-70" dirty="0">
                <a:solidFill>
                  <a:srgbClr val="3C3C3C"/>
                </a:solidFill>
                <a:latin typeface="Trebuchet MS"/>
                <a:cs typeface="Trebuchet MS"/>
              </a:rPr>
              <a:t>emos</a:t>
            </a:r>
            <a:r>
              <a:rPr sz="2000"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-95" dirty="0">
                <a:solidFill>
                  <a:srgbClr val="3C3C3C"/>
                </a:solidFill>
                <a:latin typeface="Trebuchet MS"/>
                <a:cs typeface="Trebuchet MS"/>
              </a:rPr>
              <a:t>un</a:t>
            </a:r>
            <a:r>
              <a:rPr sz="2000" spc="-6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-70" dirty="0">
                <a:solidFill>
                  <a:srgbClr val="3C3C3C"/>
                </a:solidFill>
                <a:latin typeface="Trebuchet MS"/>
                <a:cs typeface="Trebuchet MS"/>
              </a:rPr>
              <a:t>decisor</a:t>
            </a:r>
            <a:r>
              <a:rPr sz="2000"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-60" dirty="0">
                <a:solidFill>
                  <a:srgbClr val="3C3C3C"/>
                </a:solidFill>
                <a:latin typeface="Trebuchet MS"/>
                <a:cs typeface="Trebuchet MS"/>
              </a:rPr>
              <a:t>con </a:t>
            </a:r>
            <a:r>
              <a:rPr sz="2000" spc="-105" dirty="0">
                <a:solidFill>
                  <a:srgbClr val="3C3C3C"/>
                </a:solidFill>
                <a:latin typeface="Trebuchet MS"/>
                <a:cs typeface="Trebuchet MS"/>
              </a:rPr>
              <a:t>función</a:t>
            </a:r>
            <a:r>
              <a:rPr sz="2000" spc="-6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-114" dirty="0">
                <a:solidFill>
                  <a:srgbClr val="3C3C3C"/>
                </a:solidFill>
                <a:latin typeface="Trebuchet MS"/>
                <a:cs typeface="Trebuchet MS"/>
              </a:rPr>
              <a:t>de</a:t>
            </a:r>
            <a:r>
              <a:rPr sz="2000"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-95" dirty="0">
                <a:solidFill>
                  <a:srgbClr val="3C3C3C"/>
                </a:solidFill>
                <a:latin typeface="Trebuchet MS"/>
                <a:cs typeface="Trebuchet MS"/>
              </a:rPr>
              <a:t>u</a:t>
            </a:r>
            <a:r>
              <a:rPr sz="2000" spc="-135" dirty="0">
                <a:solidFill>
                  <a:srgbClr val="3C3C3C"/>
                </a:solidFill>
                <a:latin typeface="Trebuchet MS"/>
                <a:cs typeface="Trebuchet MS"/>
              </a:rPr>
              <a:t>tilidad</a:t>
            </a:r>
            <a:r>
              <a:rPr sz="2000" spc="-5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3C3C3C"/>
                </a:solidFill>
                <a:latin typeface="Cambria Math"/>
                <a:cs typeface="Cambria Math"/>
              </a:rPr>
              <a:t>𝑢 </a:t>
            </a:r>
            <a:r>
              <a:rPr sz="2000" spc="-5" dirty="0">
                <a:solidFill>
                  <a:srgbClr val="3C3C3C"/>
                </a:solidFill>
                <a:latin typeface="Cambria Math"/>
                <a:cs typeface="Cambria Math"/>
              </a:rPr>
              <a:t> </a:t>
            </a:r>
            <a:r>
              <a:rPr sz="2000" dirty="0">
                <a:solidFill>
                  <a:srgbClr val="3C3C3C"/>
                </a:solidFill>
                <a:latin typeface="Cambria Math"/>
                <a:cs typeface="Cambria Math"/>
              </a:rPr>
              <a:t>𝑥 </a:t>
            </a:r>
            <a:r>
              <a:rPr sz="2000" spc="10" dirty="0">
                <a:solidFill>
                  <a:srgbClr val="3C3C3C"/>
                </a:solidFill>
                <a:latin typeface="Cambria Math"/>
                <a:cs typeface="Cambria Math"/>
              </a:rPr>
              <a:t> </a:t>
            </a:r>
            <a:r>
              <a:rPr sz="2000" spc="-300" dirty="0">
                <a:solidFill>
                  <a:srgbClr val="3C3C3C"/>
                </a:solidFill>
                <a:latin typeface="Trebuchet MS"/>
                <a:cs typeface="Trebuchet MS"/>
              </a:rPr>
              <a:t>,</a:t>
            </a:r>
            <a:r>
              <a:rPr sz="2000" spc="-254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-114" dirty="0">
                <a:solidFill>
                  <a:srgbClr val="3C3C3C"/>
                </a:solidFill>
                <a:latin typeface="Trebuchet MS"/>
                <a:cs typeface="Trebuchet MS"/>
              </a:rPr>
              <a:t>y</a:t>
            </a:r>
            <a:r>
              <a:rPr sz="2000"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-130" dirty="0">
                <a:solidFill>
                  <a:srgbClr val="3C3C3C"/>
                </a:solidFill>
                <a:latin typeface="Trebuchet MS"/>
                <a:cs typeface="Trebuchet MS"/>
              </a:rPr>
              <a:t>una</a:t>
            </a:r>
            <a:r>
              <a:rPr sz="2000" spc="-6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-105" dirty="0">
                <a:solidFill>
                  <a:srgbClr val="3C3C3C"/>
                </a:solidFill>
                <a:latin typeface="Trebuchet MS"/>
                <a:cs typeface="Trebuchet MS"/>
              </a:rPr>
              <a:t>lotería</a:t>
            </a:r>
            <a:endParaRPr sz="2000" dirty="0">
              <a:latin typeface="Trebuchet MS"/>
              <a:cs typeface="Trebuchet MS"/>
            </a:endParaRPr>
          </a:p>
          <a:p>
            <a:pPr marL="12700">
              <a:lnSpc>
                <a:spcPts val="2160"/>
              </a:lnSpc>
            </a:pPr>
            <a:r>
              <a:rPr sz="2000" spc="-125" dirty="0">
                <a:solidFill>
                  <a:srgbClr val="3C3C3C"/>
                </a:solidFill>
                <a:latin typeface="Trebuchet MS"/>
                <a:cs typeface="Trebuchet MS"/>
              </a:rPr>
              <a:t>cualquiera</a:t>
            </a:r>
            <a:r>
              <a:rPr sz="2000" spc="-7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300" dirty="0">
                <a:solidFill>
                  <a:srgbClr val="3C3C3C"/>
                </a:solidFill>
                <a:latin typeface="Trebuchet MS"/>
                <a:cs typeface="Trebuchet MS"/>
              </a:rPr>
              <a:t>X</a:t>
            </a:r>
            <a:r>
              <a:rPr sz="2000" spc="-5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-145" dirty="0">
                <a:solidFill>
                  <a:srgbClr val="3C3C3C"/>
                </a:solidFill>
                <a:latin typeface="Trebuchet MS"/>
                <a:cs typeface="Trebuchet MS"/>
              </a:rPr>
              <a:t>definida</a:t>
            </a:r>
            <a:r>
              <a:rPr sz="2000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-60" dirty="0">
                <a:solidFill>
                  <a:srgbClr val="3C3C3C"/>
                </a:solidFill>
                <a:latin typeface="Trebuchet MS"/>
                <a:cs typeface="Trebuchet MS"/>
              </a:rPr>
              <a:t>sobre</a:t>
            </a:r>
            <a:r>
              <a:rPr sz="2000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-145" dirty="0">
                <a:solidFill>
                  <a:srgbClr val="3C3C3C"/>
                </a:solidFill>
                <a:latin typeface="Trebuchet MS"/>
                <a:cs typeface="Trebuchet MS"/>
              </a:rPr>
              <a:t>el</a:t>
            </a:r>
            <a:r>
              <a:rPr sz="2000"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-95" dirty="0">
                <a:solidFill>
                  <a:srgbClr val="3C3C3C"/>
                </a:solidFill>
                <a:latin typeface="Trebuchet MS"/>
                <a:cs typeface="Trebuchet MS"/>
              </a:rPr>
              <a:t>conjunto</a:t>
            </a:r>
            <a:r>
              <a:rPr sz="2000" spc="-6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-114" dirty="0">
                <a:solidFill>
                  <a:srgbClr val="3C3C3C"/>
                </a:solidFill>
                <a:latin typeface="Trebuchet MS"/>
                <a:cs typeface="Trebuchet MS"/>
              </a:rPr>
              <a:t>de</a:t>
            </a:r>
            <a:r>
              <a:rPr sz="2000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-100" dirty="0">
                <a:solidFill>
                  <a:srgbClr val="3C3C3C"/>
                </a:solidFill>
                <a:latin typeface="Trebuchet MS"/>
                <a:cs typeface="Trebuchet MS"/>
              </a:rPr>
              <a:t>consecuencias</a:t>
            </a:r>
            <a:r>
              <a:rPr sz="2000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-20" dirty="0">
                <a:solidFill>
                  <a:srgbClr val="3C3C3C"/>
                </a:solidFill>
                <a:latin typeface="Trebuchet MS"/>
                <a:cs typeface="Trebuchet MS"/>
              </a:rPr>
              <a:t>C.</a:t>
            </a:r>
            <a:endParaRPr sz="20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000" b="1" u="sng" spc="5" dirty="0">
                <a:solidFill>
                  <a:srgbClr val="006FC0"/>
                </a:solidFill>
                <a:latin typeface="Trebuchet MS"/>
                <a:cs typeface="Trebuchet MS"/>
              </a:rPr>
              <a:t>Precio</a:t>
            </a:r>
            <a:r>
              <a:rPr sz="2000" b="1" u="sng" spc="-5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000" b="1" u="sng" spc="-25" dirty="0">
                <a:solidFill>
                  <a:srgbClr val="006FC0"/>
                </a:solidFill>
                <a:latin typeface="Trebuchet MS"/>
                <a:cs typeface="Trebuchet MS"/>
              </a:rPr>
              <a:t>de</a:t>
            </a:r>
            <a:r>
              <a:rPr sz="2000" b="1" u="sng" spc="-36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000" b="1" u="sng" spc="-15" dirty="0">
                <a:solidFill>
                  <a:srgbClr val="006FC0"/>
                </a:solidFill>
                <a:latin typeface="Trebuchet MS"/>
                <a:cs typeface="Trebuchet MS"/>
              </a:rPr>
              <a:t>Venta</a:t>
            </a:r>
            <a:r>
              <a:rPr sz="2000" b="1" u="sng" spc="-6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000" spc="-80" dirty="0">
                <a:solidFill>
                  <a:srgbClr val="006FC0"/>
                </a:solidFill>
                <a:latin typeface="Trebuchet MS"/>
                <a:cs typeface="Trebuchet MS"/>
              </a:rPr>
              <a:t>(s)</a:t>
            </a:r>
            <a:r>
              <a:rPr sz="2000" spc="-4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000" spc="-100" dirty="0">
                <a:solidFill>
                  <a:srgbClr val="006FC0"/>
                </a:solidFill>
                <a:latin typeface="Trebuchet MS"/>
                <a:cs typeface="Trebuchet MS"/>
              </a:rPr>
              <a:t>(</a:t>
            </a:r>
            <a:r>
              <a:rPr sz="2000" b="1" spc="-100" dirty="0">
                <a:solidFill>
                  <a:srgbClr val="006FC0"/>
                </a:solidFill>
                <a:latin typeface="Trebuchet MS"/>
                <a:cs typeface="Trebuchet MS"/>
              </a:rPr>
              <a:t>mínimo</a:t>
            </a:r>
            <a:r>
              <a:rPr sz="2000" spc="-7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000" spc="-85" dirty="0">
                <a:solidFill>
                  <a:srgbClr val="006FC0"/>
                </a:solidFill>
                <a:latin typeface="Trebuchet MS"/>
                <a:cs typeface="Trebuchet MS"/>
              </a:rPr>
              <a:t>precio</a:t>
            </a:r>
            <a:r>
              <a:rPr sz="2000" spc="-5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000" spc="-114" dirty="0">
                <a:solidFill>
                  <a:srgbClr val="006FC0"/>
                </a:solidFill>
                <a:latin typeface="Trebuchet MS"/>
                <a:cs typeface="Trebuchet MS"/>
              </a:rPr>
              <a:t>de</a:t>
            </a:r>
            <a:r>
              <a:rPr sz="2000" spc="-5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000" spc="-155" dirty="0">
                <a:solidFill>
                  <a:srgbClr val="006FC0"/>
                </a:solidFill>
                <a:latin typeface="Trebuchet MS"/>
                <a:cs typeface="Trebuchet MS"/>
              </a:rPr>
              <a:t>venta):</a:t>
            </a:r>
            <a:endParaRPr sz="2000" dirty="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8640" y="3037967"/>
            <a:ext cx="1776730" cy="13970"/>
          </a:xfrm>
          <a:custGeom>
            <a:avLst/>
            <a:gdLst/>
            <a:ahLst/>
            <a:cxnLst/>
            <a:rect l="l" t="t" r="r" b="b"/>
            <a:pathLst>
              <a:path w="1776730" h="13969">
                <a:moveTo>
                  <a:pt x="1776222" y="0"/>
                </a:moveTo>
                <a:lnTo>
                  <a:pt x="0" y="0"/>
                </a:lnTo>
                <a:lnTo>
                  <a:pt x="0" y="13715"/>
                </a:lnTo>
                <a:lnTo>
                  <a:pt x="1776222" y="13715"/>
                </a:lnTo>
                <a:lnTo>
                  <a:pt x="1776222" y="0"/>
                </a:lnTo>
                <a:close/>
              </a:path>
            </a:pathLst>
          </a:custGeom>
          <a:solidFill>
            <a:srgbClr val="3C3C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10540" y="2754375"/>
            <a:ext cx="185229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000" spc="-120" dirty="0">
                <a:solidFill>
                  <a:srgbClr val="3C3C3C"/>
                </a:solidFill>
                <a:latin typeface="Trebuchet MS"/>
                <a:cs typeface="Trebuchet MS"/>
              </a:rPr>
              <a:t>Statu</a:t>
            </a:r>
            <a:r>
              <a:rPr sz="2000" spc="-7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-105" dirty="0">
                <a:solidFill>
                  <a:srgbClr val="3C3C3C"/>
                </a:solidFill>
                <a:latin typeface="Trebuchet MS"/>
                <a:cs typeface="Trebuchet MS"/>
              </a:rPr>
              <a:t>qu</a:t>
            </a:r>
            <a:r>
              <a:rPr sz="2000" spc="25" dirty="0">
                <a:solidFill>
                  <a:srgbClr val="3C3C3C"/>
                </a:solidFill>
                <a:latin typeface="Trebuchet MS"/>
                <a:cs typeface="Trebuchet MS"/>
              </a:rPr>
              <a:t>o</a:t>
            </a:r>
            <a:r>
              <a:rPr sz="2000" spc="-6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-25" dirty="0">
                <a:solidFill>
                  <a:srgbClr val="3C3C3C"/>
                </a:solidFill>
                <a:latin typeface="Cambria Math"/>
                <a:cs typeface="Cambria Math"/>
              </a:rPr>
              <a:t>𝑥</a:t>
            </a:r>
            <a:r>
              <a:rPr sz="2175" spc="60" baseline="-15325" dirty="0">
                <a:solidFill>
                  <a:srgbClr val="3C3C3C"/>
                </a:solidFill>
                <a:latin typeface="Cambria Math"/>
                <a:cs typeface="Cambria Math"/>
              </a:rPr>
              <a:t>0</a:t>
            </a:r>
            <a:r>
              <a:rPr sz="2175" baseline="-15325" dirty="0">
                <a:solidFill>
                  <a:srgbClr val="3C3C3C"/>
                </a:solidFill>
                <a:latin typeface="Cambria Math"/>
                <a:cs typeface="Cambria Math"/>
              </a:rPr>
              <a:t> </a:t>
            </a:r>
            <a:r>
              <a:rPr sz="2175" spc="7" baseline="-15325" dirty="0">
                <a:solidFill>
                  <a:srgbClr val="3C3C3C"/>
                </a:solidFill>
                <a:latin typeface="Cambria Math"/>
                <a:cs typeface="Cambria Math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Cambria Math"/>
                <a:cs typeface="Cambria Math"/>
              </a:rPr>
              <a:t>=</a:t>
            </a:r>
            <a:r>
              <a:rPr sz="2000" spc="120" dirty="0">
                <a:solidFill>
                  <a:srgbClr val="3C3C3C"/>
                </a:solidFill>
                <a:latin typeface="Cambria Math"/>
                <a:cs typeface="Cambria Math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Cambria Math"/>
                <a:cs typeface="Cambria Math"/>
              </a:rPr>
              <a:t>0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5940" y="3927855"/>
            <a:ext cx="298005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85" dirty="0">
                <a:solidFill>
                  <a:srgbClr val="3C3C3C"/>
                </a:solidFill>
                <a:latin typeface="Trebuchet MS"/>
                <a:cs typeface="Trebuchet MS"/>
              </a:rPr>
              <a:t>En</a:t>
            </a:r>
            <a:r>
              <a:rPr sz="2000" spc="-90" dirty="0">
                <a:solidFill>
                  <a:srgbClr val="3C3C3C"/>
                </a:solidFill>
                <a:latin typeface="Trebuchet MS"/>
                <a:cs typeface="Trebuchet MS"/>
              </a:rPr>
              <a:t>tonc</a:t>
            </a:r>
            <a:r>
              <a:rPr sz="2000" spc="-95" dirty="0">
                <a:solidFill>
                  <a:srgbClr val="3C3C3C"/>
                </a:solidFill>
                <a:latin typeface="Trebuchet MS"/>
                <a:cs typeface="Trebuchet MS"/>
              </a:rPr>
              <a:t>e</a:t>
            </a:r>
            <a:r>
              <a:rPr sz="2000" spc="-170" dirty="0">
                <a:solidFill>
                  <a:srgbClr val="3C3C3C"/>
                </a:solidFill>
                <a:latin typeface="Trebuchet MS"/>
                <a:cs typeface="Trebuchet MS"/>
              </a:rPr>
              <a:t>s,</a:t>
            </a:r>
            <a:r>
              <a:rPr sz="2000" spc="-26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-90" dirty="0">
                <a:solidFill>
                  <a:srgbClr val="3C3C3C"/>
                </a:solidFill>
                <a:latin typeface="Trebuchet MS"/>
                <a:cs typeface="Trebuchet MS"/>
              </a:rPr>
              <a:t>se</a:t>
            </a:r>
            <a:r>
              <a:rPr sz="2000" spc="-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-114" dirty="0">
                <a:solidFill>
                  <a:srgbClr val="3C3C3C"/>
                </a:solidFill>
                <a:latin typeface="Trebuchet MS"/>
                <a:cs typeface="Trebuchet MS"/>
              </a:rPr>
              <a:t>deb</a:t>
            </a:r>
            <a:r>
              <a:rPr sz="2000" spc="-135" dirty="0">
                <a:solidFill>
                  <a:srgbClr val="3C3C3C"/>
                </a:solidFill>
                <a:latin typeface="Trebuchet MS"/>
                <a:cs typeface="Trebuchet MS"/>
              </a:rPr>
              <a:t>e</a:t>
            </a:r>
            <a:r>
              <a:rPr sz="2000"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-130" dirty="0">
                <a:solidFill>
                  <a:srgbClr val="3C3C3C"/>
                </a:solidFill>
                <a:latin typeface="Trebuchet MS"/>
                <a:cs typeface="Trebuchet MS"/>
              </a:rPr>
              <a:t>t</a:t>
            </a:r>
            <a:r>
              <a:rPr sz="2000" spc="-125" dirty="0">
                <a:solidFill>
                  <a:srgbClr val="3C3C3C"/>
                </a:solidFill>
                <a:latin typeface="Trebuchet MS"/>
                <a:cs typeface="Trebuchet MS"/>
              </a:rPr>
              <a:t>en</a:t>
            </a:r>
            <a:r>
              <a:rPr sz="2000" spc="-120" dirty="0">
                <a:solidFill>
                  <a:srgbClr val="3C3C3C"/>
                </a:solidFill>
                <a:latin typeface="Trebuchet MS"/>
                <a:cs typeface="Trebuchet MS"/>
              </a:rPr>
              <a:t>e</a:t>
            </a:r>
            <a:r>
              <a:rPr sz="2000" spc="10" dirty="0">
                <a:solidFill>
                  <a:srgbClr val="3C3C3C"/>
                </a:solidFill>
                <a:latin typeface="Trebuchet MS"/>
                <a:cs typeface="Trebuchet MS"/>
              </a:rPr>
              <a:t>r</a:t>
            </a:r>
            <a:r>
              <a:rPr sz="2000" spc="-6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-105" dirty="0">
                <a:solidFill>
                  <a:srgbClr val="3C3C3C"/>
                </a:solidFill>
                <a:latin typeface="Trebuchet MS"/>
                <a:cs typeface="Trebuchet MS"/>
              </a:rPr>
              <a:t>qu</a:t>
            </a:r>
            <a:r>
              <a:rPr sz="2000" spc="-220" dirty="0">
                <a:solidFill>
                  <a:srgbClr val="3C3C3C"/>
                </a:solidFill>
                <a:latin typeface="Trebuchet MS"/>
                <a:cs typeface="Trebuchet MS"/>
              </a:rPr>
              <a:t>e: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143247" y="4004309"/>
            <a:ext cx="288925" cy="234950"/>
          </a:xfrm>
          <a:custGeom>
            <a:avLst/>
            <a:gdLst/>
            <a:ahLst/>
            <a:cxnLst/>
            <a:rect l="l" t="t" r="r" b="b"/>
            <a:pathLst>
              <a:path w="288925" h="234950">
                <a:moveTo>
                  <a:pt x="213487" y="0"/>
                </a:moveTo>
                <a:lnTo>
                  <a:pt x="210185" y="9525"/>
                </a:lnTo>
                <a:lnTo>
                  <a:pt x="223805" y="15428"/>
                </a:lnTo>
                <a:lnTo>
                  <a:pt x="235521" y="23606"/>
                </a:lnTo>
                <a:lnTo>
                  <a:pt x="259258" y="61450"/>
                </a:lnTo>
                <a:lnTo>
                  <a:pt x="267080" y="116331"/>
                </a:lnTo>
                <a:lnTo>
                  <a:pt x="266201" y="137023"/>
                </a:lnTo>
                <a:lnTo>
                  <a:pt x="253111" y="187832"/>
                </a:lnTo>
                <a:lnTo>
                  <a:pt x="223946" y="219497"/>
                </a:lnTo>
                <a:lnTo>
                  <a:pt x="210565" y="225425"/>
                </a:lnTo>
                <a:lnTo>
                  <a:pt x="213487" y="234950"/>
                </a:lnTo>
                <a:lnTo>
                  <a:pt x="258421" y="208339"/>
                </a:lnTo>
                <a:lnTo>
                  <a:pt x="283686" y="159099"/>
                </a:lnTo>
                <a:lnTo>
                  <a:pt x="288543" y="117601"/>
                </a:lnTo>
                <a:lnTo>
                  <a:pt x="287329" y="96029"/>
                </a:lnTo>
                <a:lnTo>
                  <a:pt x="277614" y="57790"/>
                </a:lnTo>
                <a:lnTo>
                  <a:pt x="245490" y="15049"/>
                </a:lnTo>
                <a:lnTo>
                  <a:pt x="230536" y="6143"/>
                </a:lnTo>
                <a:lnTo>
                  <a:pt x="213487" y="0"/>
                </a:lnTo>
                <a:close/>
              </a:path>
              <a:path w="288925" h="234950">
                <a:moveTo>
                  <a:pt x="74929" y="0"/>
                </a:moveTo>
                <a:lnTo>
                  <a:pt x="30067" y="26717"/>
                </a:lnTo>
                <a:lnTo>
                  <a:pt x="4841" y="76088"/>
                </a:lnTo>
                <a:lnTo>
                  <a:pt x="0" y="117601"/>
                </a:lnTo>
                <a:lnTo>
                  <a:pt x="1194" y="139172"/>
                </a:lnTo>
                <a:lnTo>
                  <a:pt x="10822" y="177359"/>
                </a:lnTo>
                <a:lnTo>
                  <a:pt x="42830" y="219963"/>
                </a:lnTo>
                <a:lnTo>
                  <a:pt x="74929" y="234950"/>
                </a:lnTo>
                <a:lnTo>
                  <a:pt x="77850" y="225425"/>
                </a:lnTo>
                <a:lnTo>
                  <a:pt x="64470" y="219497"/>
                </a:lnTo>
                <a:lnTo>
                  <a:pt x="52911" y="211248"/>
                </a:lnTo>
                <a:lnTo>
                  <a:pt x="29211" y="172785"/>
                </a:lnTo>
                <a:lnTo>
                  <a:pt x="21336" y="116331"/>
                </a:lnTo>
                <a:lnTo>
                  <a:pt x="22215" y="96260"/>
                </a:lnTo>
                <a:lnTo>
                  <a:pt x="35305" y="46735"/>
                </a:lnTo>
                <a:lnTo>
                  <a:pt x="64684" y="15428"/>
                </a:lnTo>
                <a:lnTo>
                  <a:pt x="78231" y="9525"/>
                </a:lnTo>
                <a:lnTo>
                  <a:pt x="74929" y="0"/>
                </a:lnTo>
                <a:close/>
              </a:path>
            </a:pathLst>
          </a:custGeom>
          <a:solidFill>
            <a:srgbClr val="3C3C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956050" y="3927855"/>
            <a:ext cx="40068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solidFill>
                  <a:srgbClr val="3C3C3C"/>
                </a:solidFill>
                <a:latin typeface="Cambria Math"/>
                <a:cs typeface="Cambria Math"/>
              </a:rPr>
              <a:t>𝑢</a:t>
            </a:r>
            <a:r>
              <a:rPr sz="2000" spc="355" dirty="0">
                <a:solidFill>
                  <a:srgbClr val="3C3C3C"/>
                </a:solidFill>
                <a:latin typeface="Cambria Math"/>
                <a:cs typeface="Cambria Math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Cambria Math"/>
                <a:cs typeface="Cambria Math"/>
              </a:rPr>
              <a:t>𝑠</a:t>
            </a:r>
            <a:endParaRPr sz="2000" dirty="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976876" y="3968241"/>
            <a:ext cx="716280" cy="306705"/>
          </a:xfrm>
          <a:custGeom>
            <a:avLst/>
            <a:gdLst/>
            <a:ahLst/>
            <a:cxnLst/>
            <a:rect l="l" t="t" r="r" b="b"/>
            <a:pathLst>
              <a:path w="716279" h="306704">
                <a:moveTo>
                  <a:pt x="83566" y="10160"/>
                </a:moveTo>
                <a:lnTo>
                  <a:pt x="80518" y="0"/>
                </a:lnTo>
                <a:lnTo>
                  <a:pt x="62268" y="7099"/>
                </a:lnTo>
                <a:lnTo>
                  <a:pt x="46240" y="18262"/>
                </a:lnTo>
                <a:lnTo>
                  <a:pt x="20828" y="52705"/>
                </a:lnTo>
                <a:lnTo>
                  <a:pt x="5219" y="99098"/>
                </a:lnTo>
                <a:lnTo>
                  <a:pt x="0" y="153416"/>
                </a:lnTo>
                <a:lnTo>
                  <a:pt x="1295" y="181368"/>
                </a:lnTo>
                <a:lnTo>
                  <a:pt x="11722" y="231660"/>
                </a:lnTo>
                <a:lnTo>
                  <a:pt x="32410" y="273100"/>
                </a:lnTo>
                <a:lnTo>
                  <a:pt x="62268" y="299440"/>
                </a:lnTo>
                <a:lnTo>
                  <a:pt x="80518" y="306578"/>
                </a:lnTo>
                <a:lnTo>
                  <a:pt x="83566" y="296418"/>
                </a:lnTo>
                <a:lnTo>
                  <a:pt x="69507" y="289064"/>
                </a:lnTo>
                <a:lnTo>
                  <a:pt x="57277" y="278422"/>
                </a:lnTo>
                <a:lnTo>
                  <a:pt x="31457" y="227203"/>
                </a:lnTo>
                <a:lnTo>
                  <a:pt x="23698" y="180289"/>
                </a:lnTo>
                <a:lnTo>
                  <a:pt x="22733" y="153289"/>
                </a:lnTo>
                <a:lnTo>
                  <a:pt x="23698" y="126466"/>
                </a:lnTo>
                <a:lnTo>
                  <a:pt x="31457" y="79413"/>
                </a:lnTo>
                <a:lnTo>
                  <a:pt x="46837" y="42024"/>
                </a:lnTo>
                <a:lnTo>
                  <a:pt x="69507" y="17449"/>
                </a:lnTo>
                <a:lnTo>
                  <a:pt x="83566" y="10160"/>
                </a:lnTo>
                <a:close/>
              </a:path>
              <a:path w="716279" h="306704">
                <a:moveTo>
                  <a:pt x="344932" y="45593"/>
                </a:moveTo>
                <a:lnTo>
                  <a:pt x="341630" y="36068"/>
                </a:lnTo>
                <a:lnTo>
                  <a:pt x="324573" y="42214"/>
                </a:lnTo>
                <a:lnTo>
                  <a:pt x="309626" y="51117"/>
                </a:lnTo>
                <a:lnTo>
                  <a:pt x="277571" y="93865"/>
                </a:lnTo>
                <a:lnTo>
                  <a:pt x="267906" y="132105"/>
                </a:lnTo>
                <a:lnTo>
                  <a:pt x="266700" y="153670"/>
                </a:lnTo>
                <a:lnTo>
                  <a:pt x="267893" y="175247"/>
                </a:lnTo>
                <a:lnTo>
                  <a:pt x="277520" y="213436"/>
                </a:lnTo>
                <a:lnTo>
                  <a:pt x="309524" y="256032"/>
                </a:lnTo>
                <a:lnTo>
                  <a:pt x="341630" y="271018"/>
                </a:lnTo>
                <a:lnTo>
                  <a:pt x="344551" y="261493"/>
                </a:lnTo>
                <a:lnTo>
                  <a:pt x="331165" y="255574"/>
                </a:lnTo>
                <a:lnTo>
                  <a:pt x="319608" y="247319"/>
                </a:lnTo>
                <a:lnTo>
                  <a:pt x="295910" y="208864"/>
                </a:lnTo>
                <a:lnTo>
                  <a:pt x="288036" y="152400"/>
                </a:lnTo>
                <a:lnTo>
                  <a:pt x="288912" y="132334"/>
                </a:lnTo>
                <a:lnTo>
                  <a:pt x="302006" y="82804"/>
                </a:lnTo>
                <a:lnTo>
                  <a:pt x="331381" y="51498"/>
                </a:lnTo>
                <a:lnTo>
                  <a:pt x="344932" y="45593"/>
                </a:lnTo>
                <a:close/>
              </a:path>
              <a:path w="716279" h="306704">
                <a:moveTo>
                  <a:pt x="602488" y="153670"/>
                </a:moveTo>
                <a:lnTo>
                  <a:pt x="597623" y="112166"/>
                </a:lnTo>
                <a:lnTo>
                  <a:pt x="572287" y="62788"/>
                </a:lnTo>
                <a:lnTo>
                  <a:pt x="527431" y="36068"/>
                </a:lnTo>
                <a:lnTo>
                  <a:pt x="524129" y="45593"/>
                </a:lnTo>
                <a:lnTo>
                  <a:pt x="537743" y="51498"/>
                </a:lnTo>
                <a:lnTo>
                  <a:pt x="549465" y="59677"/>
                </a:lnTo>
                <a:lnTo>
                  <a:pt x="573201" y="97523"/>
                </a:lnTo>
                <a:lnTo>
                  <a:pt x="581025" y="152400"/>
                </a:lnTo>
                <a:lnTo>
                  <a:pt x="580136" y="173101"/>
                </a:lnTo>
                <a:lnTo>
                  <a:pt x="567055" y="223901"/>
                </a:lnTo>
                <a:lnTo>
                  <a:pt x="537883" y="255574"/>
                </a:lnTo>
                <a:lnTo>
                  <a:pt x="524510" y="261493"/>
                </a:lnTo>
                <a:lnTo>
                  <a:pt x="527431" y="271018"/>
                </a:lnTo>
                <a:lnTo>
                  <a:pt x="572363" y="244411"/>
                </a:lnTo>
                <a:lnTo>
                  <a:pt x="597623" y="195173"/>
                </a:lnTo>
                <a:lnTo>
                  <a:pt x="601268" y="175247"/>
                </a:lnTo>
                <a:lnTo>
                  <a:pt x="602488" y="153670"/>
                </a:lnTo>
                <a:close/>
              </a:path>
              <a:path w="716279" h="306704">
                <a:moveTo>
                  <a:pt x="716280" y="153289"/>
                </a:moveTo>
                <a:lnTo>
                  <a:pt x="711034" y="99098"/>
                </a:lnTo>
                <a:lnTo>
                  <a:pt x="695325" y="52705"/>
                </a:lnTo>
                <a:lnTo>
                  <a:pt x="669963" y="18262"/>
                </a:lnTo>
                <a:lnTo>
                  <a:pt x="635762" y="0"/>
                </a:lnTo>
                <a:lnTo>
                  <a:pt x="632587" y="10160"/>
                </a:lnTo>
                <a:lnTo>
                  <a:pt x="646709" y="17449"/>
                </a:lnTo>
                <a:lnTo>
                  <a:pt x="658977" y="28067"/>
                </a:lnTo>
                <a:lnTo>
                  <a:pt x="684784" y="79413"/>
                </a:lnTo>
                <a:lnTo>
                  <a:pt x="692454" y="126466"/>
                </a:lnTo>
                <a:lnTo>
                  <a:pt x="693420" y="153416"/>
                </a:lnTo>
                <a:lnTo>
                  <a:pt x="692454" y="180289"/>
                </a:lnTo>
                <a:lnTo>
                  <a:pt x="684784" y="227203"/>
                </a:lnTo>
                <a:lnTo>
                  <a:pt x="669429" y="264490"/>
                </a:lnTo>
                <a:lnTo>
                  <a:pt x="632587" y="296418"/>
                </a:lnTo>
                <a:lnTo>
                  <a:pt x="635762" y="306578"/>
                </a:lnTo>
                <a:lnTo>
                  <a:pt x="669963" y="288277"/>
                </a:lnTo>
                <a:lnTo>
                  <a:pt x="695325" y="253873"/>
                </a:lnTo>
                <a:lnTo>
                  <a:pt x="711034" y="207492"/>
                </a:lnTo>
                <a:lnTo>
                  <a:pt x="714959" y="181368"/>
                </a:lnTo>
                <a:lnTo>
                  <a:pt x="716280" y="153289"/>
                </a:lnTo>
                <a:close/>
              </a:path>
            </a:pathLst>
          </a:custGeom>
          <a:solidFill>
            <a:srgbClr val="3C3C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512309" y="3927855"/>
            <a:ext cx="99123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solidFill>
                  <a:srgbClr val="3C3C3C"/>
                </a:solidFill>
                <a:latin typeface="Cambria Math"/>
                <a:cs typeface="Cambria Math"/>
              </a:rPr>
              <a:t>=</a:t>
            </a:r>
            <a:r>
              <a:rPr sz="2000" spc="100" dirty="0">
                <a:solidFill>
                  <a:srgbClr val="3C3C3C"/>
                </a:solidFill>
                <a:latin typeface="Cambria Math"/>
                <a:cs typeface="Cambria Math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Cambria Math"/>
                <a:cs typeface="Cambria Math"/>
              </a:rPr>
              <a:t>𝐸</a:t>
            </a:r>
            <a:r>
              <a:rPr sz="2000" spc="500" dirty="0">
                <a:solidFill>
                  <a:srgbClr val="3C3C3C"/>
                </a:solidFill>
                <a:latin typeface="Cambria Math"/>
                <a:cs typeface="Cambria Math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Cambria Math"/>
                <a:cs typeface="Cambria Math"/>
              </a:rPr>
              <a:t>𝑢</a:t>
            </a:r>
            <a:r>
              <a:rPr sz="2000" spc="409" dirty="0">
                <a:solidFill>
                  <a:srgbClr val="3C3C3C"/>
                </a:solidFill>
                <a:latin typeface="Cambria Math"/>
                <a:cs typeface="Cambria Math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Cambria Math"/>
                <a:cs typeface="Cambria Math"/>
              </a:rPr>
              <a:t>𝑋</a:t>
            </a:r>
            <a:endParaRPr sz="2000" dirty="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146290" y="4004309"/>
            <a:ext cx="335915" cy="234950"/>
          </a:xfrm>
          <a:custGeom>
            <a:avLst/>
            <a:gdLst/>
            <a:ahLst/>
            <a:cxnLst/>
            <a:rect l="l" t="t" r="r" b="b"/>
            <a:pathLst>
              <a:path w="335915" h="234950">
                <a:moveTo>
                  <a:pt x="260730" y="0"/>
                </a:moveTo>
                <a:lnTo>
                  <a:pt x="257428" y="9525"/>
                </a:lnTo>
                <a:lnTo>
                  <a:pt x="271049" y="15428"/>
                </a:lnTo>
                <a:lnTo>
                  <a:pt x="282765" y="23606"/>
                </a:lnTo>
                <a:lnTo>
                  <a:pt x="306502" y="61450"/>
                </a:lnTo>
                <a:lnTo>
                  <a:pt x="314325" y="116331"/>
                </a:lnTo>
                <a:lnTo>
                  <a:pt x="313445" y="137023"/>
                </a:lnTo>
                <a:lnTo>
                  <a:pt x="300354" y="187832"/>
                </a:lnTo>
                <a:lnTo>
                  <a:pt x="271190" y="219497"/>
                </a:lnTo>
                <a:lnTo>
                  <a:pt x="257809" y="225425"/>
                </a:lnTo>
                <a:lnTo>
                  <a:pt x="260730" y="234950"/>
                </a:lnTo>
                <a:lnTo>
                  <a:pt x="305665" y="208339"/>
                </a:lnTo>
                <a:lnTo>
                  <a:pt x="330930" y="159099"/>
                </a:lnTo>
                <a:lnTo>
                  <a:pt x="335787" y="117601"/>
                </a:lnTo>
                <a:lnTo>
                  <a:pt x="334573" y="96029"/>
                </a:lnTo>
                <a:lnTo>
                  <a:pt x="324858" y="57790"/>
                </a:lnTo>
                <a:lnTo>
                  <a:pt x="292734" y="15049"/>
                </a:lnTo>
                <a:lnTo>
                  <a:pt x="277780" y="6143"/>
                </a:lnTo>
                <a:lnTo>
                  <a:pt x="260730" y="0"/>
                </a:lnTo>
                <a:close/>
              </a:path>
              <a:path w="335915" h="234950">
                <a:moveTo>
                  <a:pt x="74929" y="0"/>
                </a:moveTo>
                <a:lnTo>
                  <a:pt x="30067" y="26717"/>
                </a:lnTo>
                <a:lnTo>
                  <a:pt x="4841" y="76088"/>
                </a:lnTo>
                <a:lnTo>
                  <a:pt x="0" y="117601"/>
                </a:lnTo>
                <a:lnTo>
                  <a:pt x="1194" y="139172"/>
                </a:lnTo>
                <a:lnTo>
                  <a:pt x="10822" y="177359"/>
                </a:lnTo>
                <a:lnTo>
                  <a:pt x="42830" y="219963"/>
                </a:lnTo>
                <a:lnTo>
                  <a:pt x="74929" y="234950"/>
                </a:lnTo>
                <a:lnTo>
                  <a:pt x="77850" y="225425"/>
                </a:lnTo>
                <a:lnTo>
                  <a:pt x="64470" y="219497"/>
                </a:lnTo>
                <a:lnTo>
                  <a:pt x="52911" y="211248"/>
                </a:lnTo>
                <a:lnTo>
                  <a:pt x="29211" y="172785"/>
                </a:lnTo>
                <a:lnTo>
                  <a:pt x="21335" y="116331"/>
                </a:lnTo>
                <a:lnTo>
                  <a:pt x="22215" y="96260"/>
                </a:lnTo>
                <a:lnTo>
                  <a:pt x="35305" y="46735"/>
                </a:lnTo>
                <a:lnTo>
                  <a:pt x="64684" y="15428"/>
                </a:lnTo>
                <a:lnTo>
                  <a:pt x="78231" y="9525"/>
                </a:lnTo>
                <a:lnTo>
                  <a:pt x="74929" y="0"/>
                </a:lnTo>
                <a:close/>
              </a:path>
            </a:pathLst>
          </a:custGeom>
          <a:solidFill>
            <a:srgbClr val="3C3C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829300" y="3927855"/>
            <a:ext cx="157670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solidFill>
                  <a:srgbClr val="3C3C3C"/>
                </a:solidFill>
                <a:latin typeface="Cambria Math"/>
                <a:cs typeface="Cambria Math"/>
              </a:rPr>
              <a:t>⇒</a:t>
            </a:r>
            <a:r>
              <a:rPr sz="2000" spc="105" dirty="0">
                <a:solidFill>
                  <a:srgbClr val="3C3C3C"/>
                </a:solidFill>
                <a:latin typeface="Cambria Math"/>
                <a:cs typeface="Cambria Math"/>
              </a:rPr>
              <a:t> </a:t>
            </a:r>
            <a:r>
              <a:rPr sz="2000" spc="-5" dirty="0">
                <a:solidFill>
                  <a:srgbClr val="006FC0"/>
                </a:solidFill>
                <a:latin typeface="Cambria Math"/>
                <a:cs typeface="Cambria Math"/>
              </a:rPr>
              <a:t>𝑠</a:t>
            </a:r>
            <a:r>
              <a:rPr sz="2000" spc="13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Cambria Math"/>
                <a:cs typeface="Cambria Math"/>
              </a:rPr>
              <a:t>=</a:t>
            </a:r>
            <a:r>
              <a:rPr sz="2000" spc="105" dirty="0">
                <a:solidFill>
                  <a:srgbClr val="3C3C3C"/>
                </a:solidFill>
                <a:latin typeface="Cambria Math"/>
                <a:cs typeface="Cambria Math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Cambria Math"/>
                <a:cs typeface="Cambria Math"/>
              </a:rPr>
              <a:t>𝐸𝑀𝐶</a:t>
            </a:r>
            <a:r>
              <a:rPr sz="2000" spc="440" dirty="0">
                <a:solidFill>
                  <a:srgbClr val="3C3C3C"/>
                </a:solidFill>
                <a:latin typeface="Cambria Math"/>
                <a:cs typeface="Cambria Math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Cambria Math"/>
                <a:cs typeface="Cambria Math"/>
              </a:rPr>
              <a:t>𝑋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537450" y="3927855"/>
            <a:ext cx="56388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solidFill>
                  <a:srgbClr val="3C3C3C"/>
                </a:solidFill>
                <a:latin typeface="Cambria Math"/>
                <a:cs typeface="Cambria Math"/>
              </a:rPr>
              <a:t>=</a:t>
            </a:r>
            <a:r>
              <a:rPr sz="2000" spc="60" dirty="0">
                <a:solidFill>
                  <a:srgbClr val="3C3C3C"/>
                </a:solidFill>
                <a:latin typeface="Cambria Math"/>
                <a:cs typeface="Cambria Math"/>
              </a:rPr>
              <a:t> </a:t>
            </a:r>
            <a:r>
              <a:rPr sz="2000" spc="20" dirty="0">
                <a:solidFill>
                  <a:srgbClr val="3C3C3C"/>
                </a:solidFill>
                <a:latin typeface="Cambria Math"/>
                <a:cs typeface="Cambria Math"/>
              </a:rPr>
              <a:t>𝑥</a:t>
            </a:r>
            <a:r>
              <a:rPr sz="2175" spc="30" baseline="-15325" dirty="0">
                <a:solidFill>
                  <a:srgbClr val="3C3C3C"/>
                </a:solidFill>
                <a:latin typeface="Cambria Math"/>
                <a:cs typeface="Cambria Math"/>
              </a:rPr>
              <a:t>𝑐</a:t>
            </a:r>
            <a:endParaRPr sz="2175" baseline="-15325">
              <a:latin typeface="Cambria Math"/>
              <a:cs typeface="Cambria Math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48640" y="4981828"/>
            <a:ext cx="1776730" cy="13970"/>
          </a:xfrm>
          <a:custGeom>
            <a:avLst/>
            <a:gdLst/>
            <a:ahLst/>
            <a:cxnLst/>
            <a:rect l="l" t="t" r="r" b="b"/>
            <a:pathLst>
              <a:path w="1776730" h="13970">
                <a:moveTo>
                  <a:pt x="1776222" y="0"/>
                </a:moveTo>
                <a:lnTo>
                  <a:pt x="0" y="0"/>
                </a:lnTo>
                <a:lnTo>
                  <a:pt x="0" y="13716"/>
                </a:lnTo>
                <a:lnTo>
                  <a:pt x="1776222" y="13716"/>
                </a:lnTo>
                <a:lnTo>
                  <a:pt x="1776222" y="0"/>
                </a:lnTo>
                <a:close/>
              </a:path>
            </a:pathLst>
          </a:custGeom>
          <a:solidFill>
            <a:srgbClr val="3C3C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510540" y="4698491"/>
            <a:ext cx="185229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000" spc="-120" dirty="0">
                <a:solidFill>
                  <a:srgbClr val="3C3C3C"/>
                </a:solidFill>
                <a:latin typeface="Trebuchet MS"/>
                <a:cs typeface="Trebuchet MS"/>
              </a:rPr>
              <a:t>Statu</a:t>
            </a:r>
            <a:r>
              <a:rPr sz="2000" spc="-7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-105" dirty="0">
                <a:solidFill>
                  <a:srgbClr val="3C3C3C"/>
                </a:solidFill>
                <a:latin typeface="Trebuchet MS"/>
                <a:cs typeface="Trebuchet MS"/>
              </a:rPr>
              <a:t>qu</a:t>
            </a:r>
            <a:r>
              <a:rPr sz="2000" spc="25" dirty="0">
                <a:solidFill>
                  <a:srgbClr val="3C3C3C"/>
                </a:solidFill>
                <a:latin typeface="Trebuchet MS"/>
                <a:cs typeface="Trebuchet MS"/>
              </a:rPr>
              <a:t>o</a:t>
            </a:r>
            <a:r>
              <a:rPr sz="2000" spc="-6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-25" dirty="0">
                <a:solidFill>
                  <a:srgbClr val="3C3C3C"/>
                </a:solidFill>
                <a:latin typeface="Cambria Math"/>
                <a:cs typeface="Cambria Math"/>
              </a:rPr>
              <a:t>𝑥</a:t>
            </a:r>
            <a:r>
              <a:rPr sz="2175" spc="60" baseline="-15325" dirty="0">
                <a:solidFill>
                  <a:srgbClr val="3C3C3C"/>
                </a:solidFill>
                <a:latin typeface="Cambria Math"/>
                <a:cs typeface="Cambria Math"/>
              </a:rPr>
              <a:t>0</a:t>
            </a:r>
            <a:r>
              <a:rPr sz="2175" baseline="-15325" dirty="0">
                <a:solidFill>
                  <a:srgbClr val="3C3C3C"/>
                </a:solidFill>
                <a:latin typeface="Cambria Math"/>
                <a:cs typeface="Cambria Math"/>
              </a:rPr>
              <a:t> </a:t>
            </a:r>
            <a:r>
              <a:rPr sz="2175" spc="7" baseline="-15325" dirty="0">
                <a:solidFill>
                  <a:srgbClr val="3C3C3C"/>
                </a:solidFill>
                <a:latin typeface="Cambria Math"/>
                <a:cs typeface="Cambria Math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Cambria Math"/>
                <a:cs typeface="Cambria Math"/>
              </a:rPr>
              <a:t>≠</a:t>
            </a:r>
            <a:r>
              <a:rPr sz="2000" spc="120" dirty="0">
                <a:solidFill>
                  <a:srgbClr val="3C3C3C"/>
                </a:solidFill>
                <a:latin typeface="Cambria Math"/>
                <a:cs typeface="Cambria Math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Cambria Math"/>
                <a:cs typeface="Cambria Math"/>
              </a:rPr>
              <a:t>0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343147" y="5920714"/>
            <a:ext cx="843280" cy="235585"/>
          </a:xfrm>
          <a:custGeom>
            <a:avLst/>
            <a:gdLst/>
            <a:ahLst/>
            <a:cxnLst/>
            <a:rect l="l" t="t" r="r" b="b"/>
            <a:pathLst>
              <a:path w="843279" h="235585">
                <a:moveTo>
                  <a:pt x="768223" y="0"/>
                </a:moveTo>
                <a:lnTo>
                  <a:pt x="764921" y="9537"/>
                </a:lnTo>
                <a:lnTo>
                  <a:pt x="778541" y="15443"/>
                </a:lnTo>
                <a:lnTo>
                  <a:pt x="790257" y="23617"/>
                </a:lnTo>
                <a:lnTo>
                  <a:pt x="813994" y="61501"/>
                </a:lnTo>
                <a:lnTo>
                  <a:pt x="821816" y="116332"/>
                </a:lnTo>
                <a:lnTo>
                  <a:pt x="820937" y="137065"/>
                </a:lnTo>
                <a:lnTo>
                  <a:pt x="807847" y="187833"/>
                </a:lnTo>
                <a:lnTo>
                  <a:pt x="778682" y="219561"/>
                </a:lnTo>
                <a:lnTo>
                  <a:pt x="765301" y="225488"/>
                </a:lnTo>
                <a:lnTo>
                  <a:pt x="768223" y="235038"/>
                </a:lnTo>
                <a:lnTo>
                  <a:pt x="813157" y="208351"/>
                </a:lnTo>
                <a:lnTo>
                  <a:pt x="838422" y="159094"/>
                </a:lnTo>
                <a:lnTo>
                  <a:pt x="843279" y="117576"/>
                </a:lnTo>
                <a:lnTo>
                  <a:pt x="842065" y="96028"/>
                </a:lnTo>
                <a:lnTo>
                  <a:pt x="832350" y="57838"/>
                </a:lnTo>
                <a:lnTo>
                  <a:pt x="800226" y="15065"/>
                </a:lnTo>
                <a:lnTo>
                  <a:pt x="785272" y="6147"/>
                </a:lnTo>
                <a:lnTo>
                  <a:pt x="768223" y="0"/>
                </a:lnTo>
                <a:close/>
              </a:path>
              <a:path w="843279" h="235585">
                <a:moveTo>
                  <a:pt x="74929" y="0"/>
                </a:moveTo>
                <a:lnTo>
                  <a:pt x="30067" y="26749"/>
                </a:lnTo>
                <a:lnTo>
                  <a:pt x="4841" y="76115"/>
                </a:lnTo>
                <a:lnTo>
                  <a:pt x="0" y="117576"/>
                </a:lnTo>
                <a:lnTo>
                  <a:pt x="1194" y="139167"/>
                </a:lnTo>
                <a:lnTo>
                  <a:pt x="10822" y="177357"/>
                </a:lnTo>
                <a:lnTo>
                  <a:pt x="42830" y="219997"/>
                </a:lnTo>
                <a:lnTo>
                  <a:pt x="74929" y="235038"/>
                </a:lnTo>
                <a:lnTo>
                  <a:pt x="77850" y="225488"/>
                </a:lnTo>
                <a:lnTo>
                  <a:pt x="64470" y="219561"/>
                </a:lnTo>
                <a:lnTo>
                  <a:pt x="52911" y="211308"/>
                </a:lnTo>
                <a:lnTo>
                  <a:pt x="29211" y="172814"/>
                </a:lnTo>
                <a:lnTo>
                  <a:pt x="21336" y="116332"/>
                </a:lnTo>
                <a:lnTo>
                  <a:pt x="22215" y="96282"/>
                </a:lnTo>
                <a:lnTo>
                  <a:pt x="35305" y="46774"/>
                </a:lnTo>
                <a:lnTo>
                  <a:pt x="64684" y="15443"/>
                </a:lnTo>
                <a:lnTo>
                  <a:pt x="78231" y="9537"/>
                </a:lnTo>
                <a:lnTo>
                  <a:pt x="74929" y="0"/>
                </a:lnTo>
                <a:close/>
              </a:path>
            </a:pathLst>
          </a:custGeom>
          <a:solidFill>
            <a:srgbClr val="3C3C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973066" y="5920714"/>
            <a:ext cx="973455" cy="236854"/>
          </a:xfrm>
          <a:custGeom>
            <a:avLst/>
            <a:gdLst/>
            <a:ahLst/>
            <a:cxnLst/>
            <a:rect l="l" t="t" r="r" b="b"/>
            <a:pathLst>
              <a:path w="973454" h="236854">
                <a:moveTo>
                  <a:pt x="78232" y="9537"/>
                </a:moveTo>
                <a:lnTo>
                  <a:pt x="74930" y="0"/>
                </a:lnTo>
                <a:lnTo>
                  <a:pt x="57873" y="6159"/>
                </a:lnTo>
                <a:lnTo>
                  <a:pt x="42926" y="15074"/>
                </a:lnTo>
                <a:lnTo>
                  <a:pt x="10820" y="57848"/>
                </a:lnTo>
                <a:lnTo>
                  <a:pt x="1193" y="96037"/>
                </a:lnTo>
                <a:lnTo>
                  <a:pt x="0" y="117576"/>
                </a:lnTo>
                <a:lnTo>
                  <a:pt x="1193" y="139179"/>
                </a:lnTo>
                <a:lnTo>
                  <a:pt x="10820" y="177368"/>
                </a:lnTo>
                <a:lnTo>
                  <a:pt x="42824" y="220002"/>
                </a:lnTo>
                <a:lnTo>
                  <a:pt x="74930" y="235038"/>
                </a:lnTo>
                <a:lnTo>
                  <a:pt x="77851" y="225488"/>
                </a:lnTo>
                <a:lnTo>
                  <a:pt x="64465" y="219570"/>
                </a:lnTo>
                <a:lnTo>
                  <a:pt x="52908" y="211315"/>
                </a:lnTo>
                <a:lnTo>
                  <a:pt x="29210" y="172821"/>
                </a:lnTo>
                <a:lnTo>
                  <a:pt x="21336" y="116344"/>
                </a:lnTo>
                <a:lnTo>
                  <a:pt x="22212" y="96291"/>
                </a:lnTo>
                <a:lnTo>
                  <a:pt x="35306" y="46774"/>
                </a:lnTo>
                <a:lnTo>
                  <a:pt x="64681" y="15455"/>
                </a:lnTo>
                <a:lnTo>
                  <a:pt x="78232" y="9537"/>
                </a:lnTo>
                <a:close/>
              </a:path>
              <a:path w="973454" h="236854">
                <a:moveTo>
                  <a:pt x="890524" y="117576"/>
                </a:moveTo>
                <a:lnTo>
                  <a:pt x="885659" y="76123"/>
                </a:lnTo>
                <a:lnTo>
                  <a:pt x="860323" y="26758"/>
                </a:lnTo>
                <a:lnTo>
                  <a:pt x="815467" y="0"/>
                </a:lnTo>
                <a:lnTo>
                  <a:pt x="812165" y="9537"/>
                </a:lnTo>
                <a:lnTo>
                  <a:pt x="825779" y="15455"/>
                </a:lnTo>
                <a:lnTo>
                  <a:pt x="837501" y="23622"/>
                </a:lnTo>
                <a:lnTo>
                  <a:pt x="861237" y="61506"/>
                </a:lnTo>
                <a:lnTo>
                  <a:pt x="869061" y="116344"/>
                </a:lnTo>
                <a:lnTo>
                  <a:pt x="868172" y="137071"/>
                </a:lnTo>
                <a:lnTo>
                  <a:pt x="855091" y="187833"/>
                </a:lnTo>
                <a:lnTo>
                  <a:pt x="825919" y="219570"/>
                </a:lnTo>
                <a:lnTo>
                  <a:pt x="812546" y="225488"/>
                </a:lnTo>
                <a:lnTo>
                  <a:pt x="815467" y="235038"/>
                </a:lnTo>
                <a:lnTo>
                  <a:pt x="860399" y="208356"/>
                </a:lnTo>
                <a:lnTo>
                  <a:pt x="885659" y="159105"/>
                </a:lnTo>
                <a:lnTo>
                  <a:pt x="889304" y="139179"/>
                </a:lnTo>
                <a:lnTo>
                  <a:pt x="890524" y="117576"/>
                </a:lnTo>
                <a:close/>
              </a:path>
              <a:path w="973454" h="236854">
                <a:moveTo>
                  <a:pt x="973201" y="25"/>
                </a:moveTo>
                <a:lnTo>
                  <a:pt x="917956" y="25"/>
                </a:lnTo>
                <a:lnTo>
                  <a:pt x="917956" y="8915"/>
                </a:lnTo>
                <a:lnTo>
                  <a:pt x="952627" y="8915"/>
                </a:lnTo>
                <a:lnTo>
                  <a:pt x="952627" y="226085"/>
                </a:lnTo>
                <a:lnTo>
                  <a:pt x="917956" y="226085"/>
                </a:lnTo>
                <a:lnTo>
                  <a:pt x="917956" y="236245"/>
                </a:lnTo>
                <a:lnTo>
                  <a:pt x="973201" y="236245"/>
                </a:lnTo>
                <a:lnTo>
                  <a:pt x="973201" y="226085"/>
                </a:lnTo>
                <a:lnTo>
                  <a:pt x="973201" y="8915"/>
                </a:lnTo>
                <a:lnTo>
                  <a:pt x="973201" y="25"/>
                </a:lnTo>
                <a:close/>
              </a:path>
            </a:pathLst>
          </a:custGeom>
          <a:solidFill>
            <a:srgbClr val="3C3C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737354" y="5920739"/>
            <a:ext cx="55880" cy="236220"/>
          </a:xfrm>
          <a:custGeom>
            <a:avLst/>
            <a:gdLst/>
            <a:ahLst/>
            <a:cxnLst/>
            <a:rect l="l" t="t" r="r" b="b"/>
            <a:pathLst>
              <a:path w="55879" h="236220">
                <a:moveTo>
                  <a:pt x="55372" y="0"/>
                </a:moveTo>
                <a:lnTo>
                  <a:pt x="0" y="0"/>
                </a:lnTo>
                <a:lnTo>
                  <a:pt x="0" y="8890"/>
                </a:lnTo>
                <a:lnTo>
                  <a:pt x="0" y="226060"/>
                </a:lnTo>
                <a:lnTo>
                  <a:pt x="0" y="236220"/>
                </a:lnTo>
                <a:lnTo>
                  <a:pt x="55372" y="236220"/>
                </a:lnTo>
                <a:lnTo>
                  <a:pt x="55372" y="226060"/>
                </a:lnTo>
                <a:lnTo>
                  <a:pt x="20574" y="226060"/>
                </a:lnTo>
                <a:lnTo>
                  <a:pt x="20574" y="8890"/>
                </a:lnTo>
                <a:lnTo>
                  <a:pt x="55372" y="8890"/>
                </a:lnTo>
                <a:lnTo>
                  <a:pt x="55372" y="0"/>
                </a:lnTo>
                <a:close/>
              </a:path>
            </a:pathLst>
          </a:custGeom>
          <a:solidFill>
            <a:srgbClr val="3C3C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85140" y="5382463"/>
            <a:ext cx="6888480" cy="1170305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715"/>
              </a:spcBef>
            </a:pPr>
            <a:r>
              <a:rPr sz="2000" spc="-85" dirty="0">
                <a:solidFill>
                  <a:srgbClr val="3C3C3C"/>
                </a:solidFill>
                <a:latin typeface="Trebuchet MS"/>
                <a:cs typeface="Trebuchet MS"/>
              </a:rPr>
              <a:t>En</a:t>
            </a:r>
            <a:r>
              <a:rPr sz="2000" spc="-90" dirty="0">
                <a:solidFill>
                  <a:srgbClr val="3C3C3C"/>
                </a:solidFill>
                <a:latin typeface="Trebuchet MS"/>
                <a:cs typeface="Trebuchet MS"/>
              </a:rPr>
              <a:t>tonc</a:t>
            </a:r>
            <a:r>
              <a:rPr sz="2000" spc="-95" dirty="0">
                <a:solidFill>
                  <a:srgbClr val="3C3C3C"/>
                </a:solidFill>
                <a:latin typeface="Trebuchet MS"/>
                <a:cs typeface="Trebuchet MS"/>
              </a:rPr>
              <a:t>e</a:t>
            </a:r>
            <a:r>
              <a:rPr sz="2000" spc="-170" dirty="0">
                <a:solidFill>
                  <a:srgbClr val="3C3C3C"/>
                </a:solidFill>
                <a:latin typeface="Trebuchet MS"/>
                <a:cs typeface="Trebuchet MS"/>
              </a:rPr>
              <a:t>s,</a:t>
            </a:r>
            <a:r>
              <a:rPr sz="2000" spc="-26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-90" dirty="0">
                <a:solidFill>
                  <a:srgbClr val="3C3C3C"/>
                </a:solidFill>
                <a:latin typeface="Trebuchet MS"/>
                <a:cs typeface="Trebuchet MS"/>
              </a:rPr>
              <a:t>se</a:t>
            </a:r>
            <a:r>
              <a:rPr sz="2000" spc="-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-114" dirty="0">
                <a:solidFill>
                  <a:srgbClr val="3C3C3C"/>
                </a:solidFill>
                <a:latin typeface="Trebuchet MS"/>
                <a:cs typeface="Trebuchet MS"/>
              </a:rPr>
              <a:t>deb</a:t>
            </a:r>
            <a:r>
              <a:rPr sz="2000" spc="-135" dirty="0">
                <a:solidFill>
                  <a:srgbClr val="3C3C3C"/>
                </a:solidFill>
                <a:latin typeface="Trebuchet MS"/>
                <a:cs typeface="Trebuchet MS"/>
              </a:rPr>
              <a:t>e</a:t>
            </a:r>
            <a:r>
              <a:rPr sz="2000"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-130" dirty="0">
                <a:solidFill>
                  <a:srgbClr val="3C3C3C"/>
                </a:solidFill>
                <a:latin typeface="Trebuchet MS"/>
                <a:cs typeface="Trebuchet MS"/>
              </a:rPr>
              <a:t>t</a:t>
            </a:r>
            <a:r>
              <a:rPr sz="2000" spc="-125" dirty="0">
                <a:solidFill>
                  <a:srgbClr val="3C3C3C"/>
                </a:solidFill>
                <a:latin typeface="Trebuchet MS"/>
                <a:cs typeface="Trebuchet MS"/>
              </a:rPr>
              <a:t>en</a:t>
            </a:r>
            <a:r>
              <a:rPr sz="2000" spc="-120" dirty="0">
                <a:solidFill>
                  <a:srgbClr val="3C3C3C"/>
                </a:solidFill>
                <a:latin typeface="Trebuchet MS"/>
                <a:cs typeface="Trebuchet MS"/>
              </a:rPr>
              <a:t>e</a:t>
            </a:r>
            <a:r>
              <a:rPr sz="2000" spc="10" dirty="0">
                <a:solidFill>
                  <a:srgbClr val="3C3C3C"/>
                </a:solidFill>
                <a:latin typeface="Trebuchet MS"/>
                <a:cs typeface="Trebuchet MS"/>
              </a:rPr>
              <a:t>r</a:t>
            </a:r>
            <a:r>
              <a:rPr sz="2000" spc="-6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-105" dirty="0">
                <a:solidFill>
                  <a:srgbClr val="3C3C3C"/>
                </a:solidFill>
                <a:latin typeface="Trebuchet MS"/>
                <a:cs typeface="Trebuchet MS"/>
              </a:rPr>
              <a:t>qu</a:t>
            </a:r>
            <a:r>
              <a:rPr sz="2000" spc="-220" dirty="0">
                <a:solidFill>
                  <a:srgbClr val="3C3C3C"/>
                </a:solidFill>
                <a:latin typeface="Trebuchet MS"/>
                <a:cs typeface="Trebuchet MS"/>
              </a:rPr>
              <a:t>e:</a:t>
            </a:r>
            <a:endParaRPr sz="2000" dirty="0">
              <a:latin typeface="Trebuchet MS"/>
              <a:cs typeface="Trebuchet MS"/>
            </a:endParaRPr>
          </a:p>
          <a:p>
            <a:pPr marL="2683510">
              <a:lnSpc>
                <a:spcPct val="100000"/>
              </a:lnSpc>
              <a:spcBef>
                <a:spcPts val="620"/>
              </a:spcBef>
              <a:tabLst>
                <a:tab pos="3794125" algn="l"/>
              </a:tabLst>
            </a:pPr>
            <a:r>
              <a:rPr sz="2000" b="1" spc="-5" dirty="0">
                <a:solidFill>
                  <a:srgbClr val="3C3C3C"/>
                </a:solidFill>
                <a:latin typeface="Cambria Math"/>
                <a:cs typeface="Cambria Math"/>
              </a:rPr>
              <a:t>𝑢</a:t>
            </a:r>
            <a:r>
              <a:rPr sz="2000" b="1" spc="450" dirty="0">
                <a:solidFill>
                  <a:srgbClr val="3C3C3C"/>
                </a:solidFill>
                <a:latin typeface="Cambria Math"/>
                <a:cs typeface="Cambria Math"/>
              </a:rPr>
              <a:t> </a:t>
            </a:r>
            <a:r>
              <a:rPr sz="2000" b="1" spc="5" dirty="0">
                <a:solidFill>
                  <a:srgbClr val="3C3C3C"/>
                </a:solidFill>
                <a:latin typeface="Cambria Math"/>
                <a:cs typeface="Cambria Math"/>
              </a:rPr>
              <a:t>𝑥</a:t>
            </a:r>
            <a:r>
              <a:rPr sz="2175" b="1" spc="7" baseline="-15325" dirty="0">
                <a:solidFill>
                  <a:srgbClr val="3C3C3C"/>
                </a:solidFill>
                <a:latin typeface="Cambria Math"/>
                <a:cs typeface="Cambria Math"/>
              </a:rPr>
              <a:t>0</a:t>
            </a:r>
            <a:r>
              <a:rPr sz="2175" b="1" spc="315" baseline="-15325" dirty="0">
                <a:solidFill>
                  <a:srgbClr val="3C3C3C"/>
                </a:solidFill>
                <a:latin typeface="Cambria Math"/>
                <a:cs typeface="Cambria Math"/>
              </a:rPr>
              <a:t> </a:t>
            </a:r>
            <a:r>
              <a:rPr sz="2000" b="1" spc="-5" dirty="0">
                <a:solidFill>
                  <a:srgbClr val="3C3C3C"/>
                </a:solidFill>
                <a:latin typeface="Cambria Math"/>
                <a:cs typeface="Cambria Math"/>
              </a:rPr>
              <a:t>+</a:t>
            </a:r>
            <a:r>
              <a:rPr sz="2000" b="1" spc="15" dirty="0">
                <a:solidFill>
                  <a:srgbClr val="3C3C3C"/>
                </a:solidFill>
                <a:latin typeface="Cambria Math"/>
                <a:cs typeface="Cambria Math"/>
              </a:rPr>
              <a:t> </a:t>
            </a:r>
            <a:r>
              <a:rPr sz="2000" b="1" spc="-5" dirty="0">
                <a:solidFill>
                  <a:srgbClr val="006FC0"/>
                </a:solidFill>
                <a:latin typeface="Cambria Math"/>
                <a:cs typeface="Cambria Math"/>
              </a:rPr>
              <a:t>𝑠	</a:t>
            </a:r>
            <a:r>
              <a:rPr sz="2000" b="1" spc="-5" dirty="0">
                <a:solidFill>
                  <a:srgbClr val="3C3C3C"/>
                </a:solidFill>
                <a:latin typeface="Cambria Math"/>
                <a:cs typeface="Cambria Math"/>
              </a:rPr>
              <a:t>=</a:t>
            </a:r>
            <a:r>
              <a:rPr sz="2000" b="1" spc="110" dirty="0">
                <a:solidFill>
                  <a:srgbClr val="3C3C3C"/>
                </a:solidFill>
                <a:latin typeface="Cambria Math"/>
                <a:cs typeface="Cambria Math"/>
              </a:rPr>
              <a:t> </a:t>
            </a:r>
            <a:r>
              <a:rPr sz="2000" b="1" spc="-5" dirty="0">
                <a:solidFill>
                  <a:srgbClr val="3C3C3C"/>
                </a:solidFill>
                <a:latin typeface="Cambria Math"/>
                <a:cs typeface="Cambria Math"/>
              </a:rPr>
              <a:t>𝐸</a:t>
            </a:r>
            <a:r>
              <a:rPr sz="2000" b="1" spc="320" dirty="0">
                <a:solidFill>
                  <a:srgbClr val="3C3C3C"/>
                </a:solidFill>
                <a:latin typeface="Cambria Math"/>
                <a:cs typeface="Cambria Math"/>
              </a:rPr>
              <a:t> </a:t>
            </a:r>
            <a:r>
              <a:rPr sz="2000" b="1" spc="-5" dirty="0">
                <a:solidFill>
                  <a:srgbClr val="3C3C3C"/>
                </a:solidFill>
                <a:latin typeface="Cambria Math"/>
                <a:cs typeface="Cambria Math"/>
              </a:rPr>
              <a:t>𝑢</a:t>
            </a:r>
            <a:r>
              <a:rPr sz="2000" b="1" spc="425" dirty="0">
                <a:solidFill>
                  <a:srgbClr val="3C3C3C"/>
                </a:solidFill>
                <a:latin typeface="Cambria Math"/>
                <a:cs typeface="Cambria Math"/>
              </a:rPr>
              <a:t> </a:t>
            </a:r>
            <a:r>
              <a:rPr sz="2000" b="1" spc="5" dirty="0">
                <a:solidFill>
                  <a:srgbClr val="3C3C3C"/>
                </a:solidFill>
                <a:latin typeface="Cambria Math"/>
                <a:cs typeface="Cambria Math"/>
              </a:rPr>
              <a:t>𝑥</a:t>
            </a:r>
            <a:r>
              <a:rPr sz="2175" b="1" spc="7" baseline="-15325" dirty="0">
                <a:solidFill>
                  <a:srgbClr val="3C3C3C"/>
                </a:solidFill>
                <a:latin typeface="Cambria Math"/>
                <a:cs typeface="Cambria Math"/>
              </a:rPr>
              <a:t>0</a:t>
            </a:r>
            <a:r>
              <a:rPr sz="2175" b="1" spc="300" baseline="-15325" dirty="0">
                <a:solidFill>
                  <a:srgbClr val="3C3C3C"/>
                </a:solidFill>
                <a:latin typeface="Cambria Math"/>
                <a:cs typeface="Cambria Math"/>
              </a:rPr>
              <a:t> </a:t>
            </a:r>
            <a:r>
              <a:rPr sz="2000" b="1" spc="-5" dirty="0">
                <a:solidFill>
                  <a:srgbClr val="3C3C3C"/>
                </a:solidFill>
                <a:latin typeface="Cambria Math"/>
                <a:cs typeface="Cambria Math"/>
              </a:rPr>
              <a:t>+</a:t>
            </a:r>
            <a:r>
              <a:rPr sz="2000" b="1" spc="5" dirty="0">
                <a:solidFill>
                  <a:srgbClr val="3C3C3C"/>
                </a:solidFill>
                <a:latin typeface="Cambria Math"/>
                <a:cs typeface="Cambria Math"/>
              </a:rPr>
              <a:t> </a:t>
            </a:r>
            <a:r>
              <a:rPr sz="2000" b="1" spc="-5" dirty="0">
                <a:solidFill>
                  <a:srgbClr val="3C3C3C"/>
                </a:solidFill>
                <a:latin typeface="Cambria Math"/>
                <a:cs typeface="Cambria Math"/>
              </a:rPr>
              <a:t>𝑋</a:t>
            </a:r>
            <a:endParaRPr sz="2000" b="1" dirty="0">
              <a:latin typeface="Cambria Math"/>
              <a:cs typeface="Cambria Math"/>
            </a:endParaRPr>
          </a:p>
          <a:p>
            <a:pPr marL="1252220">
              <a:lnSpc>
                <a:spcPct val="100000"/>
              </a:lnSpc>
              <a:spcBef>
                <a:spcPts val="575"/>
              </a:spcBef>
            </a:pPr>
            <a:r>
              <a:rPr sz="2000" spc="-45" dirty="0">
                <a:solidFill>
                  <a:srgbClr val="006FC0"/>
                </a:solidFill>
                <a:latin typeface="Trebuchet MS"/>
                <a:cs typeface="Trebuchet MS"/>
              </a:rPr>
              <a:t>s</a:t>
            </a:r>
            <a:r>
              <a:rPr sz="2000" spc="-4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000" spc="-80" dirty="0">
                <a:solidFill>
                  <a:srgbClr val="3C3C3C"/>
                </a:solidFill>
                <a:latin typeface="Trebuchet MS"/>
                <a:cs typeface="Trebuchet MS"/>
              </a:rPr>
              <a:t>s</a:t>
            </a:r>
            <a:r>
              <a:rPr sz="2000" spc="-105" dirty="0">
                <a:solidFill>
                  <a:srgbClr val="3C3C3C"/>
                </a:solidFill>
                <a:latin typeface="Trebuchet MS"/>
                <a:cs typeface="Trebuchet MS"/>
              </a:rPr>
              <a:t>e</a:t>
            </a:r>
            <a:r>
              <a:rPr sz="2000" spc="-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-80" dirty="0">
                <a:solidFill>
                  <a:srgbClr val="3C3C3C"/>
                </a:solidFill>
                <a:latin typeface="Trebuchet MS"/>
                <a:cs typeface="Trebuchet MS"/>
              </a:rPr>
              <a:t>ob</a:t>
            </a:r>
            <a:r>
              <a:rPr sz="2000" spc="-70" dirty="0">
                <a:solidFill>
                  <a:srgbClr val="3C3C3C"/>
                </a:solidFill>
                <a:latin typeface="Trebuchet MS"/>
                <a:cs typeface="Trebuchet MS"/>
              </a:rPr>
              <a:t>t</a:t>
            </a:r>
            <a:r>
              <a:rPr sz="2000" spc="-114" dirty="0">
                <a:solidFill>
                  <a:srgbClr val="3C3C3C"/>
                </a:solidFill>
                <a:latin typeface="Trebuchet MS"/>
                <a:cs typeface="Trebuchet MS"/>
              </a:rPr>
              <a:t>ie</a:t>
            </a:r>
            <a:r>
              <a:rPr sz="2000" spc="-145" dirty="0">
                <a:solidFill>
                  <a:srgbClr val="3C3C3C"/>
                </a:solidFill>
                <a:latin typeface="Trebuchet MS"/>
                <a:cs typeface="Trebuchet MS"/>
              </a:rPr>
              <a:t>n</a:t>
            </a:r>
            <a:r>
              <a:rPr sz="2000" spc="-135" dirty="0">
                <a:solidFill>
                  <a:srgbClr val="3C3C3C"/>
                </a:solidFill>
                <a:latin typeface="Trebuchet MS"/>
                <a:cs typeface="Trebuchet MS"/>
              </a:rPr>
              <a:t>e</a:t>
            </a:r>
            <a:r>
              <a:rPr sz="2000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-85" dirty="0">
                <a:solidFill>
                  <a:srgbClr val="3C3C3C"/>
                </a:solidFill>
                <a:latin typeface="Trebuchet MS"/>
                <a:cs typeface="Trebuchet MS"/>
              </a:rPr>
              <a:t>resolviend</a:t>
            </a:r>
            <a:r>
              <a:rPr sz="2000" spc="25" dirty="0">
                <a:solidFill>
                  <a:srgbClr val="3C3C3C"/>
                </a:solidFill>
                <a:latin typeface="Trebuchet MS"/>
                <a:cs typeface="Trebuchet MS"/>
              </a:rPr>
              <a:t>o</a:t>
            </a:r>
            <a:r>
              <a:rPr sz="2000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-130" dirty="0">
                <a:solidFill>
                  <a:srgbClr val="3C3C3C"/>
                </a:solidFill>
                <a:latin typeface="Trebuchet MS"/>
                <a:cs typeface="Trebuchet MS"/>
              </a:rPr>
              <a:t>esta</a:t>
            </a:r>
            <a:r>
              <a:rPr sz="2000"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-114" dirty="0">
                <a:solidFill>
                  <a:srgbClr val="3C3C3C"/>
                </a:solidFill>
                <a:latin typeface="Trebuchet MS"/>
                <a:cs typeface="Trebuchet MS"/>
              </a:rPr>
              <a:t>ecu</a:t>
            </a:r>
            <a:r>
              <a:rPr sz="2000" spc="-105" dirty="0">
                <a:solidFill>
                  <a:srgbClr val="3C3C3C"/>
                </a:solidFill>
                <a:latin typeface="Trebuchet MS"/>
                <a:cs typeface="Trebuchet MS"/>
              </a:rPr>
              <a:t>ación</a:t>
            </a:r>
            <a:r>
              <a:rPr sz="2000" spc="-5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-114" dirty="0">
                <a:solidFill>
                  <a:srgbClr val="3C3C3C"/>
                </a:solidFill>
                <a:latin typeface="Trebuchet MS"/>
                <a:cs typeface="Trebuchet MS"/>
              </a:rPr>
              <a:t>y</a:t>
            </a:r>
            <a:r>
              <a:rPr sz="2000"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-105" dirty="0">
                <a:solidFill>
                  <a:srgbClr val="3C3C3C"/>
                </a:solidFill>
                <a:latin typeface="Trebuchet MS"/>
                <a:cs typeface="Trebuchet MS"/>
              </a:rPr>
              <a:t>despe</a:t>
            </a:r>
            <a:r>
              <a:rPr sz="2000" spc="-135" dirty="0">
                <a:solidFill>
                  <a:srgbClr val="3C3C3C"/>
                </a:solidFill>
                <a:latin typeface="Trebuchet MS"/>
                <a:cs typeface="Trebuchet MS"/>
              </a:rPr>
              <a:t>jand</a:t>
            </a:r>
            <a:r>
              <a:rPr sz="2000" spc="-140" dirty="0">
                <a:solidFill>
                  <a:srgbClr val="3C3C3C"/>
                </a:solidFill>
                <a:latin typeface="Trebuchet MS"/>
                <a:cs typeface="Trebuchet MS"/>
              </a:rPr>
              <a:t>o</a:t>
            </a:r>
            <a:r>
              <a:rPr sz="2000" spc="-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-50" dirty="0">
                <a:solidFill>
                  <a:srgbClr val="006FC0"/>
                </a:solidFill>
                <a:latin typeface="Trebuchet MS"/>
                <a:cs typeface="Trebuchet MS"/>
              </a:rPr>
              <a:t>s</a:t>
            </a:r>
            <a:r>
              <a:rPr sz="2000" spc="-300" dirty="0">
                <a:solidFill>
                  <a:srgbClr val="3C3C3C"/>
                </a:solidFill>
                <a:latin typeface="Trebuchet MS"/>
                <a:cs typeface="Trebuchet MS"/>
              </a:rPr>
              <a:t>.</a:t>
            </a:r>
            <a:endParaRPr sz="2000" dirty="0">
              <a:latin typeface="Trebuchet MS"/>
              <a:cs typeface="Trebuchet MS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2842196" y="2878201"/>
            <a:ext cx="1527175" cy="524510"/>
            <a:chOff x="2842196" y="2878201"/>
            <a:chExt cx="1527175" cy="524510"/>
          </a:xfrm>
        </p:grpSpPr>
        <p:sp>
          <p:nvSpPr>
            <p:cNvPr id="23" name="object 23"/>
            <p:cNvSpPr/>
            <p:nvPr/>
          </p:nvSpPr>
          <p:spPr>
            <a:xfrm>
              <a:off x="3133724" y="2884551"/>
              <a:ext cx="1229360" cy="511809"/>
            </a:xfrm>
            <a:custGeom>
              <a:avLst/>
              <a:gdLst/>
              <a:ahLst/>
              <a:cxnLst/>
              <a:rect l="l" t="t" r="r" b="b"/>
              <a:pathLst>
                <a:path w="1229360" h="511810">
                  <a:moveTo>
                    <a:pt x="12954" y="290195"/>
                  </a:moveTo>
                  <a:lnTo>
                    <a:pt x="1229105" y="0"/>
                  </a:lnTo>
                </a:path>
                <a:path w="1229360" h="511810">
                  <a:moveTo>
                    <a:pt x="0" y="307086"/>
                  </a:moveTo>
                  <a:lnTo>
                    <a:pt x="1228598" y="511810"/>
                  </a:lnTo>
                </a:path>
              </a:pathLst>
            </a:custGeom>
            <a:ln w="12700">
              <a:solidFill>
                <a:srgbClr val="172C5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853308" y="3057525"/>
              <a:ext cx="280670" cy="268605"/>
            </a:xfrm>
            <a:custGeom>
              <a:avLst/>
              <a:gdLst/>
              <a:ahLst/>
              <a:cxnLst/>
              <a:rect l="l" t="t" r="r" b="b"/>
              <a:pathLst>
                <a:path w="280669" h="268604">
                  <a:moveTo>
                    <a:pt x="0" y="268224"/>
                  </a:moveTo>
                  <a:lnTo>
                    <a:pt x="280416" y="268224"/>
                  </a:lnTo>
                  <a:lnTo>
                    <a:pt x="280416" y="0"/>
                  </a:lnTo>
                  <a:lnTo>
                    <a:pt x="0" y="0"/>
                  </a:lnTo>
                  <a:lnTo>
                    <a:pt x="0" y="268224"/>
                  </a:lnTo>
                  <a:close/>
                </a:path>
              </a:pathLst>
            </a:custGeom>
            <a:ln w="22225">
              <a:solidFill>
                <a:srgbClr val="4294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4516755" y="2672080"/>
            <a:ext cx="131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6FC0"/>
                </a:solidFill>
                <a:latin typeface="Cambria Math"/>
                <a:cs typeface="Cambria Math"/>
              </a:rPr>
              <a:t>𝑠</a:t>
            </a:r>
            <a:endParaRPr sz="1800" dirty="0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496053" y="3281680"/>
            <a:ext cx="1733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𝑋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2501900" y="3034538"/>
            <a:ext cx="1885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~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2865818" y="4474590"/>
            <a:ext cx="1373505" cy="573405"/>
            <a:chOff x="2865818" y="4474590"/>
            <a:chExt cx="1373505" cy="573405"/>
          </a:xfrm>
        </p:grpSpPr>
        <p:sp>
          <p:nvSpPr>
            <p:cNvPr id="29" name="object 29"/>
            <p:cNvSpPr/>
            <p:nvPr/>
          </p:nvSpPr>
          <p:spPr>
            <a:xfrm>
              <a:off x="3125342" y="4480940"/>
              <a:ext cx="1107440" cy="560705"/>
            </a:xfrm>
            <a:custGeom>
              <a:avLst/>
              <a:gdLst/>
              <a:ahLst/>
              <a:cxnLst/>
              <a:rect l="l" t="t" r="r" b="b"/>
              <a:pathLst>
                <a:path w="1107439" h="560704">
                  <a:moveTo>
                    <a:pt x="47243" y="314705"/>
                  </a:moveTo>
                  <a:lnTo>
                    <a:pt x="1107185" y="560323"/>
                  </a:lnTo>
                </a:path>
                <a:path w="1107439" h="560704">
                  <a:moveTo>
                    <a:pt x="0" y="319404"/>
                  </a:moveTo>
                  <a:lnTo>
                    <a:pt x="1107058" y="0"/>
                  </a:lnTo>
                </a:path>
              </a:pathLst>
            </a:custGeom>
            <a:ln w="12700">
              <a:solidFill>
                <a:srgbClr val="172C5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876930" y="4609718"/>
              <a:ext cx="280670" cy="294640"/>
            </a:xfrm>
            <a:custGeom>
              <a:avLst/>
              <a:gdLst/>
              <a:ahLst/>
              <a:cxnLst/>
              <a:rect l="l" t="t" r="r" b="b"/>
              <a:pathLst>
                <a:path w="280669" h="294639">
                  <a:moveTo>
                    <a:pt x="280416" y="0"/>
                  </a:moveTo>
                  <a:lnTo>
                    <a:pt x="0" y="0"/>
                  </a:lnTo>
                  <a:lnTo>
                    <a:pt x="0" y="294131"/>
                  </a:lnTo>
                  <a:lnTo>
                    <a:pt x="280416" y="294131"/>
                  </a:lnTo>
                  <a:lnTo>
                    <a:pt x="2804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876930" y="4609718"/>
              <a:ext cx="280670" cy="294640"/>
            </a:xfrm>
            <a:custGeom>
              <a:avLst/>
              <a:gdLst/>
              <a:ahLst/>
              <a:cxnLst/>
              <a:rect l="l" t="t" r="r" b="b"/>
              <a:pathLst>
                <a:path w="280669" h="294639">
                  <a:moveTo>
                    <a:pt x="0" y="294131"/>
                  </a:moveTo>
                  <a:lnTo>
                    <a:pt x="280416" y="294131"/>
                  </a:lnTo>
                  <a:lnTo>
                    <a:pt x="280416" y="0"/>
                  </a:lnTo>
                  <a:lnTo>
                    <a:pt x="0" y="0"/>
                  </a:lnTo>
                  <a:lnTo>
                    <a:pt x="0" y="294131"/>
                  </a:lnTo>
                  <a:close/>
                </a:path>
              </a:pathLst>
            </a:custGeom>
            <a:ln w="22225">
              <a:solidFill>
                <a:srgbClr val="4294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4252253" y="4312107"/>
            <a:ext cx="6819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10" dirty="0">
                <a:latin typeface="Cambria Math"/>
                <a:cs typeface="Cambria Math"/>
              </a:rPr>
              <a:t>𝑥</a:t>
            </a:r>
            <a:r>
              <a:rPr sz="1950" spc="15" baseline="-14957" dirty="0">
                <a:latin typeface="Cambria Math"/>
                <a:cs typeface="Cambria Math"/>
              </a:rPr>
              <a:t>0</a:t>
            </a:r>
            <a:r>
              <a:rPr sz="1950" spc="225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+</a:t>
            </a:r>
            <a:r>
              <a:rPr sz="1800" spc="-25" dirty="0"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006FC0"/>
                </a:solidFill>
                <a:latin typeface="Cambria Math"/>
                <a:cs typeface="Cambria Math"/>
              </a:rPr>
              <a:t>𝑠</a:t>
            </a:r>
            <a:endParaRPr sz="1800" dirty="0">
              <a:latin typeface="Cambria Math"/>
              <a:cs typeface="Cambria Math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252253" y="4838953"/>
            <a:ext cx="7232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10" dirty="0">
                <a:latin typeface="Cambria Math"/>
                <a:cs typeface="Cambria Math"/>
              </a:rPr>
              <a:t>𝑥</a:t>
            </a:r>
            <a:r>
              <a:rPr sz="1950" spc="15" baseline="-14957" dirty="0">
                <a:latin typeface="Cambria Math"/>
                <a:cs typeface="Cambria Math"/>
              </a:rPr>
              <a:t>0</a:t>
            </a:r>
            <a:r>
              <a:rPr sz="1950" spc="217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+</a:t>
            </a:r>
            <a:r>
              <a:rPr sz="1800" spc="-2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𝑋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518155" y="4558538"/>
            <a:ext cx="1885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~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674B3DA9-DAEB-4626-AEAE-796F2AC59C06}"/>
              </a:ext>
            </a:extLst>
          </p:cNvPr>
          <p:cNvSpPr txBox="1"/>
          <p:nvPr/>
        </p:nvSpPr>
        <p:spPr>
          <a:xfrm>
            <a:off x="5018096" y="2713568"/>
            <a:ext cx="239854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s-CO" sz="1200" i="1" dirty="0"/>
              <a:t>Con certeza: Si la vendo y obtengo s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EC2A2FA9-94B1-488E-821A-F35047D3C672}"/>
              </a:ext>
            </a:extLst>
          </p:cNvPr>
          <p:cNvSpPr txBox="1"/>
          <p:nvPr/>
        </p:nvSpPr>
        <p:spPr>
          <a:xfrm>
            <a:off x="4793234" y="3286703"/>
            <a:ext cx="21966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s-CO" sz="1200" i="1" dirty="0"/>
              <a:t>Lotería (con riesgo): No la vendo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F88A5C13-F1F3-46F7-B55F-3D1C1257D030}"/>
              </a:ext>
            </a:extLst>
          </p:cNvPr>
          <p:cNvSpPr txBox="1"/>
          <p:nvPr/>
        </p:nvSpPr>
        <p:spPr>
          <a:xfrm>
            <a:off x="4959270" y="4337578"/>
            <a:ext cx="2406556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s-CO" sz="1200" i="1" dirty="0"/>
              <a:t>Con certeza: Si la vendo y obtengo s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37E81301-6ECA-4224-ADE6-F9ECA57D5FB9}"/>
              </a:ext>
            </a:extLst>
          </p:cNvPr>
          <p:cNvSpPr txBox="1"/>
          <p:nvPr/>
        </p:nvSpPr>
        <p:spPr>
          <a:xfrm>
            <a:off x="5135424" y="4887441"/>
            <a:ext cx="21966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s-CO" sz="1200" i="1" dirty="0"/>
              <a:t>Lotería (con riesgo): No la vendo</a:t>
            </a:r>
          </a:p>
        </p:txBody>
      </p:sp>
    </p:spTree>
    <p:extLst>
      <p:ext uri="{BB962C8B-B14F-4D97-AF65-F5344CB8AC3E}">
        <p14:creationId xmlns:p14="http://schemas.microsoft.com/office/powerpoint/2010/main" val="3103415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9" grpId="0"/>
      <p:bldP spid="10" grpId="0" animBg="1"/>
      <p:bldP spid="11" grpId="0"/>
      <p:bldP spid="12" grpId="0" animBg="1"/>
      <p:bldP spid="13" grpId="0"/>
      <p:bldP spid="14" grpId="0"/>
      <p:bldP spid="15" grpId="0" animBg="1"/>
      <p:bldP spid="16" grpId="0"/>
      <p:bldP spid="17" grpId="0" animBg="1"/>
      <p:bldP spid="18" grpId="0" animBg="1"/>
      <p:bldP spid="19" grpId="0" animBg="1"/>
      <p:bldP spid="20" grpId="0"/>
      <p:bldP spid="32" grpId="0"/>
      <p:bldP spid="33" grpId="0"/>
      <p:bldP spid="34" grpId="0"/>
      <p:bldP spid="37" grpId="0" animBg="1"/>
      <p:bldP spid="38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ángulo 30">
                <a:extLst>
                  <a:ext uri="{FF2B5EF4-FFF2-40B4-BE49-F238E27FC236}">
                    <a16:creationId xmlns:a16="http://schemas.microsoft.com/office/drawing/2014/main" id="{71E449B2-BCC5-02E4-284F-156970FEE0C8}"/>
                  </a:ext>
                </a:extLst>
              </p:cNvPr>
              <p:cNvSpPr/>
              <p:nvPr/>
            </p:nvSpPr>
            <p:spPr>
              <a:xfrm>
                <a:off x="3937000" y="5388946"/>
                <a:ext cx="3134996" cy="534969"/>
              </a:xfrm>
              <a:prstGeom prst="rect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s-CO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𝒖</m:t>
                      </m:r>
                      <m:d>
                        <m:dPr>
                          <m:ctrlPr>
                            <a:rPr lang="es-CO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CO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s-CO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e>
                      </m:d>
                      <m:r>
                        <a:rPr lang="es-CO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O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es-CO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s-CO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𝒖</m:t>
                      </m:r>
                      <m:d>
                        <m:dPr>
                          <m:ctrlPr>
                            <a:rPr lang="es-CO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CO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s-CO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  <m:r>
                            <a:rPr lang="es-CO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CO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es-CO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CO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r>
                        <a:rPr lang="es-CO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s-CO" sz="2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Rectángulo 30">
                <a:extLst>
                  <a:ext uri="{FF2B5EF4-FFF2-40B4-BE49-F238E27FC236}">
                    <a16:creationId xmlns:a16="http://schemas.microsoft.com/office/drawing/2014/main" id="{71E449B2-BCC5-02E4-284F-156970FEE0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7000" y="5388946"/>
                <a:ext cx="3134996" cy="53496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8055" y="599694"/>
            <a:ext cx="8239125" cy="125920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2600">
              <a:latin typeface="Times New Roman"/>
              <a:cs typeface="Times New Roman"/>
            </a:endParaRPr>
          </a:p>
          <a:p>
            <a:pPr marL="224154" marR="1546225">
              <a:lnSpc>
                <a:spcPct val="100000"/>
              </a:lnSpc>
            </a:pPr>
            <a:r>
              <a:rPr sz="2400" spc="65" dirty="0"/>
              <a:t>PRECIO</a:t>
            </a:r>
            <a:r>
              <a:rPr sz="2400" spc="-55" dirty="0"/>
              <a:t> </a:t>
            </a:r>
            <a:r>
              <a:rPr sz="2400" spc="120" dirty="0"/>
              <a:t>DE</a:t>
            </a:r>
            <a:r>
              <a:rPr sz="2400" spc="-430" dirty="0"/>
              <a:t> </a:t>
            </a:r>
            <a:r>
              <a:rPr sz="2400" spc="55" dirty="0"/>
              <a:t>VENTA</a:t>
            </a:r>
            <a:r>
              <a:rPr sz="2400" spc="-60" dirty="0"/>
              <a:t> </a:t>
            </a:r>
            <a:r>
              <a:rPr sz="2400" spc="-95" dirty="0"/>
              <a:t>(s)</a:t>
            </a:r>
            <a:r>
              <a:rPr sz="2400" spc="-420" dirty="0"/>
              <a:t> </a:t>
            </a:r>
            <a:r>
              <a:rPr sz="2400" spc="80" dirty="0"/>
              <a:t>Y</a:t>
            </a:r>
            <a:r>
              <a:rPr sz="2400" spc="-60" dirty="0"/>
              <a:t> </a:t>
            </a:r>
            <a:r>
              <a:rPr sz="2400" spc="65" dirty="0"/>
              <a:t>PRECIO</a:t>
            </a:r>
            <a:r>
              <a:rPr sz="2400" spc="-55" dirty="0"/>
              <a:t> </a:t>
            </a:r>
            <a:r>
              <a:rPr sz="2400" spc="120" dirty="0"/>
              <a:t>DE</a:t>
            </a:r>
            <a:r>
              <a:rPr sz="2400" spc="-70" dirty="0"/>
              <a:t> </a:t>
            </a:r>
            <a:r>
              <a:rPr sz="2400" spc="150" dirty="0"/>
              <a:t>COMPRA</a:t>
            </a:r>
            <a:r>
              <a:rPr sz="2400" spc="-60" dirty="0"/>
              <a:t> (</a:t>
            </a:r>
            <a:r>
              <a:rPr sz="2400" spc="-60" dirty="0">
                <a:latin typeface="Cambria Math"/>
                <a:cs typeface="Cambria Math"/>
              </a:rPr>
              <a:t>𝑏</a:t>
            </a:r>
            <a:r>
              <a:rPr sz="2400" spc="-60" dirty="0"/>
              <a:t>) </a:t>
            </a:r>
            <a:r>
              <a:rPr sz="2400" spc="-705" dirty="0"/>
              <a:t> </a:t>
            </a:r>
            <a:r>
              <a:rPr sz="2400" spc="120" dirty="0"/>
              <a:t>DE</a:t>
            </a:r>
            <a:r>
              <a:rPr sz="2400" spc="-70" dirty="0"/>
              <a:t> </a:t>
            </a:r>
            <a:r>
              <a:rPr sz="2400" spc="220" dirty="0"/>
              <a:t>UNA</a:t>
            </a:r>
            <a:r>
              <a:rPr sz="2400" spc="-60" dirty="0"/>
              <a:t> </a:t>
            </a:r>
            <a:r>
              <a:rPr sz="2400" spc="40" dirty="0"/>
              <a:t>LOTERÍA</a:t>
            </a:r>
            <a:r>
              <a:rPr sz="2400" spc="-60" dirty="0"/>
              <a:t> </a:t>
            </a:r>
            <a:r>
              <a:rPr sz="2400" spc="360" dirty="0"/>
              <a:t>X</a:t>
            </a:r>
            <a:endParaRPr sz="2400">
              <a:latin typeface="Cambria Math"/>
              <a:cs typeface="Cambria Math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"/>
              <p:cNvSpPr txBox="1"/>
              <p:nvPr/>
            </p:nvSpPr>
            <p:spPr>
              <a:xfrm>
                <a:off x="637031" y="1937511"/>
                <a:ext cx="7668769" cy="351378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lang="es-CO" sz="2200" b="1" u="sng" spc="10" dirty="0">
                    <a:solidFill>
                      <a:srgbClr val="006FC0"/>
                    </a:solidFill>
                    <a:latin typeface="Trebuchet MS"/>
                    <a:cs typeface="Trebuchet MS"/>
                  </a:rPr>
                  <a:t>Precio</a:t>
                </a:r>
                <a:r>
                  <a:rPr lang="es-CO" sz="2200" b="1" u="sng" spc="-60" dirty="0">
                    <a:solidFill>
                      <a:srgbClr val="006FC0"/>
                    </a:solidFill>
                    <a:latin typeface="Trebuchet MS"/>
                    <a:cs typeface="Trebuchet MS"/>
                  </a:rPr>
                  <a:t> </a:t>
                </a:r>
                <a:r>
                  <a:rPr lang="es-CO" sz="2200" b="1" u="sng" spc="-25" dirty="0">
                    <a:solidFill>
                      <a:srgbClr val="006FC0"/>
                    </a:solidFill>
                    <a:latin typeface="Trebuchet MS"/>
                    <a:cs typeface="Trebuchet MS"/>
                  </a:rPr>
                  <a:t>de</a:t>
                </a:r>
                <a:r>
                  <a:rPr lang="es-CO" sz="2200" b="1" u="sng" spc="-50" dirty="0">
                    <a:solidFill>
                      <a:srgbClr val="006FC0"/>
                    </a:solidFill>
                    <a:latin typeface="Trebuchet MS"/>
                    <a:cs typeface="Trebuchet MS"/>
                  </a:rPr>
                  <a:t> </a:t>
                </a:r>
                <a:r>
                  <a:rPr lang="es-CO" sz="2200" b="1" u="sng" spc="110" dirty="0">
                    <a:solidFill>
                      <a:srgbClr val="006FC0"/>
                    </a:solidFill>
                    <a:latin typeface="Trebuchet MS"/>
                    <a:cs typeface="Trebuchet MS"/>
                  </a:rPr>
                  <a:t>Compra</a:t>
                </a:r>
                <a:r>
                  <a:rPr lang="es-CO" sz="2200" b="1" u="sng" spc="-50" dirty="0">
                    <a:solidFill>
                      <a:srgbClr val="006FC0"/>
                    </a:solidFill>
                    <a:latin typeface="Trebuchet MS"/>
                    <a:cs typeface="Trebuchet MS"/>
                  </a:rPr>
                  <a:t> </a:t>
                </a:r>
                <a:r>
                  <a:rPr lang="es-CO" sz="2200" spc="-110" dirty="0">
                    <a:solidFill>
                      <a:srgbClr val="006FC0"/>
                    </a:solidFill>
                    <a:latin typeface="Trebuchet MS"/>
                    <a:cs typeface="Trebuchet MS"/>
                  </a:rPr>
                  <a:t>(b)</a:t>
                </a:r>
                <a:r>
                  <a:rPr lang="es-CO" sz="2200" spc="-40" dirty="0">
                    <a:solidFill>
                      <a:srgbClr val="006FC0"/>
                    </a:solidFill>
                    <a:latin typeface="Trebuchet MS"/>
                    <a:cs typeface="Trebuchet MS"/>
                  </a:rPr>
                  <a:t> </a:t>
                </a:r>
                <a:r>
                  <a:rPr lang="es-CO" sz="2200" spc="-105" dirty="0">
                    <a:solidFill>
                      <a:srgbClr val="006FC0"/>
                    </a:solidFill>
                    <a:latin typeface="Trebuchet MS"/>
                    <a:cs typeface="Trebuchet MS"/>
                  </a:rPr>
                  <a:t>(</a:t>
                </a:r>
                <a:r>
                  <a:rPr lang="es-CO" sz="2200" b="1" spc="-105" dirty="0">
                    <a:solidFill>
                      <a:srgbClr val="006FC0"/>
                    </a:solidFill>
                    <a:latin typeface="Trebuchet MS"/>
                    <a:cs typeface="Trebuchet MS"/>
                  </a:rPr>
                  <a:t>máximo</a:t>
                </a:r>
                <a:r>
                  <a:rPr lang="es-CO" sz="2200" spc="-50" dirty="0">
                    <a:solidFill>
                      <a:srgbClr val="006FC0"/>
                    </a:solidFill>
                    <a:latin typeface="Trebuchet MS"/>
                    <a:cs typeface="Trebuchet MS"/>
                  </a:rPr>
                  <a:t> </a:t>
                </a:r>
                <a:r>
                  <a:rPr lang="es-CO" sz="2200" spc="-90" dirty="0">
                    <a:solidFill>
                      <a:srgbClr val="006FC0"/>
                    </a:solidFill>
                    <a:latin typeface="Trebuchet MS"/>
                    <a:cs typeface="Trebuchet MS"/>
                  </a:rPr>
                  <a:t>precio</a:t>
                </a:r>
                <a:r>
                  <a:rPr lang="es-CO" sz="2200" spc="-50" dirty="0">
                    <a:solidFill>
                      <a:srgbClr val="006FC0"/>
                    </a:solidFill>
                    <a:latin typeface="Trebuchet MS"/>
                    <a:cs typeface="Trebuchet MS"/>
                  </a:rPr>
                  <a:t> </a:t>
                </a:r>
                <a:r>
                  <a:rPr lang="es-CO" sz="2200" spc="-125" dirty="0">
                    <a:solidFill>
                      <a:srgbClr val="006FC0"/>
                    </a:solidFill>
                    <a:latin typeface="Trebuchet MS"/>
                    <a:cs typeface="Trebuchet MS"/>
                  </a:rPr>
                  <a:t>de</a:t>
                </a:r>
                <a:r>
                  <a:rPr lang="es-CO" sz="2200" spc="-45" dirty="0">
                    <a:solidFill>
                      <a:srgbClr val="006FC0"/>
                    </a:solidFill>
                    <a:latin typeface="Trebuchet MS"/>
                    <a:cs typeface="Trebuchet MS"/>
                  </a:rPr>
                  <a:t> </a:t>
                </a:r>
                <a:r>
                  <a:rPr lang="es-CO" sz="2200" spc="-125" dirty="0" err="1">
                    <a:solidFill>
                      <a:srgbClr val="006FC0"/>
                    </a:solidFill>
                    <a:latin typeface="Trebuchet MS"/>
                    <a:cs typeface="Trebuchet MS"/>
                  </a:rPr>
                  <a:t>compra</a:t>
                </a:r>
                <a:r>
                  <a:rPr lang="es-CO" sz="2200" spc="-125" dirty="0">
                    <a:solidFill>
                      <a:srgbClr val="006FC0"/>
                    </a:solidFill>
                    <a:latin typeface="Trebuchet MS"/>
                    <a:cs typeface="Trebuchet MS"/>
                  </a:rPr>
                  <a:t> vs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419" sz="2200" b="0" i="1" spc="-125" dirty="0" smtClean="0">
                            <a:solidFill>
                              <a:srgbClr val="006FC0"/>
                            </a:solidFill>
                            <a:latin typeface="Cambria Math" panose="02040503050406030204" pitchFamily="18" charset="0"/>
                            <a:cs typeface="Trebuchet MS"/>
                          </a:rPr>
                        </m:ctrlPr>
                      </m:sSubPr>
                      <m:e>
                        <m:r>
                          <a:rPr lang="es-419" sz="2200" b="0" i="1" spc="-125" dirty="0" smtClean="0">
                            <a:solidFill>
                              <a:srgbClr val="006FC0"/>
                            </a:solidFill>
                            <a:latin typeface="Cambria Math" panose="02040503050406030204" pitchFamily="18" charset="0"/>
                            <a:cs typeface="Trebuchet MS"/>
                          </a:rPr>
                          <m:t>𝑥</m:t>
                        </m:r>
                      </m:e>
                      <m:sub>
                        <m:r>
                          <a:rPr lang="es-419" sz="2200" b="0" i="1" spc="-125" dirty="0" smtClean="0">
                            <a:solidFill>
                              <a:srgbClr val="006FC0"/>
                            </a:solidFill>
                            <a:latin typeface="Cambria Math" panose="02040503050406030204" pitchFamily="18" charset="0"/>
                            <a:cs typeface="Trebuchet MS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s-CO" sz="2200" spc="-125" dirty="0">
                    <a:solidFill>
                      <a:srgbClr val="006FC0"/>
                    </a:solidFill>
                    <a:latin typeface="Trebuchet MS"/>
                    <a:cs typeface="Trebuchet MS"/>
                  </a:rPr>
                  <a:t>):</a:t>
                </a:r>
                <a:endParaRPr sz="2200" dirty="0">
                  <a:latin typeface="Trebuchet MS"/>
                  <a:cs typeface="Trebuchet MS"/>
                </a:endParaRPr>
              </a:p>
            </p:txBody>
          </p:sp>
        </mc:Choice>
        <mc:Fallback xmlns="">
          <p:sp>
            <p:nvSpPr>
              <p:cNvPr id="3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031" y="1937511"/>
                <a:ext cx="7668769" cy="351378"/>
              </a:xfrm>
              <a:prstGeom prst="rect">
                <a:avLst/>
              </a:prstGeom>
              <a:blipFill>
                <a:blip r:embed="rId3"/>
                <a:stretch>
                  <a:fillRect l="-1980" t="-21429" b="-46429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bject 4"/>
          <p:cNvSpPr/>
          <p:nvPr/>
        </p:nvSpPr>
        <p:spPr>
          <a:xfrm>
            <a:off x="649719" y="2728086"/>
            <a:ext cx="1956435" cy="14604"/>
          </a:xfrm>
          <a:custGeom>
            <a:avLst/>
            <a:gdLst/>
            <a:ahLst/>
            <a:cxnLst/>
            <a:rect l="l" t="t" r="r" b="b"/>
            <a:pathLst>
              <a:path w="1956435" h="14605">
                <a:moveTo>
                  <a:pt x="1956054" y="0"/>
                </a:moveTo>
                <a:lnTo>
                  <a:pt x="0" y="0"/>
                </a:lnTo>
                <a:lnTo>
                  <a:pt x="0" y="14477"/>
                </a:lnTo>
                <a:lnTo>
                  <a:pt x="1956054" y="14477"/>
                </a:lnTo>
                <a:lnTo>
                  <a:pt x="1956054" y="0"/>
                </a:lnTo>
                <a:close/>
              </a:path>
            </a:pathLst>
          </a:custGeom>
          <a:solidFill>
            <a:srgbClr val="3C3C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11631" y="2415794"/>
            <a:ext cx="2033905" cy="361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200" spc="-130" dirty="0">
                <a:solidFill>
                  <a:srgbClr val="3C3C3C"/>
                </a:solidFill>
                <a:latin typeface="Trebuchet MS"/>
                <a:cs typeface="Trebuchet MS"/>
              </a:rPr>
              <a:t>Statu</a:t>
            </a:r>
            <a:r>
              <a:rPr sz="2200" spc="-5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200" spc="-114" dirty="0">
                <a:solidFill>
                  <a:srgbClr val="3C3C3C"/>
                </a:solidFill>
                <a:latin typeface="Trebuchet MS"/>
                <a:cs typeface="Trebuchet MS"/>
              </a:rPr>
              <a:t>qu</a:t>
            </a:r>
            <a:r>
              <a:rPr sz="2200" spc="35" dirty="0">
                <a:solidFill>
                  <a:srgbClr val="3C3C3C"/>
                </a:solidFill>
                <a:latin typeface="Trebuchet MS"/>
                <a:cs typeface="Trebuchet MS"/>
              </a:rPr>
              <a:t>o</a:t>
            </a:r>
            <a:r>
              <a:rPr sz="2200" spc="-6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200" spc="-30" dirty="0">
                <a:solidFill>
                  <a:srgbClr val="3C3C3C"/>
                </a:solidFill>
                <a:latin typeface="Cambria Math"/>
                <a:cs typeface="Cambria Math"/>
              </a:rPr>
              <a:t>𝑥</a:t>
            </a:r>
            <a:r>
              <a:rPr sz="2400" spc="60" baseline="-15625" dirty="0">
                <a:solidFill>
                  <a:srgbClr val="3C3C3C"/>
                </a:solidFill>
                <a:latin typeface="Cambria Math"/>
                <a:cs typeface="Cambria Math"/>
              </a:rPr>
              <a:t>0</a:t>
            </a:r>
            <a:r>
              <a:rPr sz="2400" baseline="-15625" dirty="0">
                <a:solidFill>
                  <a:srgbClr val="3C3C3C"/>
                </a:solidFill>
                <a:latin typeface="Cambria Math"/>
                <a:cs typeface="Cambria Math"/>
              </a:rPr>
              <a:t>  </a:t>
            </a:r>
            <a:r>
              <a:rPr sz="2200" dirty="0">
                <a:solidFill>
                  <a:srgbClr val="3C3C3C"/>
                </a:solidFill>
                <a:latin typeface="Cambria Math"/>
                <a:cs typeface="Cambria Math"/>
              </a:rPr>
              <a:t>=</a:t>
            </a:r>
            <a:r>
              <a:rPr sz="2200" spc="110" dirty="0">
                <a:solidFill>
                  <a:srgbClr val="3C3C3C"/>
                </a:solidFill>
                <a:latin typeface="Cambria Math"/>
                <a:cs typeface="Cambria Math"/>
              </a:rPr>
              <a:t> </a:t>
            </a:r>
            <a:r>
              <a:rPr sz="2200" dirty="0">
                <a:solidFill>
                  <a:srgbClr val="3C3C3C"/>
                </a:solidFill>
                <a:latin typeface="Cambria Math"/>
                <a:cs typeface="Cambria Math"/>
              </a:rPr>
              <a:t>0</a:t>
            </a:r>
            <a:endParaRPr sz="2200" dirty="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62558" y="3873139"/>
            <a:ext cx="327914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95" dirty="0">
                <a:solidFill>
                  <a:srgbClr val="3C3C3C"/>
                </a:solidFill>
                <a:latin typeface="Trebuchet MS"/>
                <a:cs typeface="Trebuchet MS"/>
              </a:rPr>
              <a:t>Entonce</a:t>
            </a:r>
            <a:r>
              <a:rPr sz="2200" spc="-185" dirty="0">
                <a:solidFill>
                  <a:srgbClr val="3C3C3C"/>
                </a:solidFill>
                <a:latin typeface="Trebuchet MS"/>
                <a:cs typeface="Trebuchet MS"/>
              </a:rPr>
              <a:t>s,</a:t>
            </a:r>
            <a:r>
              <a:rPr sz="2200" spc="-28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200" spc="-95" dirty="0">
                <a:solidFill>
                  <a:srgbClr val="3C3C3C"/>
                </a:solidFill>
                <a:latin typeface="Trebuchet MS"/>
                <a:cs typeface="Trebuchet MS"/>
              </a:rPr>
              <a:t>se</a:t>
            </a:r>
            <a:r>
              <a:rPr sz="2200"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200" spc="-130" dirty="0">
                <a:solidFill>
                  <a:srgbClr val="3C3C3C"/>
                </a:solidFill>
                <a:latin typeface="Trebuchet MS"/>
                <a:cs typeface="Trebuchet MS"/>
              </a:rPr>
              <a:t>debe</a:t>
            </a:r>
            <a:r>
              <a:rPr sz="2200" spc="-6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200" spc="-105" dirty="0">
                <a:solidFill>
                  <a:srgbClr val="3C3C3C"/>
                </a:solidFill>
                <a:latin typeface="Trebuchet MS"/>
                <a:cs typeface="Trebuchet MS"/>
              </a:rPr>
              <a:t>tener</a:t>
            </a:r>
            <a:r>
              <a:rPr sz="2200" spc="-5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200" spc="-114" dirty="0">
                <a:solidFill>
                  <a:srgbClr val="3C3C3C"/>
                </a:solidFill>
                <a:latin typeface="Trebuchet MS"/>
                <a:cs typeface="Trebuchet MS"/>
              </a:rPr>
              <a:t>q</a:t>
            </a:r>
            <a:r>
              <a:rPr sz="2200" spc="-110" dirty="0">
                <a:solidFill>
                  <a:srgbClr val="3C3C3C"/>
                </a:solidFill>
                <a:latin typeface="Trebuchet MS"/>
                <a:cs typeface="Trebuchet MS"/>
              </a:rPr>
              <a:t>u</a:t>
            </a:r>
            <a:r>
              <a:rPr sz="2200" spc="-240" dirty="0">
                <a:solidFill>
                  <a:srgbClr val="3C3C3C"/>
                </a:solidFill>
                <a:latin typeface="Trebuchet MS"/>
                <a:cs typeface="Trebuchet MS"/>
              </a:rPr>
              <a:t>e:</a:t>
            </a:r>
            <a:endParaRPr sz="2200" dirty="0">
              <a:latin typeface="Trebuchet MS"/>
              <a:cs typeface="Trebuchet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49719" y="4642230"/>
            <a:ext cx="1956435" cy="14604"/>
          </a:xfrm>
          <a:custGeom>
            <a:avLst/>
            <a:gdLst/>
            <a:ahLst/>
            <a:cxnLst/>
            <a:rect l="l" t="t" r="r" b="b"/>
            <a:pathLst>
              <a:path w="1956435" h="14604">
                <a:moveTo>
                  <a:pt x="1956054" y="0"/>
                </a:moveTo>
                <a:lnTo>
                  <a:pt x="0" y="0"/>
                </a:lnTo>
                <a:lnTo>
                  <a:pt x="0" y="14478"/>
                </a:lnTo>
                <a:lnTo>
                  <a:pt x="1956054" y="14478"/>
                </a:lnTo>
                <a:lnTo>
                  <a:pt x="1956054" y="0"/>
                </a:lnTo>
                <a:close/>
              </a:path>
            </a:pathLst>
          </a:custGeom>
          <a:solidFill>
            <a:srgbClr val="3C3C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11631" y="4330446"/>
            <a:ext cx="203390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200" spc="-130" dirty="0">
                <a:solidFill>
                  <a:srgbClr val="3C3C3C"/>
                </a:solidFill>
                <a:latin typeface="Trebuchet MS"/>
                <a:cs typeface="Trebuchet MS"/>
              </a:rPr>
              <a:t>Statu</a:t>
            </a:r>
            <a:r>
              <a:rPr sz="2200"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200" spc="-65" dirty="0">
                <a:solidFill>
                  <a:srgbClr val="3C3C3C"/>
                </a:solidFill>
                <a:latin typeface="Trebuchet MS"/>
                <a:cs typeface="Trebuchet MS"/>
              </a:rPr>
              <a:t>quo</a:t>
            </a:r>
            <a:r>
              <a:rPr sz="2200"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200" spc="-30" dirty="0">
                <a:solidFill>
                  <a:srgbClr val="3C3C3C"/>
                </a:solidFill>
                <a:latin typeface="Cambria Math"/>
                <a:cs typeface="Cambria Math"/>
              </a:rPr>
              <a:t>𝑥</a:t>
            </a:r>
            <a:r>
              <a:rPr sz="2400" spc="60" baseline="-15625" dirty="0">
                <a:solidFill>
                  <a:srgbClr val="3C3C3C"/>
                </a:solidFill>
                <a:latin typeface="Cambria Math"/>
                <a:cs typeface="Cambria Math"/>
              </a:rPr>
              <a:t>0</a:t>
            </a:r>
            <a:r>
              <a:rPr sz="2400" baseline="-15625" dirty="0">
                <a:solidFill>
                  <a:srgbClr val="3C3C3C"/>
                </a:solidFill>
                <a:latin typeface="Cambria Math"/>
                <a:cs typeface="Cambria Math"/>
              </a:rPr>
              <a:t>  </a:t>
            </a:r>
            <a:r>
              <a:rPr sz="2200" dirty="0">
                <a:solidFill>
                  <a:srgbClr val="3C3C3C"/>
                </a:solidFill>
                <a:latin typeface="Cambria Math"/>
                <a:cs typeface="Cambria Math"/>
              </a:rPr>
              <a:t>≠</a:t>
            </a:r>
            <a:r>
              <a:rPr sz="2200" spc="110" dirty="0">
                <a:solidFill>
                  <a:srgbClr val="3C3C3C"/>
                </a:solidFill>
                <a:latin typeface="Cambria Math"/>
                <a:cs typeface="Cambria Math"/>
              </a:rPr>
              <a:t> </a:t>
            </a:r>
            <a:r>
              <a:rPr sz="2200" dirty="0">
                <a:solidFill>
                  <a:srgbClr val="3C3C3C"/>
                </a:solidFill>
                <a:latin typeface="Cambria Math"/>
                <a:cs typeface="Cambria Math"/>
              </a:rPr>
              <a:t>0</a:t>
            </a:r>
            <a:endParaRPr sz="2200" dirty="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32078" y="5993843"/>
            <a:ext cx="7902322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130" dirty="0">
                <a:solidFill>
                  <a:srgbClr val="3C3C3C"/>
                </a:solidFill>
                <a:latin typeface="Trebuchet MS"/>
                <a:cs typeface="Trebuchet MS"/>
              </a:rPr>
              <a:t>Para</a:t>
            </a:r>
            <a:r>
              <a:rPr sz="2200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200" spc="-170" dirty="0">
                <a:solidFill>
                  <a:srgbClr val="3C3C3C"/>
                </a:solidFill>
                <a:latin typeface="Trebuchet MS"/>
                <a:cs typeface="Trebuchet MS"/>
              </a:rPr>
              <a:t>cada</a:t>
            </a:r>
            <a:r>
              <a:rPr sz="2200" spc="-5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200" spc="-150" dirty="0">
                <a:solidFill>
                  <a:srgbClr val="3C3C3C"/>
                </a:solidFill>
                <a:latin typeface="Trebuchet MS"/>
                <a:cs typeface="Trebuchet MS"/>
              </a:rPr>
              <a:t>caso,</a:t>
            </a:r>
            <a:r>
              <a:rPr sz="2200" spc="-26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006FC0"/>
                </a:solidFill>
                <a:latin typeface="Cambria Math"/>
                <a:cs typeface="Cambria Math"/>
              </a:rPr>
              <a:t>𝑏</a:t>
            </a:r>
            <a:r>
              <a:rPr sz="2200" spc="5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2200" spc="-100" dirty="0">
                <a:solidFill>
                  <a:srgbClr val="3C3C3C"/>
                </a:solidFill>
                <a:latin typeface="Trebuchet MS"/>
                <a:cs typeface="Trebuchet MS"/>
              </a:rPr>
              <a:t>se</a:t>
            </a:r>
            <a:r>
              <a:rPr sz="2200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200" spc="-110" dirty="0">
                <a:solidFill>
                  <a:srgbClr val="3C3C3C"/>
                </a:solidFill>
                <a:latin typeface="Trebuchet MS"/>
                <a:cs typeface="Trebuchet MS"/>
              </a:rPr>
              <a:t>obtiene</a:t>
            </a:r>
            <a:r>
              <a:rPr sz="2200"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200" spc="-85" dirty="0">
                <a:solidFill>
                  <a:srgbClr val="3C3C3C"/>
                </a:solidFill>
                <a:latin typeface="Trebuchet MS"/>
                <a:cs typeface="Trebuchet MS"/>
              </a:rPr>
              <a:t>resolviendo</a:t>
            </a:r>
            <a:r>
              <a:rPr sz="2200"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200" spc="-195" dirty="0">
                <a:solidFill>
                  <a:srgbClr val="3C3C3C"/>
                </a:solidFill>
                <a:latin typeface="Trebuchet MS"/>
                <a:cs typeface="Trebuchet MS"/>
              </a:rPr>
              <a:t>la</a:t>
            </a:r>
            <a:r>
              <a:rPr sz="2200" spc="-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200" spc="-120" dirty="0">
                <a:solidFill>
                  <a:srgbClr val="3C3C3C"/>
                </a:solidFill>
                <a:latin typeface="Trebuchet MS"/>
                <a:cs typeface="Trebuchet MS"/>
              </a:rPr>
              <a:t>ecuación</a:t>
            </a:r>
            <a:r>
              <a:rPr sz="2200" spc="-5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200" spc="-125" dirty="0">
                <a:solidFill>
                  <a:srgbClr val="3C3C3C"/>
                </a:solidFill>
                <a:latin typeface="Trebuchet MS"/>
                <a:cs typeface="Trebuchet MS"/>
              </a:rPr>
              <a:t>y</a:t>
            </a:r>
            <a:r>
              <a:rPr sz="2200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200" spc="-130" dirty="0">
                <a:solidFill>
                  <a:srgbClr val="3C3C3C"/>
                </a:solidFill>
                <a:latin typeface="Trebuchet MS"/>
                <a:cs typeface="Trebuchet MS"/>
              </a:rPr>
              <a:t>despejando</a:t>
            </a:r>
            <a:r>
              <a:rPr sz="2200" spc="-5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200" spc="-165" dirty="0">
                <a:solidFill>
                  <a:srgbClr val="006FC0"/>
                </a:solidFill>
                <a:latin typeface="Cambria Math"/>
                <a:cs typeface="Cambria Math"/>
              </a:rPr>
              <a:t>𝑏</a:t>
            </a:r>
            <a:r>
              <a:rPr sz="2200" spc="-165" dirty="0">
                <a:solidFill>
                  <a:srgbClr val="3C3C3C"/>
                </a:solidFill>
                <a:latin typeface="Trebuchet MS"/>
                <a:cs typeface="Trebuchet MS"/>
              </a:rPr>
              <a:t>.</a:t>
            </a:r>
            <a:endParaRPr sz="2200" dirty="0">
              <a:latin typeface="Trebuchet MS"/>
              <a:cs typeface="Trebuchet MS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174428" y="2563495"/>
            <a:ext cx="1489075" cy="664845"/>
            <a:chOff x="3174428" y="2563495"/>
            <a:chExt cx="1489075" cy="664845"/>
          </a:xfrm>
        </p:grpSpPr>
        <p:sp>
          <p:nvSpPr>
            <p:cNvPr id="17" name="object 17"/>
            <p:cNvSpPr/>
            <p:nvPr/>
          </p:nvSpPr>
          <p:spPr>
            <a:xfrm>
              <a:off x="3459099" y="2569845"/>
              <a:ext cx="1198245" cy="652145"/>
            </a:xfrm>
            <a:custGeom>
              <a:avLst/>
              <a:gdLst/>
              <a:ahLst/>
              <a:cxnLst/>
              <a:rect l="l" t="t" r="r" b="b"/>
              <a:pathLst>
                <a:path w="1198245" h="652144">
                  <a:moveTo>
                    <a:pt x="0" y="302640"/>
                  </a:moveTo>
                  <a:lnTo>
                    <a:pt x="1197864" y="0"/>
                  </a:lnTo>
                </a:path>
                <a:path w="1198245" h="652144">
                  <a:moveTo>
                    <a:pt x="0" y="328421"/>
                  </a:moveTo>
                  <a:lnTo>
                    <a:pt x="1197864" y="652144"/>
                  </a:lnTo>
                </a:path>
              </a:pathLst>
            </a:custGeom>
            <a:ln w="12700">
              <a:solidFill>
                <a:srgbClr val="172C5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185541" y="2751201"/>
              <a:ext cx="273685" cy="294640"/>
            </a:xfrm>
            <a:custGeom>
              <a:avLst/>
              <a:gdLst/>
              <a:ahLst/>
              <a:cxnLst/>
              <a:rect l="l" t="t" r="r" b="b"/>
              <a:pathLst>
                <a:path w="273685" h="294639">
                  <a:moveTo>
                    <a:pt x="0" y="294132"/>
                  </a:moveTo>
                  <a:lnTo>
                    <a:pt x="273557" y="294132"/>
                  </a:lnTo>
                  <a:lnTo>
                    <a:pt x="273557" y="0"/>
                  </a:lnTo>
                  <a:lnTo>
                    <a:pt x="0" y="0"/>
                  </a:lnTo>
                  <a:lnTo>
                    <a:pt x="0" y="294132"/>
                  </a:lnTo>
                  <a:close/>
                </a:path>
              </a:pathLst>
            </a:custGeom>
            <a:ln w="22225">
              <a:solidFill>
                <a:srgbClr val="4294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4765040" y="2408935"/>
            <a:ext cx="152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0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784852" y="3084321"/>
            <a:ext cx="5746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𝑋 −</a:t>
            </a:r>
            <a:r>
              <a:rPr sz="1800" spc="-4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𝑏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878073" y="2800603"/>
            <a:ext cx="1885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~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381375" y="4519040"/>
            <a:ext cx="1111250" cy="585470"/>
          </a:xfrm>
          <a:custGeom>
            <a:avLst/>
            <a:gdLst/>
            <a:ahLst/>
            <a:cxnLst/>
            <a:rect l="l" t="t" r="r" b="b"/>
            <a:pathLst>
              <a:path w="1111250" h="585470">
                <a:moveTo>
                  <a:pt x="0" y="395096"/>
                </a:moveTo>
                <a:lnTo>
                  <a:pt x="1006348" y="0"/>
                </a:lnTo>
              </a:path>
              <a:path w="1111250" h="585470">
                <a:moveTo>
                  <a:pt x="0" y="394715"/>
                </a:moveTo>
                <a:lnTo>
                  <a:pt x="1111123" y="585342"/>
                </a:lnTo>
              </a:path>
            </a:pathLst>
          </a:custGeom>
          <a:ln w="12700">
            <a:solidFill>
              <a:srgbClr val="172C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4151947" y="4210409"/>
            <a:ext cx="765493" cy="431528"/>
          </a:xfrm>
          <a:prstGeom prst="rect">
            <a:avLst/>
          </a:prstGeom>
        </p:spPr>
        <p:txBody>
          <a:bodyPr vert="horz" wrap="square" lIns="0" tIns="153035" rIns="0" bIns="0" rtlCol="0">
            <a:spAutoFit/>
          </a:bodyPr>
          <a:lstStyle/>
          <a:p>
            <a:pPr marL="382270">
              <a:lnSpc>
                <a:spcPct val="100000"/>
              </a:lnSpc>
              <a:spcBef>
                <a:spcPts val="905"/>
              </a:spcBef>
            </a:pPr>
            <a:r>
              <a:rPr sz="1800" spc="10" dirty="0">
                <a:latin typeface="Cambria Math"/>
                <a:cs typeface="Cambria Math"/>
              </a:rPr>
              <a:t>𝑥</a:t>
            </a:r>
            <a:r>
              <a:rPr sz="1950" spc="15" baseline="-14957" dirty="0">
                <a:latin typeface="Cambria Math"/>
                <a:cs typeface="Cambria Math"/>
              </a:rPr>
              <a:t>0</a:t>
            </a:r>
            <a:endParaRPr sz="1950" baseline="-14957" dirty="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836164" y="4677664"/>
            <a:ext cx="1885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~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095625" y="4728590"/>
            <a:ext cx="274320" cy="294640"/>
          </a:xfrm>
          <a:custGeom>
            <a:avLst/>
            <a:gdLst/>
            <a:ahLst/>
            <a:cxnLst/>
            <a:rect l="l" t="t" r="r" b="b"/>
            <a:pathLst>
              <a:path w="274320" h="294639">
                <a:moveTo>
                  <a:pt x="0" y="294131"/>
                </a:moveTo>
                <a:lnTo>
                  <a:pt x="274320" y="294131"/>
                </a:lnTo>
                <a:lnTo>
                  <a:pt x="274320" y="0"/>
                </a:lnTo>
                <a:lnTo>
                  <a:pt x="0" y="0"/>
                </a:lnTo>
                <a:lnTo>
                  <a:pt x="0" y="294131"/>
                </a:lnTo>
                <a:close/>
              </a:path>
            </a:pathLst>
          </a:custGeom>
          <a:ln w="22225">
            <a:solidFill>
              <a:srgbClr val="42945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21CBF791-6008-40F6-AE9B-45E289A6ADA1}"/>
                  </a:ext>
                </a:extLst>
              </p:cNvPr>
              <p:cNvSpPr txBox="1"/>
              <p:nvPr/>
            </p:nvSpPr>
            <p:spPr>
              <a:xfrm>
                <a:off x="5464937" y="2403111"/>
                <a:ext cx="2694648" cy="276999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s-CO" sz="1200" i="1" dirty="0"/>
                  <a:t>Con certeza: No la compro y tengo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O" sz="1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O" sz="12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CO" sz="120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CO" sz="1200" i="1" dirty="0"/>
                  <a:t>=0 </a:t>
                </a:r>
              </a:p>
            </p:txBody>
          </p:sp>
        </mc:Choice>
        <mc:Fallback xmlns="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21CBF791-6008-40F6-AE9B-45E289A6AD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4937" y="2403111"/>
                <a:ext cx="2694648" cy="276999"/>
              </a:xfrm>
              <a:prstGeom prst="rect">
                <a:avLst/>
              </a:prstGeom>
              <a:blipFill>
                <a:blip r:embed="rId4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CuadroTexto 27">
            <a:extLst>
              <a:ext uri="{FF2B5EF4-FFF2-40B4-BE49-F238E27FC236}">
                <a16:creationId xmlns:a16="http://schemas.microsoft.com/office/drawing/2014/main" id="{67743C7E-7F4A-43BB-AE1C-1FF468D78CA6}"/>
              </a:ext>
            </a:extLst>
          </p:cNvPr>
          <p:cNvSpPr txBox="1"/>
          <p:nvPr/>
        </p:nvSpPr>
        <p:spPr>
          <a:xfrm>
            <a:off x="5498155" y="3082828"/>
            <a:ext cx="2291589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s-CO" sz="1200" i="1" dirty="0"/>
              <a:t>Lotería (con riesgo): Sí la compro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54ED9E7F-A224-4671-A233-D85A70025DE9}"/>
                  </a:ext>
                </a:extLst>
              </p:cNvPr>
              <p:cNvSpPr txBox="1"/>
              <p:nvPr/>
            </p:nvSpPr>
            <p:spPr>
              <a:xfrm>
                <a:off x="5441120" y="4301217"/>
                <a:ext cx="2539157" cy="276999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s-CO" sz="1200" i="1" dirty="0"/>
                  <a:t>Con certeza: No la compro y tengo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O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O" sz="12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CO" sz="12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CO" sz="1200" i="1" dirty="0"/>
                  <a:t> </a:t>
                </a:r>
              </a:p>
            </p:txBody>
          </p:sp>
        </mc:Choice>
        <mc:Fallback xmlns="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54ED9E7F-A224-4671-A233-D85A70025D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1120" y="4301217"/>
                <a:ext cx="2539157" cy="276999"/>
              </a:xfrm>
              <a:prstGeom prst="rect">
                <a:avLst/>
              </a:prstGeom>
              <a:blipFill>
                <a:blip r:embed="rId5"/>
                <a:stretch>
                  <a:fillRect l="-240" t="-2222" b="-17778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CuadroTexto 29">
            <a:extLst>
              <a:ext uri="{FF2B5EF4-FFF2-40B4-BE49-F238E27FC236}">
                <a16:creationId xmlns:a16="http://schemas.microsoft.com/office/drawing/2014/main" id="{FC5AA888-EAD3-42FB-B353-DD7F3D1679A9}"/>
              </a:ext>
            </a:extLst>
          </p:cNvPr>
          <p:cNvSpPr txBox="1"/>
          <p:nvPr/>
        </p:nvSpPr>
        <p:spPr>
          <a:xfrm>
            <a:off x="5913156" y="4914804"/>
            <a:ext cx="2217851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s-CO" sz="1200" i="1" dirty="0"/>
              <a:t>Lotería (con riesgo): Sí la compro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C0201BEC-19A9-EA53-B37F-AFE73687B9E1}"/>
                  </a:ext>
                </a:extLst>
              </p:cNvPr>
              <p:cNvSpPr txBox="1"/>
              <p:nvPr/>
            </p:nvSpPr>
            <p:spPr>
              <a:xfrm>
                <a:off x="4080986" y="3885075"/>
                <a:ext cx="226882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s-CO" sz="2000" b="0" i="0" smtClean="0">
                          <a:latin typeface="Cambria Math" panose="02040503050406030204" pitchFamily="18" charset="0"/>
                        </a:rPr>
                        <m:t>u</m:t>
                      </m:r>
                      <m:d>
                        <m:dPr>
                          <m:ctrlPr>
                            <a:rPr lang="es-CO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CO" sz="2000" b="0" i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s-CO" sz="2000" b="0" i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s-CO" sz="2000" b="0" i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s-CO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s-CO" sz="2000" b="0" i="0" smtClean="0">
                          <a:latin typeface="Cambria Math" panose="02040503050406030204" pitchFamily="18" charset="0"/>
                        </a:rPr>
                        <m:t>E</m:t>
                      </m:r>
                      <m:r>
                        <a:rPr lang="es-CO" sz="2000" b="0" i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s-CO" sz="2000" b="0" i="0" smtClean="0">
                          <a:latin typeface="Cambria Math" panose="02040503050406030204" pitchFamily="18" charset="0"/>
                        </a:rPr>
                        <m:t>u</m:t>
                      </m:r>
                      <m:d>
                        <m:dPr>
                          <m:ctrlPr>
                            <a:rPr lang="es-CO" sz="2000" b="0" i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s-CO" sz="2000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s-CO" sz="2000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s-CO" sz="2000" b="0" i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</m:d>
                      <m:r>
                        <a:rPr lang="es-CO" sz="2000" b="0" i="0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s-CO" sz="2000" dirty="0">
                  <a:latin typeface="Trebuchet MS" panose="020B0603020202020204" pitchFamily="34" charset="0"/>
                </a:endParaRPr>
              </a:p>
            </p:txBody>
          </p:sp>
        </mc:Choice>
        <mc:Fallback xmlns="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C0201BEC-19A9-EA53-B37F-AFE73687B9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0986" y="3885075"/>
                <a:ext cx="2268826" cy="307777"/>
              </a:xfrm>
              <a:prstGeom prst="rect">
                <a:avLst/>
              </a:prstGeom>
              <a:blipFill>
                <a:blip r:embed="rId6"/>
                <a:stretch>
                  <a:fillRect l="-1072" r="-3485" b="-35294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CuadroTexto 33">
            <a:extLst>
              <a:ext uri="{FF2B5EF4-FFF2-40B4-BE49-F238E27FC236}">
                <a16:creationId xmlns:a16="http://schemas.microsoft.com/office/drawing/2014/main" id="{80B06F12-335A-B95F-4B66-95BDC458AC20}"/>
              </a:ext>
            </a:extLst>
          </p:cNvPr>
          <p:cNvSpPr txBox="1"/>
          <p:nvPr/>
        </p:nvSpPr>
        <p:spPr>
          <a:xfrm>
            <a:off x="489203" y="5395193"/>
            <a:ext cx="32791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0800">
              <a:lnSpc>
                <a:spcPct val="100000"/>
              </a:lnSpc>
              <a:spcBef>
                <a:spcPts val="894"/>
              </a:spcBef>
              <a:tabLst>
                <a:tab pos="4105275" algn="l"/>
              </a:tabLst>
            </a:pPr>
            <a:r>
              <a:rPr lang="es-ES" sz="2000" spc="-114" dirty="0">
                <a:solidFill>
                  <a:srgbClr val="3C3C3C"/>
                </a:solidFill>
                <a:latin typeface="Trebuchet MS"/>
                <a:cs typeface="Trebuchet MS"/>
              </a:rPr>
              <a:t>Entonces,</a:t>
            </a:r>
            <a:r>
              <a:rPr lang="es-ES" sz="2000" spc="-28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lang="es-ES" sz="2000" spc="-95" dirty="0">
                <a:solidFill>
                  <a:srgbClr val="3C3C3C"/>
                </a:solidFill>
                <a:latin typeface="Trebuchet MS"/>
                <a:cs typeface="Trebuchet MS"/>
              </a:rPr>
              <a:t>se</a:t>
            </a:r>
            <a:r>
              <a:rPr lang="es-ES" sz="2000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lang="es-ES" sz="2000" spc="-130" dirty="0">
                <a:solidFill>
                  <a:srgbClr val="3C3C3C"/>
                </a:solidFill>
                <a:latin typeface="Trebuchet MS"/>
                <a:cs typeface="Trebuchet MS"/>
              </a:rPr>
              <a:t>debe</a:t>
            </a:r>
            <a:r>
              <a:rPr lang="es-ES" sz="2000" spc="-6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lang="es-ES" sz="2000" spc="-105" dirty="0">
                <a:solidFill>
                  <a:srgbClr val="3C3C3C"/>
                </a:solidFill>
                <a:latin typeface="Trebuchet MS"/>
                <a:cs typeface="Trebuchet MS"/>
              </a:rPr>
              <a:t>tener</a:t>
            </a:r>
            <a:r>
              <a:rPr lang="es-ES" sz="2000"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lang="es-ES" sz="2000" spc="-175" dirty="0">
                <a:solidFill>
                  <a:srgbClr val="3C3C3C"/>
                </a:solidFill>
                <a:latin typeface="Trebuchet MS"/>
                <a:cs typeface="Trebuchet MS"/>
              </a:rPr>
              <a:t>que:</a:t>
            </a:r>
            <a:endParaRPr lang="es-ES" sz="2000" dirty="0">
              <a:latin typeface="Cambria Math"/>
              <a:cs typeface="Cambria Math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05A5ADC3-3F00-5D0E-60FB-7EB985C19959}"/>
                  </a:ext>
                </a:extLst>
              </p:cNvPr>
              <p:cNvSpPr txBox="1"/>
              <p:nvPr/>
            </p:nvSpPr>
            <p:spPr>
              <a:xfrm>
                <a:off x="4492625" y="4983335"/>
                <a:ext cx="111767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05A5ADC3-3F00-5D0E-60FB-7EB985C199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2625" y="4983335"/>
                <a:ext cx="1117678" cy="276999"/>
              </a:xfrm>
              <a:prstGeom prst="rect">
                <a:avLst/>
              </a:prstGeom>
              <a:blipFill>
                <a:blip r:embed="rId7"/>
                <a:stretch>
                  <a:fillRect l="-2732" r="-4372" b="-1521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9062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6" grpId="0"/>
      <p:bldP spid="10" grpId="0" animBg="1"/>
      <p:bldP spid="11" grpId="0"/>
      <p:bldP spid="15" grpId="0"/>
      <p:bldP spid="22" grpId="0" animBg="1"/>
      <p:bldP spid="23" grpId="0"/>
      <p:bldP spid="25" grpId="0"/>
      <p:bldP spid="26" grpId="0" animBg="1"/>
      <p:bldP spid="29" grpId="0" animBg="1"/>
      <p:bldP spid="30" grpId="0" animBg="1"/>
      <p:bldP spid="32" grpId="0"/>
      <p:bldP spid="34" grpId="0"/>
      <p:bldP spid="3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9895</TotalTime>
  <Words>3286</Words>
  <Application>Microsoft Macintosh PowerPoint</Application>
  <PresentationFormat>On-screen Show (4:3)</PresentationFormat>
  <Paragraphs>428</Paragraphs>
  <Slides>36</Slides>
  <Notes>5</Notes>
  <HiddenSlides>5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6" baseType="lpstr">
      <vt:lpstr>Arial</vt:lpstr>
      <vt:lpstr>Arial MT</vt:lpstr>
      <vt:lpstr>Calibri</vt:lpstr>
      <vt:lpstr>Cambria Math</vt:lpstr>
      <vt:lpstr>Merriweather Sans</vt:lpstr>
      <vt:lpstr>Source Sans Pro</vt:lpstr>
      <vt:lpstr>Symbol</vt:lpstr>
      <vt:lpstr>Times New Roman</vt:lpstr>
      <vt:lpstr>Trebuchet MS</vt:lpstr>
      <vt:lpstr>Office Theme</vt:lpstr>
      <vt:lpstr>FACULTAD DE INGENIERÍA  DEPARTAMENTO DE INGENIERÍA INDUSTRIAL MAGÍSTER EN INGENIERÍA INDUSTRIAL</vt:lpstr>
      <vt:lpstr>PowerPoint Presentation</vt:lpstr>
      <vt:lpstr> OBJETIVOS DE LA SESIÓN</vt:lpstr>
      <vt:lpstr> PLAN DE LA SESIÓN</vt:lpstr>
      <vt:lpstr>CONTENIDO</vt:lpstr>
      <vt:lpstr> REPASO</vt:lpstr>
      <vt:lpstr> REPASO</vt:lpstr>
      <vt:lpstr>Prima de riesgo</vt:lpstr>
      <vt:lpstr> PRIMA DE RIESGO</vt:lpstr>
      <vt:lpstr> PRIMA DE SEGURO</vt:lpstr>
      <vt:lpstr>PowerPoint Presentation</vt:lpstr>
      <vt:lpstr>FUNCIONES DE UTILIDAD ESTRATÉGICAMENTE  EQUIVALENTES</vt:lpstr>
      <vt:lpstr>FUNCIONES DE UTILIDAD ESTRATÉGICAMENTE  EQUIVALENTES</vt:lpstr>
      <vt:lpstr>Comprobación</vt:lpstr>
      <vt:lpstr>CARACTERIZACIÓN DE UN DECISOR CON BASE  EN SU FUNCIÓN DE UTILIDAD</vt:lpstr>
      <vt:lpstr>Gráficamente… </vt:lpstr>
      <vt:lpstr>Gráficamente… </vt:lpstr>
      <vt:lpstr>Gráficamente… </vt:lpstr>
      <vt:lpstr>Ejercicio para los Estudiantes</vt:lpstr>
      <vt:lpstr>FUNCIÓN DE AVERSIÓN AL RIESGO (F.A.R), r(x) MOTIVACIÓN</vt:lpstr>
      <vt:lpstr>FUNCIÓN DE AVERSIÓN AL RIESGO (F.A.R.), 𝑟(x)</vt:lpstr>
      <vt:lpstr>PowerPoint Presentation</vt:lpstr>
      <vt:lpstr>PowerPoint Presentation</vt:lpstr>
      <vt:lpstr>EJEMPLOS</vt:lpstr>
      <vt:lpstr>Ejemplos F.A.R(x) Agentes Aversos al Riesgo</vt:lpstr>
      <vt:lpstr>F.A.R., 𝑟(𝑥). PROPIEDADES Y EJEMPLOS AVERSOS</vt:lpstr>
      <vt:lpstr>F.A.R., 𝑟(𝑥). EJEMPLOS PROPENSOS AL RIESGO</vt:lpstr>
      <vt:lpstr>Prima de Riesgo de Pratt - Arrow</vt:lpstr>
      <vt:lpstr>Prima de Riesgo de Pratt - Arrow</vt:lpstr>
      <vt:lpstr>Relación entre F.A.R y la Prima de Riesgo</vt:lpstr>
      <vt:lpstr>RELACIÓN ENTRE LA F.A.R., 𝑟 𝑥 , Y LA PRIMA DE RIESGO 𝜋 𝑋; 𝑥</vt:lpstr>
      <vt:lpstr>PowerPoint Presentation</vt:lpstr>
      <vt:lpstr>FUNCIÓN DE AVERSIÓN AL RIESGO (F.A.R.) 𝑟 𝑥 ASOCIADA A UN DECISOR – PROPIEDAD FUNDAMENTAL</vt:lpstr>
      <vt:lpstr>SÍNTESIS SOBRE FUNCIONES DE UTILIDAD Y  TIPOS DE DECISORES</vt:lpstr>
      <vt:lpstr>PRECIO DE VENTA (s) Y PRECIO DE COMPRA (𝑏)  DE UNA LOTERÍA X</vt:lpstr>
      <vt:lpstr> PRECIO DE VENTA (s) Y PRECIO DE COMPRA (𝑏)  DE UNA LOTERÍA 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Teoría de la Decisión</dc:title>
  <dc:creator>usuario registrado</dc:creator>
  <cp:lastModifiedBy>Brigitte Castañeda</cp:lastModifiedBy>
  <cp:revision>22</cp:revision>
  <dcterms:created xsi:type="dcterms:W3CDTF">2023-08-17T19:11:59Z</dcterms:created>
  <dcterms:modified xsi:type="dcterms:W3CDTF">2026-08-19T19:38:37Z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2022-08-24T00:00:00Z</vt:filetime>
  </property>
  <property fmtid="{D5CDD505-2E9C-101B-9397-08002B2CF9AE}" pid="3" name="Creator">
    <vt:lpwstr>Microsoft® PowerPoint® para Microsoft 365</vt:lpwstr>
  </property>
  <property fmtid="{D5CDD505-2E9C-101B-9397-08002B2CF9AE}" pid="4" name="LastSaved">
    <vt:filetime>2023-08-17T00:00:00Z</vt:filetime>
  </property>
</Properties>
</file>