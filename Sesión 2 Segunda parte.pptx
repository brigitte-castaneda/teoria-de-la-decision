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91" r:id="rId2"/>
    <p:sldId id="275" r:id="rId3"/>
    <p:sldId id="276" r:id="rId4"/>
    <p:sldId id="277" r:id="rId5"/>
    <p:sldId id="278" r:id="rId6"/>
    <p:sldId id="290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89" r:id="rId16"/>
    <p:sldId id="287" r:id="rId17"/>
    <p:sldId id="288" r:id="rId18"/>
  </p:sldIdLst>
  <p:sldSz cx="9144000" cy="6858000" type="screen4x3"/>
  <p:notesSz cx="9144000" cy="6858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F2B81F-B7D9-E94A-B493-689A67F1B555}" v="22" dt="2026-08-12T19:47:25.721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56" autoAdjust="0"/>
    <p:restoredTop sz="94596"/>
  </p:normalViewPr>
  <p:slideViewPr>
    <p:cSldViewPr>
      <p:cViewPr>
        <p:scale>
          <a:sx n="200" d="100"/>
          <a:sy n="200" d="100"/>
        </p:scale>
        <p:origin x="144" y="1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gitte Castañeda Rodriguez" userId="5c201908-82f6-498c-9281-7eaa96fb17b4" providerId="ADAL" clId="{938F7A95-1314-5A0F-843E-287C4A35EE59}"/>
    <pc:docChg chg="undo custSel addSld delSld modSld sldOrd">
      <pc:chgData name="Brigitte Castañeda Rodriguez" userId="5c201908-82f6-498c-9281-7eaa96fb17b4" providerId="ADAL" clId="{938F7A95-1314-5A0F-843E-287C4A35EE59}" dt="2026-08-12T19:54:14.684" v="36" actId="1076"/>
      <pc:docMkLst>
        <pc:docMk/>
      </pc:docMkLst>
      <pc:sldChg chg="del">
        <pc:chgData name="Brigitte Castañeda Rodriguez" userId="5c201908-82f6-498c-9281-7eaa96fb17b4" providerId="ADAL" clId="{938F7A95-1314-5A0F-843E-287C4A35EE59}" dt="2026-08-12T18:09:10.763" v="0" actId="2696"/>
        <pc:sldMkLst>
          <pc:docMk/>
          <pc:sldMk cId="0" sldId="256"/>
        </pc:sldMkLst>
      </pc:sldChg>
      <pc:sldChg chg="del">
        <pc:chgData name="Brigitte Castañeda Rodriguez" userId="5c201908-82f6-498c-9281-7eaa96fb17b4" providerId="ADAL" clId="{938F7A95-1314-5A0F-843E-287C4A35EE59}" dt="2026-08-12T18:09:10.763" v="0" actId="2696"/>
        <pc:sldMkLst>
          <pc:docMk/>
          <pc:sldMk cId="0" sldId="257"/>
        </pc:sldMkLst>
      </pc:sldChg>
      <pc:sldChg chg="del">
        <pc:chgData name="Brigitte Castañeda Rodriguez" userId="5c201908-82f6-498c-9281-7eaa96fb17b4" providerId="ADAL" clId="{938F7A95-1314-5A0F-843E-287C4A35EE59}" dt="2026-08-12T18:09:10.763" v="0" actId="2696"/>
        <pc:sldMkLst>
          <pc:docMk/>
          <pc:sldMk cId="0" sldId="258"/>
        </pc:sldMkLst>
      </pc:sldChg>
      <pc:sldChg chg="del">
        <pc:chgData name="Brigitte Castañeda Rodriguez" userId="5c201908-82f6-498c-9281-7eaa96fb17b4" providerId="ADAL" clId="{938F7A95-1314-5A0F-843E-287C4A35EE59}" dt="2026-08-12T18:09:10.763" v="0" actId="2696"/>
        <pc:sldMkLst>
          <pc:docMk/>
          <pc:sldMk cId="0" sldId="259"/>
        </pc:sldMkLst>
      </pc:sldChg>
      <pc:sldChg chg="del">
        <pc:chgData name="Brigitte Castañeda Rodriguez" userId="5c201908-82f6-498c-9281-7eaa96fb17b4" providerId="ADAL" clId="{938F7A95-1314-5A0F-843E-287C4A35EE59}" dt="2026-08-12T18:09:10.763" v="0" actId="2696"/>
        <pc:sldMkLst>
          <pc:docMk/>
          <pc:sldMk cId="0" sldId="260"/>
        </pc:sldMkLst>
      </pc:sldChg>
      <pc:sldChg chg="del">
        <pc:chgData name="Brigitte Castañeda Rodriguez" userId="5c201908-82f6-498c-9281-7eaa96fb17b4" providerId="ADAL" clId="{938F7A95-1314-5A0F-843E-287C4A35EE59}" dt="2026-08-12T18:09:10.763" v="0" actId="2696"/>
        <pc:sldMkLst>
          <pc:docMk/>
          <pc:sldMk cId="0" sldId="261"/>
        </pc:sldMkLst>
      </pc:sldChg>
      <pc:sldChg chg="del">
        <pc:chgData name="Brigitte Castañeda Rodriguez" userId="5c201908-82f6-498c-9281-7eaa96fb17b4" providerId="ADAL" clId="{938F7A95-1314-5A0F-843E-287C4A35EE59}" dt="2026-08-12T18:09:10.763" v="0" actId="2696"/>
        <pc:sldMkLst>
          <pc:docMk/>
          <pc:sldMk cId="0" sldId="262"/>
        </pc:sldMkLst>
      </pc:sldChg>
      <pc:sldChg chg="del">
        <pc:chgData name="Brigitte Castañeda Rodriguez" userId="5c201908-82f6-498c-9281-7eaa96fb17b4" providerId="ADAL" clId="{938F7A95-1314-5A0F-843E-287C4A35EE59}" dt="2026-08-12T18:09:10.763" v="0" actId="2696"/>
        <pc:sldMkLst>
          <pc:docMk/>
          <pc:sldMk cId="0" sldId="263"/>
        </pc:sldMkLst>
      </pc:sldChg>
      <pc:sldChg chg="del">
        <pc:chgData name="Brigitte Castañeda Rodriguez" userId="5c201908-82f6-498c-9281-7eaa96fb17b4" providerId="ADAL" clId="{938F7A95-1314-5A0F-843E-287C4A35EE59}" dt="2026-08-12T18:09:10.763" v="0" actId="2696"/>
        <pc:sldMkLst>
          <pc:docMk/>
          <pc:sldMk cId="0" sldId="264"/>
        </pc:sldMkLst>
      </pc:sldChg>
      <pc:sldChg chg="del">
        <pc:chgData name="Brigitte Castañeda Rodriguez" userId="5c201908-82f6-498c-9281-7eaa96fb17b4" providerId="ADAL" clId="{938F7A95-1314-5A0F-843E-287C4A35EE59}" dt="2026-08-12T18:09:10.763" v="0" actId="2696"/>
        <pc:sldMkLst>
          <pc:docMk/>
          <pc:sldMk cId="0" sldId="265"/>
        </pc:sldMkLst>
      </pc:sldChg>
      <pc:sldChg chg="del">
        <pc:chgData name="Brigitte Castañeda Rodriguez" userId="5c201908-82f6-498c-9281-7eaa96fb17b4" providerId="ADAL" clId="{938F7A95-1314-5A0F-843E-287C4A35EE59}" dt="2026-08-12T18:09:10.763" v="0" actId="2696"/>
        <pc:sldMkLst>
          <pc:docMk/>
          <pc:sldMk cId="0" sldId="266"/>
        </pc:sldMkLst>
      </pc:sldChg>
      <pc:sldChg chg="del">
        <pc:chgData name="Brigitte Castañeda Rodriguez" userId="5c201908-82f6-498c-9281-7eaa96fb17b4" providerId="ADAL" clId="{938F7A95-1314-5A0F-843E-287C4A35EE59}" dt="2026-08-12T18:09:10.763" v="0" actId="2696"/>
        <pc:sldMkLst>
          <pc:docMk/>
          <pc:sldMk cId="0" sldId="267"/>
        </pc:sldMkLst>
      </pc:sldChg>
      <pc:sldChg chg="del">
        <pc:chgData name="Brigitte Castañeda Rodriguez" userId="5c201908-82f6-498c-9281-7eaa96fb17b4" providerId="ADAL" clId="{938F7A95-1314-5A0F-843E-287C4A35EE59}" dt="2026-08-12T18:09:10.763" v="0" actId="2696"/>
        <pc:sldMkLst>
          <pc:docMk/>
          <pc:sldMk cId="0" sldId="268"/>
        </pc:sldMkLst>
      </pc:sldChg>
      <pc:sldChg chg="del">
        <pc:chgData name="Brigitte Castañeda Rodriguez" userId="5c201908-82f6-498c-9281-7eaa96fb17b4" providerId="ADAL" clId="{938F7A95-1314-5A0F-843E-287C4A35EE59}" dt="2026-08-12T18:09:10.763" v="0" actId="2696"/>
        <pc:sldMkLst>
          <pc:docMk/>
          <pc:sldMk cId="0" sldId="269"/>
        </pc:sldMkLst>
      </pc:sldChg>
      <pc:sldChg chg="del">
        <pc:chgData name="Brigitte Castañeda Rodriguez" userId="5c201908-82f6-498c-9281-7eaa96fb17b4" providerId="ADAL" clId="{938F7A95-1314-5A0F-843E-287C4A35EE59}" dt="2026-08-12T18:09:10.763" v="0" actId="2696"/>
        <pc:sldMkLst>
          <pc:docMk/>
          <pc:sldMk cId="0" sldId="270"/>
        </pc:sldMkLst>
      </pc:sldChg>
      <pc:sldChg chg="del">
        <pc:chgData name="Brigitte Castañeda Rodriguez" userId="5c201908-82f6-498c-9281-7eaa96fb17b4" providerId="ADAL" clId="{938F7A95-1314-5A0F-843E-287C4A35EE59}" dt="2026-08-12T18:09:10.763" v="0" actId="2696"/>
        <pc:sldMkLst>
          <pc:docMk/>
          <pc:sldMk cId="0" sldId="271"/>
        </pc:sldMkLst>
      </pc:sldChg>
      <pc:sldChg chg="del">
        <pc:chgData name="Brigitte Castañeda Rodriguez" userId="5c201908-82f6-498c-9281-7eaa96fb17b4" providerId="ADAL" clId="{938F7A95-1314-5A0F-843E-287C4A35EE59}" dt="2026-08-12T18:09:10.763" v="0" actId="2696"/>
        <pc:sldMkLst>
          <pc:docMk/>
          <pc:sldMk cId="0" sldId="272"/>
        </pc:sldMkLst>
      </pc:sldChg>
      <pc:sldChg chg="del">
        <pc:chgData name="Brigitte Castañeda Rodriguez" userId="5c201908-82f6-498c-9281-7eaa96fb17b4" providerId="ADAL" clId="{938F7A95-1314-5A0F-843E-287C4A35EE59}" dt="2026-08-12T18:09:10.763" v="0" actId="2696"/>
        <pc:sldMkLst>
          <pc:docMk/>
          <pc:sldMk cId="0" sldId="273"/>
        </pc:sldMkLst>
      </pc:sldChg>
      <pc:sldChg chg="del">
        <pc:chgData name="Brigitte Castañeda Rodriguez" userId="5c201908-82f6-498c-9281-7eaa96fb17b4" providerId="ADAL" clId="{938F7A95-1314-5A0F-843E-287C4A35EE59}" dt="2026-08-12T18:09:10.763" v="0" actId="2696"/>
        <pc:sldMkLst>
          <pc:docMk/>
          <pc:sldMk cId="0" sldId="274"/>
        </pc:sldMkLst>
      </pc:sldChg>
      <pc:sldChg chg="modSp">
        <pc:chgData name="Brigitte Castañeda Rodriguez" userId="5c201908-82f6-498c-9281-7eaa96fb17b4" providerId="ADAL" clId="{938F7A95-1314-5A0F-843E-287C4A35EE59}" dt="2026-08-12T18:23:55.315" v="11" actId="20577"/>
        <pc:sldMkLst>
          <pc:docMk/>
          <pc:sldMk cId="0" sldId="275"/>
        </pc:sldMkLst>
        <pc:spChg chg="mod">
          <ac:chgData name="Brigitte Castañeda Rodriguez" userId="5c201908-82f6-498c-9281-7eaa96fb17b4" providerId="ADAL" clId="{938F7A95-1314-5A0F-843E-287C4A35EE59}" dt="2026-08-12T18:23:55.315" v="11" actId="20577"/>
          <ac:spMkLst>
            <pc:docMk/>
            <pc:sldMk cId="0" sldId="275"/>
            <ac:spMk id="5" creationId="{00000000-0000-0000-0000-000000000000}"/>
          </ac:spMkLst>
        </pc:spChg>
      </pc:sldChg>
      <pc:sldChg chg="modSp">
        <pc:chgData name="Brigitte Castañeda Rodriguez" userId="5c201908-82f6-498c-9281-7eaa96fb17b4" providerId="ADAL" clId="{938F7A95-1314-5A0F-843E-287C4A35EE59}" dt="2026-08-12T18:28:14.499" v="12" actId="20578"/>
        <pc:sldMkLst>
          <pc:docMk/>
          <pc:sldMk cId="0" sldId="276"/>
        </pc:sldMkLst>
        <pc:spChg chg="mod">
          <ac:chgData name="Brigitte Castañeda Rodriguez" userId="5c201908-82f6-498c-9281-7eaa96fb17b4" providerId="ADAL" clId="{938F7A95-1314-5A0F-843E-287C4A35EE59}" dt="2026-08-12T18:28:14.499" v="12" actId="20578"/>
          <ac:spMkLst>
            <pc:docMk/>
            <pc:sldMk cId="0" sldId="276"/>
            <ac:spMk id="6" creationId="{00000000-0000-0000-0000-000000000000}"/>
          </ac:spMkLst>
        </pc:spChg>
      </pc:sldChg>
      <pc:sldChg chg="modAnim">
        <pc:chgData name="Brigitte Castañeda Rodriguez" userId="5c201908-82f6-498c-9281-7eaa96fb17b4" providerId="ADAL" clId="{938F7A95-1314-5A0F-843E-287C4A35EE59}" dt="2026-08-12T18:51:22.360" v="15"/>
        <pc:sldMkLst>
          <pc:docMk/>
          <pc:sldMk cId="0" sldId="280"/>
        </pc:sldMkLst>
      </pc:sldChg>
      <pc:sldChg chg="modAnim">
        <pc:chgData name="Brigitte Castañeda Rodriguez" userId="5c201908-82f6-498c-9281-7eaa96fb17b4" providerId="ADAL" clId="{938F7A95-1314-5A0F-843E-287C4A35EE59}" dt="2026-08-12T18:51:52.914" v="23"/>
        <pc:sldMkLst>
          <pc:docMk/>
          <pc:sldMk cId="0" sldId="281"/>
        </pc:sldMkLst>
      </pc:sldChg>
      <pc:sldChg chg="addSp modSp mod addAnim delAnim modAnim">
        <pc:chgData name="Brigitte Castañeda Rodriguez" userId="5c201908-82f6-498c-9281-7eaa96fb17b4" providerId="ADAL" clId="{938F7A95-1314-5A0F-843E-287C4A35EE59}" dt="2026-08-12T18:52:50.856" v="33"/>
        <pc:sldMkLst>
          <pc:docMk/>
          <pc:sldMk cId="0" sldId="282"/>
        </pc:sldMkLst>
        <pc:spChg chg="mod">
          <ac:chgData name="Brigitte Castañeda Rodriguez" userId="5c201908-82f6-498c-9281-7eaa96fb17b4" providerId="ADAL" clId="{938F7A95-1314-5A0F-843E-287C4A35EE59}" dt="2026-08-12T18:52:23.592" v="28" actId="1076"/>
          <ac:spMkLst>
            <pc:docMk/>
            <pc:sldMk cId="0" sldId="282"/>
            <ac:spMk id="8" creationId="{00000000-0000-0000-0000-000000000000}"/>
          </ac:spMkLst>
        </pc:spChg>
        <pc:spChg chg="add mod">
          <ac:chgData name="Brigitte Castañeda Rodriguez" userId="5c201908-82f6-498c-9281-7eaa96fb17b4" providerId="ADAL" clId="{938F7A95-1314-5A0F-843E-287C4A35EE59}" dt="2026-08-12T18:52:28.375" v="30" actId="1076"/>
          <ac:spMkLst>
            <pc:docMk/>
            <pc:sldMk cId="0" sldId="282"/>
            <ac:spMk id="28" creationId="{52328BB4-A1B9-C047-59E4-F838AB182453}"/>
          </ac:spMkLst>
        </pc:spChg>
      </pc:sldChg>
      <pc:sldChg chg="modNotesTx">
        <pc:chgData name="Brigitte Castañeda Rodriguez" userId="5c201908-82f6-498c-9281-7eaa96fb17b4" providerId="ADAL" clId="{938F7A95-1314-5A0F-843E-287C4A35EE59}" dt="2026-08-12T19:47:27.070" v="34" actId="20577"/>
        <pc:sldMkLst>
          <pc:docMk/>
          <pc:sldMk cId="0" sldId="286"/>
        </pc:sldMkLst>
      </pc:sldChg>
      <pc:sldChg chg="modSp mod">
        <pc:chgData name="Brigitte Castañeda Rodriguez" userId="5c201908-82f6-498c-9281-7eaa96fb17b4" providerId="ADAL" clId="{938F7A95-1314-5A0F-843E-287C4A35EE59}" dt="2026-08-12T19:54:14.684" v="36" actId="1076"/>
        <pc:sldMkLst>
          <pc:docMk/>
          <pc:sldMk cId="180880036" sldId="289"/>
        </pc:sldMkLst>
        <pc:picChg chg="mod">
          <ac:chgData name="Brigitte Castañeda Rodriguez" userId="5c201908-82f6-498c-9281-7eaa96fb17b4" providerId="ADAL" clId="{938F7A95-1314-5A0F-843E-287C4A35EE59}" dt="2026-08-12T19:50:29.974" v="35" actId="1076"/>
          <ac:picMkLst>
            <pc:docMk/>
            <pc:sldMk cId="180880036" sldId="289"/>
            <ac:picMk id="5" creationId="{A5E245E7-753A-A896-D3E9-22EB7C90EF1F}"/>
          </ac:picMkLst>
        </pc:picChg>
        <pc:picChg chg="mod">
          <ac:chgData name="Brigitte Castañeda Rodriguez" userId="5c201908-82f6-498c-9281-7eaa96fb17b4" providerId="ADAL" clId="{938F7A95-1314-5A0F-843E-287C4A35EE59}" dt="2026-08-12T19:54:14.684" v="36" actId="1076"/>
          <ac:picMkLst>
            <pc:docMk/>
            <pc:sldMk cId="180880036" sldId="289"/>
            <ac:picMk id="9" creationId="{BCA742D8-4265-CF74-F4B2-22964F86F610}"/>
          </ac:picMkLst>
        </pc:picChg>
      </pc:sldChg>
      <pc:sldChg chg="addSp modSp new mod ord">
        <pc:chgData name="Brigitte Castañeda Rodriguez" userId="5c201908-82f6-498c-9281-7eaa96fb17b4" providerId="ADAL" clId="{938F7A95-1314-5A0F-843E-287C4A35EE59}" dt="2026-08-12T18:21:18.321" v="9" actId="1076"/>
        <pc:sldMkLst>
          <pc:docMk/>
          <pc:sldMk cId="544822233" sldId="291"/>
        </pc:sldMkLst>
        <pc:picChg chg="add mod modCrop">
          <ac:chgData name="Brigitte Castañeda Rodriguez" userId="5c201908-82f6-498c-9281-7eaa96fb17b4" providerId="ADAL" clId="{938F7A95-1314-5A0F-843E-287C4A35EE59}" dt="2026-08-12T18:21:18.321" v="9" actId="1076"/>
          <ac:picMkLst>
            <pc:docMk/>
            <pc:sldMk cId="544822233" sldId="291"/>
            <ac:picMk id="4" creationId="{3409F8E2-6B31-E72F-E91E-D11E89616D2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FE5E46-F43C-4929-881B-5A370DF45C0E}" type="datetimeFigureOut">
              <a:rPr lang="es-CO" smtClean="0"/>
              <a:t>12/08/26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CC3CA0-2EA9-486A-BFE9-F369B85266FC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49246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CC3CA0-2EA9-486A-BFE9-F369B85266FC}" type="slidenum">
              <a:rPr lang="es-CO" smtClean="0"/>
              <a:t>12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852893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https://</a:t>
            </a:r>
            <a:r>
              <a:rPr lang="es-ES_tradnl" dirty="0" err="1"/>
              <a:t>colab.research.google.com</a:t>
            </a:r>
            <a:r>
              <a:rPr lang="es-ES_tradnl" dirty="0"/>
              <a:t>/drive/1qDe-cVPhC1m9hM5pauTZtcrbw1An7TTs#scrollTo=7ab92578</a:t>
            </a:r>
          </a:p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CC3CA0-2EA9-486A-BFE9-F369B85266FC}" type="slidenum">
              <a:rPr lang="es-CO" smtClean="0"/>
              <a:t>14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382979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8/12/26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3C3C3C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8/12/26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3C3C3C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8/12/26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3C3C3C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8/12/26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8/12/26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48055" y="441959"/>
            <a:ext cx="2720340" cy="106680"/>
          </a:xfrm>
          <a:custGeom>
            <a:avLst/>
            <a:gdLst/>
            <a:ahLst/>
            <a:cxnLst/>
            <a:rect l="l" t="t" r="r" b="b"/>
            <a:pathLst>
              <a:path w="2720340" h="106679">
                <a:moveTo>
                  <a:pt x="2720340" y="0"/>
                </a:moveTo>
                <a:lnTo>
                  <a:pt x="0" y="0"/>
                </a:lnTo>
                <a:lnTo>
                  <a:pt x="0" y="106679"/>
                </a:lnTo>
                <a:lnTo>
                  <a:pt x="2720340" y="106679"/>
                </a:lnTo>
                <a:lnTo>
                  <a:pt x="2720340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5975603" y="441959"/>
            <a:ext cx="2711450" cy="106680"/>
          </a:xfrm>
          <a:custGeom>
            <a:avLst/>
            <a:gdLst/>
            <a:ahLst/>
            <a:cxnLst/>
            <a:rect l="l" t="t" r="r" b="b"/>
            <a:pathLst>
              <a:path w="2711450" h="106679">
                <a:moveTo>
                  <a:pt x="2711196" y="0"/>
                </a:moveTo>
                <a:lnTo>
                  <a:pt x="0" y="0"/>
                </a:lnTo>
                <a:lnTo>
                  <a:pt x="0" y="106679"/>
                </a:lnTo>
                <a:lnTo>
                  <a:pt x="2711196" y="106679"/>
                </a:lnTo>
                <a:lnTo>
                  <a:pt x="2711196" y="0"/>
                </a:lnTo>
                <a:close/>
              </a:path>
            </a:pathLst>
          </a:custGeom>
          <a:solidFill>
            <a:srgbClr val="959F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217164" y="441959"/>
            <a:ext cx="2710180" cy="106680"/>
          </a:xfrm>
          <a:custGeom>
            <a:avLst/>
            <a:gdLst/>
            <a:ahLst/>
            <a:cxnLst/>
            <a:rect l="l" t="t" r="r" b="b"/>
            <a:pathLst>
              <a:path w="2710179" h="106679">
                <a:moveTo>
                  <a:pt x="2709672" y="0"/>
                </a:moveTo>
                <a:lnTo>
                  <a:pt x="0" y="0"/>
                </a:lnTo>
                <a:lnTo>
                  <a:pt x="0" y="106679"/>
                </a:lnTo>
                <a:lnTo>
                  <a:pt x="2709672" y="106679"/>
                </a:lnTo>
                <a:lnTo>
                  <a:pt x="2709672" y="0"/>
                </a:lnTo>
                <a:close/>
              </a:path>
            </a:pathLst>
          </a:custGeom>
          <a:solidFill>
            <a:srgbClr val="4590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20116" y="668223"/>
            <a:ext cx="6211570" cy="3003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3C3C3C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66709" y="2660713"/>
            <a:ext cx="5253990" cy="2889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8/12/26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C5142-313C-22A8-F2AC-4BE70841E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5B5E12-19F8-A15E-8CCE-B103F55BA3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09F8E2-6B31-E72F-E91E-D11E89616D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194" b="3831"/>
          <a:stretch>
            <a:fillRect/>
          </a:stretch>
        </p:blipFill>
        <p:spPr>
          <a:xfrm>
            <a:off x="135601" y="228600"/>
            <a:ext cx="8872797" cy="6553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822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8055" y="600455"/>
            <a:ext cx="8239125" cy="125920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15240" rIns="0" bIns="0" rtlCol="0">
            <a:spAutoFit/>
          </a:bodyPr>
          <a:lstStyle/>
          <a:p>
            <a:pPr marL="224154" marR="2334260">
              <a:lnSpc>
                <a:spcPct val="100000"/>
              </a:lnSpc>
              <a:spcBef>
                <a:spcPts val="120"/>
              </a:spcBef>
            </a:pPr>
            <a:r>
              <a:rPr sz="2400" b="0" spc="120" dirty="0">
                <a:solidFill>
                  <a:srgbClr val="FFFFFF"/>
                </a:solidFill>
                <a:latin typeface="Trebuchet MS"/>
                <a:cs typeface="Trebuchet MS"/>
              </a:rPr>
              <a:t>MOTIVACIÓN </a:t>
            </a:r>
            <a:r>
              <a:rPr sz="2400" b="0" spc="65" dirty="0">
                <a:solidFill>
                  <a:srgbClr val="FFFFFF"/>
                </a:solidFill>
                <a:latin typeface="Trebuchet MS"/>
                <a:cs typeface="Trebuchet MS"/>
              </a:rPr>
              <a:t>DEL </a:t>
            </a:r>
            <a:r>
              <a:rPr sz="2400" b="0" spc="160" dirty="0">
                <a:solidFill>
                  <a:srgbClr val="FFFFFF"/>
                </a:solidFill>
                <a:latin typeface="Trebuchet MS"/>
                <a:cs typeface="Trebuchet MS"/>
              </a:rPr>
              <a:t>CONCEPTO </a:t>
            </a:r>
            <a:r>
              <a:rPr sz="2400" b="0" spc="120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2400" b="0" spc="1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b="0" spc="50" dirty="0">
                <a:solidFill>
                  <a:srgbClr val="FFFFFF"/>
                </a:solidFill>
                <a:latin typeface="Trebuchet MS"/>
                <a:cs typeface="Trebuchet MS"/>
              </a:rPr>
              <a:t>EQUIVALENTE</a:t>
            </a:r>
            <a:r>
              <a:rPr sz="2400" b="0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b="0" spc="120" dirty="0">
                <a:solidFill>
                  <a:srgbClr val="FFFFFF"/>
                </a:solidFill>
                <a:latin typeface="Trebuchet MS"/>
                <a:cs typeface="Trebuchet MS"/>
              </a:rPr>
              <a:t>MONETARIO</a:t>
            </a:r>
            <a:r>
              <a:rPr sz="2400" b="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b="0" spc="30" dirty="0">
                <a:solidFill>
                  <a:srgbClr val="FFFFFF"/>
                </a:solidFill>
                <a:latin typeface="Trebuchet MS"/>
                <a:cs typeface="Trebuchet MS"/>
              </a:rPr>
              <a:t>CIERTO(EMC) </a:t>
            </a:r>
            <a:r>
              <a:rPr sz="2400" b="0" spc="-7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b="0" spc="12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400" b="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b="0" spc="220" dirty="0">
                <a:solidFill>
                  <a:srgbClr val="FFFFFF"/>
                </a:solidFill>
                <a:latin typeface="Trebuchet MS"/>
                <a:cs typeface="Trebuchet MS"/>
              </a:rPr>
              <a:t>UNA</a:t>
            </a:r>
            <a:r>
              <a:rPr sz="2400" b="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b="0" spc="40" dirty="0">
                <a:solidFill>
                  <a:srgbClr val="FFFFFF"/>
                </a:solidFill>
                <a:latin typeface="Trebuchet MS"/>
                <a:cs typeface="Trebuchet MS"/>
              </a:rPr>
              <a:t>LOTERÍA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2406" y="1918904"/>
            <a:ext cx="3919220" cy="781050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318770" indent="-306705">
              <a:lnSpc>
                <a:spcPct val="100000"/>
              </a:lnSpc>
              <a:spcBef>
                <a:spcPts val="910"/>
              </a:spcBef>
              <a:buClr>
                <a:srgbClr val="4590B8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spc="-30" dirty="0">
                <a:solidFill>
                  <a:srgbClr val="3C3C3C"/>
                </a:solidFill>
                <a:latin typeface="Trebuchet MS"/>
                <a:cs typeface="Trebuchet MS"/>
              </a:rPr>
              <a:t>Conside</a:t>
            </a:r>
            <a:r>
              <a:rPr sz="1800" spc="-65" dirty="0">
                <a:solidFill>
                  <a:srgbClr val="3C3C3C"/>
                </a:solidFill>
                <a:latin typeface="Trebuchet MS"/>
                <a:cs typeface="Trebuchet MS"/>
              </a:rPr>
              <a:t>r</a:t>
            </a:r>
            <a:r>
              <a:rPr sz="1800" spc="-114" dirty="0">
                <a:solidFill>
                  <a:srgbClr val="3C3C3C"/>
                </a:solidFill>
                <a:latin typeface="Trebuchet MS"/>
                <a:cs typeface="Trebuchet MS"/>
              </a:rPr>
              <a:t>em</a:t>
            </a:r>
            <a:r>
              <a:rPr sz="1800" spc="-5" dirty="0">
                <a:solidFill>
                  <a:srgbClr val="3C3C3C"/>
                </a:solidFill>
                <a:latin typeface="Trebuchet MS"/>
                <a:cs typeface="Trebuchet MS"/>
              </a:rPr>
              <a:t>os</a:t>
            </a:r>
            <a:r>
              <a:rPr sz="1800" spc="-6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3C3C3C"/>
                </a:solidFill>
                <a:latin typeface="Trebuchet MS"/>
                <a:cs typeface="Trebuchet MS"/>
              </a:rPr>
              <a:t>una</a:t>
            </a:r>
            <a:r>
              <a:rPr sz="1800" spc="-5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3C3C3C"/>
                </a:solidFill>
                <a:latin typeface="Trebuchet MS"/>
                <a:cs typeface="Trebuchet MS"/>
              </a:rPr>
              <a:t>lot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e</a:t>
            </a:r>
            <a:r>
              <a:rPr sz="1800" spc="-95" dirty="0">
                <a:solidFill>
                  <a:srgbClr val="3C3C3C"/>
                </a:solidFill>
                <a:latin typeface="Trebuchet MS"/>
                <a:cs typeface="Trebuchet MS"/>
              </a:rPr>
              <a:t>ría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ele</a:t>
            </a:r>
            <a:r>
              <a:rPr sz="1800" spc="-180" dirty="0">
                <a:solidFill>
                  <a:srgbClr val="3C3C3C"/>
                </a:solidFill>
                <a:latin typeface="Trebuchet MS"/>
                <a:cs typeface="Trebuchet MS"/>
              </a:rPr>
              <a:t>m</a:t>
            </a:r>
            <a:r>
              <a:rPr sz="1800" spc="-130" dirty="0">
                <a:solidFill>
                  <a:srgbClr val="3C3C3C"/>
                </a:solidFill>
                <a:latin typeface="Trebuchet MS"/>
                <a:cs typeface="Trebuchet MS"/>
              </a:rPr>
              <a:t>ental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45" dirty="0">
                <a:solidFill>
                  <a:srgbClr val="3C3C3C"/>
                </a:solidFill>
                <a:latin typeface="Trebuchet MS"/>
                <a:cs typeface="Trebuchet MS"/>
              </a:rPr>
              <a:t>L,</a:t>
            </a:r>
            <a:endParaRPr sz="1800">
              <a:latin typeface="Trebuchet MS"/>
              <a:cs typeface="Trebuchet MS"/>
            </a:endParaRPr>
          </a:p>
          <a:p>
            <a:pPr marL="329565">
              <a:lnSpc>
                <a:spcPct val="100000"/>
              </a:lnSpc>
              <a:spcBef>
                <a:spcPts val="815"/>
              </a:spcBef>
            </a:pPr>
            <a:r>
              <a:rPr sz="1800" spc="-80" dirty="0">
                <a:solidFill>
                  <a:srgbClr val="3C3C3C"/>
                </a:solidFill>
                <a:latin typeface="Trebuchet MS"/>
                <a:cs typeface="Trebuchet MS"/>
              </a:rPr>
              <a:t>es</a:t>
            </a:r>
            <a:r>
              <a:rPr sz="18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3C3C3C"/>
                </a:solidFill>
                <a:latin typeface="Trebuchet MS"/>
                <a:cs typeface="Trebuchet MS"/>
              </a:rPr>
              <a:t>deci</a:t>
            </a:r>
            <a:r>
              <a:rPr sz="1800" spc="-170" dirty="0">
                <a:solidFill>
                  <a:srgbClr val="3C3C3C"/>
                </a:solidFill>
                <a:latin typeface="Trebuchet MS"/>
                <a:cs typeface="Trebuchet MS"/>
              </a:rPr>
              <a:t>r</a:t>
            </a:r>
            <a:r>
              <a:rPr sz="1800" spc="-270" dirty="0">
                <a:solidFill>
                  <a:srgbClr val="3C3C3C"/>
                </a:solidFill>
                <a:latin typeface="Trebuchet MS"/>
                <a:cs typeface="Trebuchet MS"/>
              </a:rPr>
              <a:t>,</a:t>
            </a:r>
            <a:r>
              <a:rPr sz="1800" spc="-229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3C3C3C"/>
                </a:solidFill>
                <a:latin typeface="Trebuchet MS"/>
                <a:cs typeface="Trebuchet MS"/>
              </a:rPr>
              <a:t>u</a:t>
            </a:r>
            <a:r>
              <a:rPr sz="1800" spc="-85" dirty="0">
                <a:solidFill>
                  <a:srgbClr val="3C3C3C"/>
                </a:solidFill>
                <a:latin typeface="Trebuchet MS"/>
                <a:cs typeface="Trebuchet MS"/>
              </a:rPr>
              <a:t>n</a:t>
            </a:r>
            <a:r>
              <a:rPr sz="1800" spc="-30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60" dirty="0">
                <a:solidFill>
                  <a:srgbClr val="3C3C3C"/>
                </a:solidFill>
                <a:latin typeface="Trebuchet MS"/>
                <a:cs typeface="Trebuchet MS"/>
              </a:rPr>
              <a:t>V</a:t>
            </a:r>
            <a:r>
              <a:rPr sz="1800" spc="85" dirty="0">
                <a:solidFill>
                  <a:srgbClr val="3C3C3C"/>
                </a:solidFill>
                <a:latin typeface="Trebuchet MS"/>
                <a:cs typeface="Trebuchet MS"/>
              </a:rPr>
              <a:t>A</a:t>
            </a:r>
            <a:r>
              <a:rPr sz="1800" spc="-5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3C3C3C"/>
                </a:solidFill>
                <a:latin typeface="Trebuchet MS"/>
                <a:cs typeface="Trebuchet MS"/>
              </a:rPr>
              <a:t>d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e</a:t>
            </a:r>
            <a:r>
              <a:rPr sz="18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60" dirty="0">
                <a:solidFill>
                  <a:srgbClr val="3C3C3C"/>
                </a:solidFill>
                <a:latin typeface="Trebuchet MS"/>
                <a:cs typeface="Trebuchet MS"/>
              </a:rPr>
              <a:t>la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siguiente</a:t>
            </a:r>
            <a:r>
              <a:rPr sz="18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225" dirty="0">
                <a:solidFill>
                  <a:srgbClr val="3C3C3C"/>
                </a:solidFill>
                <a:latin typeface="Trebuchet MS"/>
                <a:cs typeface="Trebuchet MS"/>
              </a:rPr>
              <a:t>f</a:t>
            </a:r>
            <a:r>
              <a:rPr sz="1800" spc="-65" dirty="0">
                <a:solidFill>
                  <a:srgbClr val="3C3C3C"/>
                </a:solidFill>
                <a:latin typeface="Trebuchet MS"/>
                <a:cs typeface="Trebuchet MS"/>
              </a:rPr>
              <a:t>orm</a:t>
            </a:r>
            <a:r>
              <a:rPr sz="1800" spc="-60" dirty="0">
                <a:solidFill>
                  <a:srgbClr val="3C3C3C"/>
                </a:solidFill>
                <a:latin typeface="Trebuchet MS"/>
                <a:cs typeface="Trebuchet MS"/>
              </a:rPr>
              <a:t>a</a:t>
            </a:r>
            <a:r>
              <a:rPr sz="1800" spc="-270" dirty="0">
                <a:solidFill>
                  <a:srgbClr val="3C3C3C"/>
                </a:solidFill>
                <a:latin typeface="Trebuchet MS"/>
                <a:cs typeface="Trebuchet MS"/>
              </a:rPr>
              <a:t>: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2406" y="3533978"/>
            <a:ext cx="39871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8770" indent="-306705">
              <a:lnSpc>
                <a:spcPct val="100000"/>
              </a:lnSpc>
              <a:spcBef>
                <a:spcPts val="100"/>
              </a:spcBef>
              <a:buClr>
                <a:srgbClr val="4590B8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spc="-215" dirty="0">
                <a:solidFill>
                  <a:srgbClr val="3C3C3C"/>
                </a:solidFill>
                <a:latin typeface="Trebuchet MS"/>
                <a:cs typeface="Trebuchet MS"/>
              </a:rPr>
              <a:t>Y,</a:t>
            </a:r>
            <a:r>
              <a:rPr sz="1800" spc="-229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en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30" dirty="0">
                <a:solidFill>
                  <a:srgbClr val="3C3C3C"/>
                </a:solidFill>
                <a:latin typeface="Trebuchet MS"/>
                <a:cs typeface="Trebuchet MS"/>
              </a:rPr>
              <a:t>particular,</a:t>
            </a:r>
            <a:r>
              <a:rPr sz="1800" spc="-2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70" dirty="0">
                <a:solidFill>
                  <a:srgbClr val="3C3C3C"/>
                </a:solidFill>
                <a:latin typeface="Trebuchet MS"/>
                <a:cs typeface="Trebuchet MS"/>
              </a:rPr>
              <a:t>consideremos</a:t>
            </a:r>
            <a:r>
              <a:rPr sz="1800" spc="-7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60" dirty="0">
                <a:solidFill>
                  <a:srgbClr val="3C3C3C"/>
                </a:solidFill>
                <a:latin typeface="Trebuchet MS"/>
                <a:cs typeface="Trebuchet MS"/>
              </a:rPr>
              <a:t>la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3C3C3C"/>
                </a:solidFill>
                <a:latin typeface="Trebuchet MS"/>
                <a:cs typeface="Trebuchet MS"/>
              </a:rPr>
              <a:t>lotería: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9600" y="4668392"/>
            <a:ext cx="8012836" cy="1577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4170" indent="-306705">
              <a:lnSpc>
                <a:spcPts val="2050"/>
              </a:lnSpc>
              <a:spcBef>
                <a:spcPts val="100"/>
              </a:spcBef>
              <a:buClr>
                <a:srgbClr val="4590B8"/>
              </a:buClr>
              <a:buSzPct val="91666"/>
              <a:buFont typeface="Cambria"/>
              <a:buChar char="◾"/>
              <a:tabLst>
                <a:tab pos="344170" algn="l"/>
                <a:tab pos="344805" algn="l"/>
                <a:tab pos="692785" algn="l"/>
                <a:tab pos="1298575" algn="l"/>
                <a:tab pos="1783080" algn="l"/>
                <a:tab pos="2168525" algn="l"/>
                <a:tab pos="2950845" algn="l"/>
                <a:tab pos="3464560" algn="l"/>
                <a:tab pos="4650105" algn="l"/>
                <a:tab pos="5690870" algn="l"/>
                <a:tab pos="6061710" algn="l"/>
                <a:tab pos="6576695" algn="l"/>
                <a:tab pos="7298055" algn="l"/>
              </a:tabLst>
            </a:pPr>
            <a:r>
              <a:rPr sz="1800" spc="-55" dirty="0">
                <a:solidFill>
                  <a:srgbClr val="3C3C3C"/>
                </a:solidFill>
                <a:latin typeface="Trebuchet MS"/>
                <a:cs typeface="Trebuchet MS"/>
              </a:rPr>
              <a:t>Es	</a:t>
            </a:r>
            <a:r>
              <a:rPr sz="1800" spc="-90" dirty="0">
                <a:solidFill>
                  <a:srgbClr val="3C3C3C"/>
                </a:solidFill>
                <a:latin typeface="Trebuchet MS"/>
                <a:cs typeface="Trebuchet MS"/>
              </a:rPr>
              <a:t>claro	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que	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no	</a:t>
            </a:r>
            <a:r>
              <a:rPr sz="1800" spc="35" dirty="0">
                <a:solidFill>
                  <a:srgbClr val="3C3C3C"/>
                </a:solidFill>
                <a:latin typeface="Trebuchet MS"/>
                <a:cs typeface="Trebuchet MS"/>
              </a:rPr>
              <a:t>tod@s	</a:t>
            </a:r>
            <a:r>
              <a:rPr sz="1800" spc="80" dirty="0">
                <a:solidFill>
                  <a:srgbClr val="3C3C3C"/>
                </a:solidFill>
                <a:latin typeface="Trebuchet MS"/>
                <a:cs typeface="Trebuchet MS"/>
              </a:rPr>
              <a:t>l@s	</a:t>
            </a:r>
            <a:r>
              <a:rPr sz="1800" spc="-100" dirty="0">
                <a:solidFill>
                  <a:srgbClr val="3C3C3C"/>
                </a:solidFill>
                <a:latin typeface="Trebuchet MS"/>
                <a:cs typeface="Trebuchet MS"/>
              </a:rPr>
              <a:t>estudiantes	</a:t>
            </a:r>
            <a:r>
              <a:rPr sz="1800" spc="-90" dirty="0">
                <a:solidFill>
                  <a:srgbClr val="3C3C3C"/>
                </a:solidFill>
                <a:latin typeface="Trebuchet MS"/>
                <a:cs typeface="Trebuchet MS"/>
              </a:rPr>
              <a:t>presentes	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en	</a:t>
            </a:r>
            <a:r>
              <a:rPr sz="1800" spc="-120" dirty="0">
                <a:solidFill>
                  <a:srgbClr val="3C3C3C"/>
                </a:solidFill>
                <a:latin typeface="Trebuchet MS"/>
                <a:cs typeface="Trebuchet MS"/>
              </a:rPr>
              <a:t>esta	</a:t>
            </a:r>
            <a:r>
              <a:rPr sz="1800" spc="-65" dirty="0">
                <a:solidFill>
                  <a:srgbClr val="3C3C3C"/>
                </a:solidFill>
                <a:latin typeface="Trebuchet MS"/>
                <a:cs typeface="Trebuchet MS"/>
              </a:rPr>
              <a:t>sesión	</a:t>
            </a:r>
            <a:r>
              <a:rPr sz="1800" spc="-90" dirty="0">
                <a:solidFill>
                  <a:srgbClr val="3C3C3C"/>
                </a:solidFill>
                <a:latin typeface="Trebuchet MS"/>
                <a:cs typeface="Trebuchet MS"/>
              </a:rPr>
              <a:t>serían</a:t>
            </a:r>
            <a:endParaRPr sz="1800" dirty="0">
              <a:latin typeface="Trebuchet MS"/>
              <a:cs typeface="Trebuchet MS"/>
            </a:endParaRPr>
          </a:p>
          <a:p>
            <a:pPr marL="344170">
              <a:lnSpc>
                <a:spcPts val="2050"/>
              </a:lnSpc>
            </a:pPr>
            <a:r>
              <a:rPr sz="1800" spc="150" dirty="0">
                <a:solidFill>
                  <a:srgbClr val="3C3C3C"/>
                </a:solidFill>
                <a:latin typeface="Trebuchet MS"/>
                <a:cs typeface="Trebuchet MS"/>
              </a:rPr>
              <a:t>IND</a:t>
            </a:r>
            <a:r>
              <a:rPr sz="1800" spc="-5" dirty="0">
                <a:solidFill>
                  <a:srgbClr val="3C3C3C"/>
                </a:solidFill>
                <a:latin typeface="Trebuchet MS"/>
                <a:cs typeface="Trebuchet MS"/>
              </a:rPr>
              <a:t>IFERENTES</a:t>
            </a:r>
            <a:r>
              <a:rPr sz="1800" spc="-7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3C3C3C"/>
                </a:solidFill>
                <a:latin typeface="Trebuchet MS"/>
                <a:cs typeface="Trebuchet MS"/>
              </a:rPr>
              <a:t>ent</a:t>
            </a:r>
            <a:r>
              <a:rPr sz="1800" spc="-110" dirty="0">
                <a:solidFill>
                  <a:srgbClr val="3C3C3C"/>
                </a:solidFill>
                <a:latin typeface="Trebuchet MS"/>
                <a:cs typeface="Trebuchet MS"/>
              </a:rPr>
              <a:t>r</a:t>
            </a:r>
            <a:r>
              <a:rPr sz="1800" spc="-120" dirty="0">
                <a:solidFill>
                  <a:srgbClr val="3C3C3C"/>
                </a:solidFill>
                <a:latin typeface="Trebuchet MS"/>
                <a:cs typeface="Trebuchet MS"/>
              </a:rPr>
              <a:t>e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3C3C3C"/>
                </a:solidFill>
                <a:latin typeface="Trebuchet MS"/>
                <a:cs typeface="Trebuchet MS"/>
              </a:rPr>
              <a:t>te</a:t>
            </a:r>
            <a:r>
              <a:rPr sz="1800" spc="-114" dirty="0">
                <a:solidFill>
                  <a:srgbClr val="3C3C3C"/>
                </a:solidFill>
                <a:latin typeface="Trebuchet MS"/>
                <a:cs typeface="Trebuchet MS"/>
              </a:rPr>
              <a:t>n</a:t>
            </a:r>
            <a:r>
              <a:rPr sz="1800" spc="-55" dirty="0">
                <a:solidFill>
                  <a:srgbClr val="3C3C3C"/>
                </a:solidFill>
                <a:latin typeface="Trebuchet MS"/>
                <a:cs typeface="Trebuchet MS"/>
              </a:rPr>
              <a:t>er</a:t>
            </a:r>
            <a:r>
              <a:rPr sz="18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3C3C3C"/>
                </a:solidFill>
                <a:latin typeface="Trebuchet MS"/>
                <a:cs typeface="Trebuchet MS"/>
              </a:rPr>
              <a:t>esta</a:t>
            </a:r>
            <a:r>
              <a:rPr sz="1800" spc="-6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3C3C3C"/>
                </a:solidFill>
                <a:latin typeface="Trebuchet MS"/>
                <a:cs typeface="Trebuchet MS"/>
              </a:rPr>
              <a:t>loterí</a:t>
            </a:r>
            <a:r>
              <a:rPr sz="1800" spc="-110" dirty="0">
                <a:solidFill>
                  <a:srgbClr val="3C3C3C"/>
                </a:solidFill>
                <a:latin typeface="Trebuchet MS"/>
                <a:cs typeface="Trebuchet MS"/>
              </a:rPr>
              <a:t>a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3C3C3C"/>
                </a:solidFill>
                <a:latin typeface="Trebuchet MS"/>
                <a:cs typeface="Trebuchet MS"/>
              </a:rPr>
              <a:t>y</a:t>
            </a:r>
            <a:r>
              <a:rPr sz="18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3C3C3C"/>
                </a:solidFill>
                <a:latin typeface="Trebuchet MS"/>
                <a:cs typeface="Trebuchet MS"/>
              </a:rPr>
              <a:t>te</a:t>
            </a:r>
            <a:r>
              <a:rPr sz="1800" spc="-114" dirty="0">
                <a:solidFill>
                  <a:srgbClr val="3C3C3C"/>
                </a:solidFill>
                <a:latin typeface="Trebuchet MS"/>
                <a:cs typeface="Trebuchet MS"/>
              </a:rPr>
              <a:t>n</a:t>
            </a:r>
            <a:r>
              <a:rPr sz="1800" spc="-55" dirty="0">
                <a:solidFill>
                  <a:srgbClr val="3C3C3C"/>
                </a:solidFill>
                <a:latin typeface="Trebuchet MS"/>
                <a:cs typeface="Trebuchet MS"/>
              </a:rPr>
              <a:t>er</a:t>
            </a:r>
            <a:r>
              <a:rPr sz="18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25" dirty="0">
                <a:solidFill>
                  <a:srgbClr val="3C3C3C"/>
                </a:solidFill>
                <a:latin typeface="Trebuchet MS"/>
                <a:cs typeface="Trebuchet MS"/>
              </a:rPr>
              <a:t>$</a:t>
            </a:r>
            <a:r>
              <a:rPr sz="1800" spc="-50" dirty="0">
                <a:solidFill>
                  <a:srgbClr val="3C3C3C"/>
                </a:solidFill>
                <a:latin typeface="Trebuchet MS"/>
                <a:cs typeface="Trebuchet MS"/>
              </a:rPr>
              <a:t>3</a:t>
            </a:r>
            <a:r>
              <a:rPr sz="1800" spc="130" dirty="0">
                <a:solidFill>
                  <a:srgbClr val="3C3C3C"/>
                </a:solidFill>
                <a:latin typeface="Trebuchet MS"/>
                <a:cs typeface="Trebuchet MS"/>
              </a:rPr>
              <a:t>M</a:t>
            </a:r>
            <a:r>
              <a:rPr sz="1800" spc="-55" dirty="0">
                <a:solidFill>
                  <a:srgbClr val="3C3C3C"/>
                </a:solidFill>
                <a:latin typeface="Trebuchet MS"/>
                <a:cs typeface="Trebuchet MS"/>
              </a:rPr>
              <a:t> con</a:t>
            </a:r>
            <a:r>
              <a:rPr sz="18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65" dirty="0">
                <a:solidFill>
                  <a:srgbClr val="3C3C3C"/>
                </a:solidFill>
                <a:latin typeface="Trebuchet MS"/>
                <a:cs typeface="Trebuchet MS"/>
              </a:rPr>
              <a:t>CE</a:t>
            </a:r>
            <a:r>
              <a:rPr sz="1800" spc="-120" dirty="0">
                <a:solidFill>
                  <a:srgbClr val="3C3C3C"/>
                </a:solidFill>
                <a:latin typeface="Trebuchet MS"/>
                <a:cs typeface="Trebuchet MS"/>
              </a:rPr>
              <a:t>R</a:t>
            </a:r>
            <a:r>
              <a:rPr sz="1800" spc="70" dirty="0">
                <a:solidFill>
                  <a:srgbClr val="3C3C3C"/>
                </a:solidFill>
                <a:latin typeface="Trebuchet MS"/>
                <a:cs typeface="Trebuchet MS"/>
              </a:rPr>
              <a:t>TEZA</a:t>
            </a:r>
            <a:r>
              <a:rPr sz="1800" spc="-270" dirty="0">
                <a:solidFill>
                  <a:srgbClr val="3C3C3C"/>
                </a:solidFill>
                <a:latin typeface="Trebuchet MS"/>
                <a:cs typeface="Trebuchet MS"/>
              </a:rPr>
              <a:t>.</a:t>
            </a:r>
            <a:endParaRPr sz="1800" dirty="0">
              <a:latin typeface="Trebuchet MS"/>
              <a:cs typeface="Trebuchet MS"/>
            </a:endParaRPr>
          </a:p>
          <a:p>
            <a:pPr marL="38100" marR="33020">
              <a:lnSpc>
                <a:spcPts val="2270"/>
              </a:lnSpc>
              <a:spcBef>
                <a:spcPts val="1125"/>
              </a:spcBef>
              <a:tabLst>
                <a:tab pos="981710" algn="l"/>
                <a:tab pos="1223645" algn="l"/>
                <a:tab pos="1905000" algn="l"/>
                <a:tab pos="2018030" algn="l"/>
                <a:tab pos="2515870" algn="l"/>
                <a:tab pos="2557780" algn="l"/>
                <a:tab pos="3167380" algn="l"/>
                <a:tab pos="3340735" algn="l"/>
                <a:tab pos="3578860" algn="l"/>
                <a:tab pos="3973195" algn="l"/>
                <a:tab pos="4580255" algn="l"/>
                <a:tab pos="4621530" algn="l"/>
                <a:tab pos="5662295" algn="l"/>
                <a:tab pos="5739765" algn="l"/>
                <a:tab pos="6017260" algn="l"/>
                <a:tab pos="6558915" algn="l"/>
                <a:tab pos="6685280" algn="l"/>
                <a:tab pos="7498715" algn="l"/>
                <a:tab pos="7669530" algn="l"/>
              </a:tabLst>
            </a:pPr>
            <a:r>
              <a:rPr sz="2100" spc="15" dirty="0">
                <a:solidFill>
                  <a:srgbClr val="3C3C3C"/>
                </a:solidFill>
                <a:latin typeface="Trebuchet MS"/>
                <a:cs typeface="Trebuchet MS"/>
              </a:rPr>
              <a:t>¿Cómo	</a:t>
            </a:r>
            <a:r>
              <a:rPr sz="2100" spc="-25" dirty="0">
                <a:solidFill>
                  <a:srgbClr val="3C3C3C"/>
                </a:solidFill>
                <a:latin typeface="Trebuchet MS"/>
                <a:cs typeface="Trebuchet MS"/>
              </a:rPr>
              <a:t>r</a:t>
            </a:r>
            <a:r>
              <a:rPr sz="2100" spc="-175" dirty="0">
                <a:solidFill>
                  <a:srgbClr val="3C3C3C"/>
                </a:solidFill>
                <a:latin typeface="Trebuchet MS"/>
                <a:cs typeface="Trebuchet MS"/>
              </a:rPr>
              <a:t>eflejar</a:t>
            </a:r>
            <a:r>
              <a:rPr sz="2100" dirty="0">
                <a:solidFill>
                  <a:srgbClr val="3C3C3C"/>
                </a:solidFill>
                <a:latin typeface="Trebuchet MS"/>
                <a:cs typeface="Trebuchet MS"/>
              </a:rPr>
              <a:t>	</a:t>
            </a:r>
            <a:r>
              <a:rPr sz="2100" spc="-114" dirty="0">
                <a:solidFill>
                  <a:srgbClr val="3C3C3C"/>
                </a:solidFill>
                <a:latin typeface="Trebuchet MS"/>
                <a:cs typeface="Trebuchet MS"/>
              </a:rPr>
              <a:t>este</a:t>
            </a:r>
            <a:r>
              <a:rPr sz="2100" dirty="0">
                <a:solidFill>
                  <a:srgbClr val="3C3C3C"/>
                </a:solidFill>
                <a:latin typeface="Trebuchet MS"/>
                <a:cs typeface="Trebuchet MS"/>
              </a:rPr>
              <a:t>	</a:t>
            </a:r>
            <a:r>
              <a:rPr sz="2100" spc="-95" dirty="0">
                <a:solidFill>
                  <a:srgbClr val="3C3C3C"/>
                </a:solidFill>
                <a:latin typeface="Trebuchet MS"/>
                <a:cs typeface="Trebuchet MS"/>
              </a:rPr>
              <a:t>h</a:t>
            </a:r>
            <a:r>
              <a:rPr sz="2100" spc="-140" dirty="0">
                <a:solidFill>
                  <a:srgbClr val="3C3C3C"/>
                </a:solidFill>
                <a:latin typeface="Trebuchet MS"/>
                <a:cs typeface="Trebuchet MS"/>
              </a:rPr>
              <a:t>e</a:t>
            </a:r>
            <a:r>
              <a:rPr sz="2100" spc="-120" dirty="0">
                <a:solidFill>
                  <a:srgbClr val="3C3C3C"/>
                </a:solidFill>
                <a:latin typeface="Trebuchet MS"/>
                <a:cs typeface="Trebuchet MS"/>
              </a:rPr>
              <a:t>c</a:t>
            </a:r>
            <a:r>
              <a:rPr sz="2100" spc="-35" dirty="0">
                <a:solidFill>
                  <a:srgbClr val="3C3C3C"/>
                </a:solidFill>
                <a:latin typeface="Trebuchet MS"/>
                <a:cs typeface="Trebuchet MS"/>
              </a:rPr>
              <a:t>ho</a:t>
            </a:r>
            <a:r>
              <a:rPr sz="2100" dirty="0">
                <a:solidFill>
                  <a:srgbClr val="3C3C3C"/>
                </a:solidFill>
                <a:latin typeface="Trebuchet MS"/>
                <a:cs typeface="Trebuchet MS"/>
              </a:rPr>
              <a:t>	</a:t>
            </a:r>
            <a:r>
              <a:rPr sz="2100" spc="-170" dirty="0">
                <a:solidFill>
                  <a:srgbClr val="3C3C3C"/>
                </a:solidFill>
                <a:latin typeface="Trebuchet MS"/>
                <a:cs typeface="Trebuchet MS"/>
              </a:rPr>
              <a:t>p</a:t>
            </a:r>
            <a:r>
              <a:rPr sz="2100" spc="-155" dirty="0">
                <a:solidFill>
                  <a:srgbClr val="3C3C3C"/>
                </a:solidFill>
                <a:latin typeface="Trebuchet MS"/>
                <a:cs typeface="Trebuchet MS"/>
              </a:rPr>
              <a:t>a</a:t>
            </a:r>
            <a:r>
              <a:rPr sz="2100" spc="-100" dirty="0">
                <a:solidFill>
                  <a:srgbClr val="3C3C3C"/>
                </a:solidFill>
                <a:latin typeface="Trebuchet MS"/>
                <a:cs typeface="Trebuchet MS"/>
              </a:rPr>
              <a:t>ra</a:t>
            </a:r>
            <a:r>
              <a:rPr sz="2100" dirty="0">
                <a:solidFill>
                  <a:srgbClr val="3C3C3C"/>
                </a:solidFill>
                <a:latin typeface="Trebuchet MS"/>
                <a:cs typeface="Trebuchet MS"/>
              </a:rPr>
              <a:t>	</a:t>
            </a:r>
            <a:r>
              <a:rPr sz="2100" spc="-160" dirty="0">
                <a:solidFill>
                  <a:srgbClr val="3C3C3C"/>
                </a:solidFill>
                <a:latin typeface="Trebuchet MS"/>
                <a:cs typeface="Trebuchet MS"/>
              </a:rPr>
              <a:t>c</a:t>
            </a:r>
            <a:r>
              <a:rPr sz="2100" spc="-165" dirty="0">
                <a:solidFill>
                  <a:srgbClr val="3C3C3C"/>
                </a:solidFill>
                <a:latin typeface="Trebuchet MS"/>
                <a:cs typeface="Trebuchet MS"/>
              </a:rPr>
              <a:t>a</a:t>
            </a:r>
            <a:r>
              <a:rPr sz="2100" spc="-155" dirty="0">
                <a:solidFill>
                  <a:srgbClr val="3C3C3C"/>
                </a:solidFill>
                <a:latin typeface="Trebuchet MS"/>
                <a:cs typeface="Trebuchet MS"/>
              </a:rPr>
              <a:t>da</a:t>
            </a:r>
            <a:r>
              <a:rPr sz="2100" dirty="0">
                <a:solidFill>
                  <a:srgbClr val="3C3C3C"/>
                </a:solidFill>
                <a:latin typeface="Trebuchet MS"/>
                <a:cs typeface="Trebuchet MS"/>
              </a:rPr>
              <a:t>		</a:t>
            </a:r>
            <a:r>
              <a:rPr sz="2100" spc="-135" dirty="0">
                <a:solidFill>
                  <a:srgbClr val="3C3C3C"/>
                </a:solidFill>
                <a:latin typeface="Trebuchet MS"/>
                <a:cs typeface="Trebuchet MS"/>
              </a:rPr>
              <a:t>p</a:t>
            </a:r>
            <a:r>
              <a:rPr sz="2100" spc="-125" dirty="0">
                <a:solidFill>
                  <a:srgbClr val="3C3C3C"/>
                </a:solidFill>
                <a:latin typeface="Trebuchet MS"/>
                <a:cs typeface="Trebuchet MS"/>
              </a:rPr>
              <a:t>e</a:t>
            </a:r>
            <a:r>
              <a:rPr sz="2100" spc="-15" dirty="0">
                <a:solidFill>
                  <a:srgbClr val="3C3C3C"/>
                </a:solidFill>
                <a:latin typeface="Trebuchet MS"/>
                <a:cs typeface="Trebuchet MS"/>
              </a:rPr>
              <a:t>r</a:t>
            </a:r>
            <a:r>
              <a:rPr sz="2100" spc="-25" dirty="0">
                <a:solidFill>
                  <a:srgbClr val="3C3C3C"/>
                </a:solidFill>
                <a:latin typeface="Trebuchet MS"/>
                <a:cs typeface="Trebuchet MS"/>
              </a:rPr>
              <a:t>s</a:t>
            </a:r>
            <a:r>
              <a:rPr sz="2100" spc="-35" dirty="0">
                <a:solidFill>
                  <a:srgbClr val="3C3C3C"/>
                </a:solidFill>
                <a:latin typeface="Trebuchet MS"/>
                <a:cs typeface="Trebuchet MS"/>
              </a:rPr>
              <a:t>o</a:t>
            </a:r>
            <a:r>
              <a:rPr sz="2100" spc="-30" dirty="0">
                <a:solidFill>
                  <a:srgbClr val="3C3C3C"/>
                </a:solidFill>
                <a:latin typeface="Trebuchet MS"/>
                <a:cs typeface="Trebuchet MS"/>
              </a:rPr>
              <a:t>n</a:t>
            </a:r>
            <a:r>
              <a:rPr sz="2100" spc="-140" dirty="0">
                <a:solidFill>
                  <a:srgbClr val="3C3C3C"/>
                </a:solidFill>
                <a:latin typeface="Trebuchet MS"/>
                <a:cs typeface="Trebuchet MS"/>
              </a:rPr>
              <a:t>a?</a:t>
            </a:r>
            <a:r>
              <a:rPr sz="2100" dirty="0">
                <a:solidFill>
                  <a:srgbClr val="3C3C3C"/>
                </a:solidFill>
                <a:latin typeface="Trebuchet MS"/>
                <a:cs typeface="Trebuchet MS"/>
              </a:rPr>
              <a:t>		</a:t>
            </a:r>
            <a:r>
              <a:rPr sz="2100" spc="-70" dirty="0">
                <a:solidFill>
                  <a:srgbClr val="3C3C3C"/>
                </a:solidFill>
                <a:latin typeface="Trebuchet MS"/>
                <a:cs typeface="Trebuchet MS"/>
              </a:rPr>
              <a:t>¿</a:t>
            </a:r>
            <a:r>
              <a:rPr sz="2100" spc="45" dirty="0">
                <a:solidFill>
                  <a:srgbClr val="3C3C3C"/>
                </a:solidFill>
                <a:latin typeface="Trebuchet MS"/>
                <a:cs typeface="Trebuchet MS"/>
              </a:rPr>
              <a:t>Cóm</a:t>
            </a:r>
            <a:r>
              <a:rPr sz="2100" spc="30" dirty="0">
                <a:solidFill>
                  <a:srgbClr val="3C3C3C"/>
                </a:solidFill>
                <a:latin typeface="Trebuchet MS"/>
                <a:cs typeface="Trebuchet MS"/>
              </a:rPr>
              <a:t>o</a:t>
            </a:r>
            <a:r>
              <a:rPr sz="2100" dirty="0">
                <a:solidFill>
                  <a:srgbClr val="3C3C3C"/>
                </a:solidFill>
                <a:latin typeface="Trebuchet MS"/>
                <a:cs typeface="Trebuchet MS"/>
              </a:rPr>
              <a:t>		</a:t>
            </a:r>
            <a:r>
              <a:rPr sz="2100" spc="-160" dirty="0">
                <a:solidFill>
                  <a:srgbClr val="3C3C3C"/>
                </a:solidFill>
                <a:latin typeface="Trebuchet MS"/>
                <a:cs typeface="Trebuchet MS"/>
              </a:rPr>
              <a:t>c</a:t>
            </a:r>
            <a:r>
              <a:rPr sz="2100" spc="-165" dirty="0">
                <a:solidFill>
                  <a:srgbClr val="3C3C3C"/>
                </a:solidFill>
                <a:latin typeface="Trebuchet MS"/>
                <a:cs typeface="Trebuchet MS"/>
              </a:rPr>
              <a:t>a</a:t>
            </a:r>
            <a:r>
              <a:rPr sz="2100" spc="-155" dirty="0">
                <a:solidFill>
                  <a:srgbClr val="3C3C3C"/>
                </a:solidFill>
                <a:latin typeface="Trebuchet MS"/>
                <a:cs typeface="Trebuchet MS"/>
              </a:rPr>
              <a:t>lcu</a:t>
            </a:r>
            <a:r>
              <a:rPr sz="2100" spc="-90" dirty="0">
                <a:solidFill>
                  <a:srgbClr val="3C3C3C"/>
                </a:solidFill>
                <a:latin typeface="Trebuchet MS"/>
                <a:cs typeface="Trebuchet MS"/>
              </a:rPr>
              <a:t>l</a:t>
            </a:r>
            <a:r>
              <a:rPr sz="2100" spc="-100" dirty="0">
                <a:solidFill>
                  <a:srgbClr val="3C3C3C"/>
                </a:solidFill>
                <a:latin typeface="Trebuchet MS"/>
                <a:cs typeface="Trebuchet MS"/>
              </a:rPr>
              <a:t>ar</a:t>
            </a:r>
            <a:r>
              <a:rPr sz="2100" dirty="0">
                <a:solidFill>
                  <a:srgbClr val="3C3C3C"/>
                </a:solidFill>
                <a:latin typeface="Trebuchet MS"/>
                <a:cs typeface="Trebuchet MS"/>
              </a:rPr>
              <a:t>	</a:t>
            </a:r>
            <a:r>
              <a:rPr sz="2100" spc="-155" dirty="0">
                <a:solidFill>
                  <a:srgbClr val="3C3C3C"/>
                </a:solidFill>
                <a:latin typeface="Trebuchet MS"/>
                <a:cs typeface="Trebuchet MS"/>
              </a:rPr>
              <a:t>la  </a:t>
            </a:r>
            <a:r>
              <a:rPr sz="2100" spc="-160" dirty="0">
                <a:solidFill>
                  <a:srgbClr val="3C3C3C"/>
                </a:solidFill>
                <a:latin typeface="Trebuchet MS"/>
                <a:cs typeface="Trebuchet MS"/>
              </a:rPr>
              <a:t>c</a:t>
            </a:r>
            <a:r>
              <a:rPr sz="2100" spc="-165" dirty="0">
                <a:solidFill>
                  <a:srgbClr val="3C3C3C"/>
                </a:solidFill>
                <a:latin typeface="Trebuchet MS"/>
                <a:cs typeface="Trebuchet MS"/>
              </a:rPr>
              <a:t>a</a:t>
            </a:r>
            <a:r>
              <a:rPr sz="2100" spc="-135" dirty="0">
                <a:solidFill>
                  <a:srgbClr val="3C3C3C"/>
                </a:solidFill>
                <a:latin typeface="Trebuchet MS"/>
                <a:cs typeface="Trebuchet MS"/>
              </a:rPr>
              <a:t>ntid</a:t>
            </a:r>
            <a:r>
              <a:rPr sz="2100" spc="-150" dirty="0">
                <a:solidFill>
                  <a:srgbClr val="3C3C3C"/>
                </a:solidFill>
                <a:latin typeface="Trebuchet MS"/>
                <a:cs typeface="Trebuchet MS"/>
              </a:rPr>
              <a:t>a</a:t>
            </a:r>
            <a:r>
              <a:rPr sz="2100" spc="-100" dirty="0">
                <a:solidFill>
                  <a:srgbClr val="3C3C3C"/>
                </a:solidFill>
                <a:latin typeface="Trebuchet MS"/>
                <a:cs typeface="Trebuchet MS"/>
              </a:rPr>
              <a:t>d</a:t>
            </a:r>
            <a:r>
              <a:rPr sz="2100" dirty="0">
                <a:solidFill>
                  <a:srgbClr val="3C3C3C"/>
                </a:solidFill>
                <a:latin typeface="Trebuchet MS"/>
                <a:cs typeface="Trebuchet MS"/>
              </a:rPr>
              <a:t>		x</a:t>
            </a:r>
            <a:r>
              <a:rPr sz="2100" spc="-89" baseline="-19841" dirty="0">
                <a:solidFill>
                  <a:srgbClr val="3C3C3C"/>
                </a:solidFill>
                <a:latin typeface="Trebuchet MS"/>
                <a:cs typeface="Trebuchet MS"/>
              </a:rPr>
              <a:t>c</a:t>
            </a:r>
            <a:r>
              <a:rPr sz="2100" spc="-315" dirty="0">
                <a:solidFill>
                  <a:srgbClr val="3C3C3C"/>
                </a:solidFill>
                <a:latin typeface="Trebuchet MS"/>
                <a:cs typeface="Trebuchet MS"/>
              </a:rPr>
              <a:t>,</a:t>
            </a:r>
            <a:r>
              <a:rPr sz="2100" spc="28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100" spc="-170" dirty="0">
                <a:solidFill>
                  <a:srgbClr val="3C3C3C"/>
                </a:solidFill>
                <a:latin typeface="Trebuchet MS"/>
                <a:cs typeface="Trebuchet MS"/>
              </a:rPr>
              <a:t>tal</a:t>
            </a:r>
            <a:r>
              <a:rPr sz="2100" dirty="0">
                <a:solidFill>
                  <a:srgbClr val="3C3C3C"/>
                </a:solidFill>
                <a:latin typeface="Trebuchet MS"/>
                <a:cs typeface="Trebuchet MS"/>
              </a:rPr>
              <a:t>		</a:t>
            </a:r>
            <a:r>
              <a:rPr sz="2100" spc="-114" dirty="0">
                <a:solidFill>
                  <a:srgbClr val="3C3C3C"/>
                </a:solidFill>
                <a:latin typeface="Trebuchet MS"/>
                <a:cs typeface="Trebuchet MS"/>
              </a:rPr>
              <a:t>qu</a:t>
            </a:r>
            <a:r>
              <a:rPr sz="2100" spc="-120" dirty="0">
                <a:solidFill>
                  <a:srgbClr val="3C3C3C"/>
                </a:solidFill>
                <a:latin typeface="Trebuchet MS"/>
                <a:cs typeface="Trebuchet MS"/>
              </a:rPr>
              <a:t>e</a:t>
            </a:r>
            <a:r>
              <a:rPr sz="2100" dirty="0">
                <a:solidFill>
                  <a:srgbClr val="3C3C3C"/>
                </a:solidFill>
                <a:latin typeface="Trebuchet MS"/>
                <a:cs typeface="Trebuchet MS"/>
              </a:rPr>
              <a:t>		</a:t>
            </a:r>
            <a:r>
              <a:rPr sz="2100" spc="-170" dirty="0">
                <a:solidFill>
                  <a:srgbClr val="3C3C3C"/>
                </a:solidFill>
                <a:latin typeface="Trebuchet MS"/>
                <a:cs typeface="Trebuchet MS"/>
              </a:rPr>
              <a:t>p</a:t>
            </a:r>
            <a:r>
              <a:rPr sz="2100" spc="-155" dirty="0">
                <a:solidFill>
                  <a:srgbClr val="3C3C3C"/>
                </a:solidFill>
                <a:latin typeface="Trebuchet MS"/>
                <a:cs typeface="Trebuchet MS"/>
              </a:rPr>
              <a:t>a</a:t>
            </a:r>
            <a:r>
              <a:rPr sz="2100" spc="-100" dirty="0">
                <a:solidFill>
                  <a:srgbClr val="3C3C3C"/>
                </a:solidFill>
                <a:latin typeface="Trebuchet MS"/>
                <a:cs typeface="Trebuchet MS"/>
              </a:rPr>
              <a:t>ra</a:t>
            </a:r>
            <a:r>
              <a:rPr sz="2100" dirty="0">
                <a:solidFill>
                  <a:srgbClr val="3C3C3C"/>
                </a:solidFill>
                <a:latin typeface="Trebuchet MS"/>
                <a:cs typeface="Trebuchet MS"/>
              </a:rPr>
              <a:t>	</a:t>
            </a:r>
            <a:r>
              <a:rPr sz="2100" spc="-95" dirty="0">
                <a:solidFill>
                  <a:srgbClr val="3C3C3C"/>
                </a:solidFill>
                <a:latin typeface="Trebuchet MS"/>
                <a:cs typeface="Trebuchet MS"/>
              </a:rPr>
              <a:t>u</a:t>
            </a:r>
            <a:r>
              <a:rPr sz="2100" spc="-100" dirty="0">
                <a:solidFill>
                  <a:srgbClr val="3C3C3C"/>
                </a:solidFill>
                <a:latin typeface="Trebuchet MS"/>
                <a:cs typeface="Trebuchet MS"/>
              </a:rPr>
              <a:t>n</a:t>
            </a:r>
            <a:r>
              <a:rPr sz="2100" dirty="0">
                <a:solidFill>
                  <a:srgbClr val="3C3C3C"/>
                </a:solidFill>
                <a:latin typeface="Trebuchet MS"/>
                <a:cs typeface="Trebuchet MS"/>
              </a:rPr>
              <a:t>	</a:t>
            </a:r>
            <a:r>
              <a:rPr lang="en-US" sz="2100" spc="270" dirty="0" err="1">
                <a:solidFill>
                  <a:srgbClr val="3C3C3C"/>
                </a:solidFill>
                <a:latin typeface="Trebuchet MS"/>
                <a:cs typeface="Trebuchet MS"/>
              </a:rPr>
              <a:t>d</a:t>
            </a:r>
            <a:r>
              <a:rPr sz="2100" spc="-70" dirty="0" err="1">
                <a:solidFill>
                  <a:srgbClr val="3C3C3C"/>
                </a:solidFill>
                <a:latin typeface="Trebuchet MS"/>
                <a:cs typeface="Trebuchet MS"/>
              </a:rPr>
              <a:t>ecisor</a:t>
            </a:r>
            <a:r>
              <a:rPr sz="2100" dirty="0">
                <a:solidFill>
                  <a:srgbClr val="3C3C3C"/>
                </a:solidFill>
                <a:latin typeface="Trebuchet MS"/>
                <a:cs typeface="Trebuchet MS"/>
              </a:rPr>
              <a:t>	</a:t>
            </a:r>
            <a:r>
              <a:rPr sz="2100" spc="-175" dirty="0">
                <a:solidFill>
                  <a:srgbClr val="3C3C3C"/>
                </a:solidFill>
                <a:latin typeface="Trebuchet MS"/>
                <a:cs typeface="Trebuchet MS"/>
              </a:rPr>
              <a:t>D</a:t>
            </a:r>
            <a:r>
              <a:rPr sz="2100" spc="-10" dirty="0">
                <a:solidFill>
                  <a:srgbClr val="3C3C3C"/>
                </a:solidFill>
                <a:latin typeface="Trebuchet MS"/>
                <a:cs typeface="Trebuchet MS"/>
              </a:rPr>
              <a:t>,</a:t>
            </a:r>
            <a:r>
              <a:rPr sz="2100" spc="28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100" spc="-130" dirty="0">
                <a:solidFill>
                  <a:srgbClr val="3C3C3C"/>
                </a:solidFill>
                <a:latin typeface="Trebuchet MS"/>
                <a:cs typeface="Trebuchet MS"/>
              </a:rPr>
              <a:t>tene</a:t>
            </a:r>
            <a:r>
              <a:rPr sz="2100" spc="15" dirty="0">
                <a:solidFill>
                  <a:srgbClr val="3C3C3C"/>
                </a:solidFill>
                <a:latin typeface="Trebuchet MS"/>
                <a:cs typeface="Trebuchet MS"/>
              </a:rPr>
              <a:t>r</a:t>
            </a:r>
            <a:r>
              <a:rPr sz="2100" dirty="0">
                <a:solidFill>
                  <a:srgbClr val="3C3C3C"/>
                </a:solidFill>
                <a:latin typeface="Trebuchet MS"/>
                <a:cs typeface="Trebuchet MS"/>
              </a:rPr>
              <a:t>	x</a:t>
            </a:r>
            <a:r>
              <a:rPr sz="2100" spc="-120" baseline="-19841" dirty="0">
                <a:solidFill>
                  <a:srgbClr val="3C3C3C"/>
                </a:solidFill>
                <a:latin typeface="Trebuchet MS"/>
                <a:cs typeface="Trebuchet MS"/>
              </a:rPr>
              <a:t>c</a:t>
            </a:r>
            <a:r>
              <a:rPr sz="2100" baseline="-19841" dirty="0">
                <a:solidFill>
                  <a:srgbClr val="3C3C3C"/>
                </a:solidFill>
                <a:latin typeface="Trebuchet MS"/>
                <a:cs typeface="Trebuchet MS"/>
              </a:rPr>
              <a:t>	</a:t>
            </a:r>
            <a:r>
              <a:rPr sz="2100" spc="-130" dirty="0">
                <a:solidFill>
                  <a:srgbClr val="3C3C3C"/>
                </a:solidFill>
                <a:latin typeface="Trebuchet MS"/>
                <a:cs typeface="Trebuchet MS"/>
              </a:rPr>
              <a:t>c</a:t>
            </a:r>
            <a:r>
              <a:rPr sz="2100" spc="-35" dirty="0">
                <a:solidFill>
                  <a:srgbClr val="3C3C3C"/>
                </a:solidFill>
                <a:latin typeface="Trebuchet MS"/>
                <a:cs typeface="Trebuchet MS"/>
              </a:rPr>
              <a:t>on</a:t>
            </a:r>
            <a:r>
              <a:rPr sz="2100" dirty="0">
                <a:solidFill>
                  <a:srgbClr val="3C3C3C"/>
                </a:solidFill>
                <a:latin typeface="Trebuchet MS"/>
                <a:cs typeface="Trebuchet MS"/>
              </a:rPr>
              <a:t>	</a:t>
            </a:r>
            <a:r>
              <a:rPr sz="2100" spc="-90" dirty="0">
                <a:solidFill>
                  <a:srgbClr val="3C3C3C"/>
                </a:solidFill>
                <a:latin typeface="Trebuchet MS"/>
                <a:cs typeface="Trebuchet MS"/>
              </a:rPr>
              <a:t>ce</a:t>
            </a:r>
            <a:r>
              <a:rPr sz="2100" spc="-35" dirty="0">
                <a:solidFill>
                  <a:srgbClr val="3C3C3C"/>
                </a:solidFill>
                <a:latin typeface="Trebuchet MS"/>
                <a:cs typeface="Trebuchet MS"/>
              </a:rPr>
              <a:t>r</a:t>
            </a:r>
            <a:r>
              <a:rPr sz="2100" spc="-155" dirty="0">
                <a:solidFill>
                  <a:srgbClr val="3C3C3C"/>
                </a:solidFill>
                <a:latin typeface="Trebuchet MS"/>
                <a:cs typeface="Trebuchet MS"/>
              </a:rPr>
              <a:t>teza</a:t>
            </a:r>
            <a:r>
              <a:rPr sz="2100" dirty="0">
                <a:solidFill>
                  <a:srgbClr val="3C3C3C"/>
                </a:solidFill>
                <a:latin typeface="Trebuchet MS"/>
                <a:cs typeface="Trebuchet MS"/>
              </a:rPr>
              <a:t>	</a:t>
            </a:r>
            <a:r>
              <a:rPr sz="2100" spc="-130" dirty="0">
                <a:solidFill>
                  <a:srgbClr val="3C3C3C"/>
                </a:solidFill>
                <a:latin typeface="Trebuchet MS"/>
                <a:cs typeface="Trebuchet MS"/>
              </a:rPr>
              <a:t>sea</a:t>
            </a:r>
            <a:r>
              <a:rPr lang="es-CO" sz="2100" spc="-1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lang="es-ES" sz="2100" spc="-130" dirty="0">
                <a:solidFill>
                  <a:srgbClr val="3C3C3C"/>
                </a:solidFill>
                <a:latin typeface="Trebuchet MS"/>
                <a:cs typeface="Trebuchet MS"/>
              </a:rPr>
              <a:t>eq</a:t>
            </a:r>
            <a:r>
              <a:rPr lang="es-ES" sz="2100" spc="-135" dirty="0">
                <a:solidFill>
                  <a:srgbClr val="3C3C3C"/>
                </a:solidFill>
                <a:latin typeface="Trebuchet MS"/>
                <a:cs typeface="Trebuchet MS"/>
              </a:rPr>
              <a:t>uiv</a:t>
            </a:r>
            <a:r>
              <a:rPr lang="es-ES" sz="2100" spc="-155" dirty="0">
                <a:solidFill>
                  <a:srgbClr val="3C3C3C"/>
                </a:solidFill>
                <a:latin typeface="Trebuchet MS"/>
                <a:cs typeface="Trebuchet MS"/>
              </a:rPr>
              <a:t>a</a:t>
            </a:r>
            <a:r>
              <a:rPr lang="es-ES" sz="2100" spc="-135" dirty="0">
                <a:solidFill>
                  <a:srgbClr val="3C3C3C"/>
                </a:solidFill>
                <a:latin typeface="Trebuchet MS"/>
                <a:cs typeface="Trebuchet MS"/>
              </a:rPr>
              <a:t>lent</a:t>
            </a:r>
            <a:r>
              <a:rPr lang="es-ES" sz="2100" spc="-160" dirty="0">
                <a:solidFill>
                  <a:srgbClr val="3C3C3C"/>
                </a:solidFill>
                <a:latin typeface="Trebuchet MS"/>
                <a:cs typeface="Trebuchet MS"/>
              </a:rPr>
              <a:t>e</a:t>
            </a:r>
            <a:r>
              <a:rPr lang="es-ES" sz="2100" spc="-6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lang="es-ES" sz="2100" spc="-95" dirty="0">
                <a:solidFill>
                  <a:srgbClr val="3C3C3C"/>
                </a:solidFill>
                <a:latin typeface="Trebuchet MS"/>
                <a:cs typeface="Trebuchet MS"/>
              </a:rPr>
              <a:t>(i</a:t>
            </a:r>
            <a:r>
              <a:rPr lang="es-ES" sz="2100" spc="-145" dirty="0">
                <a:solidFill>
                  <a:srgbClr val="3C3C3C"/>
                </a:solidFill>
                <a:latin typeface="Trebuchet MS"/>
                <a:cs typeface="Trebuchet MS"/>
              </a:rPr>
              <a:t>n</a:t>
            </a:r>
            <a:r>
              <a:rPr lang="es-ES" sz="2100" spc="-160" dirty="0">
                <a:solidFill>
                  <a:srgbClr val="3C3C3C"/>
                </a:solidFill>
                <a:latin typeface="Trebuchet MS"/>
                <a:cs typeface="Trebuchet MS"/>
              </a:rPr>
              <a:t>d</a:t>
            </a:r>
            <a:r>
              <a:rPr lang="es-ES" sz="2100" spc="-95" dirty="0">
                <a:solidFill>
                  <a:srgbClr val="3C3C3C"/>
                </a:solidFill>
                <a:latin typeface="Trebuchet MS"/>
                <a:cs typeface="Trebuchet MS"/>
              </a:rPr>
              <a:t>i</a:t>
            </a:r>
            <a:r>
              <a:rPr lang="es-ES" sz="2100" spc="-280" dirty="0">
                <a:solidFill>
                  <a:srgbClr val="3C3C3C"/>
                </a:solidFill>
                <a:latin typeface="Trebuchet MS"/>
                <a:cs typeface="Trebuchet MS"/>
              </a:rPr>
              <a:t>f</a:t>
            </a:r>
            <a:r>
              <a:rPr lang="es-ES" sz="2100" spc="-75" dirty="0">
                <a:solidFill>
                  <a:srgbClr val="3C3C3C"/>
                </a:solidFill>
                <a:latin typeface="Trebuchet MS"/>
                <a:cs typeface="Trebuchet MS"/>
              </a:rPr>
              <a:t>e</a:t>
            </a:r>
            <a:r>
              <a:rPr lang="es-ES" sz="2100" spc="-95" dirty="0">
                <a:solidFill>
                  <a:srgbClr val="3C3C3C"/>
                </a:solidFill>
                <a:latin typeface="Trebuchet MS"/>
                <a:cs typeface="Trebuchet MS"/>
              </a:rPr>
              <a:t>r</a:t>
            </a:r>
            <a:r>
              <a:rPr lang="es-ES" sz="2100" spc="-120" dirty="0">
                <a:solidFill>
                  <a:srgbClr val="3C3C3C"/>
                </a:solidFill>
                <a:latin typeface="Trebuchet MS"/>
                <a:cs typeface="Trebuchet MS"/>
              </a:rPr>
              <a:t>e</a:t>
            </a:r>
            <a:r>
              <a:rPr lang="es-ES" sz="2100" spc="-114" dirty="0">
                <a:solidFill>
                  <a:srgbClr val="3C3C3C"/>
                </a:solidFill>
                <a:latin typeface="Trebuchet MS"/>
                <a:cs typeface="Trebuchet MS"/>
              </a:rPr>
              <a:t>n</a:t>
            </a:r>
            <a:r>
              <a:rPr lang="es-ES" sz="2100" spc="-125" dirty="0">
                <a:solidFill>
                  <a:srgbClr val="3C3C3C"/>
                </a:solidFill>
                <a:latin typeface="Trebuchet MS"/>
                <a:cs typeface="Trebuchet MS"/>
              </a:rPr>
              <a:t>te)</a:t>
            </a:r>
            <a:r>
              <a:rPr lang="es-ES" sz="2100" spc="-6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lang="es-ES" sz="2100" spc="-210" dirty="0">
                <a:solidFill>
                  <a:srgbClr val="3C3C3C"/>
                </a:solidFill>
                <a:latin typeface="Trebuchet MS"/>
                <a:cs typeface="Trebuchet MS"/>
              </a:rPr>
              <a:t>a</a:t>
            </a:r>
            <a:r>
              <a:rPr lang="es-ES" sz="21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lang="es-ES" sz="2100" spc="-130" dirty="0">
                <a:solidFill>
                  <a:srgbClr val="3C3C3C"/>
                </a:solidFill>
                <a:latin typeface="Trebuchet MS"/>
                <a:cs typeface="Trebuchet MS"/>
              </a:rPr>
              <a:t>tene</a:t>
            </a:r>
            <a:r>
              <a:rPr lang="es-ES" sz="2100" spc="15" dirty="0">
                <a:solidFill>
                  <a:srgbClr val="3C3C3C"/>
                </a:solidFill>
                <a:latin typeface="Trebuchet MS"/>
                <a:cs typeface="Trebuchet MS"/>
              </a:rPr>
              <a:t>r</a:t>
            </a:r>
            <a:r>
              <a:rPr lang="es-ES" sz="2100" spc="-6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lang="es-ES" sz="2100" spc="-140" dirty="0">
                <a:solidFill>
                  <a:srgbClr val="3C3C3C"/>
                </a:solidFill>
                <a:latin typeface="Trebuchet MS"/>
                <a:cs typeface="Trebuchet MS"/>
              </a:rPr>
              <a:t>l</a:t>
            </a:r>
            <a:r>
              <a:rPr lang="es-ES" sz="2100" spc="-235" dirty="0">
                <a:solidFill>
                  <a:srgbClr val="3C3C3C"/>
                </a:solidFill>
                <a:latin typeface="Trebuchet MS"/>
                <a:cs typeface="Trebuchet MS"/>
              </a:rPr>
              <a:t>a</a:t>
            </a:r>
            <a:r>
              <a:rPr lang="es-ES" sz="21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lang="es-ES" sz="2100" spc="-100" dirty="0">
                <a:solidFill>
                  <a:srgbClr val="3C3C3C"/>
                </a:solidFill>
                <a:latin typeface="Trebuchet MS"/>
                <a:cs typeface="Trebuchet MS"/>
              </a:rPr>
              <a:t>loter</a:t>
            </a:r>
            <a:r>
              <a:rPr lang="es-ES" sz="2100" spc="-75" dirty="0">
                <a:solidFill>
                  <a:srgbClr val="3C3C3C"/>
                </a:solidFill>
                <a:latin typeface="Trebuchet MS"/>
                <a:cs typeface="Trebuchet MS"/>
              </a:rPr>
              <a:t>í</a:t>
            </a:r>
            <a:r>
              <a:rPr lang="es-ES" sz="2100" spc="-210" dirty="0">
                <a:solidFill>
                  <a:srgbClr val="3C3C3C"/>
                </a:solidFill>
                <a:latin typeface="Trebuchet MS"/>
                <a:cs typeface="Trebuchet MS"/>
              </a:rPr>
              <a:t>a</a:t>
            </a:r>
            <a:r>
              <a:rPr lang="es-ES" sz="2100" spc="-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lang="es-ES" sz="2100" spc="-55" dirty="0">
                <a:solidFill>
                  <a:srgbClr val="3C3C3C"/>
                </a:solidFill>
                <a:latin typeface="Trebuchet MS"/>
                <a:cs typeface="Trebuchet MS"/>
              </a:rPr>
              <a:t>L?</a:t>
            </a:r>
            <a:endParaRPr lang="es-ES" sz="2100" dirty="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51646" y="6054344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4590B8"/>
                </a:solidFill>
                <a:latin typeface="Trebuchet MS"/>
                <a:cs typeface="Trebuchet MS"/>
              </a:rPr>
              <a:t>20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80225" y="1963339"/>
            <a:ext cx="1672039" cy="113060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05936" y="3312414"/>
            <a:ext cx="3416500" cy="11306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Definición</a:t>
            </a:r>
            <a:r>
              <a:rPr spc="-60" dirty="0"/>
              <a:t> </a:t>
            </a:r>
            <a:r>
              <a:rPr spc="10" dirty="0"/>
              <a:t>formal</a:t>
            </a:r>
            <a:r>
              <a:rPr spc="-40" dirty="0"/>
              <a:t> </a:t>
            </a:r>
            <a:r>
              <a:rPr spc="-25" dirty="0"/>
              <a:t>de</a:t>
            </a:r>
            <a:r>
              <a:rPr spc="-45" dirty="0"/>
              <a:t> </a:t>
            </a:r>
            <a:r>
              <a:rPr spc="-15" dirty="0"/>
              <a:t>Equivalente</a:t>
            </a:r>
            <a:r>
              <a:rPr spc="-60" dirty="0"/>
              <a:t> </a:t>
            </a:r>
            <a:r>
              <a:rPr spc="30" dirty="0"/>
              <a:t>Monetario</a:t>
            </a:r>
            <a:r>
              <a:rPr spc="-45" dirty="0"/>
              <a:t> </a:t>
            </a:r>
            <a:r>
              <a:rPr spc="55" dirty="0"/>
              <a:t>Cierto</a:t>
            </a:r>
            <a:r>
              <a:rPr spc="-60" dirty="0"/>
              <a:t> </a:t>
            </a:r>
            <a:r>
              <a:rPr spc="145" dirty="0"/>
              <a:t>(EMC)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7416" y="943101"/>
            <a:ext cx="7750175" cy="1110615"/>
          </a:xfrm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30"/>
              </a:spcBef>
            </a:pPr>
            <a:r>
              <a:rPr sz="1800" spc="-114" dirty="0">
                <a:solidFill>
                  <a:srgbClr val="3C3C3C"/>
                </a:solidFill>
                <a:latin typeface="Trebuchet MS"/>
                <a:cs typeface="Trebuchet MS"/>
              </a:rPr>
              <a:t>Sea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270" dirty="0">
                <a:solidFill>
                  <a:srgbClr val="3C3C3C"/>
                </a:solidFill>
                <a:latin typeface="Trebuchet MS"/>
                <a:cs typeface="Trebuchet MS"/>
              </a:rPr>
              <a:t>X</a:t>
            </a:r>
            <a:r>
              <a:rPr sz="18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3C3C3C"/>
                </a:solidFill>
                <a:latin typeface="Trebuchet MS"/>
                <a:cs typeface="Trebuchet MS"/>
              </a:rPr>
              <a:t>una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3C3C3C"/>
                </a:solidFill>
                <a:latin typeface="Trebuchet MS"/>
                <a:cs typeface="Trebuchet MS"/>
              </a:rPr>
              <a:t>loterí</a:t>
            </a:r>
            <a:r>
              <a:rPr sz="1800" spc="-114" dirty="0">
                <a:solidFill>
                  <a:srgbClr val="3C3C3C"/>
                </a:solidFill>
                <a:latin typeface="Trebuchet MS"/>
                <a:cs typeface="Trebuchet MS"/>
              </a:rPr>
              <a:t>a</a:t>
            </a:r>
            <a:r>
              <a:rPr sz="1800" spc="-5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3C3C3C"/>
                </a:solidFill>
                <a:latin typeface="Trebuchet MS"/>
                <a:cs typeface="Trebuchet MS"/>
              </a:rPr>
              <a:t>cualqu</a:t>
            </a:r>
            <a:r>
              <a:rPr sz="1800" spc="-70" dirty="0">
                <a:solidFill>
                  <a:srgbClr val="3C3C3C"/>
                </a:solidFill>
                <a:latin typeface="Trebuchet MS"/>
                <a:cs typeface="Trebuchet MS"/>
              </a:rPr>
              <a:t>i</a:t>
            </a:r>
            <a:r>
              <a:rPr sz="1800" spc="-95" dirty="0">
                <a:solidFill>
                  <a:srgbClr val="3C3C3C"/>
                </a:solidFill>
                <a:latin typeface="Trebuchet MS"/>
                <a:cs typeface="Trebuchet MS"/>
              </a:rPr>
              <a:t>era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3C3C3C"/>
                </a:solidFill>
                <a:latin typeface="Trebuchet MS"/>
                <a:cs typeface="Trebuchet MS"/>
              </a:rPr>
              <a:t>y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245" dirty="0">
                <a:solidFill>
                  <a:srgbClr val="3C3C3C"/>
                </a:solidFill>
                <a:latin typeface="Trebuchet MS"/>
                <a:cs typeface="Trebuchet MS"/>
              </a:rPr>
              <a:t>D</a:t>
            </a:r>
            <a:r>
              <a:rPr sz="18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3C3C3C"/>
                </a:solidFill>
                <a:latin typeface="Trebuchet MS"/>
                <a:cs typeface="Trebuchet MS"/>
              </a:rPr>
              <a:t>un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3C3C3C"/>
                </a:solidFill>
                <a:latin typeface="Trebuchet MS"/>
                <a:cs typeface="Trebuchet MS"/>
              </a:rPr>
              <a:t>deci</a:t>
            </a:r>
            <a:r>
              <a:rPr sz="1800" spc="-80" dirty="0">
                <a:solidFill>
                  <a:srgbClr val="3C3C3C"/>
                </a:solidFill>
                <a:latin typeface="Trebuchet MS"/>
                <a:cs typeface="Trebuchet MS"/>
              </a:rPr>
              <a:t>s</a:t>
            </a:r>
            <a:r>
              <a:rPr sz="1800" spc="20" dirty="0">
                <a:solidFill>
                  <a:srgbClr val="3C3C3C"/>
                </a:solidFill>
                <a:latin typeface="Trebuchet MS"/>
                <a:cs typeface="Trebuchet MS"/>
              </a:rPr>
              <a:t>or</a:t>
            </a:r>
            <a:r>
              <a:rPr sz="1800" spc="-6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co</a:t>
            </a:r>
            <a:r>
              <a:rPr sz="1800" spc="-85" dirty="0">
                <a:solidFill>
                  <a:srgbClr val="3C3C3C"/>
                </a:solidFill>
                <a:latin typeface="Trebuchet MS"/>
                <a:cs typeface="Trebuchet MS"/>
              </a:rPr>
              <a:t>n</a:t>
            </a:r>
            <a:r>
              <a:rPr sz="1800" spc="-5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220" dirty="0">
                <a:solidFill>
                  <a:srgbClr val="3C3C3C"/>
                </a:solidFill>
                <a:latin typeface="Trebuchet MS"/>
                <a:cs typeface="Trebuchet MS"/>
              </a:rPr>
              <a:t>f</a:t>
            </a:r>
            <a:r>
              <a:rPr sz="1800" spc="-270" dirty="0">
                <a:solidFill>
                  <a:srgbClr val="3C3C3C"/>
                </a:solidFill>
                <a:latin typeface="Trebuchet MS"/>
                <a:cs typeface="Trebuchet MS"/>
              </a:rPr>
              <a:t>.</a:t>
            </a:r>
            <a:r>
              <a:rPr sz="1800" spc="-229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75" dirty="0">
                <a:solidFill>
                  <a:srgbClr val="3C3C3C"/>
                </a:solidFill>
                <a:latin typeface="Trebuchet MS"/>
                <a:cs typeface="Trebuchet MS"/>
              </a:rPr>
              <a:t>u.</a:t>
            </a:r>
            <a:r>
              <a:rPr sz="180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26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3C3C3C"/>
                </a:solidFill>
                <a:latin typeface="Trebuchet MS"/>
                <a:cs typeface="Trebuchet MS"/>
              </a:rPr>
              <a:t>u</a:t>
            </a:r>
            <a:r>
              <a:rPr sz="1800" spc="-80" dirty="0">
                <a:solidFill>
                  <a:srgbClr val="3C3C3C"/>
                </a:solidFill>
                <a:latin typeface="Trebuchet MS"/>
                <a:cs typeface="Trebuchet MS"/>
              </a:rPr>
              <a:t>(</a:t>
            </a:r>
            <a:r>
              <a:rPr sz="1800" spc="-50" dirty="0">
                <a:solidFill>
                  <a:srgbClr val="3C3C3C"/>
                </a:solidFill>
                <a:latin typeface="Trebuchet MS"/>
                <a:cs typeface="Trebuchet MS"/>
              </a:rPr>
              <a:t>x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)</a:t>
            </a:r>
            <a:r>
              <a:rPr sz="1800" spc="-270" dirty="0">
                <a:solidFill>
                  <a:srgbClr val="3C3C3C"/>
                </a:solidFill>
                <a:latin typeface="Trebuchet MS"/>
                <a:cs typeface="Trebuchet MS"/>
              </a:rPr>
              <a:t>.</a:t>
            </a:r>
            <a:endParaRPr sz="1800" dirty="0">
              <a:latin typeface="Trebuchet MS"/>
              <a:cs typeface="Trebuchet MS"/>
            </a:endParaRPr>
          </a:p>
          <a:p>
            <a:pPr marL="25400" marR="17780">
              <a:lnSpc>
                <a:spcPct val="100000"/>
              </a:lnSpc>
              <a:spcBef>
                <a:spcPts val="1035"/>
              </a:spcBef>
            </a:pPr>
            <a:r>
              <a:rPr sz="1800" spc="-85" dirty="0">
                <a:solidFill>
                  <a:srgbClr val="3C3C3C"/>
                </a:solidFill>
                <a:latin typeface="Trebuchet MS"/>
                <a:cs typeface="Trebuchet MS"/>
              </a:rPr>
              <a:t>Se </a:t>
            </a:r>
            <a:r>
              <a:rPr sz="1800" spc="-130" dirty="0">
                <a:solidFill>
                  <a:srgbClr val="3C3C3C"/>
                </a:solidFill>
                <a:latin typeface="Trebuchet MS"/>
                <a:cs typeface="Trebuchet MS"/>
              </a:rPr>
              <a:t>define el </a:t>
            </a:r>
            <a:r>
              <a:rPr sz="1800" b="1" spc="125" dirty="0">
                <a:solidFill>
                  <a:schemeClr val="accent6">
                    <a:lumMod val="50000"/>
                  </a:schemeClr>
                </a:solidFill>
                <a:latin typeface="Trebuchet MS"/>
                <a:cs typeface="Trebuchet MS"/>
              </a:rPr>
              <a:t>EMC(X)</a:t>
            </a:r>
            <a:r>
              <a:rPr sz="1800" spc="1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3C3C3C"/>
                </a:solidFill>
                <a:latin typeface="Trebuchet MS"/>
                <a:cs typeface="Trebuchet MS"/>
              </a:rPr>
              <a:t>para </a:t>
            </a:r>
            <a:r>
              <a:rPr sz="1800" spc="-130" dirty="0">
                <a:solidFill>
                  <a:srgbClr val="3C3C3C"/>
                </a:solidFill>
                <a:latin typeface="Trebuchet MS"/>
                <a:cs typeface="Trebuchet MS"/>
              </a:rPr>
              <a:t>el </a:t>
            </a:r>
            <a:r>
              <a:rPr sz="1800" spc="-65" dirty="0">
                <a:solidFill>
                  <a:srgbClr val="3C3C3C"/>
                </a:solidFill>
                <a:latin typeface="Trebuchet MS"/>
                <a:cs typeface="Trebuchet MS"/>
              </a:rPr>
              <a:t>decisor </a:t>
            </a:r>
            <a:r>
              <a:rPr sz="1800" spc="-80" dirty="0">
                <a:solidFill>
                  <a:srgbClr val="3C3C3C"/>
                </a:solidFill>
                <a:latin typeface="Trebuchet MS"/>
                <a:cs typeface="Trebuchet MS"/>
              </a:rPr>
              <a:t>D, 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como </a:t>
            </a:r>
            <a:r>
              <a:rPr sz="1800" b="1" spc="-160" dirty="0">
                <a:solidFill>
                  <a:schemeClr val="accent6">
                    <a:lumMod val="50000"/>
                  </a:schemeClr>
                </a:solidFill>
                <a:latin typeface="Trebuchet MS"/>
                <a:cs typeface="Trebuchet MS"/>
              </a:rPr>
              <a:t>la</a:t>
            </a:r>
            <a:r>
              <a:rPr sz="1800" b="1" spc="-155" dirty="0">
                <a:solidFill>
                  <a:schemeClr val="accent6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1800" b="1" spc="-120" dirty="0">
                <a:solidFill>
                  <a:schemeClr val="accent6">
                    <a:lumMod val="50000"/>
                  </a:schemeClr>
                </a:solidFill>
                <a:latin typeface="Trebuchet MS"/>
                <a:cs typeface="Trebuchet MS"/>
              </a:rPr>
              <a:t>cantidad </a:t>
            </a:r>
            <a:r>
              <a:rPr sz="1800" b="1" spc="-95" dirty="0">
                <a:solidFill>
                  <a:schemeClr val="accent6">
                    <a:lumMod val="50000"/>
                  </a:schemeClr>
                </a:solidFill>
                <a:latin typeface="Trebuchet MS"/>
                <a:cs typeface="Trebuchet MS"/>
              </a:rPr>
              <a:t>monetaria </a:t>
            </a:r>
            <a:r>
              <a:rPr sz="1800" b="1" spc="-40" dirty="0">
                <a:solidFill>
                  <a:schemeClr val="accent6">
                    <a:lumMod val="50000"/>
                  </a:schemeClr>
                </a:solidFill>
                <a:latin typeface="Trebuchet MS"/>
                <a:cs typeface="Trebuchet MS"/>
              </a:rPr>
              <a:t>x</a:t>
            </a:r>
            <a:r>
              <a:rPr sz="1800" b="1" spc="-60" baseline="-20833" dirty="0">
                <a:solidFill>
                  <a:schemeClr val="accent6">
                    <a:lumMod val="50000"/>
                  </a:schemeClr>
                </a:solidFill>
                <a:latin typeface="Trebuchet MS"/>
                <a:cs typeface="Trebuchet MS"/>
              </a:rPr>
              <a:t>c</a:t>
            </a:r>
            <a:r>
              <a:rPr sz="1800" b="1" spc="-52" baseline="-20833" dirty="0">
                <a:solidFill>
                  <a:schemeClr val="accent6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1800" spc="-145" dirty="0">
                <a:solidFill>
                  <a:srgbClr val="3C3C3C"/>
                </a:solidFill>
                <a:latin typeface="Trebuchet MS"/>
                <a:cs typeface="Trebuchet MS"/>
              </a:rPr>
              <a:t>tal 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que </a:t>
            </a:r>
            <a:r>
              <a:rPr sz="1800" spc="-130" dirty="0">
                <a:solidFill>
                  <a:srgbClr val="3C3C3C"/>
                </a:solidFill>
                <a:latin typeface="Trebuchet MS"/>
                <a:cs typeface="Trebuchet MS"/>
              </a:rPr>
              <a:t>el </a:t>
            </a:r>
            <a:r>
              <a:rPr sz="1800" spc="-1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3C3C3C"/>
                </a:solidFill>
                <a:latin typeface="Trebuchet MS"/>
                <a:cs typeface="Trebuchet MS"/>
              </a:rPr>
              <a:t>decisor </a:t>
            </a:r>
            <a:r>
              <a:rPr sz="1800" u="sng" spc="-80" dirty="0">
                <a:solidFill>
                  <a:srgbClr val="3C3C3C"/>
                </a:solidFill>
                <a:uFill>
                  <a:solidFill>
                    <a:srgbClr val="3C3C3C"/>
                  </a:solidFill>
                </a:uFill>
                <a:latin typeface="Trebuchet MS"/>
                <a:cs typeface="Trebuchet MS"/>
              </a:rPr>
              <a:t>es</a:t>
            </a:r>
            <a:r>
              <a:rPr sz="1800" u="sng" spc="-40" dirty="0">
                <a:solidFill>
                  <a:srgbClr val="3C3C3C"/>
                </a:solidFill>
                <a:uFill>
                  <a:solidFill>
                    <a:srgbClr val="3C3C3C"/>
                  </a:solidFill>
                </a:uFill>
                <a:latin typeface="Trebuchet MS"/>
                <a:cs typeface="Trebuchet MS"/>
              </a:rPr>
              <a:t> </a:t>
            </a:r>
            <a:r>
              <a:rPr sz="1800" u="sng" spc="-114" dirty="0">
                <a:solidFill>
                  <a:srgbClr val="3C3C3C"/>
                </a:solidFill>
                <a:uFill>
                  <a:solidFill>
                    <a:srgbClr val="3C3C3C"/>
                  </a:solidFill>
                </a:uFill>
                <a:latin typeface="Trebuchet MS"/>
                <a:cs typeface="Trebuchet MS"/>
              </a:rPr>
              <a:t>indiferente</a:t>
            </a:r>
            <a:r>
              <a:rPr sz="1800" spc="-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3C3C3C"/>
                </a:solidFill>
                <a:latin typeface="Trebuchet MS"/>
                <a:cs typeface="Trebuchet MS"/>
              </a:rPr>
              <a:t>entre</a:t>
            </a:r>
            <a:r>
              <a:rPr sz="1800" spc="-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3C3C3C"/>
                </a:solidFill>
                <a:latin typeface="Trebuchet MS"/>
                <a:cs typeface="Trebuchet MS"/>
              </a:rPr>
              <a:t>tener</a:t>
            </a:r>
            <a:r>
              <a:rPr sz="18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60" dirty="0">
                <a:solidFill>
                  <a:srgbClr val="3C3C3C"/>
                </a:solidFill>
                <a:latin typeface="Trebuchet MS"/>
                <a:cs typeface="Trebuchet MS"/>
              </a:rPr>
              <a:t>la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3C3C3C"/>
                </a:solidFill>
                <a:latin typeface="Trebuchet MS"/>
                <a:cs typeface="Trebuchet MS"/>
              </a:rPr>
              <a:t>lotería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270" dirty="0">
                <a:solidFill>
                  <a:srgbClr val="3C3C3C"/>
                </a:solidFill>
                <a:latin typeface="Trebuchet MS"/>
                <a:cs typeface="Trebuchet MS"/>
              </a:rPr>
              <a:t>X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3C3C3C"/>
                </a:solidFill>
                <a:latin typeface="Trebuchet MS"/>
                <a:cs typeface="Trebuchet MS"/>
              </a:rPr>
              <a:t>y</a:t>
            </a:r>
            <a:r>
              <a:rPr sz="1800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3C3C3C"/>
                </a:solidFill>
                <a:latin typeface="Trebuchet MS"/>
                <a:cs typeface="Trebuchet MS"/>
              </a:rPr>
              <a:t>tener</a:t>
            </a:r>
            <a:r>
              <a:rPr sz="18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3C3C3C"/>
                </a:solidFill>
                <a:latin typeface="Trebuchet MS"/>
                <a:cs typeface="Trebuchet MS"/>
              </a:rPr>
              <a:t>con </a:t>
            </a:r>
            <a:r>
              <a:rPr sz="1800" spc="40" dirty="0">
                <a:solidFill>
                  <a:srgbClr val="3C3C3C"/>
                </a:solidFill>
                <a:latin typeface="Trebuchet MS"/>
                <a:cs typeface="Trebuchet MS"/>
              </a:rPr>
              <a:t>CERTEZA</a:t>
            </a:r>
            <a:r>
              <a:rPr sz="1800" spc="-6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60" dirty="0">
                <a:solidFill>
                  <a:srgbClr val="3C3C3C"/>
                </a:solidFill>
                <a:latin typeface="Trebuchet MS"/>
                <a:cs typeface="Trebuchet MS"/>
              </a:rPr>
              <a:t>la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3C3C3C"/>
                </a:solidFill>
                <a:latin typeface="Trebuchet MS"/>
                <a:cs typeface="Trebuchet MS"/>
              </a:rPr>
              <a:t>cantidad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x</a:t>
            </a:r>
            <a:r>
              <a:rPr sz="1800" spc="-157" baseline="-20833" dirty="0">
                <a:solidFill>
                  <a:srgbClr val="3C3C3C"/>
                </a:solidFill>
                <a:latin typeface="Trebuchet MS"/>
                <a:cs typeface="Trebuchet MS"/>
              </a:rPr>
              <a:t>c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.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4715" y="3781425"/>
            <a:ext cx="30791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65" dirty="0">
                <a:solidFill>
                  <a:srgbClr val="3C3C3C"/>
                </a:solidFill>
                <a:latin typeface="Trebuchet MS"/>
                <a:cs typeface="Trebuchet MS"/>
              </a:rPr>
              <a:t>Y</a:t>
            </a:r>
            <a:r>
              <a:rPr sz="1800" spc="-270" dirty="0">
                <a:solidFill>
                  <a:srgbClr val="3C3C3C"/>
                </a:solidFill>
                <a:latin typeface="Trebuchet MS"/>
                <a:cs typeface="Trebuchet MS"/>
              </a:rPr>
              <a:t>,</a:t>
            </a:r>
            <a:r>
              <a:rPr sz="1800" spc="-229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3C3C3C"/>
                </a:solidFill>
                <a:latin typeface="Trebuchet MS"/>
                <a:cs typeface="Trebuchet MS"/>
              </a:rPr>
              <a:t>por</a:t>
            </a:r>
            <a:r>
              <a:rPr sz="1800" spc="-5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3C3C3C"/>
                </a:solidFill>
                <a:latin typeface="Trebuchet MS"/>
                <a:cs typeface="Trebuchet MS"/>
              </a:rPr>
              <a:t>tant</a:t>
            </a:r>
            <a:r>
              <a:rPr sz="1800" spc="-150" dirty="0">
                <a:solidFill>
                  <a:srgbClr val="3C3C3C"/>
                </a:solidFill>
                <a:latin typeface="Trebuchet MS"/>
                <a:cs typeface="Trebuchet MS"/>
              </a:rPr>
              <a:t>o</a:t>
            </a:r>
            <a:r>
              <a:rPr sz="1800" spc="-270" dirty="0">
                <a:solidFill>
                  <a:srgbClr val="3C3C3C"/>
                </a:solidFill>
                <a:latin typeface="Trebuchet MS"/>
                <a:cs typeface="Trebuchet MS"/>
              </a:rPr>
              <a:t>,</a:t>
            </a:r>
            <a:r>
              <a:rPr sz="1800" spc="-229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Trebuchet MS"/>
                <a:cs typeface="Trebuchet MS"/>
              </a:rPr>
              <a:t>x</a:t>
            </a:r>
            <a:r>
              <a:rPr sz="1800" spc="-104" baseline="-20833" dirty="0">
                <a:solidFill>
                  <a:srgbClr val="3C3C3C"/>
                </a:solidFill>
                <a:latin typeface="Trebuchet MS"/>
                <a:cs typeface="Trebuchet MS"/>
              </a:rPr>
              <a:t>c</a:t>
            </a:r>
            <a:r>
              <a:rPr sz="1800" spc="-37" baseline="-20833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3C3C3C"/>
                </a:solidFill>
                <a:latin typeface="Trebuchet MS"/>
                <a:cs typeface="Trebuchet MS"/>
              </a:rPr>
              <a:t>d</a:t>
            </a:r>
            <a:r>
              <a:rPr sz="1800" spc="-114" dirty="0">
                <a:solidFill>
                  <a:srgbClr val="3C3C3C"/>
                </a:solidFill>
                <a:latin typeface="Trebuchet MS"/>
                <a:cs typeface="Trebuchet MS"/>
              </a:rPr>
              <a:t>ebe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3C3C3C"/>
                </a:solidFill>
                <a:latin typeface="Trebuchet MS"/>
                <a:cs typeface="Trebuchet MS"/>
              </a:rPr>
              <a:t>cumpl</a:t>
            </a:r>
            <a:r>
              <a:rPr sz="1800" spc="-60" dirty="0">
                <a:solidFill>
                  <a:srgbClr val="3C3C3C"/>
                </a:solidFill>
                <a:latin typeface="Trebuchet MS"/>
                <a:cs typeface="Trebuchet MS"/>
              </a:rPr>
              <a:t>i</a:t>
            </a:r>
            <a:r>
              <a:rPr sz="1800" spc="10" dirty="0">
                <a:solidFill>
                  <a:srgbClr val="3C3C3C"/>
                </a:solidFill>
                <a:latin typeface="Trebuchet MS"/>
                <a:cs typeface="Trebuchet MS"/>
              </a:rPr>
              <a:t>r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que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92246" y="3717797"/>
            <a:ext cx="1728470" cy="353943"/>
          </a:xfrm>
          <a:prstGeom prst="rect">
            <a:avLst/>
          </a:prstGeom>
          <a:ln w="22225">
            <a:solidFill>
              <a:srgbClr val="006FC0"/>
            </a:solidFill>
          </a:ln>
        </p:spPr>
        <p:txBody>
          <a:bodyPr vert="horz" wrap="square" lIns="0" tIns="76200" rIns="0" bIns="0" rtlCol="0">
            <a:spAutoFit/>
          </a:bodyPr>
          <a:lstStyle/>
          <a:p>
            <a:pPr marL="133350">
              <a:lnSpc>
                <a:spcPct val="100000"/>
              </a:lnSpc>
              <a:spcBef>
                <a:spcPts val="600"/>
              </a:spcBef>
            </a:pPr>
            <a:r>
              <a:rPr sz="1800" b="1" spc="-65" dirty="0">
                <a:solidFill>
                  <a:schemeClr val="accent6">
                    <a:lumMod val="50000"/>
                  </a:schemeClr>
                </a:solidFill>
                <a:latin typeface="Trebuchet MS"/>
                <a:cs typeface="Trebuchet MS"/>
              </a:rPr>
              <a:t>u(x</a:t>
            </a:r>
            <a:r>
              <a:rPr sz="1800" b="1" spc="-97" baseline="-20833" dirty="0">
                <a:solidFill>
                  <a:schemeClr val="accent6">
                    <a:lumMod val="50000"/>
                  </a:schemeClr>
                </a:solidFill>
                <a:latin typeface="Trebuchet MS"/>
                <a:cs typeface="Trebuchet MS"/>
              </a:rPr>
              <a:t>c</a:t>
            </a:r>
            <a:r>
              <a:rPr sz="1800" b="1" spc="-65" dirty="0">
                <a:solidFill>
                  <a:schemeClr val="accent6">
                    <a:lumMod val="50000"/>
                  </a:schemeClr>
                </a:solidFill>
                <a:latin typeface="Trebuchet MS"/>
                <a:cs typeface="Trebuchet MS"/>
              </a:rPr>
              <a:t>)</a:t>
            </a:r>
            <a:r>
              <a:rPr sz="1800" b="1" spc="-50" dirty="0">
                <a:solidFill>
                  <a:schemeClr val="accent6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1800" b="1" spc="105" dirty="0">
                <a:solidFill>
                  <a:schemeClr val="accent6">
                    <a:lumMod val="50000"/>
                  </a:schemeClr>
                </a:solidFill>
                <a:latin typeface="Trebuchet MS"/>
                <a:cs typeface="Trebuchet MS"/>
              </a:rPr>
              <a:t>=</a:t>
            </a:r>
            <a:r>
              <a:rPr sz="1800" b="1" spc="-50" dirty="0">
                <a:solidFill>
                  <a:schemeClr val="accent6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1800" b="1" spc="-65" dirty="0">
                <a:solidFill>
                  <a:schemeClr val="accent6">
                    <a:lumMod val="50000"/>
                  </a:schemeClr>
                </a:solidFill>
                <a:latin typeface="Trebuchet MS"/>
                <a:cs typeface="Trebuchet MS"/>
              </a:rPr>
              <a:t>E</a:t>
            </a:r>
            <a:r>
              <a:rPr sz="1800" b="1" spc="-70" dirty="0">
                <a:solidFill>
                  <a:schemeClr val="accent6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1800" b="1" spc="-90" dirty="0">
                <a:solidFill>
                  <a:schemeClr val="accent6">
                    <a:lumMod val="50000"/>
                  </a:schemeClr>
                </a:solidFill>
                <a:latin typeface="Trebuchet MS"/>
                <a:cs typeface="Trebuchet MS"/>
              </a:rPr>
              <a:t>(u</a:t>
            </a:r>
            <a:r>
              <a:rPr sz="1800" b="1" spc="-40" dirty="0">
                <a:solidFill>
                  <a:schemeClr val="accent6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chemeClr val="accent6">
                    <a:lumMod val="50000"/>
                  </a:schemeClr>
                </a:solidFill>
                <a:latin typeface="Trebuchet MS"/>
                <a:cs typeface="Trebuchet MS"/>
              </a:rPr>
              <a:t>(X))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94715" y="4054701"/>
            <a:ext cx="6296660" cy="1650364"/>
          </a:xfrm>
          <a:prstGeom prst="rect">
            <a:avLst/>
          </a:prstGeom>
        </p:spPr>
        <p:txBody>
          <a:bodyPr vert="horz" wrap="square" lIns="0" tIns="144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0"/>
              </a:spcBef>
            </a:pPr>
            <a:r>
              <a:rPr sz="1800" b="1" spc="-5" dirty="0">
                <a:solidFill>
                  <a:srgbClr val="3C3C3C"/>
                </a:solidFill>
                <a:latin typeface="Trebuchet MS"/>
                <a:cs typeface="Trebuchet MS"/>
              </a:rPr>
              <a:t>Observación</a:t>
            </a:r>
            <a:r>
              <a:rPr sz="1800" spc="-5" dirty="0">
                <a:solidFill>
                  <a:srgbClr val="3C3C3C"/>
                </a:solidFill>
                <a:latin typeface="Trebuchet MS"/>
                <a:cs typeface="Trebuchet MS"/>
              </a:rPr>
              <a:t>:</a:t>
            </a:r>
            <a:r>
              <a:rPr sz="1800" spc="28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75" dirty="0">
                <a:solidFill>
                  <a:srgbClr val="3C3C3C"/>
                </a:solidFill>
                <a:latin typeface="Trebuchet MS"/>
                <a:cs typeface="Trebuchet MS"/>
              </a:rPr>
              <a:t>nótese</a:t>
            </a:r>
            <a:r>
              <a:rPr sz="1800" spc="-5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que</a:t>
            </a:r>
            <a:r>
              <a:rPr sz="1800" spc="-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3C3C3C"/>
                </a:solidFill>
                <a:latin typeface="Trebuchet MS"/>
                <a:cs typeface="Trebuchet MS"/>
              </a:rPr>
              <a:t>si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60" dirty="0">
                <a:solidFill>
                  <a:srgbClr val="3C3C3C"/>
                </a:solidFill>
                <a:latin typeface="Trebuchet MS"/>
                <a:cs typeface="Trebuchet MS"/>
              </a:rPr>
              <a:t>la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3C3C3C"/>
                </a:solidFill>
                <a:latin typeface="Trebuchet MS"/>
                <a:cs typeface="Trebuchet MS"/>
              </a:rPr>
              <a:t>función</a:t>
            </a:r>
            <a:r>
              <a:rPr sz="1800" spc="-5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de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3C3C3C"/>
                </a:solidFill>
                <a:latin typeface="Trebuchet MS"/>
                <a:cs typeface="Trebuchet MS"/>
              </a:rPr>
              <a:t>utilidad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3C3C3C"/>
                </a:solidFill>
                <a:latin typeface="Trebuchet MS"/>
                <a:cs typeface="Trebuchet MS"/>
              </a:rPr>
              <a:t>u(x)</a:t>
            </a:r>
            <a:r>
              <a:rPr sz="1800" spc="-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3C3C3C"/>
                </a:solidFill>
                <a:latin typeface="Trebuchet MS"/>
                <a:cs typeface="Trebuchet MS"/>
              </a:rPr>
              <a:t>es</a:t>
            </a:r>
            <a:r>
              <a:rPr sz="1800" spc="-5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3C3C3C"/>
                </a:solidFill>
                <a:latin typeface="Trebuchet MS"/>
                <a:cs typeface="Trebuchet MS"/>
              </a:rPr>
              <a:t>u(x)</a:t>
            </a:r>
            <a:r>
              <a:rPr sz="1800" spc="-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105" dirty="0">
                <a:solidFill>
                  <a:srgbClr val="3C3C3C"/>
                </a:solidFill>
                <a:latin typeface="Trebuchet MS"/>
                <a:cs typeface="Trebuchet MS"/>
              </a:rPr>
              <a:t>=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Trebuchet MS"/>
                <a:cs typeface="Trebuchet MS"/>
              </a:rPr>
              <a:t>x</a:t>
            </a:r>
            <a:endParaRPr sz="1800" dirty="0">
              <a:latin typeface="Trebuchet MS"/>
              <a:cs typeface="Trebuchet MS"/>
            </a:endParaRPr>
          </a:p>
          <a:p>
            <a:pPr marL="495300">
              <a:lnSpc>
                <a:spcPct val="100000"/>
              </a:lnSpc>
              <a:spcBef>
                <a:spcPts val="1045"/>
              </a:spcBef>
              <a:tabLst>
                <a:tab pos="952500" algn="l"/>
                <a:tab pos="1967230" algn="l"/>
              </a:tabLst>
            </a:pPr>
            <a:r>
              <a:rPr sz="1800" dirty="0">
                <a:solidFill>
                  <a:srgbClr val="3C3C3C"/>
                </a:solidFill>
                <a:latin typeface="Symbol"/>
                <a:cs typeface="Symbol"/>
              </a:rPr>
              <a:t></a:t>
            </a:r>
            <a:r>
              <a:rPr sz="1800" dirty="0">
                <a:solidFill>
                  <a:srgbClr val="3C3C3C"/>
                </a:solidFill>
                <a:latin typeface="Times New Roman"/>
                <a:cs typeface="Times New Roman"/>
              </a:rPr>
              <a:t>	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u</a:t>
            </a:r>
            <a:r>
              <a:rPr sz="1800" spc="-75" dirty="0">
                <a:solidFill>
                  <a:srgbClr val="3C3C3C"/>
                </a:solidFill>
                <a:latin typeface="Trebuchet MS"/>
                <a:cs typeface="Trebuchet MS"/>
              </a:rPr>
              <a:t>(</a:t>
            </a:r>
            <a:r>
              <a:rPr sz="1800" spc="-10" dirty="0">
                <a:solidFill>
                  <a:srgbClr val="3C3C3C"/>
                </a:solidFill>
                <a:latin typeface="Trebuchet MS"/>
                <a:cs typeface="Trebuchet MS"/>
              </a:rPr>
              <a:t>x</a:t>
            </a:r>
            <a:r>
              <a:rPr sz="1800" spc="-104" baseline="-20833" dirty="0">
                <a:solidFill>
                  <a:srgbClr val="3C3C3C"/>
                </a:solidFill>
                <a:latin typeface="Trebuchet MS"/>
                <a:cs typeface="Trebuchet MS"/>
              </a:rPr>
              <a:t>c</a:t>
            </a:r>
            <a:r>
              <a:rPr sz="1800" spc="-80" dirty="0">
                <a:solidFill>
                  <a:srgbClr val="3C3C3C"/>
                </a:solidFill>
                <a:latin typeface="Trebuchet MS"/>
                <a:cs typeface="Trebuchet MS"/>
              </a:rPr>
              <a:t>)</a:t>
            </a:r>
            <a:r>
              <a:rPr sz="1800" spc="-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105" dirty="0">
                <a:solidFill>
                  <a:srgbClr val="3C3C3C"/>
                </a:solidFill>
                <a:latin typeface="Trebuchet MS"/>
                <a:cs typeface="Trebuchet MS"/>
              </a:rPr>
              <a:t>=</a:t>
            </a:r>
            <a:r>
              <a:rPr sz="18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Trebuchet MS"/>
                <a:cs typeface="Trebuchet MS"/>
              </a:rPr>
              <a:t>x</a:t>
            </a:r>
            <a:r>
              <a:rPr sz="1800" spc="-104" baseline="-20833" dirty="0">
                <a:solidFill>
                  <a:srgbClr val="3C3C3C"/>
                </a:solidFill>
                <a:latin typeface="Trebuchet MS"/>
                <a:cs typeface="Trebuchet MS"/>
              </a:rPr>
              <a:t>c</a:t>
            </a:r>
            <a:r>
              <a:rPr sz="1800" baseline="-20833" dirty="0">
                <a:solidFill>
                  <a:srgbClr val="3C3C3C"/>
                </a:solidFill>
                <a:latin typeface="Trebuchet MS"/>
                <a:cs typeface="Trebuchet MS"/>
              </a:rPr>
              <a:t>	</a:t>
            </a:r>
            <a:r>
              <a:rPr sz="1800" spc="105" dirty="0">
                <a:solidFill>
                  <a:srgbClr val="3C3C3C"/>
                </a:solidFill>
                <a:latin typeface="Trebuchet MS"/>
                <a:cs typeface="Trebuchet MS"/>
              </a:rPr>
              <a:t>=</a:t>
            </a:r>
            <a:r>
              <a:rPr sz="18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3C3C3C"/>
                </a:solidFill>
                <a:latin typeface="Trebuchet MS"/>
                <a:cs typeface="Trebuchet MS"/>
              </a:rPr>
              <a:t>E</a:t>
            </a:r>
            <a:r>
              <a:rPr sz="1800" spc="-5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3C3C3C"/>
                </a:solidFill>
                <a:latin typeface="Trebuchet MS"/>
                <a:cs typeface="Trebuchet MS"/>
              </a:rPr>
              <a:t>(</a:t>
            </a:r>
            <a:r>
              <a:rPr sz="1800" spc="-85" dirty="0">
                <a:solidFill>
                  <a:srgbClr val="3C3C3C"/>
                </a:solidFill>
                <a:latin typeface="Trebuchet MS"/>
                <a:cs typeface="Trebuchet MS"/>
              </a:rPr>
              <a:t>u</a:t>
            </a:r>
            <a:r>
              <a:rPr sz="1800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3C3C3C"/>
                </a:solidFill>
                <a:latin typeface="Trebuchet MS"/>
                <a:cs typeface="Trebuchet MS"/>
              </a:rPr>
              <a:t>(</a:t>
            </a:r>
            <a:r>
              <a:rPr sz="1800" spc="95" dirty="0">
                <a:solidFill>
                  <a:srgbClr val="3C3C3C"/>
                </a:solidFill>
                <a:latin typeface="Trebuchet MS"/>
                <a:cs typeface="Trebuchet MS"/>
              </a:rPr>
              <a:t>X)</a:t>
            </a:r>
            <a:r>
              <a:rPr sz="1800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3C3C3C"/>
                </a:solidFill>
                <a:latin typeface="Trebuchet MS"/>
                <a:cs typeface="Trebuchet MS"/>
              </a:rPr>
              <a:t>)</a:t>
            </a:r>
            <a:endParaRPr sz="1800" dirty="0">
              <a:latin typeface="Trebuchet MS"/>
              <a:cs typeface="Trebuchet MS"/>
            </a:endParaRPr>
          </a:p>
          <a:p>
            <a:pPr marL="1981200">
              <a:lnSpc>
                <a:spcPct val="100000"/>
              </a:lnSpc>
              <a:spcBef>
                <a:spcPts val="1019"/>
              </a:spcBef>
            </a:pPr>
            <a:r>
              <a:rPr sz="1800" spc="105" dirty="0">
                <a:solidFill>
                  <a:srgbClr val="3C3C3C"/>
                </a:solidFill>
                <a:latin typeface="Trebuchet MS"/>
                <a:cs typeface="Trebuchet MS"/>
              </a:rPr>
              <a:t>=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3C3C3C"/>
                </a:solidFill>
                <a:latin typeface="Trebuchet MS"/>
                <a:cs typeface="Trebuchet MS"/>
              </a:rPr>
              <a:t>E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3C3C3C"/>
                </a:solidFill>
                <a:latin typeface="Trebuchet MS"/>
                <a:cs typeface="Trebuchet MS"/>
              </a:rPr>
              <a:t>(</a:t>
            </a:r>
            <a:r>
              <a:rPr sz="1800" spc="95" dirty="0">
                <a:solidFill>
                  <a:srgbClr val="3C3C3C"/>
                </a:solidFill>
                <a:latin typeface="Trebuchet MS"/>
                <a:cs typeface="Trebuchet MS"/>
              </a:rPr>
              <a:t>X)</a:t>
            </a:r>
            <a:endParaRPr sz="1800" dirty="0">
              <a:latin typeface="Trebuchet MS"/>
              <a:cs typeface="Trebuchet MS"/>
            </a:endParaRPr>
          </a:p>
          <a:p>
            <a:pPr marL="495300">
              <a:lnSpc>
                <a:spcPct val="100000"/>
              </a:lnSpc>
              <a:spcBef>
                <a:spcPts val="1045"/>
              </a:spcBef>
            </a:pPr>
            <a:r>
              <a:rPr sz="1800" dirty="0">
                <a:solidFill>
                  <a:srgbClr val="3C3C3C"/>
                </a:solidFill>
                <a:latin typeface="Symbol"/>
                <a:cs typeface="Symbol"/>
              </a:rPr>
              <a:t></a:t>
            </a:r>
            <a:r>
              <a:rPr sz="1800" spc="55" dirty="0">
                <a:solidFill>
                  <a:srgbClr val="3C3C3C"/>
                </a:solidFill>
                <a:latin typeface="Times New Roman"/>
                <a:cs typeface="Times New Roman"/>
              </a:rPr>
              <a:t> </a:t>
            </a:r>
            <a:r>
              <a:rPr sz="1800" spc="85" dirty="0">
                <a:solidFill>
                  <a:srgbClr val="3C3C3C"/>
                </a:solidFill>
                <a:latin typeface="Trebuchet MS"/>
                <a:cs typeface="Trebuchet MS"/>
              </a:rPr>
              <a:t>EMC</a:t>
            </a:r>
            <a:r>
              <a:rPr sz="1800" spc="-5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3C3C3C"/>
                </a:solidFill>
                <a:latin typeface="Trebuchet MS"/>
                <a:cs typeface="Trebuchet MS"/>
              </a:rPr>
              <a:t>(</a:t>
            </a:r>
            <a:r>
              <a:rPr sz="1800" spc="95" dirty="0">
                <a:solidFill>
                  <a:srgbClr val="3C3C3C"/>
                </a:solidFill>
                <a:latin typeface="Trebuchet MS"/>
                <a:cs typeface="Trebuchet MS"/>
              </a:rPr>
              <a:t>X)</a:t>
            </a:r>
            <a:r>
              <a:rPr sz="1800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105" dirty="0">
                <a:solidFill>
                  <a:srgbClr val="3C3C3C"/>
                </a:solidFill>
                <a:latin typeface="Trebuchet MS"/>
                <a:cs typeface="Trebuchet MS"/>
              </a:rPr>
              <a:t>=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3C3C3C"/>
                </a:solidFill>
                <a:latin typeface="Trebuchet MS"/>
                <a:cs typeface="Trebuchet MS"/>
              </a:rPr>
              <a:t>E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3C3C3C"/>
                </a:solidFill>
                <a:latin typeface="Trebuchet MS"/>
                <a:cs typeface="Trebuchet MS"/>
              </a:rPr>
              <a:t>(</a:t>
            </a:r>
            <a:r>
              <a:rPr sz="1800" spc="114" dirty="0">
                <a:solidFill>
                  <a:srgbClr val="3C3C3C"/>
                </a:solidFill>
                <a:latin typeface="Trebuchet MS"/>
                <a:cs typeface="Trebuchet MS"/>
              </a:rPr>
              <a:t>X</a:t>
            </a:r>
            <a:r>
              <a:rPr sz="1800" spc="65" dirty="0">
                <a:solidFill>
                  <a:srgbClr val="3C3C3C"/>
                </a:solidFill>
                <a:latin typeface="Trebuchet MS"/>
                <a:cs typeface="Trebuchet MS"/>
              </a:rPr>
              <a:t>)</a:t>
            </a:r>
            <a:r>
              <a:rPr sz="1800" spc="-270" dirty="0">
                <a:solidFill>
                  <a:srgbClr val="3C3C3C"/>
                </a:solidFill>
                <a:latin typeface="Trebuchet MS"/>
                <a:cs typeface="Trebuchet MS"/>
              </a:rPr>
              <a:t>:</a:t>
            </a:r>
            <a:r>
              <a:rPr sz="1800" spc="-20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3C3C3C"/>
                </a:solidFill>
                <a:latin typeface="Trebuchet MS"/>
                <a:cs typeface="Trebuchet MS"/>
              </a:rPr>
              <a:t>criterio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3C3C3C"/>
                </a:solidFill>
                <a:latin typeface="Trebuchet MS"/>
                <a:cs typeface="Trebuchet MS"/>
              </a:rPr>
              <a:t>d</a:t>
            </a:r>
            <a:r>
              <a:rPr sz="1800" spc="-130" dirty="0">
                <a:solidFill>
                  <a:srgbClr val="3C3C3C"/>
                </a:solidFill>
                <a:latin typeface="Trebuchet MS"/>
                <a:cs typeface="Trebuchet MS"/>
              </a:rPr>
              <a:t>el</a:t>
            </a:r>
            <a:r>
              <a:rPr sz="1800" spc="-3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lang="es-CO" sz="1800" spc="-3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30" dirty="0">
                <a:solidFill>
                  <a:srgbClr val="3C3C3C"/>
                </a:solidFill>
                <a:latin typeface="Trebuchet MS"/>
                <a:cs typeface="Trebuchet MS"/>
              </a:rPr>
              <a:t>EM</a:t>
            </a:r>
            <a:r>
              <a:rPr lang="es-CO" sz="1800" spc="30" dirty="0">
                <a:solidFill>
                  <a:srgbClr val="3C3C3C"/>
                </a:solidFill>
                <a:latin typeface="Trebuchet MS"/>
                <a:cs typeface="Trebuchet MS"/>
              </a:rPr>
              <a:t>C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51646" y="6054344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4590B8"/>
                </a:solidFill>
                <a:latin typeface="Trebuchet MS"/>
                <a:cs typeface="Trebuchet MS"/>
              </a:rPr>
              <a:t>21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64198" y="2344001"/>
            <a:ext cx="2768642" cy="110131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8055" y="600455"/>
            <a:ext cx="8239125" cy="125920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3500">
              <a:latin typeface="Times New Roman"/>
              <a:cs typeface="Times New Roman"/>
            </a:endParaRPr>
          </a:p>
          <a:p>
            <a:pPr marL="215900">
              <a:lnSpc>
                <a:spcPct val="100000"/>
              </a:lnSpc>
            </a:pPr>
            <a:r>
              <a:rPr sz="2800" b="0" spc="55" dirty="0">
                <a:solidFill>
                  <a:srgbClr val="FFFFFF"/>
                </a:solidFill>
                <a:latin typeface="Trebuchet MS"/>
                <a:cs typeface="Trebuchet MS"/>
              </a:rPr>
              <a:t>EQUIVALENTE</a:t>
            </a:r>
            <a:r>
              <a:rPr sz="2800" b="0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b="0" spc="145" dirty="0">
                <a:solidFill>
                  <a:srgbClr val="FFFFFF"/>
                </a:solidFill>
                <a:latin typeface="Trebuchet MS"/>
                <a:cs typeface="Trebuchet MS"/>
              </a:rPr>
              <a:t>MONETARIO</a:t>
            </a:r>
            <a:r>
              <a:rPr sz="2800" b="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b="0" spc="40" dirty="0">
                <a:solidFill>
                  <a:srgbClr val="FFFFFF"/>
                </a:solidFill>
                <a:latin typeface="Trebuchet MS"/>
                <a:cs typeface="Trebuchet MS"/>
              </a:rPr>
              <a:t>CIERTO</a:t>
            </a:r>
            <a:r>
              <a:rPr sz="2800" b="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b="0" spc="25" dirty="0">
                <a:solidFill>
                  <a:srgbClr val="FFFFFF"/>
                </a:solidFill>
                <a:latin typeface="Trebuchet MS"/>
                <a:cs typeface="Trebuchet MS"/>
              </a:rPr>
              <a:t>(EMC)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1763" y="1872488"/>
            <a:ext cx="32086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3C3C3C"/>
                </a:solidFill>
                <a:latin typeface="Trebuchet MS"/>
                <a:cs typeface="Trebuchet MS"/>
              </a:rPr>
              <a:t>En</a:t>
            </a:r>
            <a:r>
              <a:rPr sz="1800" spc="-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30" dirty="0">
                <a:solidFill>
                  <a:srgbClr val="3C3C3C"/>
                </a:solidFill>
                <a:latin typeface="Trebuchet MS"/>
                <a:cs typeface="Trebuchet MS"/>
              </a:rPr>
              <a:t>el</a:t>
            </a:r>
            <a:r>
              <a:rPr sz="1800" spc="-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c</a:t>
            </a:r>
            <a:r>
              <a:rPr sz="1800" spc="-125" dirty="0">
                <a:solidFill>
                  <a:srgbClr val="3C3C3C"/>
                </a:solidFill>
                <a:latin typeface="Trebuchet MS"/>
                <a:cs typeface="Trebuchet MS"/>
              </a:rPr>
              <a:t>a</a:t>
            </a:r>
            <a:r>
              <a:rPr sz="1800" spc="-90" dirty="0">
                <a:solidFill>
                  <a:srgbClr val="3C3C3C"/>
                </a:solidFill>
                <a:latin typeface="Trebuchet MS"/>
                <a:cs typeface="Trebuchet MS"/>
              </a:rPr>
              <a:t>s</a:t>
            </a:r>
            <a:r>
              <a:rPr sz="1800" spc="25" dirty="0">
                <a:solidFill>
                  <a:srgbClr val="3C3C3C"/>
                </a:solidFill>
                <a:latin typeface="Trebuchet MS"/>
                <a:cs typeface="Trebuchet MS"/>
              </a:rPr>
              <a:t>o</a:t>
            </a:r>
            <a:r>
              <a:rPr sz="1800" spc="-7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de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3C3C3C"/>
                </a:solidFill>
                <a:latin typeface="Trebuchet MS"/>
                <a:cs typeface="Trebuchet MS"/>
              </a:rPr>
              <a:t>l</a:t>
            </a:r>
            <a:r>
              <a:rPr sz="1800" spc="-204" dirty="0">
                <a:solidFill>
                  <a:srgbClr val="3C3C3C"/>
                </a:solidFill>
                <a:latin typeface="Trebuchet MS"/>
                <a:cs typeface="Trebuchet MS"/>
              </a:rPr>
              <a:t>a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3C3C3C"/>
                </a:solidFill>
                <a:latin typeface="Trebuchet MS"/>
                <a:cs typeface="Trebuchet MS"/>
              </a:rPr>
              <a:t>lo</a:t>
            </a:r>
            <a:r>
              <a:rPr sz="1800" spc="-70" dirty="0">
                <a:solidFill>
                  <a:srgbClr val="3C3C3C"/>
                </a:solidFill>
                <a:latin typeface="Trebuchet MS"/>
                <a:cs typeface="Trebuchet MS"/>
              </a:rPr>
              <a:t>t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ería</a:t>
            </a:r>
            <a:r>
              <a:rPr sz="1800" spc="-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30" dirty="0">
                <a:solidFill>
                  <a:srgbClr val="3C3C3C"/>
                </a:solidFill>
                <a:latin typeface="Trebuchet MS"/>
                <a:cs typeface="Trebuchet MS"/>
              </a:rPr>
              <a:t>L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3C3C3C"/>
                </a:solidFill>
                <a:latin typeface="Trebuchet MS"/>
                <a:cs typeface="Trebuchet MS"/>
              </a:rPr>
              <a:t>da</a:t>
            </a:r>
            <a:r>
              <a:rPr sz="1800" spc="-125" dirty="0">
                <a:solidFill>
                  <a:srgbClr val="3C3C3C"/>
                </a:solidFill>
                <a:latin typeface="Trebuchet MS"/>
                <a:cs typeface="Trebuchet MS"/>
              </a:rPr>
              <a:t>d</a:t>
            </a:r>
            <a:r>
              <a:rPr sz="1800" spc="-180" dirty="0">
                <a:solidFill>
                  <a:srgbClr val="3C3C3C"/>
                </a:solidFill>
                <a:latin typeface="Trebuchet MS"/>
                <a:cs typeface="Trebuchet MS"/>
              </a:rPr>
              <a:t>a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po</a:t>
            </a:r>
            <a:r>
              <a:rPr sz="1800" spc="-170" dirty="0">
                <a:solidFill>
                  <a:srgbClr val="3C3C3C"/>
                </a:solidFill>
                <a:latin typeface="Trebuchet MS"/>
                <a:cs typeface="Trebuchet MS"/>
              </a:rPr>
              <a:t>r</a:t>
            </a:r>
            <a:r>
              <a:rPr sz="1800" spc="-270" dirty="0">
                <a:solidFill>
                  <a:srgbClr val="3C3C3C"/>
                </a:solidFill>
                <a:latin typeface="Trebuchet MS"/>
                <a:cs typeface="Trebuchet MS"/>
              </a:rPr>
              <a:t>,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1763" y="3494278"/>
            <a:ext cx="20243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S</a:t>
            </a:r>
            <a:r>
              <a:rPr sz="1800" spc="-120" dirty="0">
                <a:solidFill>
                  <a:srgbClr val="3C3C3C"/>
                </a:solidFill>
                <a:latin typeface="Trebuchet MS"/>
                <a:cs typeface="Trebuchet MS"/>
              </a:rPr>
              <a:t>i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3C3C3C"/>
                </a:solidFill>
                <a:latin typeface="Trebuchet MS"/>
                <a:cs typeface="Trebuchet MS"/>
              </a:rPr>
              <a:t>para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3C3C3C"/>
                </a:solidFill>
                <a:latin typeface="Trebuchet MS"/>
                <a:cs typeface="Trebuchet MS"/>
              </a:rPr>
              <a:t>un</a:t>
            </a:r>
            <a:r>
              <a:rPr sz="1800" spc="-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250" dirty="0">
                <a:solidFill>
                  <a:srgbClr val="3C3C3C"/>
                </a:solidFill>
                <a:latin typeface="Trebuchet MS"/>
                <a:cs typeface="Trebuchet MS"/>
              </a:rPr>
              <a:t>D</a:t>
            </a:r>
            <a:r>
              <a:rPr sz="1800" spc="-120" dirty="0">
                <a:solidFill>
                  <a:srgbClr val="3C3C3C"/>
                </a:solidFill>
                <a:latin typeface="Trebuchet MS"/>
                <a:cs typeface="Trebuchet MS"/>
              </a:rPr>
              <a:t>e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c</a:t>
            </a:r>
            <a:r>
              <a:rPr sz="1800" spc="-70" dirty="0">
                <a:solidFill>
                  <a:srgbClr val="3C3C3C"/>
                </a:solidFill>
                <a:latin typeface="Trebuchet MS"/>
                <a:cs typeface="Trebuchet MS"/>
              </a:rPr>
              <a:t>i</a:t>
            </a:r>
            <a:r>
              <a:rPr sz="1800" spc="-90" dirty="0">
                <a:solidFill>
                  <a:srgbClr val="3C3C3C"/>
                </a:solidFill>
                <a:latin typeface="Trebuchet MS"/>
                <a:cs typeface="Trebuchet MS"/>
              </a:rPr>
              <a:t>s</a:t>
            </a:r>
            <a:r>
              <a:rPr sz="1800" spc="20" dirty="0">
                <a:solidFill>
                  <a:srgbClr val="3C3C3C"/>
                </a:solidFill>
                <a:latin typeface="Trebuchet MS"/>
                <a:cs typeface="Trebuchet MS"/>
              </a:rPr>
              <a:t>or</a:t>
            </a:r>
            <a:r>
              <a:rPr sz="1800" spc="-6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250" dirty="0">
                <a:solidFill>
                  <a:srgbClr val="3C3C3C"/>
                </a:solidFill>
                <a:latin typeface="Trebuchet MS"/>
                <a:cs typeface="Trebuchet MS"/>
              </a:rPr>
              <a:t>D</a:t>
            </a:r>
            <a:r>
              <a:rPr sz="1800" spc="-270" dirty="0">
                <a:solidFill>
                  <a:srgbClr val="3C3C3C"/>
                </a:solidFill>
                <a:latin typeface="Trebuchet MS"/>
                <a:cs typeface="Trebuchet MS"/>
              </a:rPr>
              <a:t>: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6363" y="5927242"/>
            <a:ext cx="72377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0"/>
              </a:spcBef>
            </a:pPr>
            <a:r>
              <a:rPr sz="1800" spc="-80" dirty="0">
                <a:solidFill>
                  <a:srgbClr val="3C3C3C"/>
                </a:solidFill>
                <a:latin typeface="Trebuchet MS"/>
                <a:cs typeface="Trebuchet MS"/>
              </a:rPr>
              <a:t>se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3C3C3C"/>
                </a:solidFill>
                <a:latin typeface="Trebuchet MS"/>
                <a:cs typeface="Trebuchet MS"/>
              </a:rPr>
              <a:t>tendría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que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30" dirty="0">
                <a:solidFill>
                  <a:srgbClr val="3C3C3C"/>
                </a:solidFill>
                <a:latin typeface="Trebuchet MS"/>
                <a:cs typeface="Trebuchet MS"/>
              </a:rPr>
              <a:t>el</a:t>
            </a:r>
            <a:r>
              <a:rPr sz="1800" spc="-5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10" dirty="0">
                <a:solidFill>
                  <a:srgbClr val="3C3C3C"/>
                </a:solidFill>
                <a:latin typeface="Trebuchet MS"/>
                <a:cs typeface="Trebuchet MS"/>
              </a:rPr>
              <a:t>EMC(L)</a:t>
            </a:r>
            <a:r>
              <a:rPr sz="1800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105" dirty="0">
                <a:solidFill>
                  <a:srgbClr val="3C3C3C"/>
                </a:solidFill>
                <a:latin typeface="Trebuchet MS"/>
                <a:cs typeface="Trebuchet MS"/>
              </a:rPr>
              <a:t>=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x</a:t>
            </a:r>
            <a:r>
              <a:rPr sz="1800" spc="-60" baseline="-20833" dirty="0">
                <a:solidFill>
                  <a:srgbClr val="3C3C3C"/>
                </a:solidFill>
                <a:latin typeface="Trebuchet MS"/>
                <a:cs typeface="Trebuchet MS"/>
              </a:rPr>
              <a:t>c</a:t>
            </a:r>
            <a:r>
              <a:rPr sz="1800" spc="202" baseline="-20833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105" dirty="0">
                <a:solidFill>
                  <a:srgbClr val="3C3C3C"/>
                </a:solidFill>
                <a:latin typeface="Trebuchet MS"/>
                <a:cs typeface="Trebuchet MS"/>
              </a:rPr>
              <a:t>=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50" dirty="0">
                <a:solidFill>
                  <a:srgbClr val="3C3C3C"/>
                </a:solidFill>
                <a:latin typeface="Trebuchet MS"/>
                <a:cs typeface="Trebuchet MS"/>
              </a:rPr>
              <a:t>3;</a:t>
            </a:r>
            <a:r>
              <a:rPr sz="1800" spc="-114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3C3C3C"/>
                </a:solidFill>
                <a:latin typeface="Trebuchet MS"/>
                <a:cs typeface="Trebuchet MS"/>
              </a:rPr>
              <a:t>ahora</a:t>
            </a:r>
            <a:r>
              <a:rPr sz="1800" spc="-6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3C3C3C"/>
                </a:solidFill>
                <a:latin typeface="Trebuchet MS"/>
                <a:cs typeface="Trebuchet MS"/>
              </a:rPr>
              <a:t>si</a:t>
            </a:r>
            <a:r>
              <a:rPr sz="1800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30" dirty="0">
                <a:solidFill>
                  <a:srgbClr val="3C3C3C"/>
                </a:solidFill>
                <a:latin typeface="Trebuchet MS"/>
                <a:cs typeface="Trebuchet MS"/>
              </a:rPr>
              <a:t>el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3C3C3C"/>
                </a:solidFill>
                <a:latin typeface="Trebuchet MS"/>
                <a:cs typeface="Trebuchet MS"/>
              </a:rPr>
              <a:t>decisor</a:t>
            </a:r>
            <a:r>
              <a:rPr sz="1800" spc="-7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245" dirty="0">
                <a:solidFill>
                  <a:srgbClr val="3C3C3C"/>
                </a:solidFill>
                <a:latin typeface="Trebuchet MS"/>
                <a:cs typeface="Trebuchet MS"/>
              </a:rPr>
              <a:t>D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3C3C3C"/>
                </a:solidFill>
                <a:latin typeface="Trebuchet MS"/>
                <a:cs typeface="Trebuchet MS"/>
              </a:rPr>
              <a:t>tiene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3C3C3C"/>
                </a:solidFill>
                <a:latin typeface="Trebuchet MS"/>
                <a:cs typeface="Trebuchet MS"/>
              </a:rPr>
              <a:t>una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3C3C3C"/>
                </a:solidFill>
                <a:latin typeface="Trebuchet MS"/>
                <a:cs typeface="Trebuchet MS"/>
              </a:rPr>
              <a:t>función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de </a:t>
            </a:r>
            <a:r>
              <a:rPr sz="1800" spc="-5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3C3C3C"/>
                </a:solidFill>
                <a:latin typeface="Trebuchet MS"/>
                <a:cs typeface="Trebuchet MS"/>
              </a:rPr>
              <a:t>utilidad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u(x),</a:t>
            </a:r>
            <a:r>
              <a:rPr sz="1800" spc="-19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60" dirty="0">
                <a:solidFill>
                  <a:srgbClr val="3C3C3C"/>
                </a:solidFill>
                <a:latin typeface="Trebuchet MS"/>
                <a:cs typeface="Trebuchet MS"/>
              </a:rPr>
              <a:t>lo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70" dirty="0">
                <a:solidFill>
                  <a:srgbClr val="3C3C3C"/>
                </a:solidFill>
                <a:latin typeface="Trebuchet MS"/>
                <a:cs typeface="Trebuchet MS"/>
              </a:rPr>
              <a:t>anterior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3C3C3C"/>
                </a:solidFill>
                <a:latin typeface="Trebuchet MS"/>
                <a:cs typeface="Trebuchet MS"/>
              </a:rPr>
              <a:t>implica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que</a:t>
            </a:r>
            <a:r>
              <a:rPr sz="1800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75" dirty="0">
                <a:solidFill>
                  <a:srgbClr val="3C3C3C"/>
                </a:solidFill>
                <a:latin typeface="Trebuchet MS"/>
                <a:cs typeface="Trebuchet MS"/>
              </a:rPr>
              <a:t>u(3)</a:t>
            </a:r>
            <a:r>
              <a:rPr sz="1800" spc="-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105" dirty="0">
                <a:solidFill>
                  <a:srgbClr val="3C3C3C"/>
                </a:solidFill>
                <a:latin typeface="Trebuchet MS"/>
                <a:cs typeface="Trebuchet MS"/>
              </a:rPr>
              <a:t>=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3C3C3C"/>
                </a:solidFill>
                <a:latin typeface="Trebuchet MS"/>
                <a:cs typeface="Trebuchet MS"/>
              </a:rPr>
              <a:t>E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3C3C3C"/>
                </a:solidFill>
                <a:latin typeface="Trebuchet MS"/>
                <a:cs typeface="Trebuchet MS"/>
              </a:rPr>
              <a:t>(u</a:t>
            </a:r>
            <a:r>
              <a:rPr sz="1800" spc="-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75" dirty="0">
                <a:solidFill>
                  <a:srgbClr val="3C3C3C"/>
                </a:solidFill>
                <a:latin typeface="Trebuchet MS"/>
                <a:cs typeface="Trebuchet MS"/>
              </a:rPr>
              <a:t>(L))</a:t>
            </a:r>
            <a:r>
              <a:rPr sz="180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105" dirty="0">
                <a:solidFill>
                  <a:srgbClr val="3C3C3C"/>
                </a:solidFill>
                <a:latin typeface="Trebuchet MS"/>
                <a:cs typeface="Trebuchet MS"/>
              </a:rPr>
              <a:t>=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3C3C3C"/>
                </a:solidFill>
                <a:latin typeface="Trebuchet MS"/>
                <a:cs typeface="Trebuchet MS"/>
              </a:rPr>
              <a:t>0.6*u(10)</a:t>
            </a:r>
            <a:r>
              <a:rPr sz="1800" spc="-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105" dirty="0">
                <a:solidFill>
                  <a:srgbClr val="3C3C3C"/>
                </a:solidFill>
                <a:latin typeface="Trebuchet MS"/>
                <a:cs typeface="Trebuchet MS"/>
              </a:rPr>
              <a:t>+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3C3C3C"/>
                </a:solidFill>
                <a:latin typeface="Trebuchet MS"/>
                <a:cs typeface="Trebuchet MS"/>
              </a:rPr>
              <a:t>0.4*u(-5)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75421" y="6407607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4590B8"/>
                </a:solidFill>
                <a:latin typeface="Trebuchet MS"/>
                <a:cs typeface="Trebuchet MS"/>
              </a:rPr>
              <a:t>22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B422DD6D-669C-6B49-6110-DE4D11475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2034108"/>
            <a:ext cx="2590933" cy="1200212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FEBD10E3-887D-7E59-8433-36AEAD878B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9372" y="3793998"/>
            <a:ext cx="3985000" cy="202268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8055" y="600455"/>
            <a:ext cx="8239125" cy="125920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4650">
              <a:latin typeface="Times New Roman"/>
              <a:cs typeface="Times New Roman"/>
            </a:endParaRPr>
          </a:p>
          <a:p>
            <a:pPr marL="18415" algn="ctr">
              <a:lnSpc>
                <a:spcPct val="100000"/>
              </a:lnSpc>
            </a:pPr>
            <a:r>
              <a:rPr sz="2800" b="0" spc="25" dirty="0">
                <a:solidFill>
                  <a:srgbClr val="FFFFFF"/>
                </a:solidFill>
                <a:latin typeface="Trebuchet MS"/>
                <a:cs typeface="Trebuchet MS"/>
              </a:rPr>
              <a:t>EJERCICICIO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24670" y="6561531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4590B8"/>
                </a:solidFill>
                <a:latin typeface="Trebuchet MS"/>
                <a:cs typeface="Trebuchet MS"/>
              </a:rPr>
              <a:t>23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586735" y="2572833"/>
            <a:ext cx="1433830" cy="877569"/>
          </a:xfrm>
          <a:custGeom>
            <a:avLst/>
            <a:gdLst/>
            <a:ahLst/>
            <a:cxnLst/>
            <a:rect l="l" t="t" r="r" b="b"/>
            <a:pathLst>
              <a:path w="1433829" h="877570">
                <a:moveTo>
                  <a:pt x="0" y="478864"/>
                </a:moveTo>
                <a:lnTo>
                  <a:pt x="1433510" y="0"/>
                </a:lnTo>
              </a:path>
              <a:path w="1433829" h="877570">
                <a:moveTo>
                  <a:pt x="0" y="480265"/>
                </a:moveTo>
                <a:lnTo>
                  <a:pt x="1366835" y="877377"/>
                </a:lnTo>
              </a:path>
            </a:pathLst>
          </a:custGeom>
          <a:ln w="113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58596" y="1869185"/>
            <a:ext cx="7628255" cy="2908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4995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latin typeface="Trebuchet MS"/>
                <a:cs typeface="Trebuchet MS"/>
              </a:rPr>
              <a:t>Conside</a:t>
            </a:r>
            <a:r>
              <a:rPr sz="1800" spc="-65" dirty="0">
                <a:latin typeface="Trebuchet MS"/>
                <a:cs typeface="Trebuchet MS"/>
              </a:rPr>
              <a:t>r</a:t>
            </a:r>
            <a:r>
              <a:rPr sz="1800" spc="-114" dirty="0">
                <a:latin typeface="Trebuchet MS"/>
                <a:cs typeface="Trebuchet MS"/>
              </a:rPr>
              <a:t>em</a:t>
            </a:r>
            <a:r>
              <a:rPr sz="1800" spc="-5" dirty="0">
                <a:latin typeface="Trebuchet MS"/>
                <a:cs typeface="Trebuchet MS"/>
              </a:rPr>
              <a:t>os</a:t>
            </a:r>
            <a:r>
              <a:rPr sz="1800" spc="-75" dirty="0">
                <a:latin typeface="Trebuchet MS"/>
                <a:cs typeface="Trebuchet MS"/>
              </a:rPr>
              <a:t> </a:t>
            </a:r>
            <a:r>
              <a:rPr sz="1800" spc="-120" dirty="0">
                <a:latin typeface="Trebuchet MS"/>
                <a:cs typeface="Trebuchet MS"/>
              </a:rPr>
              <a:t>l</a:t>
            </a:r>
            <a:r>
              <a:rPr sz="1800" spc="-204" dirty="0">
                <a:latin typeface="Trebuchet MS"/>
                <a:cs typeface="Trebuchet MS"/>
              </a:rPr>
              <a:t>a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35" dirty="0">
                <a:latin typeface="Trebuchet MS"/>
                <a:cs typeface="Trebuchet MS"/>
              </a:rPr>
              <a:t>l</a:t>
            </a:r>
            <a:r>
              <a:rPr sz="1800" spc="-85" dirty="0">
                <a:latin typeface="Trebuchet MS"/>
                <a:cs typeface="Trebuchet MS"/>
              </a:rPr>
              <a:t>otería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270" dirty="0">
                <a:latin typeface="Trebuchet MS"/>
                <a:cs typeface="Trebuchet MS"/>
              </a:rPr>
              <a:t>X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35" dirty="0">
                <a:latin typeface="Trebuchet MS"/>
                <a:cs typeface="Trebuchet MS"/>
              </a:rPr>
              <a:t>defin</a:t>
            </a:r>
            <a:r>
              <a:rPr sz="1800" spc="-80" dirty="0">
                <a:latin typeface="Trebuchet MS"/>
                <a:cs typeface="Trebuchet MS"/>
              </a:rPr>
              <a:t>i</a:t>
            </a:r>
            <a:r>
              <a:rPr sz="1800" spc="-95" dirty="0">
                <a:latin typeface="Trebuchet MS"/>
                <a:cs typeface="Trebuchet MS"/>
              </a:rPr>
              <a:t>d</a:t>
            </a:r>
            <a:r>
              <a:rPr sz="1800" spc="-180" dirty="0">
                <a:latin typeface="Trebuchet MS"/>
                <a:cs typeface="Trebuchet MS"/>
              </a:rPr>
              <a:t>a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po</a:t>
            </a:r>
            <a:r>
              <a:rPr sz="1800" spc="45" dirty="0">
                <a:latin typeface="Trebuchet MS"/>
                <a:cs typeface="Trebuchet MS"/>
              </a:rPr>
              <a:t>r</a:t>
            </a:r>
            <a:r>
              <a:rPr sz="1800" spc="-270" dirty="0">
                <a:latin typeface="Trebuchet MS"/>
                <a:cs typeface="Trebuchet MS"/>
              </a:rPr>
              <a:t>: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450" dirty="0">
              <a:latin typeface="Trebuchet MS"/>
              <a:cs typeface="Trebuchet MS"/>
            </a:endParaRPr>
          </a:p>
          <a:p>
            <a:pPr marR="2217420" algn="ctr">
              <a:lnSpc>
                <a:spcPct val="100000"/>
              </a:lnSpc>
            </a:pPr>
            <a:r>
              <a:rPr lang="es-CO" sz="1350" spc="-30" dirty="0">
                <a:latin typeface="Times New Roman"/>
                <a:cs typeface="Times New Roman"/>
              </a:rPr>
              <a:t>0.4</a:t>
            </a:r>
            <a:endParaRPr sz="13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100" dirty="0">
              <a:latin typeface="Times New Roman"/>
              <a:cs typeface="Times New Roman"/>
            </a:endParaRPr>
          </a:p>
          <a:p>
            <a:pPr marR="2217420" algn="ctr">
              <a:lnSpc>
                <a:spcPct val="100000"/>
              </a:lnSpc>
            </a:pPr>
            <a:r>
              <a:rPr sz="1350" spc="-30" dirty="0">
                <a:latin typeface="Times New Roman"/>
                <a:cs typeface="Times New Roman"/>
              </a:rPr>
              <a:t>0.</a:t>
            </a:r>
            <a:r>
              <a:rPr lang="es-CO" sz="1350" spc="-30" dirty="0">
                <a:latin typeface="Times New Roman"/>
                <a:cs typeface="Times New Roman"/>
              </a:rPr>
              <a:t>6</a:t>
            </a:r>
            <a:endParaRPr sz="1350" dirty="0">
              <a:latin typeface="Times New Roman"/>
              <a:cs typeface="Times New Roman"/>
            </a:endParaRPr>
          </a:p>
          <a:p>
            <a:pPr marR="170815" algn="ctr">
              <a:lnSpc>
                <a:spcPct val="100000"/>
              </a:lnSpc>
              <a:spcBef>
                <a:spcPts val="605"/>
              </a:spcBef>
            </a:pPr>
            <a:r>
              <a:rPr sz="1450" spc="-30" dirty="0">
                <a:latin typeface="Arial MT"/>
                <a:cs typeface="Arial MT"/>
              </a:rPr>
              <a:t>$</a:t>
            </a:r>
            <a:r>
              <a:rPr sz="1450" spc="-55" dirty="0">
                <a:latin typeface="Arial MT"/>
                <a:cs typeface="Arial MT"/>
              </a:rPr>
              <a:t> </a:t>
            </a:r>
            <a:r>
              <a:rPr sz="1450" spc="-35" dirty="0">
                <a:latin typeface="Arial MT"/>
                <a:cs typeface="Arial MT"/>
              </a:rPr>
              <a:t>5M</a:t>
            </a:r>
            <a:endParaRPr sz="1450" dirty="0">
              <a:latin typeface="Arial MT"/>
              <a:cs typeface="Arial MT"/>
            </a:endParaRPr>
          </a:p>
          <a:p>
            <a:pPr marL="63500">
              <a:lnSpc>
                <a:spcPts val="2155"/>
              </a:lnSpc>
              <a:spcBef>
                <a:spcPts val="600"/>
              </a:spcBef>
            </a:pPr>
            <a:r>
              <a:rPr sz="1800" dirty="0">
                <a:latin typeface="Arial MT"/>
                <a:cs typeface="Arial MT"/>
              </a:rPr>
              <a:t>Se </a:t>
            </a:r>
            <a:r>
              <a:rPr sz="1800" spc="-5" dirty="0">
                <a:latin typeface="Arial MT"/>
                <a:cs typeface="Arial MT"/>
              </a:rPr>
              <a:t>tiene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</a:t>
            </a:r>
            <a:r>
              <a:rPr sz="1800" spc="-5" dirty="0">
                <a:latin typeface="Arial MT"/>
                <a:cs typeface="Arial MT"/>
              </a:rPr>
              <a:t> decisor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 </a:t>
            </a:r>
            <a:r>
              <a:rPr sz="1800" spc="-5" dirty="0">
                <a:latin typeface="Arial MT"/>
                <a:cs typeface="Arial MT"/>
              </a:rPr>
              <a:t>función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utilidad</a:t>
            </a:r>
            <a:r>
              <a:rPr sz="1800" spc="440" dirty="0">
                <a:latin typeface="Arial MT"/>
                <a:cs typeface="Arial MT"/>
              </a:rPr>
              <a:t> </a:t>
            </a:r>
            <a:r>
              <a:rPr sz="1800" b="1" dirty="0">
                <a:latin typeface="Cambria Math"/>
                <a:cs typeface="Cambria Math"/>
              </a:rPr>
              <a:t>u(x)</a:t>
            </a:r>
            <a:r>
              <a:rPr sz="1800" b="1" spc="110" dirty="0">
                <a:latin typeface="Cambria Math"/>
                <a:cs typeface="Cambria Math"/>
              </a:rPr>
              <a:t> </a:t>
            </a:r>
            <a:r>
              <a:rPr sz="1800" b="1" dirty="0">
                <a:latin typeface="Cambria Math"/>
                <a:cs typeface="Cambria Math"/>
              </a:rPr>
              <a:t>=</a:t>
            </a:r>
            <a:r>
              <a:rPr sz="1800" b="1" spc="520" dirty="0">
                <a:latin typeface="Cambria Math"/>
                <a:cs typeface="Cambria Math"/>
              </a:rPr>
              <a:t> </a:t>
            </a:r>
            <a:r>
              <a:rPr lang="es-CO" sz="1800" b="1" spc="520" dirty="0">
                <a:latin typeface="Cambria Math"/>
                <a:cs typeface="Cambria Math"/>
              </a:rPr>
              <a:t>6</a:t>
            </a:r>
            <a:r>
              <a:rPr sz="1800" b="1" dirty="0">
                <a:latin typeface="Cambria Math"/>
                <a:cs typeface="Cambria Math"/>
              </a:rPr>
              <a:t>−</a:t>
            </a:r>
            <a:r>
              <a:rPr sz="1800" b="1" spc="5" dirty="0">
                <a:latin typeface="Cambria Math"/>
                <a:cs typeface="Cambria Math"/>
              </a:rPr>
              <a:t> </a:t>
            </a:r>
            <a:r>
              <a:rPr lang="es-CO" sz="1800" b="1" spc="5" dirty="0">
                <a:latin typeface="Cambria Math"/>
                <a:cs typeface="Cambria Math"/>
              </a:rPr>
              <a:t>2</a:t>
            </a:r>
            <a:r>
              <a:rPr sz="1800" b="1" spc="30" dirty="0">
                <a:latin typeface="Cambria Math"/>
                <a:cs typeface="Cambria Math"/>
              </a:rPr>
              <a:t>e</a:t>
            </a:r>
            <a:r>
              <a:rPr sz="1950" b="1" spc="44" baseline="27777" dirty="0">
                <a:latin typeface="Cambria Math"/>
                <a:cs typeface="Cambria Math"/>
              </a:rPr>
              <a:t>−0.</a:t>
            </a:r>
            <a:r>
              <a:rPr lang="es-CO" sz="1950" b="1" spc="44" baseline="27777" dirty="0">
                <a:latin typeface="Cambria Math"/>
                <a:cs typeface="Cambria Math"/>
              </a:rPr>
              <a:t>5x</a:t>
            </a:r>
            <a:r>
              <a:rPr sz="1800" spc="30" dirty="0">
                <a:latin typeface="Arial MT"/>
                <a:cs typeface="Arial MT"/>
              </a:rPr>
              <a:t>,</a:t>
            </a:r>
            <a:r>
              <a:rPr sz="1800" dirty="0">
                <a:latin typeface="Arial MT"/>
                <a:cs typeface="Arial MT"/>
              </a:rPr>
              <a:t> x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 err="1">
                <a:latin typeface="Arial MT"/>
                <a:cs typeface="Arial MT"/>
              </a:rPr>
              <a:t>en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 err="1">
                <a:latin typeface="Arial MT"/>
                <a:cs typeface="Arial MT"/>
              </a:rPr>
              <a:t>millones</a:t>
            </a:r>
            <a:r>
              <a:rPr lang="es-CO" sz="1800" spc="-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de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pesos.</a:t>
            </a:r>
            <a:r>
              <a:rPr lang="es-419" sz="1800" dirty="0">
                <a:latin typeface="Arial MT"/>
                <a:cs typeface="Arial MT"/>
              </a:rPr>
              <a:t> Supongamos que su riqueza inicial es de $5 M.</a:t>
            </a:r>
            <a:endParaRPr sz="1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 dirty="0">
              <a:latin typeface="Arial MT"/>
              <a:cs typeface="Arial MT"/>
            </a:endParaRPr>
          </a:p>
          <a:p>
            <a:pPr marL="127000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Calcular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el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 MT"/>
                <a:cs typeface="Arial MT"/>
              </a:rPr>
              <a:t>EMC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de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la</a:t>
            </a:r>
            <a:r>
              <a:rPr sz="1800" dirty="0">
                <a:latin typeface="Arial MT"/>
                <a:cs typeface="Arial MT"/>
              </a:rPr>
              <a:t> lotería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X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para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este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15" dirty="0">
                <a:latin typeface="Arial MT"/>
                <a:cs typeface="Arial MT"/>
              </a:rPr>
              <a:t>decisor.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34E4506-0447-418F-BB1F-599B7F10E2B1}"/>
              </a:ext>
            </a:extLst>
          </p:cNvPr>
          <p:cNvSpPr txBox="1"/>
          <p:nvPr/>
        </p:nvSpPr>
        <p:spPr>
          <a:xfrm>
            <a:off x="4020565" y="2338630"/>
            <a:ext cx="721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/>
              <a:t>$ 0 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7913FA-B3AA-B99C-F7F6-E783E6D72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116" y="668223"/>
            <a:ext cx="6211570" cy="276999"/>
          </a:xfrm>
        </p:spPr>
        <p:txBody>
          <a:bodyPr/>
          <a:lstStyle/>
          <a:p>
            <a:r>
              <a:rPr lang="es-CO" dirty="0"/>
              <a:t>Solución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F2475344-17C4-BD48-A25C-1C6DBE157C06}"/>
                  </a:ext>
                </a:extLst>
              </p:cNvPr>
              <p:cNvSpPr txBox="1"/>
              <p:nvPr/>
            </p:nvSpPr>
            <p:spPr>
              <a:xfrm>
                <a:off x="420116" y="1184124"/>
                <a:ext cx="300888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l-PL" i="1" dirty="0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pl-PL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l-PL" i="1" dirty="0" smtClean="0">
                          <a:latin typeface="Cambria Math" panose="02040503050406030204" pitchFamily="18" charset="0"/>
                        </a:rPr>
                        <m:t>= 6</m:t>
                      </m:r>
                      <m:r>
                        <a:rPr lang="es-CO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l-PL" i="1" dirty="0" smtClean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s-CO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l-PL" i="1" dirty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pl-PL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CO" b="0" i="1" dirty="0" smtClean="0">
                              <a:latin typeface="Cambria Math" panose="02040503050406030204" pitchFamily="18" charset="0"/>
                            </a:rPr>
                            <m:t>0.5</m:t>
                          </m:r>
                          <m:r>
                            <a:rPr lang="es-CO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F2475344-17C4-BD48-A25C-1C6DBE157C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116" y="1184124"/>
                <a:ext cx="3008884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n 5">
            <a:extLst>
              <a:ext uri="{FF2B5EF4-FFF2-40B4-BE49-F238E27FC236}">
                <a16:creationId xmlns:a16="http://schemas.microsoft.com/office/drawing/2014/main" id="{082F80BD-93CA-D4B3-A0FB-7BD04E5C60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6797" y="739381"/>
            <a:ext cx="2055319" cy="889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4691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8055" y="600455"/>
            <a:ext cx="8239125" cy="125920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227965" rIns="0" bIns="0" rtlCol="0">
            <a:spAutoFit/>
          </a:bodyPr>
          <a:lstStyle/>
          <a:p>
            <a:pPr marL="110489" marR="1614170">
              <a:lnSpc>
                <a:spcPct val="100000"/>
              </a:lnSpc>
              <a:spcBef>
                <a:spcPts val="1795"/>
              </a:spcBef>
            </a:pPr>
            <a:r>
              <a:rPr sz="2500" b="0" spc="190" dirty="0">
                <a:solidFill>
                  <a:srgbClr val="FFFFFF"/>
                </a:solidFill>
                <a:latin typeface="Trebuchet MS"/>
                <a:cs typeface="Trebuchet MS"/>
              </a:rPr>
              <a:t>CONSTRUCCIÓN</a:t>
            </a:r>
            <a:r>
              <a:rPr sz="2500" b="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b="0" spc="12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500" b="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b="0" spc="180" dirty="0">
                <a:solidFill>
                  <a:srgbClr val="FFFFFF"/>
                </a:solidFill>
                <a:latin typeface="Trebuchet MS"/>
                <a:cs typeface="Trebuchet MS"/>
              </a:rPr>
              <a:t>FUNCIÓN</a:t>
            </a:r>
            <a:r>
              <a:rPr sz="2500" b="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b="0" spc="12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500" b="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b="0" spc="90" dirty="0">
                <a:solidFill>
                  <a:srgbClr val="FFFFFF"/>
                </a:solidFill>
                <a:latin typeface="Trebuchet MS"/>
                <a:cs typeface="Trebuchet MS"/>
              </a:rPr>
              <a:t>UTILIDAD </a:t>
            </a:r>
            <a:r>
              <a:rPr sz="2500" b="0" spc="-7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b="0" spc="25" dirty="0">
                <a:solidFill>
                  <a:srgbClr val="FFFFFF"/>
                </a:solidFill>
                <a:latin typeface="Trebuchet MS"/>
                <a:cs typeface="Trebuchet MS"/>
              </a:rPr>
              <a:t>PARA</a:t>
            </a:r>
            <a:r>
              <a:rPr sz="2500" b="0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b="0" spc="245" dirty="0">
                <a:solidFill>
                  <a:srgbClr val="FFFFFF"/>
                </a:solidFill>
                <a:latin typeface="Trebuchet MS"/>
                <a:cs typeface="Trebuchet MS"/>
              </a:rPr>
              <a:t>UN</a:t>
            </a:r>
            <a:r>
              <a:rPr sz="2500" b="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b="0" spc="110" dirty="0">
                <a:solidFill>
                  <a:srgbClr val="FFFFFF"/>
                </a:solidFill>
                <a:latin typeface="Trebuchet MS"/>
                <a:cs typeface="Trebuchet MS"/>
              </a:rPr>
              <a:t>DECISOR</a:t>
            </a:r>
            <a:r>
              <a:rPr sz="2500" b="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b="0" spc="335" dirty="0">
                <a:solidFill>
                  <a:srgbClr val="FFFFFF"/>
                </a:solidFill>
                <a:latin typeface="Trebuchet MS"/>
                <a:cs typeface="Trebuchet MS"/>
              </a:rPr>
              <a:t>D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2457056"/>
            <a:ext cx="7858125" cy="2303780"/>
          </a:xfrm>
          <a:prstGeom prst="rect">
            <a:avLst/>
          </a:prstGeom>
        </p:spPr>
        <p:txBody>
          <a:bodyPr vert="horz" wrap="square" lIns="0" tIns="162560" rIns="0" bIns="0" rtlCol="0">
            <a:spAutoFit/>
          </a:bodyPr>
          <a:lstStyle/>
          <a:p>
            <a:pPr marL="527685" indent="-515620">
              <a:lnSpc>
                <a:spcPct val="100000"/>
              </a:lnSpc>
              <a:spcBef>
                <a:spcPts val="1280"/>
              </a:spcBef>
              <a:buClr>
                <a:srgbClr val="4590B8"/>
              </a:buClr>
              <a:buSzPct val="91666"/>
              <a:buAutoNum type="romanLcParenR"/>
              <a:tabLst>
                <a:tab pos="527685" algn="l"/>
                <a:tab pos="528320" algn="l"/>
              </a:tabLst>
            </a:pPr>
            <a:r>
              <a:rPr sz="2400" spc="-40" dirty="0">
                <a:solidFill>
                  <a:srgbClr val="3C3C3C"/>
                </a:solidFill>
                <a:latin typeface="Trebuchet MS"/>
                <a:cs typeface="Trebuchet MS"/>
              </a:rPr>
              <a:t>Por</a:t>
            </a:r>
            <a:r>
              <a:rPr sz="2400" spc="-6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400" spc="-110" dirty="0">
                <a:solidFill>
                  <a:srgbClr val="3C3C3C"/>
                </a:solidFill>
                <a:latin typeface="Trebuchet MS"/>
                <a:cs typeface="Trebuchet MS"/>
              </a:rPr>
              <a:t>medio</a:t>
            </a:r>
            <a:r>
              <a:rPr sz="2400" spc="-7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400" spc="-140" dirty="0">
                <a:solidFill>
                  <a:srgbClr val="3C3C3C"/>
                </a:solidFill>
                <a:latin typeface="Trebuchet MS"/>
                <a:cs typeface="Trebuchet MS"/>
              </a:rPr>
              <a:t>de</a:t>
            </a:r>
            <a:r>
              <a:rPr sz="2400" spc="-6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400" spc="-215" dirty="0">
                <a:solidFill>
                  <a:srgbClr val="3C3C3C"/>
                </a:solidFill>
                <a:latin typeface="Trebuchet MS"/>
                <a:cs typeface="Trebuchet MS"/>
              </a:rPr>
              <a:t>la</a:t>
            </a:r>
            <a:r>
              <a:rPr sz="24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400" spc="-125" dirty="0">
                <a:solidFill>
                  <a:srgbClr val="006FC0"/>
                </a:solidFill>
                <a:latin typeface="Trebuchet MS"/>
                <a:cs typeface="Trebuchet MS"/>
              </a:rPr>
              <a:t>formulación</a:t>
            </a:r>
            <a:r>
              <a:rPr sz="2400" spc="-6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140" dirty="0">
                <a:solidFill>
                  <a:srgbClr val="006FC0"/>
                </a:solidFill>
                <a:latin typeface="Trebuchet MS"/>
                <a:cs typeface="Trebuchet MS"/>
              </a:rPr>
              <a:t>de</a:t>
            </a:r>
            <a:r>
              <a:rPr sz="2400" spc="-6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114" dirty="0">
                <a:solidFill>
                  <a:srgbClr val="006FC0"/>
                </a:solidFill>
                <a:latin typeface="Trebuchet MS"/>
                <a:cs typeface="Trebuchet MS"/>
              </a:rPr>
              <a:t>loterías</a:t>
            </a:r>
            <a:r>
              <a:rPr sz="2400" spc="-7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210" dirty="0">
                <a:solidFill>
                  <a:srgbClr val="3C3C3C"/>
                </a:solidFill>
                <a:latin typeface="Trebuchet MS"/>
                <a:cs typeface="Trebuchet MS"/>
              </a:rPr>
              <a:t>al</a:t>
            </a:r>
            <a:r>
              <a:rPr sz="24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400" spc="-80" dirty="0">
                <a:solidFill>
                  <a:srgbClr val="3C3C3C"/>
                </a:solidFill>
                <a:latin typeface="Trebuchet MS"/>
                <a:cs typeface="Trebuchet MS"/>
              </a:rPr>
              <a:t>decisor</a:t>
            </a:r>
            <a:endParaRPr sz="2400">
              <a:latin typeface="Trebuchet MS"/>
              <a:cs typeface="Trebuchet MS"/>
            </a:endParaRPr>
          </a:p>
          <a:p>
            <a:pPr marL="527685" marR="5080" indent="-515620">
              <a:lnSpc>
                <a:spcPct val="100000"/>
              </a:lnSpc>
              <a:spcBef>
                <a:spcPts val="1180"/>
              </a:spcBef>
              <a:buClr>
                <a:srgbClr val="4590B8"/>
              </a:buClr>
              <a:buSzPct val="91666"/>
              <a:buAutoNum type="romanLcParenR"/>
              <a:tabLst>
                <a:tab pos="527685" algn="l"/>
                <a:tab pos="528320" algn="l"/>
              </a:tabLst>
            </a:pPr>
            <a:r>
              <a:rPr sz="2400" spc="-110" dirty="0">
                <a:solidFill>
                  <a:srgbClr val="3C3C3C"/>
                </a:solidFill>
                <a:latin typeface="Trebuchet MS"/>
                <a:cs typeface="Trebuchet MS"/>
              </a:rPr>
              <a:t>Partiendo</a:t>
            </a:r>
            <a:r>
              <a:rPr sz="2400" spc="-5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400" spc="-140" dirty="0">
                <a:solidFill>
                  <a:srgbClr val="3C3C3C"/>
                </a:solidFill>
                <a:latin typeface="Trebuchet MS"/>
                <a:cs typeface="Trebuchet MS"/>
              </a:rPr>
              <a:t>de</a:t>
            </a:r>
            <a:r>
              <a:rPr sz="24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400" spc="-155" dirty="0">
                <a:solidFill>
                  <a:srgbClr val="3C3C3C"/>
                </a:solidFill>
                <a:latin typeface="Trebuchet MS"/>
                <a:cs typeface="Trebuchet MS"/>
              </a:rPr>
              <a:t>una</a:t>
            </a:r>
            <a:r>
              <a:rPr sz="2400" spc="-6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400" spc="-130" dirty="0">
                <a:solidFill>
                  <a:srgbClr val="006FC0"/>
                </a:solidFill>
                <a:latin typeface="Trebuchet MS"/>
                <a:cs typeface="Trebuchet MS"/>
              </a:rPr>
              <a:t>función</a:t>
            </a:r>
            <a:r>
              <a:rPr sz="2400" spc="-6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140" dirty="0">
                <a:solidFill>
                  <a:srgbClr val="006FC0"/>
                </a:solidFill>
                <a:latin typeface="Trebuchet MS"/>
                <a:cs typeface="Trebuchet MS"/>
              </a:rPr>
              <a:t>de</a:t>
            </a:r>
            <a:r>
              <a:rPr sz="2400" spc="-4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155" dirty="0">
                <a:solidFill>
                  <a:srgbClr val="006FC0"/>
                </a:solidFill>
                <a:latin typeface="Trebuchet MS"/>
                <a:cs typeface="Trebuchet MS"/>
              </a:rPr>
              <a:t>utilidad</a:t>
            </a:r>
            <a:r>
              <a:rPr sz="2400" spc="-5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80" dirty="0">
                <a:solidFill>
                  <a:srgbClr val="006FC0"/>
                </a:solidFill>
                <a:latin typeface="Trebuchet MS"/>
                <a:cs typeface="Trebuchet MS"/>
              </a:rPr>
              <a:t>prototipo</a:t>
            </a:r>
            <a:r>
              <a:rPr sz="2400" spc="-4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135" dirty="0">
                <a:solidFill>
                  <a:srgbClr val="3C3C3C"/>
                </a:solidFill>
                <a:latin typeface="Trebuchet MS"/>
                <a:cs typeface="Trebuchet MS"/>
              </a:rPr>
              <a:t>y</a:t>
            </a:r>
            <a:r>
              <a:rPr sz="24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400" spc="-125" dirty="0">
                <a:solidFill>
                  <a:srgbClr val="3C3C3C"/>
                </a:solidFill>
                <a:latin typeface="Trebuchet MS"/>
                <a:cs typeface="Trebuchet MS"/>
              </a:rPr>
              <a:t>estimando </a:t>
            </a:r>
            <a:r>
              <a:rPr sz="2400" spc="-7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400" spc="-70" dirty="0">
                <a:solidFill>
                  <a:srgbClr val="3C3C3C"/>
                </a:solidFill>
                <a:latin typeface="Trebuchet MS"/>
                <a:cs typeface="Trebuchet MS"/>
              </a:rPr>
              <a:t>sus</a:t>
            </a:r>
            <a:r>
              <a:rPr sz="2400" spc="-6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400" spc="-114" dirty="0">
                <a:solidFill>
                  <a:srgbClr val="3C3C3C"/>
                </a:solidFill>
                <a:latin typeface="Trebuchet MS"/>
                <a:cs typeface="Trebuchet MS"/>
              </a:rPr>
              <a:t>parámetros</a:t>
            </a:r>
            <a:r>
              <a:rPr sz="24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400" spc="-75" dirty="0">
                <a:solidFill>
                  <a:srgbClr val="3C3C3C"/>
                </a:solidFill>
                <a:latin typeface="Trebuchet MS"/>
                <a:cs typeface="Trebuchet MS"/>
              </a:rPr>
              <a:t>con</a:t>
            </a:r>
            <a:r>
              <a:rPr sz="2400" spc="-5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400" spc="-150" dirty="0">
                <a:solidFill>
                  <a:srgbClr val="3C3C3C"/>
                </a:solidFill>
                <a:latin typeface="Trebuchet MS"/>
                <a:cs typeface="Trebuchet MS"/>
              </a:rPr>
              <a:t>base</a:t>
            </a:r>
            <a:r>
              <a:rPr sz="24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400" spc="-140" dirty="0">
                <a:solidFill>
                  <a:srgbClr val="3C3C3C"/>
                </a:solidFill>
                <a:latin typeface="Trebuchet MS"/>
                <a:cs typeface="Trebuchet MS"/>
              </a:rPr>
              <a:t>en</a:t>
            </a:r>
            <a:r>
              <a:rPr sz="24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400" spc="-185" dirty="0">
                <a:solidFill>
                  <a:srgbClr val="3C3C3C"/>
                </a:solidFill>
                <a:latin typeface="Trebuchet MS"/>
                <a:cs typeface="Trebuchet MS"/>
              </a:rPr>
              <a:t>alguna</a:t>
            </a:r>
            <a:r>
              <a:rPr sz="2400" spc="-5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400" spc="-120" dirty="0">
                <a:solidFill>
                  <a:srgbClr val="3C3C3C"/>
                </a:solidFill>
                <a:latin typeface="Trebuchet MS"/>
                <a:cs typeface="Trebuchet MS"/>
              </a:rPr>
              <a:t>información</a:t>
            </a:r>
            <a:r>
              <a:rPr sz="24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400" spc="-155" dirty="0">
                <a:solidFill>
                  <a:srgbClr val="3C3C3C"/>
                </a:solidFill>
                <a:latin typeface="Trebuchet MS"/>
                <a:cs typeface="Trebuchet MS"/>
              </a:rPr>
              <a:t>del</a:t>
            </a:r>
            <a:r>
              <a:rPr sz="24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400" spc="-150" dirty="0">
                <a:solidFill>
                  <a:srgbClr val="3C3C3C"/>
                </a:solidFill>
                <a:latin typeface="Trebuchet MS"/>
                <a:cs typeface="Trebuchet MS"/>
              </a:rPr>
              <a:t>decisor.</a:t>
            </a:r>
            <a:endParaRPr sz="2400">
              <a:latin typeface="Trebuchet MS"/>
              <a:cs typeface="Trebuchet MS"/>
            </a:endParaRPr>
          </a:p>
          <a:p>
            <a:pPr marL="527685" indent="-515620">
              <a:lnSpc>
                <a:spcPct val="100000"/>
              </a:lnSpc>
              <a:spcBef>
                <a:spcPts val="1175"/>
              </a:spcBef>
              <a:buClr>
                <a:srgbClr val="4590B8"/>
              </a:buClr>
              <a:buSzPct val="91666"/>
              <a:buAutoNum type="romanLcParenR"/>
              <a:tabLst>
                <a:tab pos="527685" algn="l"/>
                <a:tab pos="528320" algn="l"/>
              </a:tabLst>
            </a:pPr>
            <a:r>
              <a:rPr sz="2400" spc="-40" dirty="0">
                <a:solidFill>
                  <a:srgbClr val="3C3C3C"/>
                </a:solidFill>
                <a:latin typeface="Trebuchet MS"/>
                <a:cs typeface="Trebuchet MS"/>
              </a:rPr>
              <a:t>Por</a:t>
            </a:r>
            <a:r>
              <a:rPr sz="2400" spc="-6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400" spc="-110" dirty="0">
                <a:solidFill>
                  <a:srgbClr val="3C3C3C"/>
                </a:solidFill>
                <a:latin typeface="Trebuchet MS"/>
                <a:cs typeface="Trebuchet MS"/>
              </a:rPr>
              <a:t>medio</a:t>
            </a:r>
            <a:r>
              <a:rPr sz="2400" spc="-6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400" spc="-140" dirty="0">
                <a:solidFill>
                  <a:srgbClr val="3C3C3C"/>
                </a:solidFill>
                <a:latin typeface="Trebuchet MS"/>
                <a:cs typeface="Trebuchet MS"/>
              </a:rPr>
              <a:t>de</a:t>
            </a:r>
            <a:r>
              <a:rPr sz="2400" spc="-6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400" spc="-215" dirty="0">
                <a:solidFill>
                  <a:srgbClr val="3C3C3C"/>
                </a:solidFill>
                <a:latin typeface="Trebuchet MS"/>
                <a:cs typeface="Trebuchet MS"/>
              </a:rPr>
              <a:t>la</a:t>
            </a:r>
            <a:r>
              <a:rPr sz="24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400" spc="-130" dirty="0">
                <a:solidFill>
                  <a:srgbClr val="006FC0"/>
                </a:solidFill>
                <a:latin typeface="Trebuchet MS"/>
                <a:cs typeface="Trebuchet MS"/>
              </a:rPr>
              <a:t>estimación</a:t>
            </a:r>
            <a:r>
              <a:rPr sz="2400" spc="-6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140" dirty="0">
                <a:solidFill>
                  <a:srgbClr val="006FC0"/>
                </a:solidFill>
                <a:latin typeface="Trebuchet MS"/>
                <a:cs typeface="Trebuchet MS"/>
              </a:rPr>
              <a:t>de</a:t>
            </a:r>
            <a:r>
              <a:rPr sz="2400" spc="-6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215" dirty="0">
                <a:solidFill>
                  <a:srgbClr val="006FC0"/>
                </a:solidFill>
                <a:latin typeface="Trebuchet MS"/>
                <a:cs typeface="Trebuchet MS"/>
              </a:rPr>
              <a:t>la</a:t>
            </a:r>
            <a:r>
              <a:rPr sz="2400" spc="-36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150" dirty="0">
                <a:solidFill>
                  <a:srgbClr val="006FC0"/>
                </a:solidFill>
                <a:latin typeface="Trebuchet MS"/>
                <a:cs typeface="Trebuchet MS"/>
              </a:rPr>
              <a:t>Tolerancia</a:t>
            </a:r>
            <a:r>
              <a:rPr sz="2400" spc="-6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210" dirty="0">
                <a:solidFill>
                  <a:srgbClr val="006FC0"/>
                </a:solidFill>
                <a:latin typeface="Trebuchet MS"/>
                <a:cs typeface="Trebuchet MS"/>
              </a:rPr>
              <a:t>al</a:t>
            </a:r>
            <a:r>
              <a:rPr sz="2400" spc="-5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85" dirty="0">
                <a:solidFill>
                  <a:srgbClr val="006FC0"/>
                </a:solidFill>
                <a:latin typeface="Trebuchet MS"/>
                <a:cs typeface="Trebuchet MS"/>
              </a:rPr>
              <a:t>Riesgo</a:t>
            </a:r>
            <a:r>
              <a:rPr sz="2400" spc="-6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80" dirty="0">
                <a:solidFill>
                  <a:srgbClr val="3C3C3C"/>
                </a:solidFill>
                <a:latin typeface="Trebuchet MS"/>
                <a:cs typeface="Trebuchet MS"/>
              </a:rPr>
              <a:t>(RT)</a:t>
            </a:r>
            <a:endParaRPr sz="2400">
              <a:latin typeface="Trebuchet MS"/>
              <a:cs typeface="Trebuchet MS"/>
            </a:endParaRPr>
          </a:p>
          <a:p>
            <a:pPr marL="527685">
              <a:lnSpc>
                <a:spcPct val="100000"/>
              </a:lnSpc>
            </a:pPr>
            <a:r>
              <a:rPr sz="2400" spc="-155" dirty="0">
                <a:solidFill>
                  <a:srgbClr val="3C3C3C"/>
                </a:solidFill>
                <a:latin typeface="Trebuchet MS"/>
                <a:cs typeface="Trebuchet MS"/>
              </a:rPr>
              <a:t>del</a:t>
            </a:r>
            <a:r>
              <a:rPr sz="2400" spc="-5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400" spc="-165" dirty="0">
                <a:solidFill>
                  <a:srgbClr val="3C3C3C"/>
                </a:solidFill>
                <a:latin typeface="Trebuchet MS"/>
                <a:cs typeface="Trebuchet MS"/>
              </a:rPr>
              <a:t>dec</a:t>
            </a:r>
            <a:r>
              <a:rPr sz="2400" spc="-85" dirty="0">
                <a:solidFill>
                  <a:srgbClr val="3C3C3C"/>
                </a:solidFill>
                <a:latin typeface="Trebuchet MS"/>
                <a:cs typeface="Trebuchet MS"/>
              </a:rPr>
              <a:t>i</a:t>
            </a:r>
            <a:r>
              <a:rPr sz="2400" spc="-10" dirty="0">
                <a:solidFill>
                  <a:srgbClr val="3C3C3C"/>
                </a:solidFill>
                <a:latin typeface="Trebuchet MS"/>
                <a:cs typeface="Trebuchet MS"/>
              </a:rPr>
              <a:t>so</a:t>
            </a:r>
            <a:r>
              <a:rPr sz="2400" spc="-235" dirty="0">
                <a:solidFill>
                  <a:srgbClr val="3C3C3C"/>
                </a:solidFill>
                <a:latin typeface="Trebuchet MS"/>
                <a:cs typeface="Trebuchet MS"/>
              </a:rPr>
              <a:t>r</a:t>
            </a:r>
            <a:r>
              <a:rPr sz="2400" spc="-360" dirty="0">
                <a:solidFill>
                  <a:srgbClr val="3C3C3C"/>
                </a:solidFill>
                <a:latin typeface="Trebuchet MS"/>
                <a:cs typeface="Trebuchet MS"/>
              </a:rPr>
              <a:t>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51646" y="6054344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4590B8"/>
                </a:solidFill>
                <a:latin typeface="Trebuchet MS"/>
                <a:cs typeface="Trebuchet MS"/>
              </a:rPr>
              <a:t>24</a:t>
            </a:r>
            <a:endParaRPr sz="9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8055" y="600455"/>
            <a:ext cx="8239125" cy="125920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250825" rIns="0" bIns="0" rtlCol="0">
            <a:spAutoFit/>
          </a:bodyPr>
          <a:lstStyle/>
          <a:p>
            <a:pPr marL="71120">
              <a:lnSpc>
                <a:spcPct val="100000"/>
              </a:lnSpc>
              <a:spcBef>
                <a:spcPts val="1975"/>
              </a:spcBef>
            </a:pPr>
            <a:r>
              <a:rPr sz="2500" spc="100" dirty="0">
                <a:solidFill>
                  <a:srgbClr val="FFFFFF"/>
                </a:solidFill>
                <a:latin typeface="Trebuchet MS"/>
                <a:cs typeface="Trebuchet MS"/>
              </a:rPr>
              <a:t>POR</a:t>
            </a:r>
            <a:r>
              <a:rPr sz="2500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140" dirty="0">
                <a:solidFill>
                  <a:srgbClr val="FFFFFF"/>
                </a:solidFill>
                <a:latin typeface="Trebuchet MS"/>
                <a:cs typeface="Trebuchet MS"/>
              </a:rPr>
              <a:t>MEDIO</a:t>
            </a:r>
            <a:r>
              <a:rPr sz="25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12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500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65" dirty="0">
                <a:solidFill>
                  <a:srgbClr val="FFFFFF"/>
                </a:solidFill>
                <a:latin typeface="Trebuchet MS"/>
                <a:cs typeface="Trebuchet MS"/>
              </a:rPr>
              <a:t>LA</a:t>
            </a:r>
            <a:endParaRPr sz="2500">
              <a:latin typeface="Trebuchet MS"/>
              <a:cs typeface="Trebuchet MS"/>
            </a:endParaRPr>
          </a:p>
          <a:p>
            <a:pPr marL="71120">
              <a:lnSpc>
                <a:spcPct val="100000"/>
              </a:lnSpc>
            </a:pPr>
            <a:r>
              <a:rPr sz="2500" spc="114" dirty="0">
                <a:solidFill>
                  <a:srgbClr val="FFFFFF"/>
                </a:solidFill>
                <a:latin typeface="Trebuchet MS"/>
                <a:cs typeface="Trebuchet MS"/>
              </a:rPr>
              <a:t>FORM</a:t>
            </a:r>
            <a:r>
              <a:rPr sz="2500" spc="110" dirty="0">
                <a:solidFill>
                  <a:srgbClr val="FFFFFF"/>
                </a:solidFill>
                <a:latin typeface="Trebuchet MS"/>
                <a:cs typeface="Trebuchet MS"/>
              </a:rPr>
              <a:t>U</a:t>
            </a:r>
            <a:r>
              <a:rPr sz="2500" spc="60" dirty="0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sz="2500" spc="-2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2500" spc="160" dirty="0">
                <a:solidFill>
                  <a:srgbClr val="FFFFFF"/>
                </a:solidFill>
                <a:latin typeface="Trebuchet MS"/>
                <a:cs typeface="Trebuchet MS"/>
              </a:rPr>
              <a:t>CI</a:t>
            </a:r>
            <a:r>
              <a:rPr sz="2500" spc="235" dirty="0">
                <a:solidFill>
                  <a:srgbClr val="FFFFFF"/>
                </a:solidFill>
                <a:latin typeface="Trebuchet MS"/>
                <a:cs typeface="Trebuchet MS"/>
              </a:rPr>
              <a:t>Ó</a:t>
            </a:r>
            <a:r>
              <a:rPr sz="2500" spc="35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25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125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5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-50" dirty="0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sz="2500" spc="195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2500" spc="10" dirty="0">
                <a:solidFill>
                  <a:srgbClr val="FFFFFF"/>
                </a:solidFill>
                <a:latin typeface="Trebuchet MS"/>
                <a:cs typeface="Trebuchet MS"/>
              </a:rPr>
              <a:t>TERÍAS</a:t>
            </a:r>
            <a:r>
              <a:rPr sz="2500" spc="-2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75" dirty="0">
                <a:solidFill>
                  <a:srgbClr val="FFFFFF"/>
                </a:solidFill>
                <a:latin typeface="Trebuchet MS"/>
                <a:cs typeface="Trebuchet MS"/>
              </a:rPr>
              <a:t>AL</a:t>
            </a:r>
            <a:r>
              <a:rPr sz="25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spc="75" dirty="0">
                <a:solidFill>
                  <a:srgbClr val="FFFFFF"/>
                </a:solidFill>
                <a:latin typeface="Trebuchet MS"/>
                <a:cs typeface="Trebuchet MS"/>
              </a:rPr>
              <a:t>DECI</a:t>
            </a:r>
            <a:r>
              <a:rPr sz="2500" spc="6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2500" spc="204" dirty="0">
                <a:solidFill>
                  <a:srgbClr val="FFFFFF"/>
                </a:solidFill>
                <a:latin typeface="Trebuchet MS"/>
                <a:cs typeface="Trebuchet MS"/>
              </a:rPr>
              <a:t>OR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930019" y="2472182"/>
            <a:ext cx="260350" cy="212090"/>
          </a:xfrm>
          <a:custGeom>
            <a:avLst/>
            <a:gdLst/>
            <a:ahLst/>
            <a:cxnLst/>
            <a:rect l="l" t="t" r="r" b="b"/>
            <a:pathLst>
              <a:path w="260350" h="212089">
                <a:moveTo>
                  <a:pt x="192912" y="0"/>
                </a:moveTo>
                <a:lnTo>
                  <a:pt x="189864" y="8635"/>
                </a:lnTo>
                <a:lnTo>
                  <a:pt x="202132" y="13946"/>
                </a:lnTo>
                <a:lnTo>
                  <a:pt x="212661" y="21304"/>
                </a:lnTo>
                <a:lnTo>
                  <a:pt x="234027" y="55449"/>
                </a:lnTo>
                <a:lnTo>
                  <a:pt x="241045" y="104901"/>
                </a:lnTo>
                <a:lnTo>
                  <a:pt x="240260" y="123571"/>
                </a:lnTo>
                <a:lnTo>
                  <a:pt x="228473" y="169290"/>
                </a:lnTo>
                <a:lnTo>
                  <a:pt x="202219" y="197865"/>
                </a:lnTo>
                <a:lnTo>
                  <a:pt x="190119" y="203200"/>
                </a:lnTo>
                <a:lnTo>
                  <a:pt x="192912" y="211835"/>
                </a:lnTo>
                <a:lnTo>
                  <a:pt x="233310" y="187725"/>
                </a:lnTo>
                <a:lnTo>
                  <a:pt x="256031" y="143382"/>
                </a:lnTo>
                <a:lnTo>
                  <a:pt x="260350" y="105917"/>
                </a:lnTo>
                <a:lnTo>
                  <a:pt x="259256" y="86538"/>
                </a:lnTo>
                <a:lnTo>
                  <a:pt x="242950" y="37210"/>
                </a:lnTo>
                <a:lnTo>
                  <a:pt x="208250" y="5599"/>
                </a:lnTo>
                <a:lnTo>
                  <a:pt x="192912" y="0"/>
                </a:lnTo>
                <a:close/>
              </a:path>
              <a:path w="260350" h="212089">
                <a:moveTo>
                  <a:pt x="67437" y="0"/>
                </a:moveTo>
                <a:lnTo>
                  <a:pt x="27092" y="24181"/>
                </a:lnTo>
                <a:lnTo>
                  <a:pt x="4365" y="68611"/>
                </a:lnTo>
                <a:lnTo>
                  <a:pt x="0" y="105917"/>
                </a:lnTo>
                <a:lnTo>
                  <a:pt x="1075" y="125424"/>
                </a:lnTo>
                <a:lnTo>
                  <a:pt x="17399" y="174751"/>
                </a:lnTo>
                <a:lnTo>
                  <a:pt x="52081" y="206291"/>
                </a:lnTo>
                <a:lnTo>
                  <a:pt x="67437" y="211835"/>
                </a:lnTo>
                <a:lnTo>
                  <a:pt x="70231" y="203200"/>
                </a:lnTo>
                <a:lnTo>
                  <a:pt x="58130" y="197865"/>
                </a:lnTo>
                <a:lnTo>
                  <a:pt x="47720" y="190436"/>
                </a:lnTo>
                <a:lnTo>
                  <a:pt x="26376" y="155765"/>
                </a:lnTo>
                <a:lnTo>
                  <a:pt x="19304" y="104901"/>
                </a:lnTo>
                <a:lnTo>
                  <a:pt x="20089" y="86830"/>
                </a:lnTo>
                <a:lnTo>
                  <a:pt x="31876" y="42163"/>
                </a:lnTo>
                <a:lnTo>
                  <a:pt x="58291" y="13946"/>
                </a:lnTo>
                <a:lnTo>
                  <a:pt x="70485" y="8635"/>
                </a:lnTo>
                <a:lnTo>
                  <a:pt x="67437" y="0"/>
                </a:lnTo>
                <a:close/>
              </a:path>
            </a:pathLst>
          </a:custGeom>
          <a:solidFill>
            <a:srgbClr val="3C3C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267452" y="2470149"/>
            <a:ext cx="50165" cy="213360"/>
          </a:xfrm>
          <a:custGeom>
            <a:avLst/>
            <a:gdLst/>
            <a:ahLst/>
            <a:cxnLst/>
            <a:rect l="l" t="t" r="r" b="b"/>
            <a:pathLst>
              <a:path w="50164" h="213360">
                <a:moveTo>
                  <a:pt x="49784" y="0"/>
                </a:moveTo>
                <a:lnTo>
                  <a:pt x="0" y="0"/>
                </a:lnTo>
                <a:lnTo>
                  <a:pt x="0" y="8890"/>
                </a:lnTo>
                <a:lnTo>
                  <a:pt x="31242" y="8890"/>
                </a:lnTo>
                <a:lnTo>
                  <a:pt x="31242" y="204470"/>
                </a:lnTo>
                <a:lnTo>
                  <a:pt x="0" y="204470"/>
                </a:lnTo>
                <a:lnTo>
                  <a:pt x="0" y="213360"/>
                </a:lnTo>
                <a:lnTo>
                  <a:pt x="49784" y="213360"/>
                </a:lnTo>
                <a:lnTo>
                  <a:pt x="49784" y="204470"/>
                </a:lnTo>
                <a:lnTo>
                  <a:pt x="49784" y="8890"/>
                </a:lnTo>
                <a:lnTo>
                  <a:pt x="49784" y="0"/>
                </a:lnTo>
                <a:close/>
              </a:path>
            </a:pathLst>
          </a:custGeom>
          <a:solidFill>
            <a:srgbClr val="3C3C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854069" y="2470149"/>
            <a:ext cx="50165" cy="213360"/>
          </a:xfrm>
          <a:custGeom>
            <a:avLst/>
            <a:gdLst/>
            <a:ahLst/>
            <a:cxnLst/>
            <a:rect l="l" t="t" r="r" b="b"/>
            <a:pathLst>
              <a:path w="50164" h="213360">
                <a:moveTo>
                  <a:pt x="49784" y="0"/>
                </a:moveTo>
                <a:lnTo>
                  <a:pt x="0" y="0"/>
                </a:lnTo>
                <a:lnTo>
                  <a:pt x="0" y="8890"/>
                </a:lnTo>
                <a:lnTo>
                  <a:pt x="0" y="204470"/>
                </a:lnTo>
                <a:lnTo>
                  <a:pt x="0" y="213360"/>
                </a:lnTo>
                <a:lnTo>
                  <a:pt x="49784" y="213360"/>
                </a:lnTo>
                <a:lnTo>
                  <a:pt x="49784" y="204470"/>
                </a:lnTo>
                <a:lnTo>
                  <a:pt x="18542" y="204470"/>
                </a:lnTo>
                <a:lnTo>
                  <a:pt x="18542" y="8890"/>
                </a:lnTo>
                <a:lnTo>
                  <a:pt x="49784" y="8890"/>
                </a:lnTo>
                <a:lnTo>
                  <a:pt x="49784" y="0"/>
                </a:lnTo>
                <a:close/>
              </a:path>
            </a:pathLst>
          </a:custGeom>
          <a:solidFill>
            <a:srgbClr val="3C3C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639434" y="2472182"/>
            <a:ext cx="275590" cy="212090"/>
          </a:xfrm>
          <a:custGeom>
            <a:avLst/>
            <a:gdLst/>
            <a:ahLst/>
            <a:cxnLst/>
            <a:rect l="l" t="t" r="r" b="b"/>
            <a:pathLst>
              <a:path w="275589" h="212089">
                <a:moveTo>
                  <a:pt x="208152" y="0"/>
                </a:moveTo>
                <a:lnTo>
                  <a:pt x="205104" y="8635"/>
                </a:lnTo>
                <a:lnTo>
                  <a:pt x="217372" y="13946"/>
                </a:lnTo>
                <a:lnTo>
                  <a:pt x="227901" y="21304"/>
                </a:lnTo>
                <a:lnTo>
                  <a:pt x="249267" y="55449"/>
                </a:lnTo>
                <a:lnTo>
                  <a:pt x="256286" y="104901"/>
                </a:lnTo>
                <a:lnTo>
                  <a:pt x="255500" y="123571"/>
                </a:lnTo>
                <a:lnTo>
                  <a:pt x="243712" y="169290"/>
                </a:lnTo>
                <a:lnTo>
                  <a:pt x="217513" y="197865"/>
                </a:lnTo>
                <a:lnTo>
                  <a:pt x="205486" y="203200"/>
                </a:lnTo>
                <a:lnTo>
                  <a:pt x="208152" y="211835"/>
                </a:lnTo>
                <a:lnTo>
                  <a:pt x="248550" y="187725"/>
                </a:lnTo>
                <a:lnTo>
                  <a:pt x="271272" y="143382"/>
                </a:lnTo>
                <a:lnTo>
                  <a:pt x="275589" y="105917"/>
                </a:lnTo>
                <a:lnTo>
                  <a:pt x="274496" y="86538"/>
                </a:lnTo>
                <a:lnTo>
                  <a:pt x="258190" y="37210"/>
                </a:lnTo>
                <a:lnTo>
                  <a:pt x="223490" y="5599"/>
                </a:lnTo>
                <a:lnTo>
                  <a:pt x="208152" y="0"/>
                </a:lnTo>
                <a:close/>
              </a:path>
              <a:path w="275589" h="212089">
                <a:moveTo>
                  <a:pt x="67437" y="0"/>
                </a:moveTo>
                <a:lnTo>
                  <a:pt x="27092" y="24181"/>
                </a:lnTo>
                <a:lnTo>
                  <a:pt x="4365" y="68611"/>
                </a:lnTo>
                <a:lnTo>
                  <a:pt x="0" y="105917"/>
                </a:lnTo>
                <a:lnTo>
                  <a:pt x="1075" y="125424"/>
                </a:lnTo>
                <a:lnTo>
                  <a:pt x="17399" y="174751"/>
                </a:lnTo>
                <a:lnTo>
                  <a:pt x="52081" y="206291"/>
                </a:lnTo>
                <a:lnTo>
                  <a:pt x="67437" y="211835"/>
                </a:lnTo>
                <a:lnTo>
                  <a:pt x="70230" y="203200"/>
                </a:lnTo>
                <a:lnTo>
                  <a:pt x="58130" y="197865"/>
                </a:lnTo>
                <a:lnTo>
                  <a:pt x="47720" y="190436"/>
                </a:lnTo>
                <a:lnTo>
                  <a:pt x="26376" y="155765"/>
                </a:lnTo>
                <a:lnTo>
                  <a:pt x="19303" y="104901"/>
                </a:lnTo>
                <a:lnTo>
                  <a:pt x="20089" y="86830"/>
                </a:lnTo>
                <a:lnTo>
                  <a:pt x="31876" y="42163"/>
                </a:lnTo>
                <a:lnTo>
                  <a:pt x="58291" y="13946"/>
                </a:lnTo>
                <a:lnTo>
                  <a:pt x="70485" y="8635"/>
                </a:lnTo>
                <a:lnTo>
                  <a:pt x="67437" y="0"/>
                </a:lnTo>
                <a:close/>
              </a:path>
            </a:pathLst>
          </a:custGeom>
          <a:solidFill>
            <a:srgbClr val="3C3C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607175" y="2472182"/>
            <a:ext cx="402590" cy="212090"/>
          </a:xfrm>
          <a:custGeom>
            <a:avLst/>
            <a:gdLst/>
            <a:ahLst/>
            <a:cxnLst/>
            <a:rect l="l" t="t" r="r" b="b"/>
            <a:pathLst>
              <a:path w="402590" h="212089">
                <a:moveTo>
                  <a:pt x="334645" y="0"/>
                </a:moveTo>
                <a:lnTo>
                  <a:pt x="331597" y="8635"/>
                </a:lnTo>
                <a:lnTo>
                  <a:pt x="343864" y="13946"/>
                </a:lnTo>
                <a:lnTo>
                  <a:pt x="354393" y="21304"/>
                </a:lnTo>
                <a:lnTo>
                  <a:pt x="375759" y="55449"/>
                </a:lnTo>
                <a:lnTo>
                  <a:pt x="382777" y="104901"/>
                </a:lnTo>
                <a:lnTo>
                  <a:pt x="381992" y="123571"/>
                </a:lnTo>
                <a:lnTo>
                  <a:pt x="370204" y="169290"/>
                </a:lnTo>
                <a:lnTo>
                  <a:pt x="344005" y="197865"/>
                </a:lnTo>
                <a:lnTo>
                  <a:pt x="331977" y="203200"/>
                </a:lnTo>
                <a:lnTo>
                  <a:pt x="334645" y="211835"/>
                </a:lnTo>
                <a:lnTo>
                  <a:pt x="375042" y="187725"/>
                </a:lnTo>
                <a:lnTo>
                  <a:pt x="397764" y="143382"/>
                </a:lnTo>
                <a:lnTo>
                  <a:pt x="402081" y="105917"/>
                </a:lnTo>
                <a:lnTo>
                  <a:pt x="400988" y="86538"/>
                </a:lnTo>
                <a:lnTo>
                  <a:pt x="384682" y="37210"/>
                </a:lnTo>
                <a:lnTo>
                  <a:pt x="349982" y="5599"/>
                </a:lnTo>
                <a:lnTo>
                  <a:pt x="334645" y="0"/>
                </a:lnTo>
                <a:close/>
              </a:path>
              <a:path w="402590" h="212089">
                <a:moveTo>
                  <a:pt x="67436" y="0"/>
                </a:moveTo>
                <a:lnTo>
                  <a:pt x="27092" y="24181"/>
                </a:lnTo>
                <a:lnTo>
                  <a:pt x="4365" y="68611"/>
                </a:lnTo>
                <a:lnTo>
                  <a:pt x="0" y="105917"/>
                </a:lnTo>
                <a:lnTo>
                  <a:pt x="1075" y="125424"/>
                </a:lnTo>
                <a:lnTo>
                  <a:pt x="17399" y="174751"/>
                </a:lnTo>
                <a:lnTo>
                  <a:pt x="52081" y="206291"/>
                </a:lnTo>
                <a:lnTo>
                  <a:pt x="67436" y="211835"/>
                </a:lnTo>
                <a:lnTo>
                  <a:pt x="70103" y="203200"/>
                </a:lnTo>
                <a:lnTo>
                  <a:pt x="58076" y="197865"/>
                </a:lnTo>
                <a:lnTo>
                  <a:pt x="47704" y="190436"/>
                </a:lnTo>
                <a:lnTo>
                  <a:pt x="26376" y="155765"/>
                </a:lnTo>
                <a:lnTo>
                  <a:pt x="19303" y="104901"/>
                </a:lnTo>
                <a:lnTo>
                  <a:pt x="20089" y="86830"/>
                </a:lnTo>
                <a:lnTo>
                  <a:pt x="31876" y="42163"/>
                </a:lnTo>
                <a:lnTo>
                  <a:pt x="58291" y="13946"/>
                </a:lnTo>
                <a:lnTo>
                  <a:pt x="70484" y="8635"/>
                </a:lnTo>
                <a:lnTo>
                  <a:pt x="67436" y="0"/>
                </a:lnTo>
                <a:close/>
              </a:path>
            </a:pathLst>
          </a:custGeom>
          <a:solidFill>
            <a:srgbClr val="3C3C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78916" y="3214496"/>
            <a:ext cx="92836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solidFill>
                  <a:srgbClr val="3C3C3C"/>
                </a:solidFill>
                <a:latin typeface="Trebuchet MS"/>
                <a:cs typeface="Trebuchet MS"/>
              </a:rPr>
              <a:t>L</a:t>
            </a:r>
            <a:r>
              <a:rPr sz="1800" spc="-85" dirty="0">
                <a:solidFill>
                  <a:srgbClr val="3C3C3C"/>
                </a:solidFill>
                <a:latin typeface="Trebuchet MS"/>
                <a:cs typeface="Trebuchet MS"/>
              </a:rPr>
              <a:t>otería</a:t>
            </a:r>
            <a:r>
              <a:rPr sz="18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Arial MT"/>
                <a:cs typeface="Arial MT"/>
              </a:rPr>
              <a:t>1</a:t>
            </a:r>
            <a:r>
              <a:rPr sz="1800" spc="-270" dirty="0">
                <a:solidFill>
                  <a:srgbClr val="3C3C3C"/>
                </a:solidFill>
                <a:latin typeface="Trebuchet MS"/>
                <a:cs typeface="Trebuchet MS"/>
              </a:rPr>
              <a:t>: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3516" y="5230637"/>
            <a:ext cx="73914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25" dirty="0">
                <a:solidFill>
                  <a:srgbClr val="4776CD"/>
                </a:solidFill>
                <a:latin typeface="Cambria Math"/>
                <a:cs typeface="Cambria Math"/>
              </a:rPr>
              <a:t>𝑥</a:t>
            </a:r>
            <a:r>
              <a:rPr sz="1950" spc="37" baseline="-14957" dirty="0">
                <a:solidFill>
                  <a:srgbClr val="4776CD"/>
                </a:solidFill>
                <a:latin typeface="Cambria Math"/>
                <a:cs typeface="Cambria Math"/>
              </a:rPr>
              <a:t>𝑐</a:t>
            </a:r>
            <a:r>
              <a:rPr sz="1950" spc="405" baseline="-14957" dirty="0">
                <a:solidFill>
                  <a:srgbClr val="4776CD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4776CD"/>
                </a:solidFill>
                <a:latin typeface="Cambria Math"/>
                <a:cs typeface="Cambria Math"/>
              </a:rPr>
              <a:t>=</a:t>
            </a:r>
            <a:r>
              <a:rPr sz="1800" spc="-20" dirty="0">
                <a:solidFill>
                  <a:srgbClr val="4776CD"/>
                </a:solidFill>
                <a:latin typeface="Cambria Math"/>
                <a:cs typeface="Cambria Math"/>
              </a:rPr>
              <a:t> </a:t>
            </a:r>
            <a:r>
              <a:rPr sz="1800" spc="-10" dirty="0">
                <a:solidFill>
                  <a:srgbClr val="4776CD"/>
                </a:solidFill>
                <a:latin typeface="Cambria Math"/>
                <a:cs typeface="Cambria Math"/>
              </a:rPr>
              <a:t>?</a:t>
            </a:r>
            <a:r>
              <a:rPr sz="1900" spc="-10" dirty="0">
                <a:solidFill>
                  <a:srgbClr val="4776CD"/>
                </a:solidFill>
                <a:latin typeface="Cambria Math"/>
                <a:cs typeface="Cambria Math"/>
              </a:rPr>
              <a:t>;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68987" y="5230637"/>
            <a:ext cx="1033144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900" spc="-50" dirty="0">
                <a:solidFill>
                  <a:srgbClr val="4776CD"/>
                </a:solidFill>
                <a:latin typeface="Cambria Math"/>
                <a:cs typeface="Cambria Math"/>
              </a:rPr>
              <a:t>R:</a:t>
            </a:r>
            <a:r>
              <a:rPr sz="1900" spc="-55" dirty="0">
                <a:solidFill>
                  <a:srgbClr val="4776CD"/>
                </a:solidFill>
                <a:latin typeface="Cambria Math"/>
                <a:cs typeface="Cambria Math"/>
              </a:rPr>
              <a:t> </a:t>
            </a:r>
            <a:r>
              <a:rPr sz="1800" spc="25" dirty="0">
                <a:solidFill>
                  <a:srgbClr val="4776CD"/>
                </a:solidFill>
                <a:latin typeface="Cambria Math"/>
                <a:cs typeface="Cambria Math"/>
              </a:rPr>
              <a:t>𝑥</a:t>
            </a:r>
            <a:r>
              <a:rPr sz="1950" spc="37" baseline="-14957" dirty="0">
                <a:solidFill>
                  <a:srgbClr val="4776CD"/>
                </a:solidFill>
                <a:latin typeface="Cambria Math"/>
                <a:cs typeface="Cambria Math"/>
              </a:rPr>
              <a:t>𝑐</a:t>
            </a:r>
            <a:r>
              <a:rPr sz="1950" spc="434" baseline="-14957" dirty="0">
                <a:solidFill>
                  <a:srgbClr val="4776CD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4776CD"/>
                </a:solidFill>
                <a:latin typeface="Cambria Math"/>
                <a:cs typeface="Cambria Math"/>
              </a:rPr>
              <a:t>=</a:t>
            </a:r>
            <a:r>
              <a:rPr sz="1800" spc="85" dirty="0">
                <a:solidFill>
                  <a:srgbClr val="4776CD"/>
                </a:solidFill>
                <a:latin typeface="Cambria Math"/>
                <a:cs typeface="Cambria Math"/>
              </a:rPr>
              <a:t> </a:t>
            </a:r>
            <a:r>
              <a:rPr sz="1800" spc="-10" dirty="0">
                <a:solidFill>
                  <a:srgbClr val="4776CD"/>
                </a:solidFill>
                <a:latin typeface="Cambria Math"/>
                <a:cs typeface="Cambria Math"/>
              </a:rPr>
              <a:t>5</a:t>
            </a:r>
            <a:r>
              <a:rPr sz="1900" spc="-10" dirty="0">
                <a:solidFill>
                  <a:srgbClr val="4776CD"/>
                </a:solidFill>
                <a:latin typeface="Cambria Math"/>
                <a:cs typeface="Cambria Math"/>
              </a:rPr>
              <a:t>;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265237" y="5888786"/>
            <a:ext cx="97790" cy="15240"/>
          </a:xfrm>
          <a:custGeom>
            <a:avLst/>
            <a:gdLst/>
            <a:ahLst/>
            <a:cxnLst/>
            <a:rect l="l" t="t" r="r" b="b"/>
            <a:pathLst>
              <a:path w="97790" h="15239">
                <a:moveTo>
                  <a:pt x="97536" y="0"/>
                </a:moveTo>
                <a:lnTo>
                  <a:pt x="0" y="0"/>
                </a:lnTo>
                <a:lnTo>
                  <a:pt x="0" y="15240"/>
                </a:lnTo>
                <a:lnTo>
                  <a:pt x="97536" y="15240"/>
                </a:lnTo>
                <a:lnTo>
                  <a:pt x="97536" y="0"/>
                </a:lnTo>
                <a:close/>
              </a:path>
            </a:pathLst>
          </a:custGeom>
          <a:solidFill>
            <a:srgbClr val="3C3C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252829" y="5648959"/>
            <a:ext cx="12255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40" dirty="0">
                <a:solidFill>
                  <a:srgbClr val="3C3C3C"/>
                </a:solidFill>
                <a:latin typeface="Cambria Math"/>
                <a:cs typeface="Cambria Math"/>
              </a:rPr>
              <a:t>1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52829" y="5897372"/>
            <a:ext cx="12255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40" dirty="0">
                <a:solidFill>
                  <a:srgbClr val="3C3C3C"/>
                </a:solidFill>
                <a:latin typeface="Cambria Math"/>
                <a:cs typeface="Cambria Math"/>
              </a:rPr>
              <a:t>2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558163" y="5791504"/>
            <a:ext cx="275590" cy="212090"/>
          </a:xfrm>
          <a:custGeom>
            <a:avLst/>
            <a:gdLst/>
            <a:ahLst/>
            <a:cxnLst/>
            <a:rect l="l" t="t" r="r" b="b"/>
            <a:pathLst>
              <a:path w="275589" h="212089">
                <a:moveTo>
                  <a:pt x="208153" y="0"/>
                </a:moveTo>
                <a:lnTo>
                  <a:pt x="205105" y="8597"/>
                </a:lnTo>
                <a:lnTo>
                  <a:pt x="217372" y="13915"/>
                </a:lnTo>
                <a:lnTo>
                  <a:pt x="227901" y="21277"/>
                </a:lnTo>
                <a:lnTo>
                  <a:pt x="249267" y="55414"/>
                </a:lnTo>
                <a:lnTo>
                  <a:pt x="256286" y="104813"/>
                </a:lnTo>
                <a:lnTo>
                  <a:pt x="255500" y="123489"/>
                </a:lnTo>
                <a:lnTo>
                  <a:pt x="243712" y="169214"/>
                </a:lnTo>
                <a:lnTo>
                  <a:pt x="217459" y="197805"/>
                </a:lnTo>
                <a:lnTo>
                  <a:pt x="205359" y="203149"/>
                </a:lnTo>
                <a:lnTo>
                  <a:pt x="208153" y="211747"/>
                </a:lnTo>
                <a:lnTo>
                  <a:pt x="248550" y="187710"/>
                </a:lnTo>
                <a:lnTo>
                  <a:pt x="271271" y="143335"/>
                </a:lnTo>
                <a:lnTo>
                  <a:pt x="275589" y="105930"/>
                </a:lnTo>
                <a:lnTo>
                  <a:pt x="274496" y="86520"/>
                </a:lnTo>
                <a:lnTo>
                  <a:pt x="258191" y="37109"/>
                </a:lnTo>
                <a:lnTo>
                  <a:pt x="223490" y="5541"/>
                </a:lnTo>
                <a:lnTo>
                  <a:pt x="208153" y="0"/>
                </a:lnTo>
                <a:close/>
              </a:path>
              <a:path w="275589" h="212089">
                <a:moveTo>
                  <a:pt x="67437" y="0"/>
                </a:moveTo>
                <a:lnTo>
                  <a:pt x="27092" y="24095"/>
                </a:lnTo>
                <a:lnTo>
                  <a:pt x="4365" y="68581"/>
                </a:lnTo>
                <a:lnTo>
                  <a:pt x="0" y="105930"/>
                </a:lnTo>
                <a:lnTo>
                  <a:pt x="1075" y="125383"/>
                </a:lnTo>
                <a:lnTo>
                  <a:pt x="17399" y="174739"/>
                </a:lnTo>
                <a:lnTo>
                  <a:pt x="52081" y="206212"/>
                </a:lnTo>
                <a:lnTo>
                  <a:pt x="67437" y="211747"/>
                </a:lnTo>
                <a:lnTo>
                  <a:pt x="70231" y="203149"/>
                </a:lnTo>
                <a:lnTo>
                  <a:pt x="58130" y="197805"/>
                </a:lnTo>
                <a:lnTo>
                  <a:pt x="47720" y="190368"/>
                </a:lnTo>
                <a:lnTo>
                  <a:pt x="26376" y="155689"/>
                </a:lnTo>
                <a:lnTo>
                  <a:pt x="19303" y="104813"/>
                </a:lnTo>
                <a:lnTo>
                  <a:pt x="20089" y="86751"/>
                </a:lnTo>
                <a:lnTo>
                  <a:pt x="31877" y="42138"/>
                </a:lnTo>
                <a:lnTo>
                  <a:pt x="58291" y="13915"/>
                </a:lnTo>
                <a:lnTo>
                  <a:pt x="70485" y="8597"/>
                </a:lnTo>
                <a:lnTo>
                  <a:pt x="67437" y="0"/>
                </a:lnTo>
                <a:close/>
              </a:path>
            </a:pathLst>
          </a:custGeom>
          <a:solidFill>
            <a:srgbClr val="3C3C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127757" y="5888786"/>
            <a:ext cx="97790" cy="15240"/>
          </a:xfrm>
          <a:custGeom>
            <a:avLst/>
            <a:gdLst/>
            <a:ahLst/>
            <a:cxnLst/>
            <a:rect l="l" t="t" r="r" b="b"/>
            <a:pathLst>
              <a:path w="97789" h="15239">
                <a:moveTo>
                  <a:pt x="97536" y="0"/>
                </a:moveTo>
                <a:lnTo>
                  <a:pt x="0" y="0"/>
                </a:lnTo>
                <a:lnTo>
                  <a:pt x="0" y="15240"/>
                </a:lnTo>
                <a:lnTo>
                  <a:pt x="97536" y="15240"/>
                </a:lnTo>
                <a:lnTo>
                  <a:pt x="97536" y="0"/>
                </a:lnTo>
                <a:close/>
              </a:path>
            </a:pathLst>
          </a:custGeom>
          <a:solidFill>
            <a:srgbClr val="3C3C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115439" y="5648959"/>
            <a:ext cx="12255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40" dirty="0">
                <a:solidFill>
                  <a:srgbClr val="3C3C3C"/>
                </a:solidFill>
                <a:latin typeface="Cambria Math"/>
                <a:cs typeface="Cambria Math"/>
              </a:rPr>
              <a:t>1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115439" y="5897372"/>
            <a:ext cx="12255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40" dirty="0">
                <a:solidFill>
                  <a:srgbClr val="3C3C3C"/>
                </a:solidFill>
                <a:latin typeface="Cambria Math"/>
                <a:cs typeface="Cambria Math"/>
              </a:rPr>
              <a:t>2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419223" y="5791504"/>
            <a:ext cx="402590" cy="212090"/>
          </a:xfrm>
          <a:custGeom>
            <a:avLst/>
            <a:gdLst/>
            <a:ahLst/>
            <a:cxnLst/>
            <a:rect l="l" t="t" r="r" b="b"/>
            <a:pathLst>
              <a:path w="402589" h="212089">
                <a:moveTo>
                  <a:pt x="334644" y="0"/>
                </a:moveTo>
                <a:lnTo>
                  <a:pt x="331596" y="8597"/>
                </a:lnTo>
                <a:lnTo>
                  <a:pt x="343864" y="13915"/>
                </a:lnTo>
                <a:lnTo>
                  <a:pt x="354393" y="21277"/>
                </a:lnTo>
                <a:lnTo>
                  <a:pt x="375759" y="55414"/>
                </a:lnTo>
                <a:lnTo>
                  <a:pt x="382777" y="104813"/>
                </a:lnTo>
                <a:lnTo>
                  <a:pt x="381992" y="123489"/>
                </a:lnTo>
                <a:lnTo>
                  <a:pt x="370204" y="169214"/>
                </a:lnTo>
                <a:lnTo>
                  <a:pt x="343951" y="197805"/>
                </a:lnTo>
                <a:lnTo>
                  <a:pt x="331850" y="203149"/>
                </a:lnTo>
                <a:lnTo>
                  <a:pt x="334644" y="211747"/>
                </a:lnTo>
                <a:lnTo>
                  <a:pt x="375042" y="187710"/>
                </a:lnTo>
                <a:lnTo>
                  <a:pt x="397763" y="143335"/>
                </a:lnTo>
                <a:lnTo>
                  <a:pt x="402081" y="105930"/>
                </a:lnTo>
                <a:lnTo>
                  <a:pt x="400988" y="86520"/>
                </a:lnTo>
                <a:lnTo>
                  <a:pt x="384682" y="37109"/>
                </a:lnTo>
                <a:lnTo>
                  <a:pt x="349982" y="5541"/>
                </a:lnTo>
                <a:lnTo>
                  <a:pt x="334644" y="0"/>
                </a:lnTo>
                <a:close/>
              </a:path>
              <a:path w="402589" h="212089">
                <a:moveTo>
                  <a:pt x="67437" y="0"/>
                </a:moveTo>
                <a:lnTo>
                  <a:pt x="27092" y="24095"/>
                </a:lnTo>
                <a:lnTo>
                  <a:pt x="4365" y="68581"/>
                </a:lnTo>
                <a:lnTo>
                  <a:pt x="0" y="105930"/>
                </a:lnTo>
                <a:lnTo>
                  <a:pt x="1075" y="125383"/>
                </a:lnTo>
                <a:lnTo>
                  <a:pt x="17399" y="174739"/>
                </a:lnTo>
                <a:lnTo>
                  <a:pt x="52081" y="206212"/>
                </a:lnTo>
                <a:lnTo>
                  <a:pt x="67437" y="211747"/>
                </a:lnTo>
                <a:lnTo>
                  <a:pt x="70103" y="203149"/>
                </a:lnTo>
                <a:lnTo>
                  <a:pt x="58076" y="197805"/>
                </a:lnTo>
                <a:lnTo>
                  <a:pt x="47704" y="190368"/>
                </a:lnTo>
                <a:lnTo>
                  <a:pt x="26376" y="155689"/>
                </a:lnTo>
                <a:lnTo>
                  <a:pt x="19303" y="104813"/>
                </a:lnTo>
                <a:lnTo>
                  <a:pt x="20089" y="86751"/>
                </a:lnTo>
                <a:lnTo>
                  <a:pt x="31876" y="42138"/>
                </a:lnTo>
                <a:lnTo>
                  <a:pt x="58291" y="13915"/>
                </a:lnTo>
                <a:lnTo>
                  <a:pt x="70484" y="8597"/>
                </a:lnTo>
                <a:lnTo>
                  <a:pt x="67437" y="0"/>
                </a:lnTo>
                <a:close/>
              </a:path>
            </a:pathLst>
          </a:custGeom>
          <a:solidFill>
            <a:srgbClr val="3C3C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578916" y="5722111"/>
            <a:ext cx="21812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20419" algn="l"/>
                <a:tab pos="1326515" algn="l"/>
                <a:tab pos="1682750" algn="l"/>
              </a:tabLst>
            </a:pPr>
            <a:r>
              <a:rPr sz="1800" spc="-85" dirty="0">
                <a:solidFill>
                  <a:srgbClr val="3C3C3C"/>
                </a:solidFill>
                <a:latin typeface="Trebuchet MS"/>
                <a:cs typeface="Trebuchet MS"/>
              </a:rPr>
              <a:t>u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3C3C3C"/>
                </a:solidFill>
                <a:latin typeface="Trebuchet MS"/>
                <a:cs typeface="Trebuchet MS"/>
              </a:rPr>
              <a:t>(5)</a:t>
            </a:r>
            <a:r>
              <a:rPr sz="1800" spc="-55" dirty="0">
                <a:solidFill>
                  <a:srgbClr val="3C3C3C"/>
                </a:solidFill>
                <a:latin typeface="Cambria Math"/>
                <a:cs typeface="Cambria Math"/>
              </a:rPr>
              <a:t>=	</a:t>
            </a:r>
            <a:r>
              <a:rPr sz="1800" dirty="0">
                <a:solidFill>
                  <a:srgbClr val="3C3C3C"/>
                </a:solidFill>
                <a:latin typeface="Cambria Math"/>
                <a:cs typeface="Cambria Math"/>
              </a:rPr>
              <a:t>𝑢</a:t>
            </a:r>
            <a:r>
              <a:rPr sz="1800" spc="405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3C3C3C"/>
                </a:solidFill>
                <a:latin typeface="Cambria Math"/>
                <a:cs typeface="Cambria Math"/>
              </a:rPr>
              <a:t>0	+	𝑢</a:t>
            </a:r>
            <a:r>
              <a:rPr sz="1800" spc="305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mbria Math"/>
                <a:cs typeface="Cambria Math"/>
              </a:rPr>
              <a:t>20</a:t>
            </a:r>
            <a:endParaRPr sz="1800" dirty="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894457" y="5722111"/>
            <a:ext cx="5619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C3C3C"/>
                </a:solidFill>
                <a:latin typeface="Cambria Math"/>
                <a:cs typeface="Cambria Math"/>
              </a:rPr>
              <a:t>=</a:t>
            </a:r>
            <a:r>
              <a:rPr sz="1800" spc="30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3C3C3C"/>
                </a:solidFill>
                <a:latin typeface="Cambria Math"/>
                <a:cs typeface="Cambria Math"/>
              </a:rPr>
              <a:t>0.5</a:t>
            </a:r>
            <a:endParaRPr sz="1800" dirty="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497960" y="5722111"/>
            <a:ext cx="14262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7034" algn="l"/>
              </a:tabLst>
            </a:pPr>
            <a:r>
              <a:rPr sz="1800" spc="105" dirty="0">
                <a:solidFill>
                  <a:srgbClr val="3C3C3C"/>
                </a:solidFill>
                <a:latin typeface="Trebuchet MS"/>
                <a:cs typeface="Trebuchet MS"/>
              </a:rPr>
              <a:t>=&gt;	</a:t>
            </a:r>
            <a:r>
              <a:rPr sz="1800" spc="-85" dirty="0">
                <a:solidFill>
                  <a:srgbClr val="FF0000"/>
                </a:solidFill>
                <a:latin typeface="Trebuchet MS"/>
                <a:cs typeface="Trebuchet MS"/>
              </a:rPr>
              <a:t>u</a:t>
            </a:r>
            <a:r>
              <a:rPr sz="1800" spc="-5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FF0000"/>
                </a:solidFill>
                <a:latin typeface="Trebuchet MS"/>
                <a:cs typeface="Trebuchet MS"/>
              </a:rPr>
              <a:t>(</a:t>
            </a:r>
            <a:r>
              <a:rPr sz="1800" spc="-65" dirty="0">
                <a:solidFill>
                  <a:srgbClr val="FF0000"/>
                </a:solidFill>
                <a:latin typeface="Trebuchet MS"/>
                <a:cs typeface="Trebuchet MS"/>
              </a:rPr>
              <a:t>5)</a:t>
            </a:r>
            <a:r>
              <a:rPr sz="1800" spc="-2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1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-120" dirty="0">
                <a:solidFill>
                  <a:srgbClr val="FF0000"/>
                </a:solidFill>
                <a:latin typeface="Trebuchet MS"/>
                <a:cs typeface="Trebuchet MS"/>
              </a:rPr>
              <a:t>0.5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351646" y="6054344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4590B8"/>
                </a:solidFill>
                <a:latin typeface="Trebuchet MS"/>
                <a:cs typeface="Trebuchet MS"/>
              </a:rPr>
              <a:t>25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399093" y="2997454"/>
            <a:ext cx="1858010" cy="1460500"/>
            <a:chOff x="2399093" y="2997454"/>
            <a:chExt cx="1858010" cy="1460500"/>
          </a:xfrm>
        </p:grpSpPr>
        <p:sp>
          <p:nvSpPr>
            <p:cNvPr id="24" name="object 24"/>
            <p:cNvSpPr/>
            <p:nvPr/>
          </p:nvSpPr>
          <p:spPr>
            <a:xfrm>
              <a:off x="2410205" y="3441954"/>
              <a:ext cx="504825" cy="504825"/>
            </a:xfrm>
            <a:custGeom>
              <a:avLst/>
              <a:gdLst/>
              <a:ahLst/>
              <a:cxnLst/>
              <a:rect l="l" t="t" r="r" b="b"/>
              <a:pathLst>
                <a:path w="504825" h="504825">
                  <a:moveTo>
                    <a:pt x="0" y="252222"/>
                  </a:moveTo>
                  <a:lnTo>
                    <a:pt x="4062" y="206879"/>
                  </a:lnTo>
                  <a:lnTo>
                    <a:pt x="15777" y="164205"/>
                  </a:lnTo>
                  <a:lnTo>
                    <a:pt x="34431" y="124911"/>
                  </a:lnTo>
                  <a:lnTo>
                    <a:pt x="59312" y="89710"/>
                  </a:lnTo>
                  <a:lnTo>
                    <a:pt x="89710" y="59312"/>
                  </a:lnTo>
                  <a:lnTo>
                    <a:pt x="124911" y="34431"/>
                  </a:lnTo>
                  <a:lnTo>
                    <a:pt x="164205" y="15777"/>
                  </a:lnTo>
                  <a:lnTo>
                    <a:pt x="206879" y="4062"/>
                  </a:lnTo>
                  <a:lnTo>
                    <a:pt x="252221" y="0"/>
                  </a:lnTo>
                  <a:lnTo>
                    <a:pt x="297564" y="4062"/>
                  </a:lnTo>
                  <a:lnTo>
                    <a:pt x="340238" y="15777"/>
                  </a:lnTo>
                  <a:lnTo>
                    <a:pt x="379532" y="34431"/>
                  </a:lnTo>
                  <a:lnTo>
                    <a:pt x="414733" y="59312"/>
                  </a:lnTo>
                  <a:lnTo>
                    <a:pt x="445131" y="89710"/>
                  </a:lnTo>
                  <a:lnTo>
                    <a:pt x="470012" y="124911"/>
                  </a:lnTo>
                  <a:lnTo>
                    <a:pt x="488666" y="164205"/>
                  </a:lnTo>
                  <a:lnTo>
                    <a:pt x="500381" y="206879"/>
                  </a:lnTo>
                  <a:lnTo>
                    <a:pt x="504444" y="252222"/>
                  </a:lnTo>
                  <a:lnTo>
                    <a:pt x="500381" y="297564"/>
                  </a:lnTo>
                  <a:lnTo>
                    <a:pt x="488666" y="340238"/>
                  </a:lnTo>
                  <a:lnTo>
                    <a:pt x="470012" y="379532"/>
                  </a:lnTo>
                  <a:lnTo>
                    <a:pt x="445131" y="414733"/>
                  </a:lnTo>
                  <a:lnTo>
                    <a:pt x="414733" y="445131"/>
                  </a:lnTo>
                  <a:lnTo>
                    <a:pt x="379532" y="470012"/>
                  </a:lnTo>
                  <a:lnTo>
                    <a:pt x="340238" y="488666"/>
                  </a:lnTo>
                  <a:lnTo>
                    <a:pt x="297564" y="500381"/>
                  </a:lnTo>
                  <a:lnTo>
                    <a:pt x="252221" y="504444"/>
                  </a:lnTo>
                  <a:lnTo>
                    <a:pt x="206879" y="500381"/>
                  </a:lnTo>
                  <a:lnTo>
                    <a:pt x="164205" y="488666"/>
                  </a:lnTo>
                  <a:lnTo>
                    <a:pt x="124911" y="470012"/>
                  </a:lnTo>
                  <a:lnTo>
                    <a:pt x="89710" y="445131"/>
                  </a:lnTo>
                  <a:lnTo>
                    <a:pt x="59312" y="414733"/>
                  </a:lnTo>
                  <a:lnTo>
                    <a:pt x="34431" y="379532"/>
                  </a:lnTo>
                  <a:lnTo>
                    <a:pt x="15777" y="340238"/>
                  </a:lnTo>
                  <a:lnTo>
                    <a:pt x="4062" y="297564"/>
                  </a:lnTo>
                  <a:lnTo>
                    <a:pt x="0" y="252222"/>
                  </a:lnTo>
                  <a:close/>
                </a:path>
              </a:pathLst>
            </a:custGeom>
            <a:ln w="22225">
              <a:solidFill>
                <a:srgbClr val="4294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839211" y="3003804"/>
              <a:ext cx="1411605" cy="1447800"/>
            </a:xfrm>
            <a:custGeom>
              <a:avLst/>
              <a:gdLst/>
              <a:ahLst/>
              <a:cxnLst/>
              <a:rect l="l" t="t" r="r" b="b"/>
              <a:pathLst>
                <a:path w="1411604" h="1447800">
                  <a:moveTo>
                    <a:pt x="0" y="511810"/>
                  </a:moveTo>
                  <a:lnTo>
                    <a:pt x="1297939" y="0"/>
                  </a:lnTo>
                </a:path>
                <a:path w="1411604" h="1447800">
                  <a:moveTo>
                    <a:pt x="0" y="896112"/>
                  </a:moveTo>
                  <a:lnTo>
                    <a:pt x="1411097" y="1447546"/>
                  </a:lnTo>
                </a:path>
              </a:pathLst>
            </a:custGeom>
            <a:ln w="12700">
              <a:solidFill>
                <a:srgbClr val="172C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3897248" y="2401951"/>
            <a:ext cx="3572510" cy="74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03755" algn="l"/>
                <a:tab pos="3197860" algn="l"/>
              </a:tabLst>
            </a:pPr>
            <a:r>
              <a:rPr sz="1800" spc="-5" dirty="0">
                <a:solidFill>
                  <a:srgbClr val="3C3C3C"/>
                </a:solidFill>
                <a:latin typeface="Cambria Math"/>
                <a:cs typeface="Cambria Math"/>
              </a:rPr>
              <a:t>0,</a:t>
            </a:r>
            <a:r>
              <a:rPr sz="1800" spc="-95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3C3C3C"/>
                </a:solidFill>
                <a:latin typeface="Cambria Math"/>
                <a:cs typeface="Cambria Math"/>
              </a:rPr>
              <a:t>20𝑀𝑖𝑙𝑙𝑜𝑛𝑒𝑠</a:t>
            </a:r>
            <a:r>
              <a:rPr sz="1800" spc="270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3C3C3C"/>
                </a:solidFill>
                <a:latin typeface="Cambria Math"/>
                <a:cs typeface="Cambria Math"/>
              </a:rPr>
              <a:t>;</a:t>
            </a:r>
            <a:r>
              <a:rPr sz="1800" spc="305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3C3C3C"/>
                </a:solidFill>
                <a:latin typeface="Cambria Math"/>
                <a:cs typeface="Cambria Math"/>
              </a:rPr>
              <a:t>u</a:t>
            </a:r>
            <a:r>
              <a:rPr lang="es-CO" sz="1800" dirty="0">
                <a:solidFill>
                  <a:srgbClr val="3C3C3C"/>
                </a:solidFill>
                <a:latin typeface="Cambria Math"/>
                <a:cs typeface="Cambria Math"/>
              </a:rPr>
              <a:t> 0	=</a:t>
            </a:r>
            <a:r>
              <a:rPr sz="1800" spc="105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3C3C3C"/>
                </a:solidFill>
                <a:latin typeface="Cambria Math"/>
                <a:cs typeface="Cambria Math"/>
              </a:rPr>
              <a:t>0;</a:t>
            </a:r>
            <a:r>
              <a:rPr sz="1800" spc="-95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3C3C3C"/>
                </a:solidFill>
                <a:latin typeface="Cambria Math"/>
                <a:cs typeface="Cambria Math"/>
              </a:rPr>
              <a:t>u</a:t>
            </a:r>
            <a:r>
              <a:rPr sz="1800" spc="350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mbria Math"/>
                <a:cs typeface="Cambria Math"/>
              </a:rPr>
              <a:t>20	</a:t>
            </a:r>
            <a:r>
              <a:rPr sz="1800" dirty="0">
                <a:solidFill>
                  <a:srgbClr val="3C3C3C"/>
                </a:solidFill>
                <a:latin typeface="Cambria Math"/>
                <a:cs typeface="Cambria Math"/>
              </a:rPr>
              <a:t>=</a:t>
            </a:r>
            <a:r>
              <a:rPr sz="1800" spc="20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3C3C3C"/>
                </a:solidFill>
                <a:latin typeface="Cambria Math"/>
                <a:cs typeface="Cambria Math"/>
              </a:rPr>
              <a:t>1</a:t>
            </a:r>
            <a:endParaRPr sz="1800" dirty="0">
              <a:latin typeface="Cambria Math"/>
              <a:cs typeface="Cambria Math"/>
            </a:endParaRPr>
          </a:p>
          <a:p>
            <a:pPr marL="369570">
              <a:lnSpc>
                <a:spcPct val="100000"/>
              </a:lnSpc>
              <a:spcBef>
                <a:spcPts val="1315"/>
              </a:spcBef>
            </a:pPr>
            <a:r>
              <a:rPr sz="1800" spc="-45" dirty="0">
                <a:latin typeface="Trebuchet MS"/>
                <a:cs typeface="Trebuchet MS"/>
              </a:rPr>
              <a:t>0</a:t>
            </a:r>
            <a:r>
              <a:rPr sz="1800" spc="-90" dirty="0">
                <a:latin typeface="Trebuchet MS"/>
                <a:cs typeface="Trebuchet MS"/>
              </a:rPr>
              <a:t> </a:t>
            </a:r>
            <a:r>
              <a:rPr sz="1800" spc="125" dirty="0">
                <a:latin typeface="Trebuchet MS"/>
                <a:cs typeface="Trebuchet MS"/>
              </a:rPr>
              <a:t>M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345051" y="4256023"/>
            <a:ext cx="4965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latin typeface="Trebuchet MS"/>
                <a:cs typeface="Trebuchet MS"/>
              </a:rPr>
              <a:t>20 </a:t>
            </a:r>
            <a:r>
              <a:rPr sz="1800" spc="125" dirty="0">
                <a:latin typeface="Trebuchet MS"/>
                <a:cs typeface="Trebuchet MS"/>
              </a:rPr>
              <a:t>M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165729" y="3082670"/>
            <a:ext cx="113030" cy="13970"/>
          </a:xfrm>
          <a:custGeom>
            <a:avLst/>
            <a:gdLst/>
            <a:ahLst/>
            <a:cxnLst/>
            <a:rect l="l" t="t" r="r" b="b"/>
            <a:pathLst>
              <a:path w="113029" h="13969">
                <a:moveTo>
                  <a:pt x="112775" y="0"/>
                </a:moveTo>
                <a:lnTo>
                  <a:pt x="0" y="0"/>
                </a:lnTo>
                <a:lnTo>
                  <a:pt x="0" y="13715"/>
                </a:lnTo>
                <a:lnTo>
                  <a:pt x="112775" y="13715"/>
                </a:lnTo>
                <a:lnTo>
                  <a:pt x="1127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1760347" y="2287221"/>
            <a:ext cx="2016125" cy="759460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501650" algn="l"/>
              </a:tabLst>
            </a:pPr>
            <a:r>
              <a:rPr sz="1800" dirty="0">
                <a:solidFill>
                  <a:srgbClr val="3C3C3C"/>
                </a:solidFill>
                <a:latin typeface="Cambria Math"/>
                <a:cs typeface="Cambria Math"/>
              </a:rPr>
              <a:t>𝑢</a:t>
            </a:r>
            <a:r>
              <a:rPr sz="1800" spc="390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3C3C3C"/>
                </a:solidFill>
                <a:latin typeface="Cambria Math"/>
                <a:cs typeface="Cambria Math"/>
              </a:rPr>
              <a:t>x	</a:t>
            </a:r>
            <a:r>
              <a:rPr sz="1800" spc="-5" dirty="0">
                <a:solidFill>
                  <a:srgbClr val="3C3C3C"/>
                </a:solidFill>
                <a:latin typeface="Cambria Math"/>
                <a:cs typeface="Cambria Math"/>
              </a:rPr>
              <a:t>definida</a:t>
            </a:r>
            <a:r>
              <a:rPr sz="1800" spc="-25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mbria Math"/>
                <a:cs typeface="Cambria Math"/>
              </a:rPr>
              <a:t>en</a:t>
            </a:r>
            <a:r>
              <a:rPr sz="1800" spc="-15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3C3C3C"/>
                </a:solidFill>
                <a:latin typeface="Cambria Math"/>
                <a:cs typeface="Cambria Math"/>
              </a:rPr>
              <a:t>C</a:t>
            </a:r>
            <a:r>
              <a:rPr sz="1800" spc="70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3C3C3C"/>
                </a:solidFill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  <a:p>
            <a:pPr marL="1405255">
              <a:lnSpc>
                <a:spcPct val="100000"/>
              </a:lnSpc>
              <a:spcBef>
                <a:spcPts val="800"/>
              </a:spcBef>
            </a:pPr>
            <a:r>
              <a:rPr sz="1600" spc="-5" dirty="0">
                <a:latin typeface="Cambria Math"/>
                <a:cs typeface="Cambria Math"/>
              </a:rPr>
              <a:t>1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153536" y="3067557"/>
            <a:ext cx="1377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ambria Math"/>
                <a:cs typeface="Cambria Math"/>
              </a:rPr>
              <a:t>2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086101" y="3509264"/>
            <a:ext cx="173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𝑋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209798" y="4475098"/>
            <a:ext cx="113030" cy="13970"/>
          </a:xfrm>
          <a:custGeom>
            <a:avLst/>
            <a:gdLst/>
            <a:ahLst/>
            <a:cxnLst/>
            <a:rect l="l" t="t" r="r" b="b"/>
            <a:pathLst>
              <a:path w="113029" h="13970">
                <a:moveTo>
                  <a:pt x="112775" y="0"/>
                </a:moveTo>
                <a:lnTo>
                  <a:pt x="0" y="0"/>
                </a:lnTo>
                <a:lnTo>
                  <a:pt x="0" y="13715"/>
                </a:lnTo>
                <a:lnTo>
                  <a:pt x="112775" y="13715"/>
                </a:lnTo>
                <a:lnTo>
                  <a:pt x="1127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3197732" y="4124604"/>
            <a:ext cx="137795" cy="60452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1600" spc="-5" dirty="0">
                <a:latin typeface="Cambria Math"/>
                <a:cs typeface="Cambria Math"/>
              </a:rPr>
              <a:t>1</a:t>
            </a:r>
            <a:endParaRPr sz="16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1600" spc="-5" dirty="0">
                <a:latin typeface="Cambria Math"/>
                <a:cs typeface="Cambria Math"/>
              </a:rPr>
              <a:t>2</a:t>
            </a:r>
            <a:endParaRPr sz="1600">
              <a:latin typeface="Cambria Math"/>
              <a:cs typeface="Cambria Math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8055" y="600455"/>
            <a:ext cx="8239125" cy="125920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161290" rIns="0" bIns="0" rtlCol="0">
            <a:spAutoFit/>
          </a:bodyPr>
          <a:lstStyle/>
          <a:p>
            <a:pPr marL="146050" marR="1586865" indent="-56515">
              <a:lnSpc>
                <a:spcPct val="100000"/>
              </a:lnSpc>
              <a:spcBef>
                <a:spcPts val="1270"/>
              </a:spcBef>
            </a:pPr>
            <a:r>
              <a:rPr sz="2500" b="0" spc="19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2500" b="0" spc="-3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b="0" spc="55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2500" b="0" spc="6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2500" b="0" spc="-1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2500" b="0" spc="-40" dirty="0">
                <a:solidFill>
                  <a:srgbClr val="FFFFFF"/>
                </a:solidFill>
                <a:latin typeface="Trebuchet MS"/>
                <a:cs typeface="Trebuchet MS"/>
              </a:rPr>
              <a:t>VÉS</a:t>
            </a:r>
            <a:r>
              <a:rPr sz="2500" b="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b="0" spc="125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500" b="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b="0" spc="60" dirty="0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sz="2500" b="0" spc="8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2500" b="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b="0" spc="-135" dirty="0">
                <a:solidFill>
                  <a:srgbClr val="FFFFFF"/>
                </a:solidFill>
                <a:latin typeface="Trebuchet MS"/>
                <a:cs typeface="Trebuchet MS"/>
              </a:rPr>
              <a:t>F</a:t>
            </a:r>
            <a:r>
              <a:rPr sz="2500" b="0" spc="145" dirty="0">
                <a:solidFill>
                  <a:srgbClr val="FFFFFF"/>
                </a:solidFill>
                <a:latin typeface="Trebuchet MS"/>
                <a:cs typeface="Trebuchet MS"/>
              </a:rPr>
              <a:t>ORMUL</a:t>
            </a:r>
            <a:r>
              <a:rPr sz="2500" b="0" spc="4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2500" b="0" spc="229" dirty="0">
                <a:solidFill>
                  <a:srgbClr val="FFFFFF"/>
                </a:solidFill>
                <a:latin typeface="Trebuchet MS"/>
                <a:cs typeface="Trebuchet MS"/>
              </a:rPr>
              <a:t>CIÓN</a:t>
            </a:r>
            <a:r>
              <a:rPr sz="2500" b="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b="0" spc="125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500" b="0" spc="-50" dirty="0">
                <a:solidFill>
                  <a:srgbClr val="FFFFFF"/>
                </a:solidFill>
                <a:latin typeface="Trebuchet MS"/>
                <a:cs typeface="Trebuchet MS"/>
              </a:rPr>
              <a:t> L</a:t>
            </a:r>
            <a:r>
              <a:rPr sz="2500" b="0" spc="195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2500" b="0" spc="5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2500" b="0" spc="1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2500" b="0" spc="15" dirty="0">
                <a:solidFill>
                  <a:srgbClr val="FFFFFF"/>
                </a:solidFill>
                <a:latin typeface="Trebuchet MS"/>
                <a:cs typeface="Trebuchet MS"/>
              </a:rPr>
              <a:t>ÍAS  </a:t>
            </a:r>
            <a:r>
              <a:rPr sz="2500" b="0" spc="70" dirty="0">
                <a:solidFill>
                  <a:srgbClr val="FFFFFF"/>
                </a:solidFill>
                <a:latin typeface="Trebuchet MS"/>
                <a:cs typeface="Trebuchet MS"/>
              </a:rPr>
              <a:t>AL</a:t>
            </a:r>
            <a:r>
              <a:rPr sz="2500" b="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b="0" spc="114" dirty="0">
                <a:solidFill>
                  <a:srgbClr val="FFFFFF"/>
                </a:solidFill>
                <a:latin typeface="Trebuchet MS"/>
                <a:cs typeface="Trebuchet MS"/>
              </a:rPr>
              <a:t>DECISOR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0116" y="2434844"/>
            <a:ext cx="1210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5" dirty="0">
                <a:solidFill>
                  <a:srgbClr val="3C3C3C"/>
                </a:solidFill>
                <a:latin typeface="Trebuchet MS"/>
                <a:cs typeface="Trebuchet MS"/>
              </a:rPr>
              <a:t>Loterí</a:t>
            </a:r>
            <a:r>
              <a:rPr sz="2400" spc="-114" dirty="0">
                <a:solidFill>
                  <a:srgbClr val="3C3C3C"/>
                </a:solidFill>
                <a:latin typeface="Trebuchet MS"/>
                <a:cs typeface="Trebuchet MS"/>
              </a:rPr>
              <a:t>a</a:t>
            </a:r>
            <a:r>
              <a:rPr sz="2400" spc="-7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400" spc="-210" dirty="0">
                <a:solidFill>
                  <a:srgbClr val="3C3C3C"/>
                </a:solidFill>
                <a:latin typeface="Trebuchet MS"/>
                <a:cs typeface="Trebuchet MS"/>
              </a:rPr>
              <a:t>2: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0116" y="5011039"/>
            <a:ext cx="1210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5" dirty="0">
                <a:solidFill>
                  <a:srgbClr val="3C3C3C"/>
                </a:solidFill>
                <a:latin typeface="Trebuchet MS"/>
                <a:cs typeface="Trebuchet MS"/>
              </a:rPr>
              <a:t>Loterí</a:t>
            </a:r>
            <a:r>
              <a:rPr sz="2400" spc="-114" dirty="0">
                <a:solidFill>
                  <a:srgbClr val="3C3C3C"/>
                </a:solidFill>
                <a:latin typeface="Trebuchet MS"/>
                <a:cs typeface="Trebuchet MS"/>
              </a:rPr>
              <a:t>a</a:t>
            </a:r>
            <a:r>
              <a:rPr sz="2400" spc="-7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400" spc="-210" dirty="0">
                <a:solidFill>
                  <a:srgbClr val="3C3C3C"/>
                </a:solidFill>
                <a:latin typeface="Trebuchet MS"/>
                <a:cs typeface="Trebuchet MS"/>
              </a:rPr>
              <a:t>3: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51646" y="6054344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4590B8"/>
                </a:solidFill>
                <a:latin typeface="Trebuchet MS"/>
                <a:cs typeface="Trebuchet MS"/>
              </a:rPr>
              <a:t>26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761805" y="2294889"/>
            <a:ext cx="1858010" cy="1156970"/>
            <a:chOff x="2761805" y="2294889"/>
            <a:chExt cx="1858010" cy="1156970"/>
          </a:xfrm>
        </p:grpSpPr>
        <p:sp>
          <p:nvSpPr>
            <p:cNvPr id="7" name="object 7"/>
            <p:cNvSpPr/>
            <p:nvPr/>
          </p:nvSpPr>
          <p:spPr>
            <a:xfrm>
              <a:off x="2772917" y="2437637"/>
              <a:ext cx="504825" cy="502920"/>
            </a:xfrm>
            <a:custGeom>
              <a:avLst/>
              <a:gdLst/>
              <a:ahLst/>
              <a:cxnLst/>
              <a:rect l="l" t="t" r="r" b="b"/>
              <a:pathLst>
                <a:path w="504825" h="502919">
                  <a:moveTo>
                    <a:pt x="0" y="251460"/>
                  </a:moveTo>
                  <a:lnTo>
                    <a:pt x="4062" y="206243"/>
                  </a:lnTo>
                  <a:lnTo>
                    <a:pt x="15777" y="163693"/>
                  </a:lnTo>
                  <a:lnTo>
                    <a:pt x="34431" y="124516"/>
                  </a:lnTo>
                  <a:lnTo>
                    <a:pt x="59312" y="89422"/>
                  </a:lnTo>
                  <a:lnTo>
                    <a:pt x="89710" y="59120"/>
                  </a:lnTo>
                  <a:lnTo>
                    <a:pt x="124911" y="34318"/>
                  </a:lnTo>
                  <a:lnTo>
                    <a:pt x="164205" y="15725"/>
                  </a:lnTo>
                  <a:lnTo>
                    <a:pt x="206879" y="4049"/>
                  </a:lnTo>
                  <a:lnTo>
                    <a:pt x="252221" y="0"/>
                  </a:lnTo>
                  <a:lnTo>
                    <a:pt x="297564" y="4049"/>
                  </a:lnTo>
                  <a:lnTo>
                    <a:pt x="340238" y="15725"/>
                  </a:lnTo>
                  <a:lnTo>
                    <a:pt x="379532" y="34318"/>
                  </a:lnTo>
                  <a:lnTo>
                    <a:pt x="414733" y="59120"/>
                  </a:lnTo>
                  <a:lnTo>
                    <a:pt x="445131" y="89422"/>
                  </a:lnTo>
                  <a:lnTo>
                    <a:pt x="470012" y="124516"/>
                  </a:lnTo>
                  <a:lnTo>
                    <a:pt x="488666" y="163693"/>
                  </a:lnTo>
                  <a:lnTo>
                    <a:pt x="500381" y="206243"/>
                  </a:lnTo>
                  <a:lnTo>
                    <a:pt x="504444" y="251460"/>
                  </a:lnTo>
                  <a:lnTo>
                    <a:pt x="500381" y="296676"/>
                  </a:lnTo>
                  <a:lnTo>
                    <a:pt x="488666" y="339226"/>
                  </a:lnTo>
                  <a:lnTo>
                    <a:pt x="470012" y="378403"/>
                  </a:lnTo>
                  <a:lnTo>
                    <a:pt x="445131" y="413497"/>
                  </a:lnTo>
                  <a:lnTo>
                    <a:pt x="414733" y="443799"/>
                  </a:lnTo>
                  <a:lnTo>
                    <a:pt x="379532" y="468601"/>
                  </a:lnTo>
                  <a:lnTo>
                    <a:pt x="340238" y="487194"/>
                  </a:lnTo>
                  <a:lnTo>
                    <a:pt x="297564" y="498870"/>
                  </a:lnTo>
                  <a:lnTo>
                    <a:pt x="252221" y="502920"/>
                  </a:lnTo>
                  <a:lnTo>
                    <a:pt x="206879" y="498870"/>
                  </a:lnTo>
                  <a:lnTo>
                    <a:pt x="164205" y="487194"/>
                  </a:lnTo>
                  <a:lnTo>
                    <a:pt x="124911" y="468601"/>
                  </a:lnTo>
                  <a:lnTo>
                    <a:pt x="89710" y="443799"/>
                  </a:lnTo>
                  <a:lnTo>
                    <a:pt x="59312" y="413497"/>
                  </a:lnTo>
                  <a:lnTo>
                    <a:pt x="34431" y="378403"/>
                  </a:lnTo>
                  <a:lnTo>
                    <a:pt x="15777" y="339226"/>
                  </a:lnTo>
                  <a:lnTo>
                    <a:pt x="4062" y="296676"/>
                  </a:lnTo>
                  <a:lnTo>
                    <a:pt x="0" y="251460"/>
                  </a:lnTo>
                  <a:close/>
                </a:path>
              </a:pathLst>
            </a:custGeom>
            <a:ln w="22225">
              <a:solidFill>
                <a:srgbClr val="4294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201923" y="2301239"/>
              <a:ext cx="1411605" cy="1144270"/>
            </a:xfrm>
            <a:custGeom>
              <a:avLst/>
              <a:gdLst/>
              <a:ahLst/>
              <a:cxnLst/>
              <a:rect l="l" t="t" r="r" b="b"/>
              <a:pathLst>
                <a:path w="1411604" h="1144270">
                  <a:moveTo>
                    <a:pt x="0" y="208152"/>
                  </a:moveTo>
                  <a:lnTo>
                    <a:pt x="1398142" y="0"/>
                  </a:lnTo>
                </a:path>
                <a:path w="1411604" h="1144270">
                  <a:moveTo>
                    <a:pt x="0" y="592836"/>
                  </a:moveTo>
                  <a:lnTo>
                    <a:pt x="1411097" y="1144270"/>
                  </a:lnTo>
                </a:path>
              </a:pathLst>
            </a:custGeom>
            <a:ln w="12700">
              <a:solidFill>
                <a:srgbClr val="172C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712970" y="2084323"/>
            <a:ext cx="3829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latin typeface="Trebuchet MS"/>
                <a:cs typeface="Trebuchet MS"/>
              </a:rPr>
              <a:t>0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125" dirty="0">
                <a:latin typeface="Trebuchet MS"/>
                <a:cs typeface="Trebuchet MS"/>
              </a:rPr>
              <a:t>M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60467" y="3284042"/>
            <a:ext cx="3822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latin typeface="Trebuchet MS"/>
                <a:cs typeface="Trebuchet MS"/>
              </a:rPr>
              <a:t>5 </a:t>
            </a:r>
            <a:r>
              <a:rPr sz="1800" spc="130" dirty="0">
                <a:latin typeface="Trebuchet MS"/>
                <a:cs typeface="Trebuchet MS"/>
              </a:rPr>
              <a:t>M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577463" y="2222119"/>
            <a:ext cx="99060" cy="12700"/>
          </a:xfrm>
          <a:custGeom>
            <a:avLst/>
            <a:gdLst/>
            <a:ahLst/>
            <a:cxnLst/>
            <a:rect l="l" t="t" r="r" b="b"/>
            <a:pathLst>
              <a:path w="99060" h="12700">
                <a:moveTo>
                  <a:pt x="99060" y="0"/>
                </a:moveTo>
                <a:lnTo>
                  <a:pt x="0" y="0"/>
                </a:lnTo>
                <a:lnTo>
                  <a:pt x="0" y="12191"/>
                </a:lnTo>
                <a:lnTo>
                  <a:pt x="99060" y="12191"/>
                </a:lnTo>
                <a:lnTo>
                  <a:pt x="990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565397" y="1912205"/>
            <a:ext cx="124460" cy="53467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1400" dirty="0">
                <a:latin typeface="Cambria Math"/>
                <a:cs typeface="Cambria Math"/>
              </a:rPr>
              <a:t>1</a:t>
            </a:r>
            <a:endParaRPr sz="1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400" dirty="0">
                <a:latin typeface="Cambria Math"/>
                <a:cs typeface="Cambria Math"/>
              </a:rPr>
              <a:t>2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45257" y="2549397"/>
            <a:ext cx="173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𝑋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696080" y="3419094"/>
            <a:ext cx="99060" cy="12700"/>
          </a:xfrm>
          <a:custGeom>
            <a:avLst/>
            <a:gdLst/>
            <a:ahLst/>
            <a:cxnLst/>
            <a:rect l="l" t="t" r="r" b="b"/>
            <a:pathLst>
              <a:path w="99060" h="12700">
                <a:moveTo>
                  <a:pt x="99060" y="0"/>
                </a:moveTo>
                <a:lnTo>
                  <a:pt x="0" y="0"/>
                </a:lnTo>
                <a:lnTo>
                  <a:pt x="0" y="12191"/>
                </a:lnTo>
                <a:lnTo>
                  <a:pt x="99060" y="12191"/>
                </a:lnTo>
                <a:lnTo>
                  <a:pt x="990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683889" y="3109061"/>
            <a:ext cx="124460" cy="53467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1400" dirty="0">
                <a:latin typeface="Cambria Math"/>
                <a:cs typeface="Cambria Math"/>
              </a:rPr>
              <a:t>1</a:t>
            </a:r>
            <a:endParaRPr sz="1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400" dirty="0">
                <a:latin typeface="Cambria Math"/>
                <a:cs typeface="Cambria Math"/>
              </a:rPr>
              <a:t>2</a:t>
            </a:r>
            <a:endParaRPr sz="1400">
              <a:latin typeface="Cambria Math"/>
              <a:cs typeface="Cambria Math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761805" y="4550409"/>
            <a:ext cx="1858010" cy="1460500"/>
            <a:chOff x="2761805" y="4550409"/>
            <a:chExt cx="1858010" cy="1460500"/>
          </a:xfrm>
        </p:grpSpPr>
        <p:sp>
          <p:nvSpPr>
            <p:cNvPr id="17" name="object 17"/>
            <p:cNvSpPr/>
            <p:nvPr/>
          </p:nvSpPr>
          <p:spPr>
            <a:xfrm>
              <a:off x="2772917" y="4996433"/>
              <a:ext cx="504825" cy="502920"/>
            </a:xfrm>
            <a:custGeom>
              <a:avLst/>
              <a:gdLst/>
              <a:ahLst/>
              <a:cxnLst/>
              <a:rect l="l" t="t" r="r" b="b"/>
              <a:pathLst>
                <a:path w="504825" h="502920">
                  <a:moveTo>
                    <a:pt x="0" y="251460"/>
                  </a:moveTo>
                  <a:lnTo>
                    <a:pt x="4062" y="206243"/>
                  </a:lnTo>
                  <a:lnTo>
                    <a:pt x="15777" y="163693"/>
                  </a:lnTo>
                  <a:lnTo>
                    <a:pt x="34431" y="124516"/>
                  </a:lnTo>
                  <a:lnTo>
                    <a:pt x="59312" y="89422"/>
                  </a:lnTo>
                  <a:lnTo>
                    <a:pt x="89710" y="59120"/>
                  </a:lnTo>
                  <a:lnTo>
                    <a:pt x="124911" y="34318"/>
                  </a:lnTo>
                  <a:lnTo>
                    <a:pt x="164205" y="15725"/>
                  </a:lnTo>
                  <a:lnTo>
                    <a:pt x="206879" y="4049"/>
                  </a:lnTo>
                  <a:lnTo>
                    <a:pt x="252221" y="0"/>
                  </a:lnTo>
                  <a:lnTo>
                    <a:pt x="297564" y="4049"/>
                  </a:lnTo>
                  <a:lnTo>
                    <a:pt x="340238" y="15725"/>
                  </a:lnTo>
                  <a:lnTo>
                    <a:pt x="379532" y="34318"/>
                  </a:lnTo>
                  <a:lnTo>
                    <a:pt x="414733" y="59120"/>
                  </a:lnTo>
                  <a:lnTo>
                    <a:pt x="445131" y="89422"/>
                  </a:lnTo>
                  <a:lnTo>
                    <a:pt x="470012" y="124516"/>
                  </a:lnTo>
                  <a:lnTo>
                    <a:pt x="488666" y="163693"/>
                  </a:lnTo>
                  <a:lnTo>
                    <a:pt x="500381" y="206243"/>
                  </a:lnTo>
                  <a:lnTo>
                    <a:pt x="504444" y="251460"/>
                  </a:lnTo>
                  <a:lnTo>
                    <a:pt x="500381" y="296676"/>
                  </a:lnTo>
                  <a:lnTo>
                    <a:pt x="488666" y="339226"/>
                  </a:lnTo>
                  <a:lnTo>
                    <a:pt x="470012" y="378403"/>
                  </a:lnTo>
                  <a:lnTo>
                    <a:pt x="445131" y="413497"/>
                  </a:lnTo>
                  <a:lnTo>
                    <a:pt x="414733" y="443799"/>
                  </a:lnTo>
                  <a:lnTo>
                    <a:pt x="379532" y="468601"/>
                  </a:lnTo>
                  <a:lnTo>
                    <a:pt x="340238" y="487194"/>
                  </a:lnTo>
                  <a:lnTo>
                    <a:pt x="297564" y="498870"/>
                  </a:lnTo>
                  <a:lnTo>
                    <a:pt x="252221" y="502920"/>
                  </a:lnTo>
                  <a:lnTo>
                    <a:pt x="206879" y="498870"/>
                  </a:lnTo>
                  <a:lnTo>
                    <a:pt x="164205" y="487194"/>
                  </a:lnTo>
                  <a:lnTo>
                    <a:pt x="124911" y="468601"/>
                  </a:lnTo>
                  <a:lnTo>
                    <a:pt x="89710" y="443799"/>
                  </a:lnTo>
                  <a:lnTo>
                    <a:pt x="59312" y="413497"/>
                  </a:lnTo>
                  <a:lnTo>
                    <a:pt x="34431" y="378403"/>
                  </a:lnTo>
                  <a:lnTo>
                    <a:pt x="15777" y="339226"/>
                  </a:lnTo>
                  <a:lnTo>
                    <a:pt x="4062" y="296676"/>
                  </a:lnTo>
                  <a:lnTo>
                    <a:pt x="0" y="251460"/>
                  </a:lnTo>
                  <a:close/>
                </a:path>
              </a:pathLst>
            </a:custGeom>
            <a:ln w="22225">
              <a:solidFill>
                <a:srgbClr val="4294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201923" y="4556759"/>
              <a:ext cx="1411605" cy="1447800"/>
            </a:xfrm>
            <a:custGeom>
              <a:avLst/>
              <a:gdLst/>
              <a:ahLst/>
              <a:cxnLst/>
              <a:rect l="l" t="t" r="r" b="b"/>
              <a:pathLst>
                <a:path w="1411604" h="1447800">
                  <a:moveTo>
                    <a:pt x="0" y="511809"/>
                  </a:moveTo>
                  <a:lnTo>
                    <a:pt x="1297939" y="0"/>
                  </a:lnTo>
                </a:path>
                <a:path w="1411604" h="1447800">
                  <a:moveTo>
                    <a:pt x="0" y="896111"/>
                  </a:moveTo>
                  <a:lnTo>
                    <a:pt x="1411097" y="1447558"/>
                  </a:lnTo>
                </a:path>
              </a:pathLst>
            </a:custGeom>
            <a:ln w="12700">
              <a:solidFill>
                <a:srgbClr val="172C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692777" y="4403597"/>
            <a:ext cx="382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latin typeface="Trebuchet MS"/>
                <a:cs typeface="Trebuchet MS"/>
              </a:rPr>
              <a:t>5 </a:t>
            </a:r>
            <a:r>
              <a:rPr sz="1800" spc="125" dirty="0">
                <a:latin typeface="Trebuchet MS"/>
                <a:cs typeface="Trebuchet MS"/>
              </a:rPr>
              <a:t>M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760467" y="5844032"/>
            <a:ext cx="4965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latin typeface="Trebuchet MS"/>
                <a:cs typeface="Trebuchet MS"/>
              </a:rPr>
              <a:t>20 </a:t>
            </a:r>
            <a:r>
              <a:rPr sz="1800" spc="125" dirty="0">
                <a:latin typeface="Trebuchet MS"/>
                <a:cs typeface="Trebuchet MS"/>
              </a:rPr>
              <a:t>M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480815" y="4469129"/>
            <a:ext cx="99060" cy="12700"/>
          </a:xfrm>
          <a:custGeom>
            <a:avLst/>
            <a:gdLst/>
            <a:ahLst/>
            <a:cxnLst/>
            <a:rect l="l" t="t" r="r" b="b"/>
            <a:pathLst>
              <a:path w="99060" h="12700">
                <a:moveTo>
                  <a:pt x="99060" y="0"/>
                </a:moveTo>
                <a:lnTo>
                  <a:pt x="0" y="0"/>
                </a:lnTo>
                <a:lnTo>
                  <a:pt x="0" y="12192"/>
                </a:lnTo>
                <a:lnTo>
                  <a:pt x="99060" y="12192"/>
                </a:lnTo>
                <a:lnTo>
                  <a:pt x="990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3468751" y="4159351"/>
            <a:ext cx="124460" cy="53467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1400" dirty="0">
                <a:latin typeface="Cambria Math"/>
                <a:cs typeface="Cambria Math"/>
              </a:rPr>
              <a:t>1</a:t>
            </a:r>
            <a:endParaRPr sz="1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400" dirty="0">
                <a:latin typeface="Cambria Math"/>
                <a:cs typeface="Cambria Math"/>
              </a:rPr>
              <a:t>2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445257" y="5108828"/>
            <a:ext cx="173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𝑋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480815" y="5968707"/>
            <a:ext cx="99060" cy="12700"/>
          </a:xfrm>
          <a:custGeom>
            <a:avLst/>
            <a:gdLst/>
            <a:ahLst/>
            <a:cxnLst/>
            <a:rect l="l" t="t" r="r" b="b"/>
            <a:pathLst>
              <a:path w="99060" h="12700">
                <a:moveTo>
                  <a:pt x="99060" y="0"/>
                </a:moveTo>
                <a:lnTo>
                  <a:pt x="0" y="0"/>
                </a:lnTo>
                <a:lnTo>
                  <a:pt x="0" y="12192"/>
                </a:lnTo>
                <a:lnTo>
                  <a:pt x="99060" y="12192"/>
                </a:lnTo>
                <a:lnTo>
                  <a:pt x="990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3468751" y="5659323"/>
            <a:ext cx="124460" cy="53467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1400" dirty="0">
                <a:latin typeface="Cambria Math"/>
                <a:cs typeface="Cambria Math"/>
              </a:rPr>
              <a:t>1</a:t>
            </a:r>
            <a:endParaRPr sz="1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400" dirty="0">
                <a:latin typeface="Cambria Math"/>
                <a:cs typeface="Cambria Math"/>
              </a:rPr>
              <a:t>2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073521" y="1956069"/>
            <a:ext cx="191198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903605" algn="l"/>
              </a:tabLst>
            </a:pPr>
            <a:r>
              <a:rPr sz="1800" spc="25" dirty="0">
                <a:solidFill>
                  <a:srgbClr val="4776CD"/>
                </a:solidFill>
                <a:latin typeface="Cambria Math"/>
                <a:cs typeface="Cambria Math"/>
              </a:rPr>
              <a:t>𝑥</a:t>
            </a:r>
            <a:r>
              <a:rPr sz="1950" spc="37" baseline="-14957" dirty="0">
                <a:solidFill>
                  <a:srgbClr val="4776CD"/>
                </a:solidFill>
                <a:latin typeface="Cambria Math"/>
                <a:cs typeface="Cambria Math"/>
              </a:rPr>
              <a:t>𝑐</a:t>
            </a:r>
            <a:r>
              <a:rPr sz="1950" spc="487" baseline="-14957" dirty="0">
                <a:solidFill>
                  <a:srgbClr val="4776CD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4776CD"/>
                </a:solidFill>
                <a:latin typeface="Cambria Math"/>
                <a:cs typeface="Cambria Math"/>
              </a:rPr>
              <a:t>=</a:t>
            </a:r>
            <a:r>
              <a:rPr sz="1800" spc="10" dirty="0">
                <a:solidFill>
                  <a:srgbClr val="4776CD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4776CD"/>
                </a:solidFill>
                <a:latin typeface="Cambria Math"/>
                <a:cs typeface="Cambria Math"/>
              </a:rPr>
              <a:t>?</a:t>
            </a:r>
            <a:r>
              <a:rPr sz="1800" spc="-105" dirty="0">
                <a:solidFill>
                  <a:srgbClr val="4776CD"/>
                </a:solidFill>
                <a:latin typeface="Cambria Math"/>
                <a:cs typeface="Cambria Math"/>
              </a:rPr>
              <a:t> </a:t>
            </a:r>
            <a:r>
              <a:rPr sz="1900" spc="-30" dirty="0">
                <a:solidFill>
                  <a:srgbClr val="4776CD"/>
                </a:solidFill>
                <a:latin typeface="Cambria Math"/>
                <a:cs typeface="Cambria Math"/>
              </a:rPr>
              <a:t>;	</a:t>
            </a:r>
            <a:r>
              <a:rPr sz="1900" spc="-50" dirty="0">
                <a:solidFill>
                  <a:srgbClr val="4776CD"/>
                </a:solidFill>
                <a:latin typeface="Cambria Math"/>
                <a:cs typeface="Cambria Math"/>
              </a:rPr>
              <a:t>R:</a:t>
            </a:r>
            <a:r>
              <a:rPr sz="1900" spc="-35" dirty="0">
                <a:solidFill>
                  <a:srgbClr val="4776CD"/>
                </a:solidFill>
                <a:latin typeface="Cambria Math"/>
                <a:cs typeface="Cambria Math"/>
              </a:rPr>
              <a:t> </a:t>
            </a:r>
            <a:r>
              <a:rPr sz="1800" spc="25" dirty="0">
                <a:solidFill>
                  <a:srgbClr val="4776CD"/>
                </a:solidFill>
                <a:latin typeface="Cambria Math"/>
                <a:cs typeface="Cambria Math"/>
              </a:rPr>
              <a:t>𝑥</a:t>
            </a:r>
            <a:r>
              <a:rPr sz="1950" spc="37" baseline="-14957" dirty="0">
                <a:solidFill>
                  <a:srgbClr val="4776CD"/>
                </a:solidFill>
                <a:latin typeface="Cambria Math"/>
                <a:cs typeface="Cambria Math"/>
              </a:rPr>
              <a:t>𝑐</a:t>
            </a:r>
            <a:r>
              <a:rPr sz="1950" spc="434" baseline="-14957" dirty="0">
                <a:solidFill>
                  <a:srgbClr val="4776CD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4776CD"/>
                </a:solidFill>
                <a:latin typeface="Cambria Math"/>
                <a:cs typeface="Cambria Math"/>
              </a:rPr>
              <a:t>=</a:t>
            </a:r>
            <a:r>
              <a:rPr sz="1800" spc="80" dirty="0">
                <a:solidFill>
                  <a:srgbClr val="4776CD"/>
                </a:solidFill>
                <a:latin typeface="Cambria Math"/>
                <a:cs typeface="Cambria Math"/>
              </a:rPr>
              <a:t> </a:t>
            </a:r>
            <a:r>
              <a:rPr sz="1800" spc="-15" dirty="0">
                <a:solidFill>
                  <a:srgbClr val="4776CD"/>
                </a:solidFill>
                <a:latin typeface="Cambria Math"/>
                <a:cs typeface="Cambria Math"/>
              </a:rPr>
              <a:t>1</a:t>
            </a:r>
            <a:r>
              <a:rPr sz="1900" spc="-15" dirty="0">
                <a:solidFill>
                  <a:srgbClr val="4776CD"/>
                </a:solidFill>
                <a:latin typeface="Cambria Math"/>
                <a:cs typeface="Cambria Math"/>
              </a:rPr>
              <a:t>;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6079363" y="2726563"/>
            <a:ext cx="275590" cy="212090"/>
          </a:xfrm>
          <a:custGeom>
            <a:avLst/>
            <a:gdLst/>
            <a:ahLst/>
            <a:cxnLst/>
            <a:rect l="l" t="t" r="r" b="b"/>
            <a:pathLst>
              <a:path w="275589" h="212089">
                <a:moveTo>
                  <a:pt x="208025" y="0"/>
                </a:moveTo>
                <a:lnTo>
                  <a:pt x="205104" y="8636"/>
                </a:lnTo>
                <a:lnTo>
                  <a:pt x="217318" y="13946"/>
                </a:lnTo>
                <a:lnTo>
                  <a:pt x="227853" y="21304"/>
                </a:lnTo>
                <a:lnTo>
                  <a:pt x="249267" y="55429"/>
                </a:lnTo>
                <a:lnTo>
                  <a:pt x="256286" y="104775"/>
                </a:lnTo>
                <a:lnTo>
                  <a:pt x="255500" y="123517"/>
                </a:lnTo>
                <a:lnTo>
                  <a:pt x="243712" y="169290"/>
                </a:lnTo>
                <a:lnTo>
                  <a:pt x="217459" y="197865"/>
                </a:lnTo>
                <a:lnTo>
                  <a:pt x="205359" y="203200"/>
                </a:lnTo>
                <a:lnTo>
                  <a:pt x="208025" y="211709"/>
                </a:lnTo>
                <a:lnTo>
                  <a:pt x="248548" y="187705"/>
                </a:lnTo>
                <a:lnTo>
                  <a:pt x="271224" y="143335"/>
                </a:lnTo>
                <a:lnTo>
                  <a:pt x="275589" y="105917"/>
                </a:lnTo>
                <a:lnTo>
                  <a:pt x="274496" y="86536"/>
                </a:lnTo>
                <a:lnTo>
                  <a:pt x="258190" y="37084"/>
                </a:lnTo>
                <a:lnTo>
                  <a:pt x="223436" y="5544"/>
                </a:lnTo>
                <a:lnTo>
                  <a:pt x="208025" y="0"/>
                </a:lnTo>
                <a:close/>
              </a:path>
              <a:path w="275589" h="212089">
                <a:moveTo>
                  <a:pt x="67437" y="0"/>
                </a:moveTo>
                <a:lnTo>
                  <a:pt x="27092" y="24110"/>
                </a:lnTo>
                <a:lnTo>
                  <a:pt x="4317" y="68595"/>
                </a:lnTo>
                <a:lnTo>
                  <a:pt x="0" y="105917"/>
                </a:lnTo>
                <a:lnTo>
                  <a:pt x="1075" y="125370"/>
                </a:lnTo>
                <a:lnTo>
                  <a:pt x="17399" y="174751"/>
                </a:lnTo>
                <a:lnTo>
                  <a:pt x="52081" y="206184"/>
                </a:lnTo>
                <a:lnTo>
                  <a:pt x="67437" y="211709"/>
                </a:lnTo>
                <a:lnTo>
                  <a:pt x="70103" y="203200"/>
                </a:lnTo>
                <a:lnTo>
                  <a:pt x="58056" y="197865"/>
                </a:lnTo>
                <a:lnTo>
                  <a:pt x="47640" y="190436"/>
                </a:lnTo>
                <a:lnTo>
                  <a:pt x="26322" y="155763"/>
                </a:lnTo>
                <a:lnTo>
                  <a:pt x="19303" y="104775"/>
                </a:lnTo>
                <a:lnTo>
                  <a:pt x="20087" y="86723"/>
                </a:lnTo>
                <a:lnTo>
                  <a:pt x="31750" y="42163"/>
                </a:lnTo>
                <a:lnTo>
                  <a:pt x="58271" y="13946"/>
                </a:lnTo>
                <a:lnTo>
                  <a:pt x="70485" y="8636"/>
                </a:lnTo>
                <a:lnTo>
                  <a:pt x="67437" y="0"/>
                </a:lnTo>
                <a:close/>
              </a:path>
            </a:pathLst>
          </a:custGeom>
          <a:solidFill>
            <a:srgbClr val="3C3C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674866" y="2823845"/>
            <a:ext cx="127000" cy="15240"/>
          </a:xfrm>
          <a:custGeom>
            <a:avLst/>
            <a:gdLst/>
            <a:ahLst/>
            <a:cxnLst/>
            <a:rect l="l" t="t" r="r" b="b"/>
            <a:pathLst>
              <a:path w="127000" h="15239">
                <a:moveTo>
                  <a:pt x="126492" y="0"/>
                </a:moveTo>
                <a:lnTo>
                  <a:pt x="0" y="0"/>
                </a:lnTo>
                <a:lnTo>
                  <a:pt x="0" y="15239"/>
                </a:lnTo>
                <a:lnTo>
                  <a:pt x="126492" y="15239"/>
                </a:lnTo>
                <a:lnTo>
                  <a:pt x="126492" y="0"/>
                </a:lnTo>
                <a:close/>
              </a:path>
            </a:pathLst>
          </a:custGeom>
          <a:solidFill>
            <a:srgbClr val="3C3C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996810" y="2726563"/>
            <a:ext cx="275590" cy="212090"/>
          </a:xfrm>
          <a:custGeom>
            <a:avLst/>
            <a:gdLst/>
            <a:ahLst/>
            <a:cxnLst/>
            <a:rect l="l" t="t" r="r" b="b"/>
            <a:pathLst>
              <a:path w="275590" h="212089">
                <a:moveTo>
                  <a:pt x="208025" y="0"/>
                </a:moveTo>
                <a:lnTo>
                  <a:pt x="205105" y="8636"/>
                </a:lnTo>
                <a:lnTo>
                  <a:pt x="217318" y="13946"/>
                </a:lnTo>
                <a:lnTo>
                  <a:pt x="227853" y="21304"/>
                </a:lnTo>
                <a:lnTo>
                  <a:pt x="249267" y="55429"/>
                </a:lnTo>
                <a:lnTo>
                  <a:pt x="256286" y="104775"/>
                </a:lnTo>
                <a:lnTo>
                  <a:pt x="255500" y="123517"/>
                </a:lnTo>
                <a:lnTo>
                  <a:pt x="243713" y="169290"/>
                </a:lnTo>
                <a:lnTo>
                  <a:pt x="217459" y="197865"/>
                </a:lnTo>
                <a:lnTo>
                  <a:pt x="205359" y="203200"/>
                </a:lnTo>
                <a:lnTo>
                  <a:pt x="208025" y="211709"/>
                </a:lnTo>
                <a:lnTo>
                  <a:pt x="248548" y="187705"/>
                </a:lnTo>
                <a:lnTo>
                  <a:pt x="271224" y="143335"/>
                </a:lnTo>
                <a:lnTo>
                  <a:pt x="275590" y="105917"/>
                </a:lnTo>
                <a:lnTo>
                  <a:pt x="274496" y="86536"/>
                </a:lnTo>
                <a:lnTo>
                  <a:pt x="258191" y="37084"/>
                </a:lnTo>
                <a:lnTo>
                  <a:pt x="223436" y="5544"/>
                </a:lnTo>
                <a:lnTo>
                  <a:pt x="208025" y="0"/>
                </a:lnTo>
                <a:close/>
              </a:path>
              <a:path w="275590" h="212089">
                <a:moveTo>
                  <a:pt x="67437" y="0"/>
                </a:moveTo>
                <a:lnTo>
                  <a:pt x="27092" y="24110"/>
                </a:lnTo>
                <a:lnTo>
                  <a:pt x="4318" y="68595"/>
                </a:lnTo>
                <a:lnTo>
                  <a:pt x="0" y="105917"/>
                </a:lnTo>
                <a:lnTo>
                  <a:pt x="1075" y="125370"/>
                </a:lnTo>
                <a:lnTo>
                  <a:pt x="17399" y="174751"/>
                </a:lnTo>
                <a:lnTo>
                  <a:pt x="52081" y="206184"/>
                </a:lnTo>
                <a:lnTo>
                  <a:pt x="67437" y="211709"/>
                </a:lnTo>
                <a:lnTo>
                  <a:pt x="70104" y="203200"/>
                </a:lnTo>
                <a:lnTo>
                  <a:pt x="58056" y="197865"/>
                </a:lnTo>
                <a:lnTo>
                  <a:pt x="47640" y="190436"/>
                </a:lnTo>
                <a:lnTo>
                  <a:pt x="26322" y="155763"/>
                </a:lnTo>
                <a:lnTo>
                  <a:pt x="19304" y="104775"/>
                </a:lnTo>
                <a:lnTo>
                  <a:pt x="20087" y="86723"/>
                </a:lnTo>
                <a:lnTo>
                  <a:pt x="31750" y="42163"/>
                </a:lnTo>
                <a:lnTo>
                  <a:pt x="58271" y="13946"/>
                </a:lnTo>
                <a:lnTo>
                  <a:pt x="70485" y="8636"/>
                </a:lnTo>
                <a:lnTo>
                  <a:pt x="67437" y="0"/>
                </a:lnTo>
                <a:close/>
              </a:path>
            </a:pathLst>
          </a:custGeom>
          <a:solidFill>
            <a:srgbClr val="3C3C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566406" y="2823845"/>
            <a:ext cx="127000" cy="15240"/>
          </a:xfrm>
          <a:custGeom>
            <a:avLst/>
            <a:gdLst/>
            <a:ahLst/>
            <a:cxnLst/>
            <a:rect l="l" t="t" r="r" b="b"/>
            <a:pathLst>
              <a:path w="127000" h="15239">
                <a:moveTo>
                  <a:pt x="126492" y="0"/>
                </a:moveTo>
                <a:lnTo>
                  <a:pt x="0" y="0"/>
                </a:lnTo>
                <a:lnTo>
                  <a:pt x="0" y="15239"/>
                </a:lnTo>
                <a:lnTo>
                  <a:pt x="126492" y="15239"/>
                </a:lnTo>
                <a:lnTo>
                  <a:pt x="126492" y="0"/>
                </a:lnTo>
                <a:close/>
              </a:path>
            </a:pathLst>
          </a:custGeom>
          <a:solidFill>
            <a:srgbClr val="3C3C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889875" y="2726563"/>
            <a:ext cx="275590" cy="212090"/>
          </a:xfrm>
          <a:custGeom>
            <a:avLst/>
            <a:gdLst/>
            <a:ahLst/>
            <a:cxnLst/>
            <a:rect l="l" t="t" r="r" b="b"/>
            <a:pathLst>
              <a:path w="275590" h="212089">
                <a:moveTo>
                  <a:pt x="208025" y="0"/>
                </a:moveTo>
                <a:lnTo>
                  <a:pt x="205104" y="8636"/>
                </a:lnTo>
                <a:lnTo>
                  <a:pt x="217318" y="13946"/>
                </a:lnTo>
                <a:lnTo>
                  <a:pt x="227853" y="21304"/>
                </a:lnTo>
                <a:lnTo>
                  <a:pt x="249267" y="55429"/>
                </a:lnTo>
                <a:lnTo>
                  <a:pt x="256285" y="104775"/>
                </a:lnTo>
                <a:lnTo>
                  <a:pt x="255500" y="123517"/>
                </a:lnTo>
                <a:lnTo>
                  <a:pt x="243713" y="169290"/>
                </a:lnTo>
                <a:lnTo>
                  <a:pt x="217459" y="197865"/>
                </a:lnTo>
                <a:lnTo>
                  <a:pt x="205358" y="203200"/>
                </a:lnTo>
                <a:lnTo>
                  <a:pt x="208025" y="211709"/>
                </a:lnTo>
                <a:lnTo>
                  <a:pt x="248548" y="187705"/>
                </a:lnTo>
                <a:lnTo>
                  <a:pt x="271224" y="143335"/>
                </a:lnTo>
                <a:lnTo>
                  <a:pt x="275590" y="105917"/>
                </a:lnTo>
                <a:lnTo>
                  <a:pt x="274496" y="86536"/>
                </a:lnTo>
                <a:lnTo>
                  <a:pt x="258191" y="37084"/>
                </a:lnTo>
                <a:lnTo>
                  <a:pt x="223436" y="5544"/>
                </a:lnTo>
                <a:lnTo>
                  <a:pt x="208025" y="0"/>
                </a:lnTo>
                <a:close/>
              </a:path>
              <a:path w="275590" h="212089">
                <a:moveTo>
                  <a:pt x="67436" y="0"/>
                </a:moveTo>
                <a:lnTo>
                  <a:pt x="27092" y="24110"/>
                </a:lnTo>
                <a:lnTo>
                  <a:pt x="4318" y="68595"/>
                </a:lnTo>
                <a:lnTo>
                  <a:pt x="0" y="105917"/>
                </a:lnTo>
                <a:lnTo>
                  <a:pt x="1075" y="125370"/>
                </a:lnTo>
                <a:lnTo>
                  <a:pt x="17399" y="174751"/>
                </a:lnTo>
                <a:lnTo>
                  <a:pt x="52081" y="206184"/>
                </a:lnTo>
                <a:lnTo>
                  <a:pt x="67436" y="211709"/>
                </a:lnTo>
                <a:lnTo>
                  <a:pt x="70103" y="203200"/>
                </a:lnTo>
                <a:lnTo>
                  <a:pt x="58056" y="197865"/>
                </a:lnTo>
                <a:lnTo>
                  <a:pt x="47640" y="190436"/>
                </a:lnTo>
                <a:lnTo>
                  <a:pt x="26322" y="155763"/>
                </a:lnTo>
                <a:lnTo>
                  <a:pt x="19303" y="104775"/>
                </a:lnTo>
                <a:lnTo>
                  <a:pt x="20087" y="86723"/>
                </a:lnTo>
                <a:lnTo>
                  <a:pt x="31750" y="42163"/>
                </a:lnTo>
                <a:lnTo>
                  <a:pt x="58271" y="13946"/>
                </a:lnTo>
                <a:lnTo>
                  <a:pt x="70484" y="8636"/>
                </a:lnTo>
                <a:lnTo>
                  <a:pt x="67436" y="0"/>
                </a:lnTo>
                <a:close/>
              </a:path>
            </a:pathLst>
          </a:custGeom>
          <a:solidFill>
            <a:srgbClr val="3C3C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5885053" y="2482722"/>
            <a:ext cx="2270760" cy="473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0575">
              <a:lnSpc>
                <a:spcPts val="1764"/>
              </a:lnSpc>
              <a:spcBef>
                <a:spcPts val="100"/>
              </a:spcBef>
              <a:tabLst>
                <a:tab pos="1682114" algn="l"/>
              </a:tabLst>
            </a:pPr>
            <a:r>
              <a:rPr sz="1800" dirty="0">
                <a:solidFill>
                  <a:srgbClr val="3C3C3C"/>
                </a:solidFill>
                <a:latin typeface="Cambria Math"/>
                <a:cs typeface="Cambria Math"/>
              </a:rPr>
              <a:t>1	1</a:t>
            </a:r>
            <a:endParaRPr sz="1800" dirty="0">
              <a:latin typeface="Cambria Math"/>
              <a:cs typeface="Cambria Math"/>
            </a:endParaRPr>
          </a:p>
          <a:p>
            <a:pPr marL="38100">
              <a:lnSpc>
                <a:spcPts val="1764"/>
              </a:lnSpc>
              <a:tabLst>
                <a:tab pos="554355" algn="l"/>
                <a:tab pos="1459865" algn="l"/>
              </a:tabLst>
            </a:pPr>
            <a:r>
              <a:rPr sz="1800" dirty="0">
                <a:solidFill>
                  <a:srgbClr val="3C3C3C"/>
                </a:solidFill>
                <a:latin typeface="Cambria Math"/>
                <a:cs typeface="Cambria Math"/>
              </a:rPr>
              <a:t>𝑢 </a:t>
            </a:r>
            <a:r>
              <a:rPr sz="1800" spc="-5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3C3C3C"/>
                </a:solidFill>
                <a:latin typeface="Cambria Math"/>
                <a:cs typeface="Cambria Math"/>
              </a:rPr>
              <a:t>1	=</a:t>
            </a:r>
            <a:r>
              <a:rPr sz="1800" spc="114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2700" baseline="-37037" dirty="0">
                <a:solidFill>
                  <a:srgbClr val="3C3C3C"/>
                </a:solidFill>
                <a:latin typeface="Cambria Math"/>
                <a:cs typeface="Cambria Math"/>
              </a:rPr>
              <a:t>2</a:t>
            </a:r>
            <a:r>
              <a:rPr sz="2700" spc="-150" baseline="-37037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3C3C3C"/>
                </a:solidFill>
                <a:latin typeface="Cambria Math"/>
                <a:cs typeface="Cambria Math"/>
              </a:rPr>
              <a:t>𝑢 </a:t>
            </a:r>
            <a:r>
              <a:rPr sz="1800" spc="-5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3C3C3C"/>
                </a:solidFill>
                <a:latin typeface="Cambria Math"/>
                <a:cs typeface="Cambria Math"/>
              </a:rPr>
              <a:t>0	+</a:t>
            </a:r>
            <a:r>
              <a:rPr sz="1800" spc="10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2700" baseline="-37037" dirty="0">
                <a:solidFill>
                  <a:srgbClr val="3C3C3C"/>
                </a:solidFill>
                <a:latin typeface="Cambria Math"/>
                <a:cs typeface="Cambria Math"/>
              </a:rPr>
              <a:t>2</a:t>
            </a:r>
            <a:r>
              <a:rPr sz="2700" spc="-127" baseline="-37037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3C3C3C"/>
                </a:solidFill>
                <a:latin typeface="Cambria Math"/>
                <a:cs typeface="Cambria Math"/>
              </a:rPr>
              <a:t>𝑢 </a:t>
            </a:r>
            <a:r>
              <a:rPr sz="1800" spc="-5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3C3C3C"/>
                </a:solidFill>
                <a:latin typeface="Cambria Math"/>
                <a:cs typeface="Cambria Math"/>
              </a:rPr>
              <a:t>5</a:t>
            </a:r>
            <a:endParaRPr sz="1800" dirty="0">
              <a:latin typeface="Cambria Math"/>
              <a:cs typeface="Cambria Math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6519418" y="3249041"/>
            <a:ext cx="97790" cy="15240"/>
          </a:xfrm>
          <a:custGeom>
            <a:avLst/>
            <a:gdLst/>
            <a:ahLst/>
            <a:cxnLst/>
            <a:rect l="l" t="t" r="r" b="b"/>
            <a:pathLst>
              <a:path w="97790" h="15239">
                <a:moveTo>
                  <a:pt x="97535" y="0"/>
                </a:moveTo>
                <a:lnTo>
                  <a:pt x="0" y="0"/>
                </a:lnTo>
                <a:lnTo>
                  <a:pt x="0" y="15239"/>
                </a:lnTo>
                <a:lnTo>
                  <a:pt x="97535" y="15239"/>
                </a:lnTo>
                <a:lnTo>
                  <a:pt x="97535" y="0"/>
                </a:lnTo>
                <a:close/>
              </a:path>
            </a:pathLst>
          </a:custGeom>
          <a:solidFill>
            <a:srgbClr val="3C3C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812406" y="3151758"/>
            <a:ext cx="275590" cy="212090"/>
          </a:xfrm>
          <a:custGeom>
            <a:avLst/>
            <a:gdLst/>
            <a:ahLst/>
            <a:cxnLst/>
            <a:rect l="l" t="t" r="r" b="b"/>
            <a:pathLst>
              <a:path w="275590" h="212089">
                <a:moveTo>
                  <a:pt x="208025" y="0"/>
                </a:moveTo>
                <a:lnTo>
                  <a:pt x="205104" y="8636"/>
                </a:lnTo>
                <a:lnTo>
                  <a:pt x="217318" y="13946"/>
                </a:lnTo>
                <a:lnTo>
                  <a:pt x="227853" y="21304"/>
                </a:lnTo>
                <a:lnTo>
                  <a:pt x="249267" y="55429"/>
                </a:lnTo>
                <a:lnTo>
                  <a:pt x="256286" y="104775"/>
                </a:lnTo>
                <a:lnTo>
                  <a:pt x="255500" y="123517"/>
                </a:lnTo>
                <a:lnTo>
                  <a:pt x="243713" y="169290"/>
                </a:lnTo>
                <a:lnTo>
                  <a:pt x="217459" y="197865"/>
                </a:lnTo>
                <a:lnTo>
                  <a:pt x="205359" y="203200"/>
                </a:lnTo>
                <a:lnTo>
                  <a:pt x="208025" y="211708"/>
                </a:lnTo>
                <a:lnTo>
                  <a:pt x="248548" y="187705"/>
                </a:lnTo>
                <a:lnTo>
                  <a:pt x="271224" y="143335"/>
                </a:lnTo>
                <a:lnTo>
                  <a:pt x="275590" y="105917"/>
                </a:lnTo>
                <a:lnTo>
                  <a:pt x="274496" y="86536"/>
                </a:lnTo>
                <a:lnTo>
                  <a:pt x="258191" y="37083"/>
                </a:lnTo>
                <a:lnTo>
                  <a:pt x="223436" y="5544"/>
                </a:lnTo>
                <a:lnTo>
                  <a:pt x="208025" y="0"/>
                </a:lnTo>
                <a:close/>
              </a:path>
              <a:path w="275590" h="212089">
                <a:moveTo>
                  <a:pt x="67437" y="0"/>
                </a:moveTo>
                <a:lnTo>
                  <a:pt x="27092" y="24110"/>
                </a:lnTo>
                <a:lnTo>
                  <a:pt x="4318" y="68595"/>
                </a:lnTo>
                <a:lnTo>
                  <a:pt x="0" y="105917"/>
                </a:lnTo>
                <a:lnTo>
                  <a:pt x="1075" y="125370"/>
                </a:lnTo>
                <a:lnTo>
                  <a:pt x="17399" y="174751"/>
                </a:lnTo>
                <a:lnTo>
                  <a:pt x="52081" y="206184"/>
                </a:lnTo>
                <a:lnTo>
                  <a:pt x="67437" y="211708"/>
                </a:lnTo>
                <a:lnTo>
                  <a:pt x="70103" y="203200"/>
                </a:lnTo>
                <a:lnTo>
                  <a:pt x="58056" y="197866"/>
                </a:lnTo>
                <a:lnTo>
                  <a:pt x="47640" y="190436"/>
                </a:lnTo>
                <a:lnTo>
                  <a:pt x="26322" y="155763"/>
                </a:lnTo>
                <a:lnTo>
                  <a:pt x="19303" y="104775"/>
                </a:lnTo>
                <a:lnTo>
                  <a:pt x="20087" y="86723"/>
                </a:lnTo>
                <a:lnTo>
                  <a:pt x="31750" y="42163"/>
                </a:lnTo>
                <a:lnTo>
                  <a:pt x="58271" y="13946"/>
                </a:lnTo>
                <a:lnTo>
                  <a:pt x="70485" y="8636"/>
                </a:lnTo>
                <a:lnTo>
                  <a:pt x="67437" y="0"/>
                </a:lnTo>
                <a:close/>
              </a:path>
            </a:pathLst>
          </a:custGeom>
          <a:solidFill>
            <a:srgbClr val="3C3C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369809" y="3249041"/>
            <a:ext cx="97790" cy="15240"/>
          </a:xfrm>
          <a:custGeom>
            <a:avLst/>
            <a:gdLst/>
            <a:ahLst/>
            <a:cxnLst/>
            <a:rect l="l" t="t" r="r" b="b"/>
            <a:pathLst>
              <a:path w="97790" h="15239">
                <a:moveTo>
                  <a:pt x="97535" y="0"/>
                </a:moveTo>
                <a:lnTo>
                  <a:pt x="0" y="0"/>
                </a:lnTo>
                <a:lnTo>
                  <a:pt x="0" y="15239"/>
                </a:lnTo>
                <a:lnTo>
                  <a:pt x="97535" y="15239"/>
                </a:lnTo>
                <a:lnTo>
                  <a:pt x="97535" y="0"/>
                </a:lnTo>
                <a:close/>
              </a:path>
            </a:pathLst>
          </a:custGeom>
          <a:solidFill>
            <a:srgbClr val="3C3C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7689850" y="3249041"/>
            <a:ext cx="97790" cy="15240"/>
          </a:xfrm>
          <a:custGeom>
            <a:avLst/>
            <a:gdLst/>
            <a:ahLst/>
            <a:cxnLst/>
            <a:rect l="l" t="t" r="r" b="b"/>
            <a:pathLst>
              <a:path w="97790" h="15239">
                <a:moveTo>
                  <a:pt x="97535" y="0"/>
                </a:moveTo>
                <a:lnTo>
                  <a:pt x="0" y="0"/>
                </a:lnTo>
                <a:lnTo>
                  <a:pt x="0" y="15239"/>
                </a:lnTo>
                <a:lnTo>
                  <a:pt x="97535" y="15239"/>
                </a:lnTo>
                <a:lnTo>
                  <a:pt x="97535" y="0"/>
                </a:lnTo>
                <a:close/>
              </a:path>
            </a:pathLst>
          </a:custGeom>
          <a:solidFill>
            <a:srgbClr val="3C3C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6285865" y="3081654"/>
            <a:ext cx="21958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888365" algn="l"/>
              </a:tabLst>
            </a:pPr>
            <a:r>
              <a:rPr sz="1800" spc="105" dirty="0">
                <a:solidFill>
                  <a:srgbClr val="3C3C3C"/>
                </a:solidFill>
                <a:latin typeface="Trebuchet MS"/>
                <a:cs typeface="Trebuchet MS"/>
              </a:rPr>
              <a:t>=</a:t>
            </a:r>
            <a:r>
              <a:rPr sz="18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950" spc="60" baseline="44871" dirty="0">
                <a:solidFill>
                  <a:srgbClr val="3C3C3C"/>
                </a:solidFill>
                <a:latin typeface="Cambria Math"/>
                <a:cs typeface="Cambria Math"/>
              </a:rPr>
              <a:t>1</a:t>
            </a:r>
            <a:r>
              <a:rPr sz="1950" spc="22" baseline="44871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3C3C3C"/>
                </a:solidFill>
                <a:latin typeface="Cambria Math"/>
                <a:cs typeface="Cambria Math"/>
              </a:rPr>
              <a:t>𝑢</a:t>
            </a:r>
            <a:r>
              <a:rPr sz="1800" spc="390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3C3C3C"/>
                </a:solidFill>
                <a:latin typeface="Cambria Math"/>
                <a:cs typeface="Cambria Math"/>
              </a:rPr>
              <a:t>5	</a:t>
            </a:r>
            <a:r>
              <a:rPr sz="1800" spc="105" dirty="0">
                <a:solidFill>
                  <a:srgbClr val="3C3C3C"/>
                </a:solidFill>
                <a:latin typeface="Trebuchet MS"/>
                <a:cs typeface="Trebuchet MS"/>
              </a:rPr>
              <a:t>=</a:t>
            </a:r>
            <a:r>
              <a:rPr sz="1800" spc="-6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950" spc="60" baseline="44871" dirty="0">
                <a:solidFill>
                  <a:srgbClr val="3C3C3C"/>
                </a:solidFill>
                <a:latin typeface="Cambria Math"/>
                <a:cs typeface="Cambria Math"/>
              </a:rPr>
              <a:t>1</a:t>
            </a:r>
            <a:r>
              <a:rPr sz="1950" spc="307" baseline="44871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1800" spc="85" dirty="0">
                <a:solidFill>
                  <a:srgbClr val="3C3C3C"/>
                </a:solidFill>
                <a:latin typeface="Trebuchet MS"/>
                <a:cs typeface="Trebuchet MS"/>
              </a:rPr>
              <a:t>*</a:t>
            </a:r>
            <a:r>
              <a:rPr sz="1800" spc="-6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950" spc="60" baseline="44871" dirty="0">
                <a:solidFill>
                  <a:srgbClr val="3C3C3C"/>
                </a:solidFill>
                <a:latin typeface="Cambria Math"/>
                <a:cs typeface="Cambria Math"/>
              </a:rPr>
              <a:t>1</a:t>
            </a:r>
            <a:r>
              <a:rPr sz="1950" spc="307" baseline="44871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1800" spc="105" dirty="0">
                <a:solidFill>
                  <a:srgbClr val="3C3C3C"/>
                </a:solidFill>
                <a:latin typeface="Trebuchet MS"/>
                <a:cs typeface="Trebuchet MS"/>
              </a:rPr>
              <a:t>=</a:t>
            </a:r>
            <a:r>
              <a:rPr sz="1800" spc="-5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3C3C3C"/>
                </a:solidFill>
                <a:latin typeface="Trebuchet MS"/>
                <a:cs typeface="Trebuchet MS"/>
              </a:rPr>
              <a:t>0.25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866257" y="3416630"/>
            <a:ext cx="6083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F0000"/>
                </a:solidFill>
                <a:latin typeface="Trebuchet MS"/>
                <a:cs typeface="Trebuchet MS"/>
              </a:rPr>
              <a:t>=&gt;</a:t>
            </a:r>
            <a:r>
              <a:rPr sz="1800" spc="-4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FF0000"/>
                </a:solidFill>
                <a:latin typeface="Trebuchet MS"/>
                <a:cs typeface="Trebuchet MS"/>
              </a:rPr>
              <a:t>u</a:t>
            </a:r>
            <a:r>
              <a:rPr sz="1800" spc="-4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FF0000"/>
                </a:solidFill>
                <a:latin typeface="Trebuchet MS"/>
                <a:cs typeface="Trebuchet MS"/>
              </a:rPr>
              <a:t>(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443853" y="3256914"/>
            <a:ext cx="1541653" cy="4603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71755">
              <a:lnSpc>
                <a:spcPts val="1400"/>
              </a:lnSpc>
              <a:spcBef>
                <a:spcPts val="120"/>
              </a:spcBef>
              <a:tabLst>
                <a:tab pos="922019" algn="l"/>
                <a:tab pos="1242695" algn="l"/>
              </a:tabLst>
            </a:pPr>
            <a:r>
              <a:rPr sz="1300" spc="40" dirty="0">
                <a:solidFill>
                  <a:srgbClr val="3C3C3C"/>
                </a:solidFill>
                <a:latin typeface="Cambria Math"/>
                <a:cs typeface="Cambria Math"/>
              </a:rPr>
              <a:t>2	2	2</a:t>
            </a:r>
            <a:endParaRPr sz="1300" dirty="0">
              <a:latin typeface="Cambria Math"/>
              <a:cs typeface="Cambria Math"/>
            </a:endParaRPr>
          </a:p>
          <a:p>
            <a:pPr marL="12700">
              <a:lnSpc>
                <a:spcPts val="2000"/>
              </a:lnSpc>
            </a:pPr>
            <a:r>
              <a:rPr sz="1800" spc="-45" dirty="0">
                <a:solidFill>
                  <a:srgbClr val="FF0000"/>
                </a:solidFill>
                <a:latin typeface="Arial MT"/>
                <a:cs typeface="Arial MT"/>
              </a:rPr>
              <a:t>1</a:t>
            </a:r>
            <a:r>
              <a:rPr sz="1800" spc="-45" dirty="0">
                <a:solidFill>
                  <a:srgbClr val="FF0000"/>
                </a:solidFill>
                <a:latin typeface="Trebuchet MS"/>
                <a:cs typeface="Trebuchet MS"/>
              </a:rPr>
              <a:t>)</a:t>
            </a:r>
            <a:r>
              <a:rPr sz="1800" spc="-6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-1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-100" dirty="0">
                <a:solidFill>
                  <a:srgbClr val="FF0000"/>
                </a:solidFill>
                <a:latin typeface="Trebuchet MS"/>
                <a:cs typeface="Trebuchet MS"/>
              </a:rPr>
              <a:t>0.25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796660" y="4303731"/>
            <a:ext cx="201295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890905" algn="l"/>
              </a:tabLst>
            </a:pPr>
            <a:r>
              <a:rPr sz="1800" spc="25" dirty="0">
                <a:solidFill>
                  <a:srgbClr val="4776CD"/>
                </a:solidFill>
                <a:latin typeface="Cambria Math"/>
                <a:cs typeface="Cambria Math"/>
              </a:rPr>
              <a:t>𝑥</a:t>
            </a:r>
            <a:r>
              <a:rPr sz="1950" spc="37" baseline="-14957" dirty="0">
                <a:solidFill>
                  <a:srgbClr val="4776CD"/>
                </a:solidFill>
                <a:latin typeface="Cambria Math"/>
                <a:cs typeface="Cambria Math"/>
              </a:rPr>
              <a:t>𝑐</a:t>
            </a:r>
            <a:r>
              <a:rPr sz="1950" spc="494" baseline="-14957" dirty="0">
                <a:solidFill>
                  <a:srgbClr val="4776CD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4776CD"/>
                </a:solidFill>
                <a:latin typeface="Cambria Math"/>
                <a:cs typeface="Cambria Math"/>
              </a:rPr>
              <a:t>=</a:t>
            </a:r>
            <a:r>
              <a:rPr sz="1800" spc="15" dirty="0">
                <a:solidFill>
                  <a:srgbClr val="4776CD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4776CD"/>
                </a:solidFill>
                <a:latin typeface="Cambria Math"/>
                <a:cs typeface="Cambria Math"/>
              </a:rPr>
              <a:t>?</a:t>
            </a:r>
            <a:r>
              <a:rPr sz="1800" spc="-105" dirty="0">
                <a:solidFill>
                  <a:srgbClr val="4776CD"/>
                </a:solidFill>
                <a:latin typeface="Cambria Math"/>
                <a:cs typeface="Cambria Math"/>
              </a:rPr>
              <a:t> </a:t>
            </a:r>
            <a:r>
              <a:rPr sz="1900" spc="-30" dirty="0">
                <a:solidFill>
                  <a:srgbClr val="4776CD"/>
                </a:solidFill>
                <a:latin typeface="Cambria Math"/>
                <a:cs typeface="Cambria Math"/>
              </a:rPr>
              <a:t>;	</a:t>
            </a:r>
            <a:r>
              <a:rPr sz="1900" spc="-50" dirty="0">
                <a:solidFill>
                  <a:srgbClr val="4776CD"/>
                </a:solidFill>
                <a:latin typeface="Cambria Math"/>
                <a:cs typeface="Cambria Math"/>
              </a:rPr>
              <a:t>R:</a:t>
            </a:r>
            <a:r>
              <a:rPr sz="1900" spc="-35" dirty="0">
                <a:solidFill>
                  <a:srgbClr val="4776CD"/>
                </a:solidFill>
                <a:latin typeface="Cambria Math"/>
                <a:cs typeface="Cambria Math"/>
              </a:rPr>
              <a:t> </a:t>
            </a:r>
            <a:r>
              <a:rPr sz="1800" spc="25" dirty="0">
                <a:solidFill>
                  <a:srgbClr val="4776CD"/>
                </a:solidFill>
                <a:latin typeface="Cambria Math"/>
                <a:cs typeface="Cambria Math"/>
              </a:rPr>
              <a:t>𝑥</a:t>
            </a:r>
            <a:r>
              <a:rPr sz="1950" spc="37" baseline="-14957" dirty="0">
                <a:solidFill>
                  <a:srgbClr val="4776CD"/>
                </a:solidFill>
                <a:latin typeface="Cambria Math"/>
                <a:cs typeface="Cambria Math"/>
              </a:rPr>
              <a:t>𝑐</a:t>
            </a:r>
            <a:r>
              <a:rPr sz="1950" spc="434" baseline="-14957" dirty="0">
                <a:solidFill>
                  <a:srgbClr val="4776CD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4776CD"/>
                </a:solidFill>
                <a:latin typeface="Cambria Math"/>
                <a:cs typeface="Cambria Math"/>
              </a:rPr>
              <a:t>=</a:t>
            </a:r>
            <a:r>
              <a:rPr sz="1800" spc="90" dirty="0">
                <a:solidFill>
                  <a:srgbClr val="4776CD"/>
                </a:solidFill>
                <a:latin typeface="Cambria Math"/>
                <a:cs typeface="Cambria Math"/>
              </a:rPr>
              <a:t> </a:t>
            </a:r>
            <a:r>
              <a:rPr sz="1800" spc="-15" dirty="0">
                <a:solidFill>
                  <a:srgbClr val="4776CD"/>
                </a:solidFill>
                <a:latin typeface="Cambria Math"/>
                <a:cs typeface="Cambria Math"/>
              </a:rPr>
              <a:t>10</a:t>
            </a:r>
            <a:r>
              <a:rPr sz="1900" spc="-15" dirty="0">
                <a:solidFill>
                  <a:srgbClr val="4776CD"/>
                </a:solidFill>
                <a:latin typeface="Cambria Math"/>
                <a:cs typeface="Cambria Math"/>
              </a:rPr>
              <a:t>;</a:t>
            </a:r>
            <a:endParaRPr sz="1900" dirty="0">
              <a:latin typeface="Cambria Math"/>
              <a:cs typeface="Cambria Math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5733415" y="4984750"/>
            <a:ext cx="402590" cy="212090"/>
          </a:xfrm>
          <a:custGeom>
            <a:avLst/>
            <a:gdLst/>
            <a:ahLst/>
            <a:cxnLst/>
            <a:rect l="l" t="t" r="r" b="b"/>
            <a:pathLst>
              <a:path w="402589" h="212089">
                <a:moveTo>
                  <a:pt x="334645" y="0"/>
                </a:moveTo>
                <a:lnTo>
                  <a:pt x="331597" y="8636"/>
                </a:lnTo>
                <a:lnTo>
                  <a:pt x="343864" y="13946"/>
                </a:lnTo>
                <a:lnTo>
                  <a:pt x="354393" y="21304"/>
                </a:lnTo>
                <a:lnTo>
                  <a:pt x="375759" y="55429"/>
                </a:lnTo>
                <a:lnTo>
                  <a:pt x="382777" y="104775"/>
                </a:lnTo>
                <a:lnTo>
                  <a:pt x="381992" y="123517"/>
                </a:lnTo>
                <a:lnTo>
                  <a:pt x="370205" y="169291"/>
                </a:lnTo>
                <a:lnTo>
                  <a:pt x="343951" y="197866"/>
                </a:lnTo>
                <a:lnTo>
                  <a:pt x="331850" y="203200"/>
                </a:lnTo>
                <a:lnTo>
                  <a:pt x="334645" y="211708"/>
                </a:lnTo>
                <a:lnTo>
                  <a:pt x="375042" y="187706"/>
                </a:lnTo>
                <a:lnTo>
                  <a:pt x="397764" y="143335"/>
                </a:lnTo>
                <a:lnTo>
                  <a:pt x="402082" y="105918"/>
                </a:lnTo>
                <a:lnTo>
                  <a:pt x="400988" y="86536"/>
                </a:lnTo>
                <a:lnTo>
                  <a:pt x="384683" y="37083"/>
                </a:lnTo>
                <a:lnTo>
                  <a:pt x="349982" y="5544"/>
                </a:lnTo>
                <a:lnTo>
                  <a:pt x="334645" y="0"/>
                </a:lnTo>
                <a:close/>
              </a:path>
              <a:path w="402589" h="212089">
                <a:moveTo>
                  <a:pt x="67437" y="0"/>
                </a:moveTo>
                <a:lnTo>
                  <a:pt x="27092" y="24110"/>
                </a:lnTo>
                <a:lnTo>
                  <a:pt x="4317" y="68595"/>
                </a:lnTo>
                <a:lnTo>
                  <a:pt x="0" y="105918"/>
                </a:lnTo>
                <a:lnTo>
                  <a:pt x="1075" y="125370"/>
                </a:lnTo>
                <a:lnTo>
                  <a:pt x="17399" y="174751"/>
                </a:lnTo>
                <a:lnTo>
                  <a:pt x="52081" y="206184"/>
                </a:lnTo>
                <a:lnTo>
                  <a:pt x="67437" y="211708"/>
                </a:lnTo>
                <a:lnTo>
                  <a:pt x="70104" y="203200"/>
                </a:lnTo>
                <a:lnTo>
                  <a:pt x="58058" y="197866"/>
                </a:lnTo>
                <a:lnTo>
                  <a:pt x="47656" y="190436"/>
                </a:lnTo>
                <a:lnTo>
                  <a:pt x="26376" y="155763"/>
                </a:lnTo>
                <a:lnTo>
                  <a:pt x="19304" y="104775"/>
                </a:lnTo>
                <a:lnTo>
                  <a:pt x="20089" y="86723"/>
                </a:lnTo>
                <a:lnTo>
                  <a:pt x="31876" y="42163"/>
                </a:lnTo>
                <a:lnTo>
                  <a:pt x="58273" y="13946"/>
                </a:lnTo>
                <a:lnTo>
                  <a:pt x="70485" y="8636"/>
                </a:lnTo>
                <a:lnTo>
                  <a:pt x="67437" y="0"/>
                </a:lnTo>
                <a:close/>
              </a:path>
            </a:pathLst>
          </a:custGeom>
          <a:solidFill>
            <a:srgbClr val="3C3C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455409" y="5082032"/>
            <a:ext cx="97790" cy="15240"/>
          </a:xfrm>
          <a:custGeom>
            <a:avLst/>
            <a:gdLst/>
            <a:ahLst/>
            <a:cxnLst/>
            <a:rect l="l" t="t" r="r" b="b"/>
            <a:pathLst>
              <a:path w="97790" h="15239">
                <a:moveTo>
                  <a:pt x="97536" y="0"/>
                </a:moveTo>
                <a:lnTo>
                  <a:pt x="0" y="0"/>
                </a:lnTo>
                <a:lnTo>
                  <a:pt x="0" y="15239"/>
                </a:lnTo>
                <a:lnTo>
                  <a:pt x="97536" y="15239"/>
                </a:lnTo>
                <a:lnTo>
                  <a:pt x="97536" y="0"/>
                </a:lnTo>
                <a:close/>
              </a:path>
            </a:pathLst>
          </a:custGeom>
          <a:solidFill>
            <a:srgbClr val="3C3C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6443853" y="4841875"/>
            <a:ext cx="12255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40" dirty="0">
                <a:solidFill>
                  <a:srgbClr val="3C3C3C"/>
                </a:solidFill>
                <a:latin typeface="Cambria Math"/>
                <a:cs typeface="Cambria Math"/>
              </a:rPr>
              <a:t>1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443853" y="5089982"/>
            <a:ext cx="123189" cy="22732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45" dirty="0">
                <a:solidFill>
                  <a:srgbClr val="3C3C3C"/>
                </a:solidFill>
                <a:latin typeface="Cambria Math"/>
                <a:cs typeface="Cambria Math"/>
              </a:rPr>
              <a:t>2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6827646" y="4984750"/>
            <a:ext cx="275590" cy="212090"/>
          </a:xfrm>
          <a:custGeom>
            <a:avLst/>
            <a:gdLst/>
            <a:ahLst/>
            <a:cxnLst/>
            <a:rect l="l" t="t" r="r" b="b"/>
            <a:pathLst>
              <a:path w="275590" h="212089">
                <a:moveTo>
                  <a:pt x="208152" y="0"/>
                </a:moveTo>
                <a:lnTo>
                  <a:pt x="205104" y="8636"/>
                </a:lnTo>
                <a:lnTo>
                  <a:pt x="217372" y="13946"/>
                </a:lnTo>
                <a:lnTo>
                  <a:pt x="227901" y="21304"/>
                </a:lnTo>
                <a:lnTo>
                  <a:pt x="249267" y="55429"/>
                </a:lnTo>
                <a:lnTo>
                  <a:pt x="256285" y="104775"/>
                </a:lnTo>
                <a:lnTo>
                  <a:pt x="255500" y="123517"/>
                </a:lnTo>
                <a:lnTo>
                  <a:pt x="243712" y="169291"/>
                </a:lnTo>
                <a:lnTo>
                  <a:pt x="217459" y="197866"/>
                </a:lnTo>
                <a:lnTo>
                  <a:pt x="205358" y="203200"/>
                </a:lnTo>
                <a:lnTo>
                  <a:pt x="208152" y="211708"/>
                </a:lnTo>
                <a:lnTo>
                  <a:pt x="248550" y="187706"/>
                </a:lnTo>
                <a:lnTo>
                  <a:pt x="271272" y="143335"/>
                </a:lnTo>
                <a:lnTo>
                  <a:pt x="275589" y="105918"/>
                </a:lnTo>
                <a:lnTo>
                  <a:pt x="274496" y="86536"/>
                </a:lnTo>
                <a:lnTo>
                  <a:pt x="258191" y="37083"/>
                </a:lnTo>
                <a:lnTo>
                  <a:pt x="223490" y="5544"/>
                </a:lnTo>
                <a:lnTo>
                  <a:pt x="208152" y="0"/>
                </a:lnTo>
                <a:close/>
              </a:path>
              <a:path w="275590" h="212089">
                <a:moveTo>
                  <a:pt x="67436" y="0"/>
                </a:moveTo>
                <a:lnTo>
                  <a:pt x="27092" y="24110"/>
                </a:lnTo>
                <a:lnTo>
                  <a:pt x="4317" y="68595"/>
                </a:lnTo>
                <a:lnTo>
                  <a:pt x="0" y="105918"/>
                </a:lnTo>
                <a:lnTo>
                  <a:pt x="1075" y="125370"/>
                </a:lnTo>
                <a:lnTo>
                  <a:pt x="17399" y="174751"/>
                </a:lnTo>
                <a:lnTo>
                  <a:pt x="52081" y="206184"/>
                </a:lnTo>
                <a:lnTo>
                  <a:pt x="67436" y="211708"/>
                </a:lnTo>
                <a:lnTo>
                  <a:pt x="70103" y="203200"/>
                </a:lnTo>
                <a:lnTo>
                  <a:pt x="58058" y="197866"/>
                </a:lnTo>
                <a:lnTo>
                  <a:pt x="47656" y="190436"/>
                </a:lnTo>
                <a:lnTo>
                  <a:pt x="26376" y="155763"/>
                </a:lnTo>
                <a:lnTo>
                  <a:pt x="19303" y="104775"/>
                </a:lnTo>
                <a:lnTo>
                  <a:pt x="20089" y="86723"/>
                </a:lnTo>
                <a:lnTo>
                  <a:pt x="31876" y="42163"/>
                </a:lnTo>
                <a:lnTo>
                  <a:pt x="58273" y="13946"/>
                </a:lnTo>
                <a:lnTo>
                  <a:pt x="70484" y="8636"/>
                </a:lnTo>
                <a:lnTo>
                  <a:pt x="67436" y="0"/>
                </a:lnTo>
                <a:close/>
              </a:path>
            </a:pathLst>
          </a:custGeom>
          <a:solidFill>
            <a:srgbClr val="3C3C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7554594" y="4984750"/>
            <a:ext cx="402590" cy="212090"/>
          </a:xfrm>
          <a:custGeom>
            <a:avLst/>
            <a:gdLst/>
            <a:ahLst/>
            <a:cxnLst/>
            <a:rect l="l" t="t" r="r" b="b"/>
            <a:pathLst>
              <a:path w="402590" h="212089">
                <a:moveTo>
                  <a:pt x="334645" y="0"/>
                </a:moveTo>
                <a:lnTo>
                  <a:pt x="331597" y="8636"/>
                </a:lnTo>
                <a:lnTo>
                  <a:pt x="343864" y="13946"/>
                </a:lnTo>
                <a:lnTo>
                  <a:pt x="354393" y="21304"/>
                </a:lnTo>
                <a:lnTo>
                  <a:pt x="375759" y="55429"/>
                </a:lnTo>
                <a:lnTo>
                  <a:pt x="382777" y="104775"/>
                </a:lnTo>
                <a:lnTo>
                  <a:pt x="381992" y="123517"/>
                </a:lnTo>
                <a:lnTo>
                  <a:pt x="370204" y="169291"/>
                </a:lnTo>
                <a:lnTo>
                  <a:pt x="343951" y="197866"/>
                </a:lnTo>
                <a:lnTo>
                  <a:pt x="331850" y="203200"/>
                </a:lnTo>
                <a:lnTo>
                  <a:pt x="334645" y="211708"/>
                </a:lnTo>
                <a:lnTo>
                  <a:pt x="375042" y="187706"/>
                </a:lnTo>
                <a:lnTo>
                  <a:pt x="397763" y="143335"/>
                </a:lnTo>
                <a:lnTo>
                  <a:pt x="402081" y="105918"/>
                </a:lnTo>
                <a:lnTo>
                  <a:pt x="400988" y="86536"/>
                </a:lnTo>
                <a:lnTo>
                  <a:pt x="384682" y="37083"/>
                </a:lnTo>
                <a:lnTo>
                  <a:pt x="349982" y="5544"/>
                </a:lnTo>
                <a:lnTo>
                  <a:pt x="334645" y="0"/>
                </a:lnTo>
                <a:close/>
              </a:path>
              <a:path w="402590" h="212089">
                <a:moveTo>
                  <a:pt x="67436" y="0"/>
                </a:moveTo>
                <a:lnTo>
                  <a:pt x="27092" y="24110"/>
                </a:lnTo>
                <a:lnTo>
                  <a:pt x="4317" y="68595"/>
                </a:lnTo>
                <a:lnTo>
                  <a:pt x="0" y="105918"/>
                </a:lnTo>
                <a:lnTo>
                  <a:pt x="1075" y="125370"/>
                </a:lnTo>
                <a:lnTo>
                  <a:pt x="17399" y="174751"/>
                </a:lnTo>
                <a:lnTo>
                  <a:pt x="52081" y="206184"/>
                </a:lnTo>
                <a:lnTo>
                  <a:pt x="67436" y="211708"/>
                </a:lnTo>
                <a:lnTo>
                  <a:pt x="70103" y="203200"/>
                </a:lnTo>
                <a:lnTo>
                  <a:pt x="58058" y="197866"/>
                </a:lnTo>
                <a:lnTo>
                  <a:pt x="47656" y="190436"/>
                </a:lnTo>
                <a:lnTo>
                  <a:pt x="26376" y="155763"/>
                </a:lnTo>
                <a:lnTo>
                  <a:pt x="19303" y="104775"/>
                </a:lnTo>
                <a:lnTo>
                  <a:pt x="20089" y="86723"/>
                </a:lnTo>
                <a:lnTo>
                  <a:pt x="31876" y="42163"/>
                </a:lnTo>
                <a:lnTo>
                  <a:pt x="58273" y="13946"/>
                </a:lnTo>
                <a:lnTo>
                  <a:pt x="70484" y="8636"/>
                </a:lnTo>
                <a:lnTo>
                  <a:pt x="67436" y="0"/>
                </a:lnTo>
                <a:close/>
              </a:path>
            </a:pathLst>
          </a:custGeom>
          <a:solidFill>
            <a:srgbClr val="3C3C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5564251" y="4914722"/>
            <a:ext cx="25057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7225" algn="l"/>
                <a:tab pos="1027430" algn="l"/>
                <a:tab pos="1610995" algn="l"/>
              </a:tabLst>
            </a:pPr>
            <a:r>
              <a:rPr sz="1800" dirty="0">
                <a:solidFill>
                  <a:srgbClr val="3C3C3C"/>
                </a:solidFill>
                <a:latin typeface="Cambria Math"/>
                <a:cs typeface="Cambria Math"/>
              </a:rPr>
              <a:t>𝑢</a:t>
            </a:r>
            <a:r>
              <a:rPr sz="1800" spc="390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mbria Math"/>
                <a:cs typeface="Cambria Math"/>
              </a:rPr>
              <a:t>10	</a:t>
            </a:r>
            <a:r>
              <a:rPr sz="1800" dirty="0">
                <a:solidFill>
                  <a:srgbClr val="3C3C3C"/>
                </a:solidFill>
                <a:latin typeface="Cambria Math"/>
                <a:cs typeface="Cambria Math"/>
              </a:rPr>
              <a:t>=	[𝑢</a:t>
            </a:r>
            <a:r>
              <a:rPr sz="1800" spc="385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3C3C3C"/>
                </a:solidFill>
                <a:latin typeface="Cambria Math"/>
                <a:cs typeface="Cambria Math"/>
              </a:rPr>
              <a:t>5	+</a:t>
            </a:r>
            <a:r>
              <a:rPr sz="1800" spc="-10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3C3C3C"/>
                </a:solidFill>
                <a:latin typeface="Cambria Math"/>
                <a:cs typeface="Cambria Math"/>
              </a:rPr>
              <a:t>𝑢</a:t>
            </a:r>
            <a:r>
              <a:rPr sz="1800" spc="365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1800" spc="-5" dirty="0">
                <a:solidFill>
                  <a:srgbClr val="3C3C3C"/>
                </a:solidFill>
                <a:latin typeface="Cambria Math"/>
                <a:cs typeface="Cambria Math"/>
              </a:rPr>
              <a:t>20</a:t>
            </a:r>
            <a:r>
              <a:rPr sz="1800" spc="335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1800" spc="-65" dirty="0">
                <a:solidFill>
                  <a:srgbClr val="3C3C3C"/>
                </a:solidFill>
                <a:latin typeface="Trebuchet MS"/>
                <a:cs typeface="Trebuchet MS"/>
              </a:rPr>
              <a:t>]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6783069" y="5557520"/>
            <a:ext cx="127000" cy="15240"/>
          </a:xfrm>
          <a:custGeom>
            <a:avLst/>
            <a:gdLst/>
            <a:ahLst/>
            <a:cxnLst/>
            <a:rect l="l" t="t" r="r" b="b"/>
            <a:pathLst>
              <a:path w="127000" h="15239">
                <a:moveTo>
                  <a:pt x="126492" y="0"/>
                </a:moveTo>
                <a:lnTo>
                  <a:pt x="0" y="0"/>
                </a:lnTo>
                <a:lnTo>
                  <a:pt x="0" y="15239"/>
                </a:lnTo>
                <a:lnTo>
                  <a:pt x="126492" y="15239"/>
                </a:lnTo>
                <a:lnTo>
                  <a:pt x="126492" y="0"/>
                </a:lnTo>
                <a:close/>
              </a:path>
            </a:pathLst>
          </a:custGeom>
          <a:solidFill>
            <a:srgbClr val="3C3C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6771513" y="5217033"/>
            <a:ext cx="152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C3C3C"/>
                </a:solidFill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602348" y="5390794"/>
            <a:ext cx="12179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47345" algn="l"/>
              </a:tabLst>
            </a:pPr>
            <a:r>
              <a:rPr sz="1800" spc="105" dirty="0">
                <a:solidFill>
                  <a:srgbClr val="3C3C3C"/>
                </a:solidFill>
                <a:latin typeface="Trebuchet MS"/>
                <a:cs typeface="Trebuchet MS"/>
              </a:rPr>
              <a:t>=	</a:t>
            </a:r>
            <a:r>
              <a:rPr sz="1800" dirty="0">
                <a:solidFill>
                  <a:srgbClr val="3C3C3C"/>
                </a:solidFill>
                <a:latin typeface="Cambria Math"/>
                <a:cs typeface="Cambria Math"/>
              </a:rPr>
              <a:t>[0.5</a:t>
            </a:r>
            <a:r>
              <a:rPr sz="1800" spc="-50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3C3C3C"/>
                </a:solidFill>
                <a:latin typeface="Cambria Math"/>
                <a:cs typeface="Cambria Math"/>
              </a:rPr>
              <a:t>+</a:t>
            </a:r>
            <a:r>
              <a:rPr sz="1800" spc="-30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1800" spc="-35" dirty="0">
                <a:solidFill>
                  <a:srgbClr val="3C3C3C"/>
                </a:solidFill>
                <a:latin typeface="Cambria Math"/>
                <a:cs typeface="Cambria Math"/>
              </a:rPr>
              <a:t>1</a:t>
            </a:r>
            <a:r>
              <a:rPr sz="1800" spc="-35" dirty="0">
                <a:solidFill>
                  <a:srgbClr val="3C3C3C"/>
                </a:solidFill>
                <a:latin typeface="Trebuchet MS"/>
                <a:cs typeface="Trebuchet MS"/>
              </a:rPr>
              <a:t>]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957696" y="5543194"/>
            <a:ext cx="1743710" cy="793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195" algn="ctr">
              <a:lnSpc>
                <a:spcPts val="1945"/>
              </a:lnSpc>
              <a:spcBef>
                <a:spcPts val="100"/>
              </a:spcBef>
            </a:pPr>
            <a:r>
              <a:rPr sz="1800" dirty="0">
                <a:solidFill>
                  <a:srgbClr val="3C3C3C"/>
                </a:solidFill>
                <a:latin typeface="Cambria Math"/>
                <a:cs typeface="Cambria Math"/>
              </a:rPr>
              <a:t>2</a:t>
            </a:r>
            <a:endParaRPr sz="1800" dirty="0">
              <a:latin typeface="Cambria Math"/>
              <a:cs typeface="Cambria Math"/>
            </a:endParaRPr>
          </a:p>
          <a:p>
            <a:pPr marL="635" algn="ctr">
              <a:lnSpc>
                <a:spcPts val="1945"/>
              </a:lnSpc>
            </a:pPr>
            <a:r>
              <a:rPr sz="1800" spc="105" dirty="0">
                <a:solidFill>
                  <a:srgbClr val="3C3C3C"/>
                </a:solidFill>
                <a:latin typeface="Trebuchet MS"/>
                <a:cs typeface="Trebuchet MS"/>
              </a:rPr>
              <a:t>=</a:t>
            </a:r>
            <a:r>
              <a:rPr sz="1800" spc="-8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3C3C3C"/>
                </a:solidFill>
                <a:latin typeface="Trebuchet MS"/>
                <a:cs typeface="Trebuchet MS"/>
              </a:rPr>
              <a:t>0.75</a:t>
            </a:r>
            <a:endParaRPr sz="1800" dirty="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tabLst>
                <a:tab pos="1037590" algn="l"/>
              </a:tabLst>
            </a:pPr>
            <a:r>
              <a:rPr sz="1800" spc="105" dirty="0">
                <a:solidFill>
                  <a:srgbClr val="FF0000"/>
                </a:solidFill>
                <a:latin typeface="Trebuchet MS"/>
                <a:cs typeface="Trebuchet MS"/>
              </a:rPr>
              <a:t>=&gt;</a:t>
            </a:r>
            <a:r>
              <a:rPr sz="1800" spc="-5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FF0000"/>
                </a:solidFill>
                <a:latin typeface="Trebuchet MS"/>
                <a:cs typeface="Trebuchet MS"/>
              </a:rPr>
              <a:t>u</a:t>
            </a:r>
            <a:r>
              <a:rPr sz="1800" spc="-3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Trebuchet MS"/>
                <a:cs typeface="Trebuchet MS"/>
              </a:rPr>
              <a:t>(</a:t>
            </a:r>
            <a:r>
              <a:rPr sz="1800" spc="-50" dirty="0">
                <a:solidFill>
                  <a:srgbClr val="FF0000"/>
                </a:solidFill>
                <a:latin typeface="Arial MT"/>
                <a:cs typeface="Arial MT"/>
              </a:rPr>
              <a:t>10</a:t>
            </a:r>
            <a:r>
              <a:rPr sz="1800" spc="-50" dirty="0">
                <a:solidFill>
                  <a:srgbClr val="FF0000"/>
                </a:solidFill>
                <a:latin typeface="Trebuchet MS"/>
                <a:cs typeface="Trebuchet MS"/>
              </a:rPr>
              <a:t>)	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434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-100" dirty="0">
                <a:solidFill>
                  <a:srgbClr val="FF0000"/>
                </a:solidFill>
                <a:latin typeface="Trebuchet MS"/>
                <a:cs typeface="Trebuchet MS"/>
              </a:rPr>
              <a:t>0.75</a:t>
            </a:r>
            <a:endParaRPr sz="1800" dirty="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7" grpId="0"/>
      <p:bldP spid="38" grpId="0"/>
      <p:bldP spid="39" grpId="0"/>
      <p:bldP spid="40" grpId="0"/>
      <p:bldP spid="47" grpId="0"/>
      <p:bldP spid="50" grpId="0"/>
      <p:bldP spid="5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8055" y="600455"/>
            <a:ext cx="8239125" cy="125920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250825" rIns="0" bIns="0" rtlCol="0">
            <a:spAutoFit/>
          </a:bodyPr>
          <a:lstStyle/>
          <a:p>
            <a:pPr marL="127635" marR="1610995" indent="-56515">
              <a:lnSpc>
                <a:spcPct val="100000"/>
              </a:lnSpc>
              <a:spcBef>
                <a:spcPts val="1975"/>
              </a:spcBef>
            </a:pPr>
            <a:r>
              <a:rPr sz="2500" b="0" spc="19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2500" b="0" spc="-3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b="0" spc="50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2500" b="0" spc="55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2500" b="0" spc="-1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2500" b="0" spc="-40" dirty="0">
                <a:solidFill>
                  <a:srgbClr val="FFFFFF"/>
                </a:solidFill>
                <a:latin typeface="Trebuchet MS"/>
                <a:cs typeface="Trebuchet MS"/>
              </a:rPr>
              <a:t>VÉS</a:t>
            </a:r>
            <a:r>
              <a:rPr sz="2500" b="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b="0" spc="12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500" b="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b="0" spc="60" dirty="0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sz="2500" b="0" spc="7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2500" b="0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b="0" spc="-140" dirty="0">
                <a:solidFill>
                  <a:srgbClr val="FFFFFF"/>
                </a:solidFill>
                <a:latin typeface="Trebuchet MS"/>
                <a:cs typeface="Trebuchet MS"/>
              </a:rPr>
              <a:t>F</a:t>
            </a:r>
            <a:r>
              <a:rPr sz="2500" b="0" spc="145" dirty="0">
                <a:solidFill>
                  <a:srgbClr val="FFFFFF"/>
                </a:solidFill>
                <a:latin typeface="Trebuchet MS"/>
                <a:cs typeface="Trebuchet MS"/>
              </a:rPr>
              <a:t>ORMUL</a:t>
            </a:r>
            <a:r>
              <a:rPr sz="2500" b="0" spc="4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2500" b="0" spc="229" dirty="0">
                <a:solidFill>
                  <a:srgbClr val="FFFFFF"/>
                </a:solidFill>
                <a:latin typeface="Trebuchet MS"/>
                <a:cs typeface="Trebuchet MS"/>
              </a:rPr>
              <a:t>CIÓN</a:t>
            </a:r>
            <a:r>
              <a:rPr sz="2500" b="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b="0" spc="12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500" b="0" spc="-50" dirty="0">
                <a:solidFill>
                  <a:srgbClr val="FFFFFF"/>
                </a:solidFill>
                <a:latin typeface="Trebuchet MS"/>
                <a:cs typeface="Trebuchet MS"/>
              </a:rPr>
              <a:t> L</a:t>
            </a:r>
            <a:r>
              <a:rPr sz="2500" b="0" spc="195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2500" b="0" spc="5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2500" b="0" spc="1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2500" b="0" spc="15" dirty="0">
                <a:solidFill>
                  <a:srgbClr val="FFFFFF"/>
                </a:solidFill>
                <a:latin typeface="Trebuchet MS"/>
                <a:cs typeface="Trebuchet MS"/>
              </a:rPr>
              <a:t>ÍAS  </a:t>
            </a:r>
            <a:r>
              <a:rPr sz="2500" b="0" spc="75" dirty="0">
                <a:solidFill>
                  <a:srgbClr val="FFFFFF"/>
                </a:solidFill>
                <a:latin typeface="Trebuchet MS"/>
                <a:cs typeface="Trebuchet MS"/>
              </a:rPr>
              <a:t>AL</a:t>
            </a:r>
            <a:r>
              <a:rPr sz="2500" b="0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b="0" spc="110" dirty="0">
                <a:solidFill>
                  <a:srgbClr val="FFFFFF"/>
                </a:solidFill>
                <a:latin typeface="Trebuchet MS"/>
                <a:cs typeface="Trebuchet MS"/>
              </a:rPr>
              <a:t>DECISOR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8916" y="2356815"/>
            <a:ext cx="101155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85" dirty="0">
                <a:solidFill>
                  <a:srgbClr val="3C3C3C"/>
                </a:solidFill>
                <a:latin typeface="Trebuchet MS"/>
                <a:cs typeface="Trebuchet MS"/>
              </a:rPr>
              <a:t>Loterí</a:t>
            </a:r>
            <a:r>
              <a:rPr sz="2000" spc="-95" dirty="0">
                <a:solidFill>
                  <a:srgbClr val="3C3C3C"/>
                </a:solidFill>
                <a:latin typeface="Trebuchet MS"/>
                <a:cs typeface="Trebuchet MS"/>
              </a:rPr>
              <a:t>a</a:t>
            </a:r>
            <a:r>
              <a:rPr sz="2000" spc="-9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175" dirty="0">
                <a:solidFill>
                  <a:srgbClr val="3C3C3C"/>
                </a:solidFill>
                <a:latin typeface="Trebuchet MS"/>
                <a:cs typeface="Trebuchet MS"/>
              </a:rPr>
              <a:t>4: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83105" y="5671845"/>
            <a:ext cx="108585" cy="17145"/>
          </a:xfrm>
          <a:custGeom>
            <a:avLst/>
            <a:gdLst/>
            <a:ahLst/>
            <a:cxnLst/>
            <a:rect l="l" t="t" r="r" b="b"/>
            <a:pathLst>
              <a:path w="108584" h="17145">
                <a:moveTo>
                  <a:pt x="108203" y="0"/>
                </a:moveTo>
                <a:lnTo>
                  <a:pt x="0" y="0"/>
                </a:lnTo>
                <a:lnTo>
                  <a:pt x="0" y="16764"/>
                </a:lnTo>
                <a:lnTo>
                  <a:pt x="108203" y="16764"/>
                </a:lnTo>
                <a:lnTo>
                  <a:pt x="108203" y="0"/>
                </a:lnTo>
                <a:close/>
              </a:path>
            </a:pathLst>
          </a:custGeom>
          <a:solidFill>
            <a:srgbClr val="3C3C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846705" y="5561329"/>
            <a:ext cx="532130" cy="237490"/>
          </a:xfrm>
          <a:custGeom>
            <a:avLst/>
            <a:gdLst/>
            <a:ahLst/>
            <a:cxnLst/>
            <a:rect l="l" t="t" r="r" b="b"/>
            <a:pathLst>
              <a:path w="532129" h="237489">
                <a:moveTo>
                  <a:pt x="78486" y="10668"/>
                </a:moveTo>
                <a:lnTo>
                  <a:pt x="75184" y="1016"/>
                </a:lnTo>
                <a:lnTo>
                  <a:pt x="58051" y="7188"/>
                </a:lnTo>
                <a:lnTo>
                  <a:pt x="43065" y="16141"/>
                </a:lnTo>
                <a:lnTo>
                  <a:pt x="10922" y="59067"/>
                </a:lnTo>
                <a:lnTo>
                  <a:pt x="1206" y="97370"/>
                </a:lnTo>
                <a:lnTo>
                  <a:pt x="0" y="118973"/>
                </a:lnTo>
                <a:lnTo>
                  <a:pt x="1193" y="140639"/>
                </a:lnTo>
                <a:lnTo>
                  <a:pt x="10820" y="178943"/>
                </a:lnTo>
                <a:lnTo>
                  <a:pt x="42951" y="221703"/>
                </a:lnTo>
                <a:lnTo>
                  <a:pt x="75184" y="236778"/>
                </a:lnTo>
                <a:lnTo>
                  <a:pt x="78105" y="227215"/>
                </a:lnTo>
                <a:lnTo>
                  <a:pt x="64643" y="221272"/>
                </a:lnTo>
                <a:lnTo>
                  <a:pt x="53047" y="212991"/>
                </a:lnTo>
                <a:lnTo>
                  <a:pt x="29337" y="174383"/>
                </a:lnTo>
                <a:lnTo>
                  <a:pt x="21463" y="117729"/>
                </a:lnTo>
                <a:lnTo>
                  <a:pt x="22339" y="97624"/>
                </a:lnTo>
                <a:lnTo>
                  <a:pt x="35433" y="47955"/>
                </a:lnTo>
                <a:lnTo>
                  <a:pt x="64858" y="16573"/>
                </a:lnTo>
                <a:lnTo>
                  <a:pt x="78486" y="10668"/>
                </a:lnTo>
                <a:close/>
              </a:path>
              <a:path w="532129" h="237489">
                <a:moveTo>
                  <a:pt x="446405" y="118973"/>
                </a:moveTo>
                <a:lnTo>
                  <a:pt x="441540" y="77393"/>
                </a:lnTo>
                <a:lnTo>
                  <a:pt x="416204" y="27876"/>
                </a:lnTo>
                <a:lnTo>
                  <a:pt x="371221" y="1016"/>
                </a:lnTo>
                <a:lnTo>
                  <a:pt x="367919" y="10668"/>
                </a:lnTo>
                <a:lnTo>
                  <a:pt x="381533" y="16573"/>
                </a:lnTo>
                <a:lnTo>
                  <a:pt x="393242" y="24752"/>
                </a:lnTo>
                <a:lnTo>
                  <a:pt x="417055" y="62738"/>
                </a:lnTo>
                <a:lnTo>
                  <a:pt x="424942" y="117729"/>
                </a:lnTo>
                <a:lnTo>
                  <a:pt x="424053" y="138531"/>
                </a:lnTo>
                <a:lnTo>
                  <a:pt x="410972" y="189433"/>
                </a:lnTo>
                <a:lnTo>
                  <a:pt x="381673" y="221272"/>
                </a:lnTo>
                <a:lnTo>
                  <a:pt x="368300" y="227215"/>
                </a:lnTo>
                <a:lnTo>
                  <a:pt x="371221" y="236778"/>
                </a:lnTo>
                <a:lnTo>
                  <a:pt x="416255" y="210032"/>
                </a:lnTo>
                <a:lnTo>
                  <a:pt x="441540" y="160629"/>
                </a:lnTo>
                <a:lnTo>
                  <a:pt x="445185" y="140639"/>
                </a:lnTo>
                <a:lnTo>
                  <a:pt x="446405" y="118973"/>
                </a:lnTo>
                <a:close/>
              </a:path>
              <a:path w="532129" h="237489">
                <a:moveTo>
                  <a:pt x="532130" y="0"/>
                </a:moveTo>
                <a:lnTo>
                  <a:pt x="476758" y="0"/>
                </a:lnTo>
                <a:lnTo>
                  <a:pt x="476758" y="10160"/>
                </a:lnTo>
                <a:lnTo>
                  <a:pt x="511556" y="10160"/>
                </a:lnTo>
                <a:lnTo>
                  <a:pt x="511556" y="228600"/>
                </a:lnTo>
                <a:lnTo>
                  <a:pt x="476758" y="228600"/>
                </a:lnTo>
                <a:lnTo>
                  <a:pt x="476758" y="237490"/>
                </a:lnTo>
                <a:lnTo>
                  <a:pt x="532130" y="237490"/>
                </a:lnTo>
                <a:lnTo>
                  <a:pt x="532130" y="228600"/>
                </a:lnTo>
                <a:lnTo>
                  <a:pt x="532130" y="10160"/>
                </a:lnTo>
                <a:lnTo>
                  <a:pt x="532130" y="0"/>
                </a:lnTo>
                <a:close/>
              </a:path>
            </a:pathLst>
          </a:custGeom>
          <a:solidFill>
            <a:srgbClr val="3C3C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60905" y="5561329"/>
            <a:ext cx="55880" cy="237490"/>
          </a:xfrm>
          <a:custGeom>
            <a:avLst/>
            <a:gdLst/>
            <a:ahLst/>
            <a:cxnLst/>
            <a:rect l="l" t="t" r="r" b="b"/>
            <a:pathLst>
              <a:path w="55880" h="237489">
                <a:moveTo>
                  <a:pt x="55372" y="0"/>
                </a:moveTo>
                <a:lnTo>
                  <a:pt x="0" y="0"/>
                </a:lnTo>
                <a:lnTo>
                  <a:pt x="0" y="10160"/>
                </a:lnTo>
                <a:lnTo>
                  <a:pt x="0" y="228600"/>
                </a:lnTo>
                <a:lnTo>
                  <a:pt x="0" y="237490"/>
                </a:lnTo>
                <a:lnTo>
                  <a:pt x="55372" y="237490"/>
                </a:lnTo>
                <a:lnTo>
                  <a:pt x="55372" y="228600"/>
                </a:lnTo>
                <a:lnTo>
                  <a:pt x="20574" y="228600"/>
                </a:lnTo>
                <a:lnTo>
                  <a:pt x="20574" y="10160"/>
                </a:lnTo>
                <a:lnTo>
                  <a:pt x="55372" y="10160"/>
                </a:lnTo>
                <a:lnTo>
                  <a:pt x="55372" y="0"/>
                </a:lnTo>
                <a:close/>
              </a:path>
            </a:pathLst>
          </a:custGeom>
          <a:solidFill>
            <a:srgbClr val="3C3C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97252" y="5562346"/>
            <a:ext cx="446405" cy="236220"/>
          </a:xfrm>
          <a:custGeom>
            <a:avLst/>
            <a:gdLst/>
            <a:ahLst/>
            <a:cxnLst/>
            <a:rect l="l" t="t" r="r" b="b"/>
            <a:pathLst>
              <a:path w="446405" h="236220">
                <a:moveTo>
                  <a:pt x="371221" y="0"/>
                </a:moveTo>
                <a:lnTo>
                  <a:pt x="367919" y="9651"/>
                </a:lnTo>
                <a:lnTo>
                  <a:pt x="381539" y="15553"/>
                </a:lnTo>
                <a:lnTo>
                  <a:pt x="393255" y="23733"/>
                </a:lnTo>
                <a:lnTo>
                  <a:pt x="417066" y="61715"/>
                </a:lnTo>
                <a:lnTo>
                  <a:pt x="424942" y="116712"/>
                </a:lnTo>
                <a:lnTo>
                  <a:pt x="424062" y="137510"/>
                </a:lnTo>
                <a:lnTo>
                  <a:pt x="410972" y="188417"/>
                </a:lnTo>
                <a:lnTo>
                  <a:pt x="381682" y="220251"/>
                </a:lnTo>
                <a:lnTo>
                  <a:pt x="368300" y="226199"/>
                </a:lnTo>
                <a:lnTo>
                  <a:pt x="371221" y="235762"/>
                </a:lnTo>
                <a:lnTo>
                  <a:pt x="416262" y="209009"/>
                </a:lnTo>
                <a:lnTo>
                  <a:pt x="441547" y="159605"/>
                </a:lnTo>
                <a:lnTo>
                  <a:pt x="446405" y="117957"/>
                </a:lnTo>
                <a:lnTo>
                  <a:pt x="445190" y="96345"/>
                </a:lnTo>
                <a:lnTo>
                  <a:pt x="435475" y="58041"/>
                </a:lnTo>
                <a:lnTo>
                  <a:pt x="403336" y="15122"/>
                </a:lnTo>
                <a:lnTo>
                  <a:pt x="388344" y="6164"/>
                </a:lnTo>
                <a:lnTo>
                  <a:pt x="371221" y="0"/>
                </a:lnTo>
                <a:close/>
              </a:path>
              <a:path w="446405" h="236220">
                <a:moveTo>
                  <a:pt x="75184" y="0"/>
                </a:moveTo>
                <a:lnTo>
                  <a:pt x="30196" y="26856"/>
                </a:lnTo>
                <a:lnTo>
                  <a:pt x="4857" y="76373"/>
                </a:lnTo>
                <a:lnTo>
                  <a:pt x="0" y="117957"/>
                </a:lnTo>
                <a:lnTo>
                  <a:pt x="1194" y="139618"/>
                </a:lnTo>
                <a:lnTo>
                  <a:pt x="10822" y="177924"/>
                </a:lnTo>
                <a:lnTo>
                  <a:pt x="42957" y="220684"/>
                </a:lnTo>
                <a:lnTo>
                  <a:pt x="75184" y="235762"/>
                </a:lnTo>
                <a:lnTo>
                  <a:pt x="78105" y="226199"/>
                </a:lnTo>
                <a:lnTo>
                  <a:pt x="64650" y="220251"/>
                </a:lnTo>
                <a:lnTo>
                  <a:pt x="53054" y="211970"/>
                </a:lnTo>
                <a:lnTo>
                  <a:pt x="29338" y="173362"/>
                </a:lnTo>
                <a:lnTo>
                  <a:pt x="21463" y="116712"/>
                </a:lnTo>
                <a:lnTo>
                  <a:pt x="22342" y="96600"/>
                </a:lnTo>
                <a:lnTo>
                  <a:pt x="35433" y="46939"/>
                </a:lnTo>
                <a:lnTo>
                  <a:pt x="64865" y="15553"/>
                </a:lnTo>
                <a:lnTo>
                  <a:pt x="78486" y="9651"/>
                </a:lnTo>
                <a:lnTo>
                  <a:pt x="75184" y="0"/>
                </a:lnTo>
                <a:close/>
              </a:path>
            </a:pathLst>
          </a:custGeom>
          <a:solidFill>
            <a:srgbClr val="3C3C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00824" y="4910582"/>
            <a:ext cx="2759075" cy="1077595"/>
          </a:xfrm>
          <a:prstGeom prst="rect">
            <a:avLst/>
          </a:prstGeom>
        </p:spPr>
        <p:txBody>
          <a:bodyPr vert="horz" wrap="square" lIns="0" tIns="173355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365"/>
              </a:spcBef>
              <a:tabLst>
                <a:tab pos="989330" algn="l"/>
              </a:tabLst>
            </a:pPr>
            <a:endParaRPr lang="en-US" sz="2000" spc="25" dirty="0">
              <a:solidFill>
                <a:srgbClr val="4776CD"/>
              </a:solidFill>
              <a:latin typeface="Cambria Math"/>
              <a:cs typeface="Cambria Math"/>
            </a:endParaRPr>
          </a:p>
          <a:p>
            <a:pPr marL="88900">
              <a:lnSpc>
                <a:spcPts val="1980"/>
              </a:lnSpc>
              <a:spcBef>
                <a:spcPts val="1195"/>
              </a:spcBef>
              <a:tabLst>
                <a:tab pos="1217930" algn="l"/>
                <a:tab pos="1922145" algn="l"/>
              </a:tabLst>
            </a:pPr>
            <a:r>
              <a:rPr sz="2000" spc="-95" dirty="0">
                <a:solidFill>
                  <a:srgbClr val="3C3C3C"/>
                </a:solidFill>
                <a:latin typeface="Trebuchet MS"/>
                <a:cs typeface="Trebuchet MS"/>
              </a:rPr>
              <a:t>u</a:t>
            </a:r>
            <a:r>
              <a:rPr sz="2000" spc="-5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000" spc="-45" dirty="0">
                <a:solidFill>
                  <a:srgbClr val="3C3C3C"/>
                </a:solidFill>
                <a:latin typeface="Trebuchet MS"/>
                <a:cs typeface="Trebuchet MS"/>
              </a:rPr>
              <a:t>(</a:t>
            </a:r>
            <a:r>
              <a:rPr sz="2000" spc="-45" dirty="0">
                <a:latin typeface="Cambria Math"/>
                <a:cs typeface="Cambria Math"/>
              </a:rPr>
              <a:t>1</a:t>
            </a:r>
            <a:r>
              <a:rPr sz="2000" spc="-45" dirty="0">
                <a:latin typeface="Trebuchet MS"/>
                <a:cs typeface="Trebuchet MS"/>
              </a:rPr>
              <a:t>4</a:t>
            </a:r>
            <a:r>
              <a:rPr sz="2000" spc="-45" dirty="0">
                <a:solidFill>
                  <a:srgbClr val="3C3C3C"/>
                </a:solidFill>
                <a:latin typeface="Trebuchet MS"/>
                <a:cs typeface="Trebuchet MS"/>
              </a:rPr>
              <a:t>)</a:t>
            </a:r>
            <a:r>
              <a:rPr sz="2000" spc="-45" dirty="0">
                <a:solidFill>
                  <a:srgbClr val="3C3C3C"/>
                </a:solidFill>
                <a:latin typeface="Cambria Math"/>
                <a:cs typeface="Cambria Math"/>
              </a:rPr>
              <a:t>=</a:t>
            </a:r>
            <a:r>
              <a:rPr sz="2000" spc="114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2175" spc="60" baseline="45977" dirty="0">
                <a:solidFill>
                  <a:srgbClr val="3C3C3C"/>
                </a:solidFill>
                <a:latin typeface="Cambria Math"/>
                <a:cs typeface="Cambria Math"/>
              </a:rPr>
              <a:t>1	</a:t>
            </a:r>
            <a:r>
              <a:rPr sz="2000" dirty="0">
                <a:solidFill>
                  <a:srgbClr val="3C3C3C"/>
                </a:solidFill>
                <a:latin typeface="Cambria Math"/>
                <a:cs typeface="Cambria Math"/>
              </a:rPr>
              <a:t>𝑢</a:t>
            </a:r>
            <a:r>
              <a:rPr sz="2000" spc="450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Cambria Math"/>
                <a:cs typeface="Cambria Math"/>
              </a:rPr>
              <a:t>10	</a:t>
            </a:r>
            <a:r>
              <a:rPr sz="2000" dirty="0">
                <a:solidFill>
                  <a:srgbClr val="3C3C3C"/>
                </a:solidFill>
                <a:latin typeface="Cambria Math"/>
                <a:cs typeface="Cambria Math"/>
              </a:rPr>
              <a:t>+</a:t>
            </a:r>
            <a:r>
              <a:rPr sz="2000" spc="-20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3C3C3C"/>
                </a:solidFill>
                <a:latin typeface="Cambria Math"/>
                <a:cs typeface="Cambria Math"/>
              </a:rPr>
              <a:t>𝑢</a:t>
            </a:r>
            <a:r>
              <a:rPr sz="2000" spc="395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2000" spc="-10" dirty="0">
                <a:solidFill>
                  <a:srgbClr val="3C3C3C"/>
                </a:solidFill>
                <a:latin typeface="Cambria Math"/>
                <a:cs typeface="Cambria Math"/>
              </a:rPr>
              <a:t>20</a:t>
            </a:r>
            <a:endParaRPr sz="2000" dirty="0">
              <a:latin typeface="Cambria Math"/>
              <a:cs typeface="Cambria Math"/>
            </a:endParaRPr>
          </a:p>
          <a:p>
            <a:pPr marR="681355" algn="ctr">
              <a:lnSpc>
                <a:spcPts val="1320"/>
              </a:lnSpc>
            </a:pPr>
            <a:r>
              <a:rPr sz="1450" spc="40" dirty="0">
                <a:solidFill>
                  <a:srgbClr val="3C3C3C"/>
                </a:solidFill>
                <a:latin typeface="Cambria Math"/>
                <a:cs typeface="Cambria Math"/>
              </a:rPr>
              <a:t>2</a:t>
            </a:r>
            <a:endParaRPr sz="1450" dirty="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39033" y="5337454"/>
            <a:ext cx="4445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000" baseline="-33333" dirty="0">
                <a:solidFill>
                  <a:srgbClr val="3C3C3C"/>
                </a:solidFill>
                <a:latin typeface="Cambria Math"/>
                <a:cs typeface="Cambria Math"/>
              </a:rPr>
              <a:t>=</a:t>
            </a:r>
            <a:r>
              <a:rPr sz="3000" spc="75" baseline="-33333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1450" spc="40" dirty="0">
                <a:solidFill>
                  <a:srgbClr val="3C3C3C"/>
                </a:solidFill>
                <a:latin typeface="Cambria Math"/>
                <a:cs typeface="Cambria Math"/>
              </a:rPr>
              <a:t>1</a:t>
            </a:r>
            <a:endParaRPr sz="1450" dirty="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737102" y="5671845"/>
            <a:ext cx="108585" cy="17145"/>
          </a:xfrm>
          <a:custGeom>
            <a:avLst/>
            <a:gdLst/>
            <a:ahLst/>
            <a:cxnLst/>
            <a:rect l="l" t="t" r="r" b="b"/>
            <a:pathLst>
              <a:path w="108585" h="17145">
                <a:moveTo>
                  <a:pt x="108203" y="0"/>
                </a:moveTo>
                <a:lnTo>
                  <a:pt x="0" y="0"/>
                </a:lnTo>
                <a:lnTo>
                  <a:pt x="0" y="16764"/>
                </a:lnTo>
                <a:lnTo>
                  <a:pt x="108203" y="16764"/>
                </a:lnTo>
                <a:lnTo>
                  <a:pt x="108203" y="0"/>
                </a:lnTo>
                <a:close/>
              </a:path>
            </a:pathLst>
          </a:custGeom>
          <a:solidFill>
            <a:srgbClr val="3C3C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725036" y="5683402"/>
            <a:ext cx="133350" cy="2489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450" spc="40" dirty="0">
                <a:solidFill>
                  <a:srgbClr val="3C3C3C"/>
                </a:solidFill>
                <a:latin typeface="Cambria Math"/>
                <a:cs typeface="Cambria Math"/>
              </a:rPr>
              <a:t>2</a:t>
            </a:r>
            <a:endParaRPr sz="1450" dirty="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902327" y="5561329"/>
            <a:ext cx="55880" cy="237490"/>
          </a:xfrm>
          <a:custGeom>
            <a:avLst/>
            <a:gdLst/>
            <a:ahLst/>
            <a:cxnLst/>
            <a:rect l="l" t="t" r="r" b="b"/>
            <a:pathLst>
              <a:path w="55879" h="237489">
                <a:moveTo>
                  <a:pt x="55372" y="0"/>
                </a:moveTo>
                <a:lnTo>
                  <a:pt x="0" y="0"/>
                </a:lnTo>
                <a:lnTo>
                  <a:pt x="0" y="10160"/>
                </a:lnTo>
                <a:lnTo>
                  <a:pt x="34798" y="10160"/>
                </a:lnTo>
                <a:lnTo>
                  <a:pt x="34798" y="228600"/>
                </a:lnTo>
                <a:lnTo>
                  <a:pt x="0" y="228600"/>
                </a:lnTo>
                <a:lnTo>
                  <a:pt x="0" y="237490"/>
                </a:lnTo>
                <a:lnTo>
                  <a:pt x="55372" y="237490"/>
                </a:lnTo>
                <a:lnTo>
                  <a:pt x="55372" y="228600"/>
                </a:lnTo>
                <a:lnTo>
                  <a:pt x="55372" y="10160"/>
                </a:lnTo>
                <a:lnTo>
                  <a:pt x="55372" y="0"/>
                </a:lnTo>
                <a:close/>
              </a:path>
            </a:pathLst>
          </a:custGeom>
          <a:solidFill>
            <a:srgbClr val="3C3C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916426" y="5561329"/>
            <a:ext cx="55880" cy="237490"/>
          </a:xfrm>
          <a:custGeom>
            <a:avLst/>
            <a:gdLst/>
            <a:ahLst/>
            <a:cxnLst/>
            <a:rect l="l" t="t" r="r" b="b"/>
            <a:pathLst>
              <a:path w="55879" h="237489">
                <a:moveTo>
                  <a:pt x="55372" y="0"/>
                </a:moveTo>
                <a:lnTo>
                  <a:pt x="0" y="0"/>
                </a:lnTo>
                <a:lnTo>
                  <a:pt x="0" y="10160"/>
                </a:lnTo>
                <a:lnTo>
                  <a:pt x="0" y="228600"/>
                </a:lnTo>
                <a:lnTo>
                  <a:pt x="0" y="237490"/>
                </a:lnTo>
                <a:lnTo>
                  <a:pt x="55372" y="237490"/>
                </a:lnTo>
                <a:lnTo>
                  <a:pt x="55372" y="228600"/>
                </a:lnTo>
                <a:lnTo>
                  <a:pt x="20574" y="228600"/>
                </a:lnTo>
                <a:lnTo>
                  <a:pt x="20574" y="10160"/>
                </a:lnTo>
                <a:lnTo>
                  <a:pt x="55372" y="10160"/>
                </a:lnTo>
                <a:lnTo>
                  <a:pt x="55372" y="0"/>
                </a:lnTo>
                <a:close/>
              </a:path>
            </a:pathLst>
          </a:custGeom>
          <a:solidFill>
            <a:srgbClr val="3C3C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964304" y="5486806"/>
            <a:ext cx="94741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3C3C3C"/>
                </a:solidFill>
                <a:latin typeface="Cambria Math"/>
                <a:cs typeface="Cambria Math"/>
              </a:rPr>
              <a:t>0.75</a:t>
            </a:r>
            <a:r>
              <a:rPr sz="2000" spc="-30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3C3C3C"/>
                </a:solidFill>
                <a:latin typeface="Cambria Math"/>
                <a:cs typeface="Cambria Math"/>
              </a:rPr>
              <a:t>+</a:t>
            </a:r>
            <a:r>
              <a:rPr sz="2000" spc="-35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3C3C3C"/>
                </a:solidFill>
                <a:latin typeface="Cambria Math"/>
                <a:cs typeface="Cambria Math"/>
              </a:rPr>
              <a:t>1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115305" y="5486806"/>
            <a:ext cx="197675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48309" algn="l"/>
              </a:tabLst>
            </a:pPr>
            <a:r>
              <a:rPr sz="2000" spc="120" dirty="0">
                <a:solidFill>
                  <a:srgbClr val="3C3C3C"/>
                </a:solidFill>
                <a:latin typeface="Trebuchet MS"/>
                <a:cs typeface="Trebuchet MS"/>
              </a:rPr>
              <a:t>=&gt;	</a:t>
            </a:r>
            <a:r>
              <a:rPr sz="2000" spc="-95" dirty="0">
                <a:solidFill>
                  <a:srgbClr val="FF0000"/>
                </a:solidFill>
                <a:latin typeface="Trebuchet MS"/>
                <a:cs typeface="Trebuchet MS"/>
              </a:rPr>
              <a:t>u</a:t>
            </a:r>
            <a:r>
              <a:rPr sz="2000" spc="-6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spc="-90" dirty="0">
                <a:solidFill>
                  <a:srgbClr val="FF0000"/>
                </a:solidFill>
                <a:latin typeface="Trebuchet MS"/>
                <a:cs typeface="Trebuchet MS"/>
              </a:rPr>
              <a:t>(</a:t>
            </a:r>
            <a:r>
              <a:rPr sz="2000" spc="5" dirty="0">
                <a:solidFill>
                  <a:srgbClr val="FF0000"/>
                </a:solidFill>
                <a:latin typeface="Cambria Math"/>
                <a:cs typeface="Cambria Math"/>
              </a:rPr>
              <a:t>1</a:t>
            </a:r>
            <a:r>
              <a:rPr sz="2000" spc="-70" dirty="0">
                <a:solidFill>
                  <a:srgbClr val="FF0000"/>
                </a:solidFill>
                <a:latin typeface="Trebuchet MS"/>
                <a:cs typeface="Trebuchet MS"/>
              </a:rPr>
              <a:t>4)</a:t>
            </a:r>
            <a:r>
              <a:rPr sz="2000" spc="-4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000" spc="-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000" spc="-95" dirty="0">
                <a:solidFill>
                  <a:srgbClr val="FF0000"/>
                </a:solidFill>
                <a:latin typeface="Trebuchet MS"/>
                <a:cs typeface="Trebuchet MS"/>
              </a:rPr>
              <a:t>0.875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351646" y="6054344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4590B8"/>
                </a:solidFill>
                <a:latin typeface="Trebuchet MS"/>
                <a:cs typeface="Trebuchet MS"/>
              </a:rPr>
              <a:t>27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630741" y="2941066"/>
            <a:ext cx="1859280" cy="1460500"/>
            <a:chOff x="2630741" y="2941066"/>
            <a:chExt cx="1859280" cy="1460500"/>
          </a:xfrm>
        </p:grpSpPr>
        <p:sp>
          <p:nvSpPr>
            <p:cNvPr id="18" name="object 18"/>
            <p:cNvSpPr/>
            <p:nvPr/>
          </p:nvSpPr>
          <p:spPr>
            <a:xfrm>
              <a:off x="2641854" y="3385566"/>
              <a:ext cx="504825" cy="504825"/>
            </a:xfrm>
            <a:custGeom>
              <a:avLst/>
              <a:gdLst/>
              <a:ahLst/>
              <a:cxnLst/>
              <a:rect l="l" t="t" r="r" b="b"/>
              <a:pathLst>
                <a:path w="504825" h="504825">
                  <a:moveTo>
                    <a:pt x="0" y="252222"/>
                  </a:moveTo>
                  <a:lnTo>
                    <a:pt x="4062" y="206879"/>
                  </a:lnTo>
                  <a:lnTo>
                    <a:pt x="15777" y="164205"/>
                  </a:lnTo>
                  <a:lnTo>
                    <a:pt x="34431" y="124911"/>
                  </a:lnTo>
                  <a:lnTo>
                    <a:pt x="59312" y="89710"/>
                  </a:lnTo>
                  <a:lnTo>
                    <a:pt x="89710" y="59312"/>
                  </a:lnTo>
                  <a:lnTo>
                    <a:pt x="124911" y="34431"/>
                  </a:lnTo>
                  <a:lnTo>
                    <a:pt x="164205" y="15777"/>
                  </a:lnTo>
                  <a:lnTo>
                    <a:pt x="206879" y="4062"/>
                  </a:lnTo>
                  <a:lnTo>
                    <a:pt x="252221" y="0"/>
                  </a:lnTo>
                  <a:lnTo>
                    <a:pt x="297564" y="4062"/>
                  </a:lnTo>
                  <a:lnTo>
                    <a:pt x="340238" y="15777"/>
                  </a:lnTo>
                  <a:lnTo>
                    <a:pt x="379532" y="34431"/>
                  </a:lnTo>
                  <a:lnTo>
                    <a:pt x="414733" y="59312"/>
                  </a:lnTo>
                  <a:lnTo>
                    <a:pt x="445131" y="89710"/>
                  </a:lnTo>
                  <a:lnTo>
                    <a:pt x="470012" y="124911"/>
                  </a:lnTo>
                  <a:lnTo>
                    <a:pt x="488666" y="164205"/>
                  </a:lnTo>
                  <a:lnTo>
                    <a:pt x="500381" y="206879"/>
                  </a:lnTo>
                  <a:lnTo>
                    <a:pt x="504444" y="252222"/>
                  </a:lnTo>
                  <a:lnTo>
                    <a:pt x="500381" y="297564"/>
                  </a:lnTo>
                  <a:lnTo>
                    <a:pt x="488666" y="340238"/>
                  </a:lnTo>
                  <a:lnTo>
                    <a:pt x="470012" y="379532"/>
                  </a:lnTo>
                  <a:lnTo>
                    <a:pt x="445131" y="414733"/>
                  </a:lnTo>
                  <a:lnTo>
                    <a:pt x="414733" y="445131"/>
                  </a:lnTo>
                  <a:lnTo>
                    <a:pt x="379532" y="470012"/>
                  </a:lnTo>
                  <a:lnTo>
                    <a:pt x="340238" y="488666"/>
                  </a:lnTo>
                  <a:lnTo>
                    <a:pt x="297564" y="500381"/>
                  </a:lnTo>
                  <a:lnTo>
                    <a:pt x="252221" y="504444"/>
                  </a:lnTo>
                  <a:lnTo>
                    <a:pt x="206879" y="500381"/>
                  </a:lnTo>
                  <a:lnTo>
                    <a:pt x="164205" y="488666"/>
                  </a:lnTo>
                  <a:lnTo>
                    <a:pt x="124911" y="470012"/>
                  </a:lnTo>
                  <a:lnTo>
                    <a:pt x="89710" y="445131"/>
                  </a:lnTo>
                  <a:lnTo>
                    <a:pt x="59312" y="414733"/>
                  </a:lnTo>
                  <a:lnTo>
                    <a:pt x="34431" y="379532"/>
                  </a:lnTo>
                  <a:lnTo>
                    <a:pt x="15777" y="340238"/>
                  </a:lnTo>
                  <a:lnTo>
                    <a:pt x="4062" y="297564"/>
                  </a:lnTo>
                  <a:lnTo>
                    <a:pt x="0" y="252222"/>
                  </a:lnTo>
                  <a:close/>
                </a:path>
              </a:pathLst>
            </a:custGeom>
            <a:ln w="22225">
              <a:solidFill>
                <a:srgbClr val="4294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072384" y="2947416"/>
              <a:ext cx="1411605" cy="1447800"/>
            </a:xfrm>
            <a:custGeom>
              <a:avLst/>
              <a:gdLst/>
              <a:ahLst/>
              <a:cxnLst/>
              <a:rect l="l" t="t" r="r" b="b"/>
              <a:pathLst>
                <a:path w="1411604" h="1447800">
                  <a:moveTo>
                    <a:pt x="0" y="511810"/>
                  </a:moveTo>
                  <a:lnTo>
                    <a:pt x="1297940" y="0"/>
                  </a:lnTo>
                </a:path>
                <a:path w="1411604" h="1447800">
                  <a:moveTo>
                    <a:pt x="0" y="896112"/>
                  </a:moveTo>
                  <a:lnTo>
                    <a:pt x="1411096" y="1447546"/>
                  </a:lnTo>
                </a:path>
              </a:pathLst>
            </a:custGeom>
            <a:ln w="12700">
              <a:solidFill>
                <a:srgbClr val="172C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397885" y="3026156"/>
              <a:ext cx="113030" cy="13970"/>
            </a:xfrm>
            <a:custGeom>
              <a:avLst/>
              <a:gdLst/>
              <a:ahLst/>
              <a:cxnLst/>
              <a:rect l="l" t="t" r="r" b="b"/>
              <a:pathLst>
                <a:path w="113029" h="13969">
                  <a:moveTo>
                    <a:pt x="112775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112775" y="13716"/>
                  </a:lnTo>
                  <a:lnTo>
                    <a:pt x="1127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486783" y="2787141"/>
            <a:ext cx="4965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latin typeface="Trebuchet MS"/>
                <a:cs typeface="Trebuchet MS"/>
              </a:rPr>
              <a:t>10 </a:t>
            </a:r>
            <a:r>
              <a:rPr sz="1800" spc="125" dirty="0">
                <a:latin typeface="Trebuchet MS"/>
                <a:cs typeface="Trebuchet MS"/>
              </a:rPr>
              <a:t>M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577334" y="4199635"/>
            <a:ext cx="4965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latin typeface="Trebuchet MS"/>
                <a:cs typeface="Trebuchet MS"/>
              </a:rPr>
              <a:t>20 </a:t>
            </a:r>
            <a:r>
              <a:rPr sz="1800" spc="125" dirty="0">
                <a:latin typeface="Trebuchet MS"/>
                <a:cs typeface="Trebuchet MS"/>
              </a:rPr>
              <a:t>M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385820" y="2675280"/>
            <a:ext cx="137795" cy="60452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1600" spc="-5" dirty="0">
                <a:latin typeface="Cambria Math"/>
                <a:cs typeface="Cambria Math"/>
              </a:rPr>
              <a:t>1</a:t>
            </a:r>
            <a:endParaRPr sz="16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1600" spc="-5" dirty="0">
                <a:latin typeface="Cambria Math"/>
                <a:cs typeface="Cambria Math"/>
              </a:rPr>
              <a:t>2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318385" y="3452621"/>
            <a:ext cx="173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𝑋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441953" y="4418710"/>
            <a:ext cx="113030" cy="13970"/>
          </a:xfrm>
          <a:custGeom>
            <a:avLst/>
            <a:gdLst/>
            <a:ahLst/>
            <a:cxnLst/>
            <a:rect l="l" t="t" r="r" b="b"/>
            <a:pathLst>
              <a:path w="113029" h="13970">
                <a:moveTo>
                  <a:pt x="112775" y="0"/>
                </a:moveTo>
                <a:lnTo>
                  <a:pt x="0" y="0"/>
                </a:lnTo>
                <a:lnTo>
                  <a:pt x="0" y="13715"/>
                </a:lnTo>
                <a:lnTo>
                  <a:pt x="112775" y="13715"/>
                </a:lnTo>
                <a:lnTo>
                  <a:pt x="1127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429761" y="4068336"/>
            <a:ext cx="138430" cy="60452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1600" spc="-5" dirty="0">
                <a:latin typeface="Cambria Math"/>
                <a:cs typeface="Cambria Math"/>
              </a:rPr>
              <a:t>1</a:t>
            </a:r>
            <a:endParaRPr sz="16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1600" spc="-5" dirty="0">
                <a:latin typeface="Cambria Math"/>
                <a:cs typeface="Cambria Math"/>
              </a:rPr>
              <a:t>2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2328BB4-A1B9-C047-59E4-F838AB182453}"/>
              </a:ext>
            </a:extLst>
          </p:cNvPr>
          <p:cNvSpPr txBox="1"/>
          <p:nvPr/>
        </p:nvSpPr>
        <p:spPr>
          <a:xfrm>
            <a:off x="481534" y="4820458"/>
            <a:ext cx="45720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8900">
              <a:lnSpc>
                <a:spcPct val="100000"/>
              </a:lnSpc>
              <a:spcBef>
                <a:spcPts val="1365"/>
              </a:spcBef>
              <a:tabLst>
                <a:tab pos="989330" algn="l"/>
              </a:tabLst>
            </a:pPr>
            <a:r>
              <a:rPr lang="en-US" sz="2000" spc="25" dirty="0">
                <a:solidFill>
                  <a:srgbClr val="4776CD"/>
                </a:solidFill>
                <a:latin typeface="Cambria Math"/>
                <a:cs typeface="Cambria Math"/>
              </a:rPr>
              <a:t>𝑥</a:t>
            </a:r>
            <a:r>
              <a:rPr lang="en-US" sz="2175" spc="37" baseline="-15325" dirty="0">
                <a:solidFill>
                  <a:srgbClr val="4776CD"/>
                </a:solidFill>
                <a:latin typeface="Cambria Math"/>
                <a:cs typeface="Cambria Math"/>
              </a:rPr>
              <a:t>𝑐</a:t>
            </a:r>
            <a:r>
              <a:rPr lang="en-US" sz="2175" spc="540" baseline="-15325" dirty="0">
                <a:solidFill>
                  <a:srgbClr val="4776CD"/>
                </a:solidFill>
                <a:latin typeface="Cambria Math"/>
                <a:cs typeface="Cambria Math"/>
              </a:rPr>
              <a:t> </a:t>
            </a:r>
            <a:r>
              <a:rPr lang="en-US" sz="2000" dirty="0">
                <a:solidFill>
                  <a:srgbClr val="4776CD"/>
                </a:solidFill>
                <a:latin typeface="Cambria Math"/>
                <a:cs typeface="Cambria Math"/>
              </a:rPr>
              <a:t>=</a:t>
            </a:r>
            <a:r>
              <a:rPr lang="en-US" sz="2000" spc="5" dirty="0">
                <a:solidFill>
                  <a:srgbClr val="4776CD"/>
                </a:solidFill>
                <a:latin typeface="Cambria Math"/>
                <a:cs typeface="Cambria Math"/>
              </a:rPr>
              <a:t> </a:t>
            </a:r>
            <a:r>
              <a:rPr lang="en-US" sz="2000" spc="-15" dirty="0">
                <a:solidFill>
                  <a:srgbClr val="4776CD"/>
                </a:solidFill>
                <a:latin typeface="Cambria Math"/>
                <a:cs typeface="Cambria Math"/>
              </a:rPr>
              <a:t>?</a:t>
            </a:r>
            <a:r>
              <a:rPr lang="en-US" sz="2100" spc="-15" dirty="0">
                <a:solidFill>
                  <a:srgbClr val="4776CD"/>
                </a:solidFill>
                <a:latin typeface="Cambria Math"/>
                <a:cs typeface="Cambria Math"/>
              </a:rPr>
              <a:t>;	</a:t>
            </a:r>
            <a:r>
              <a:rPr lang="en-US" sz="2100" spc="-45" dirty="0">
                <a:solidFill>
                  <a:srgbClr val="4776CD"/>
                </a:solidFill>
                <a:latin typeface="Cambria Math"/>
                <a:cs typeface="Cambria Math"/>
              </a:rPr>
              <a:t>R:</a:t>
            </a:r>
            <a:r>
              <a:rPr lang="en-US" sz="2100" spc="-60" dirty="0">
                <a:solidFill>
                  <a:srgbClr val="4776CD"/>
                </a:solidFill>
                <a:latin typeface="Cambria Math"/>
                <a:cs typeface="Cambria Math"/>
              </a:rPr>
              <a:t> </a:t>
            </a:r>
            <a:r>
              <a:rPr lang="en-US" sz="2000" spc="25" dirty="0">
                <a:solidFill>
                  <a:srgbClr val="4776CD"/>
                </a:solidFill>
                <a:latin typeface="Cambria Math"/>
                <a:cs typeface="Cambria Math"/>
              </a:rPr>
              <a:t>𝑥</a:t>
            </a:r>
            <a:r>
              <a:rPr lang="en-US" sz="2175" spc="37" baseline="-15325" dirty="0">
                <a:solidFill>
                  <a:srgbClr val="4776CD"/>
                </a:solidFill>
                <a:latin typeface="Cambria Math"/>
                <a:cs typeface="Cambria Math"/>
              </a:rPr>
              <a:t>𝑐</a:t>
            </a:r>
            <a:r>
              <a:rPr lang="en-US" sz="2175" spc="509" baseline="-15325" dirty="0">
                <a:solidFill>
                  <a:srgbClr val="4776CD"/>
                </a:solidFill>
                <a:latin typeface="Cambria Math"/>
                <a:cs typeface="Cambria Math"/>
              </a:rPr>
              <a:t> </a:t>
            </a:r>
            <a:r>
              <a:rPr lang="en-US" sz="2000" dirty="0">
                <a:solidFill>
                  <a:srgbClr val="4776CD"/>
                </a:solidFill>
                <a:latin typeface="Cambria Math"/>
                <a:cs typeface="Cambria Math"/>
              </a:rPr>
              <a:t>=</a:t>
            </a:r>
            <a:r>
              <a:rPr lang="en-US" sz="2000" spc="90" dirty="0">
                <a:solidFill>
                  <a:srgbClr val="4776CD"/>
                </a:solidFill>
                <a:latin typeface="Cambria Math"/>
                <a:cs typeface="Cambria Math"/>
              </a:rPr>
              <a:t> </a:t>
            </a:r>
            <a:r>
              <a:rPr lang="en-US" sz="2000" spc="-10" dirty="0">
                <a:solidFill>
                  <a:srgbClr val="4776CD"/>
                </a:solidFill>
                <a:latin typeface="Cambria Math"/>
                <a:cs typeface="Cambria Math"/>
              </a:rPr>
              <a:t>14</a:t>
            </a:r>
            <a:r>
              <a:rPr lang="en-US" sz="2100" spc="-10" dirty="0">
                <a:solidFill>
                  <a:srgbClr val="4776CD"/>
                </a:solidFill>
                <a:latin typeface="Cambria Math"/>
                <a:cs typeface="Cambria Math"/>
              </a:rPr>
              <a:t>;</a:t>
            </a:r>
            <a:endParaRPr lang="en-US" sz="2100" dirty="0">
              <a:latin typeface="Cambria Math"/>
              <a:cs typeface="Cambria Math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/>
      <p:bldP spid="9" grpId="0"/>
      <p:bldP spid="10" grpId="0" animBg="1"/>
      <p:bldP spid="11" grpId="0"/>
      <p:bldP spid="12" grpId="0" animBg="1"/>
      <p:bldP spid="13" grpId="0" animBg="1"/>
      <p:bldP spid="14" grpId="0"/>
      <p:bldP spid="15" grpId="0"/>
      <p:bldP spid="2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8055" y="600455"/>
            <a:ext cx="8239125" cy="125920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4650">
              <a:latin typeface="Times New Roman"/>
              <a:cs typeface="Times New Roman"/>
            </a:endParaRPr>
          </a:p>
          <a:p>
            <a:pPr marL="224154">
              <a:lnSpc>
                <a:spcPct val="100000"/>
              </a:lnSpc>
            </a:pPr>
            <a:r>
              <a:rPr sz="2800" b="0" spc="200" dirty="0">
                <a:solidFill>
                  <a:srgbClr val="FFFFFF"/>
                </a:solidFill>
                <a:latin typeface="Trebuchet MS"/>
                <a:cs typeface="Trebuchet MS"/>
              </a:rPr>
              <a:t>FUNCIÓN</a:t>
            </a:r>
            <a:r>
              <a:rPr sz="2800" b="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b="0" spc="135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800" b="0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b="0" spc="100" dirty="0">
                <a:solidFill>
                  <a:srgbClr val="FFFFFF"/>
                </a:solidFill>
                <a:latin typeface="Trebuchet MS"/>
                <a:cs typeface="Trebuchet MS"/>
              </a:rPr>
              <a:t>UTILIDAD</a:t>
            </a:r>
            <a:r>
              <a:rPr sz="2800" b="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b="0" spc="135" dirty="0">
                <a:solidFill>
                  <a:srgbClr val="FFFFFF"/>
                </a:solidFill>
                <a:latin typeface="Trebuchet MS"/>
                <a:cs typeface="Trebuchet MS"/>
              </a:rPr>
              <a:t>OBTENIDA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51646" y="6054344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4590B8"/>
                </a:solidFill>
                <a:latin typeface="Trebuchet MS"/>
                <a:cs typeface="Trebuchet MS"/>
              </a:rPr>
              <a:t>28</a:t>
            </a:r>
            <a:endParaRPr sz="900">
              <a:latin typeface="Trebuchet MS"/>
              <a:cs typeface="Trebuchet MS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866709" y="2660713"/>
          <a:ext cx="5242558" cy="28803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4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45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3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5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5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45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45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451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323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451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BEBEBE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BEBEBE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BEBEBE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BEBEBE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BEBEBE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BEBEBE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BEBEBE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BEBEBE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BEBEBE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BEBEBE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1833943" y="2628328"/>
            <a:ext cx="5313045" cy="2954020"/>
            <a:chOff x="1833943" y="2628328"/>
            <a:chExt cx="5313045" cy="2954020"/>
          </a:xfrm>
        </p:grpSpPr>
        <p:sp>
          <p:nvSpPr>
            <p:cNvPr id="6" name="object 6"/>
            <p:cNvSpPr/>
            <p:nvPr/>
          </p:nvSpPr>
          <p:spPr>
            <a:xfrm>
              <a:off x="1870709" y="2664714"/>
              <a:ext cx="5241290" cy="2880360"/>
            </a:xfrm>
            <a:custGeom>
              <a:avLst/>
              <a:gdLst/>
              <a:ahLst/>
              <a:cxnLst/>
              <a:rect l="l" t="t" r="r" b="b"/>
              <a:pathLst>
                <a:path w="5241290" h="2880360">
                  <a:moveTo>
                    <a:pt x="0" y="2880360"/>
                  </a:moveTo>
                  <a:lnTo>
                    <a:pt x="14943" y="2835354"/>
                  </a:lnTo>
                  <a:lnTo>
                    <a:pt x="27390" y="2790348"/>
                  </a:lnTo>
                  <a:lnTo>
                    <a:pt x="37916" y="2745343"/>
                  </a:lnTo>
                  <a:lnTo>
                    <a:pt x="47099" y="2700337"/>
                  </a:lnTo>
                  <a:lnTo>
                    <a:pt x="55512" y="2655331"/>
                  </a:lnTo>
                  <a:lnTo>
                    <a:pt x="63733" y="2610326"/>
                  </a:lnTo>
                  <a:lnTo>
                    <a:pt x="72336" y="2565320"/>
                  </a:lnTo>
                  <a:lnTo>
                    <a:pt x="81899" y="2520315"/>
                  </a:lnTo>
                  <a:lnTo>
                    <a:pt x="92995" y="2475309"/>
                  </a:lnTo>
                  <a:lnTo>
                    <a:pt x="106202" y="2430303"/>
                  </a:lnTo>
                  <a:lnTo>
                    <a:pt x="122095" y="2385298"/>
                  </a:lnTo>
                  <a:lnTo>
                    <a:pt x="141249" y="2340292"/>
                  </a:lnTo>
                  <a:lnTo>
                    <a:pt x="164241" y="2295286"/>
                  </a:lnTo>
                  <a:lnTo>
                    <a:pt x="191647" y="2250281"/>
                  </a:lnTo>
                  <a:lnTo>
                    <a:pt x="224041" y="2205275"/>
                  </a:lnTo>
                  <a:lnTo>
                    <a:pt x="262000" y="2160270"/>
                  </a:lnTo>
                  <a:lnTo>
                    <a:pt x="289244" y="2131466"/>
                  </a:lnTo>
                  <a:lnTo>
                    <a:pt x="318484" y="2102662"/>
                  </a:lnTo>
                  <a:lnTo>
                    <a:pt x="349617" y="2073859"/>
                  </a:lnTo>
                  <a:lnTo>
                    <a:pt x="382545" y="2045055"/>
                  </a:lnTo>
                  <a:lnTo>
                    <a:pt x="417166" y="2016252"/>
                  </a:lnTo>
                  <a:lnTo>
                    <a:pt x="453380" y="1987448"/>
                  </a:lnTo>
                  <a:lnTo>
                    <a:pt x="491086" y="1958644"/>
                  </a:lnTo>
                  <a:lnTo>
                    <a:pt x="530183" y="1929841"/>
                  </a:lnTo>
                  <a:lnTo>
                    <a:pt x="570572" y="1901037"/>
                  </a:lnTo>
                  <a:lnTo>
                    <a:pt x="612151" y="1872233"/>
                  </a:lnTo>
                  <a:lnTo>
                    <a:pt x="654819" y="1843430"/>
                  </a:lnTo>
                  <a:lnTo>
                    <a:pt x="698477" y="1814626"/>
                  </a:lnTo>
                  <a:lnTo>
                    <a:pt x="743023" y="1785823"/>
                  </a:lnTo>
                  <a:lnTo>
                    <a:pt x="788357" y="1757019"/>
                  </a:lnTo>
                  <a:lnTo>
                    <a:pt x="834378" y="1728215"/>
                  </a:lnTo>
                  <a:lnTo>
                    <a:pt x="880986" y="1699412"/>
                  </a:lnTo>
                  <a:lnTo>
                    <a:pt x="928080" y="1670608"/>
                  </a:lnTo>
                  <a:lnTo>
                    <a:pt x="975560" y="1641805"/>
                  </a:lnTo>
                  <a:lnTo>
                    <a:pt x="1023324" y="1613001"/>
                  </a:lnTo>
                  <a:lnTo>
                    <a:pt x="1071273" y="1584197"/>
                  </a:lnTo>
                  <a:lnTo>
                    <a:pt x="1119305" y="1555394"/>
                  </a:lnTo>
                  <a:lnTo>
                    <a:pt x="1167321" y="1526590"/>
                  </a:lnTo>
                  <a:lnTo>
                    <a:pt x="1215218" y="1497787"/>
                  </a:lnTo>
                  <a:lnTo>
                    <a:pt x="1262898" y="1468983"/>
                  </a:lnTo>
                  <a:lnTo>
                    <a:pt x="1310258" y="1440180"/>
                  </a:lnTo>
                  <a:lnTo>
                    <a:pt x="1351377" y="1415142"/>
                  </a:lnTo>
                  <a:lnTo>
                    <a:pt x="1393366" y="1389720"/>
                  </a:lnTo>
                  <a:lnTo>
                    <a:pt x="1436162" y="1363958"/>
                  </a:lnTo>
                  <a:lnTo>
                    <a:pt x="1479699" y="1337901"/>
                  </a:lnTo>
                  <a:lnTo>
                    <a:pt x="1523913" y="1311593"/>
                  </a:lnTo>
                  <a:lnTo>
                    <a:pt x="1568739" y="1285077"/>
                  </a:lnTo>
                  <a:lnTo>
                    <a:pt x="1614114" y="1258399"/>
                  </a:lnTo>
                  <a:lnTo>
                    <a:pt x="1659973" y="1231603"/>
                  </a:lnTo>
                  <a:lnTo>
                    <a:pt x="1706250" y="1204733"/>
                  </a:lnTo>
                  <a:lnTo>
                    <a:pt x="1752883" y="1177833"/>
                  </a:lnTo>
                  <a:lnTo>
                    <a:pt x="1799805" y="1150948"/>
                  </a:lnTo>
                  <a:lnTo>
                    <a:pt x="1846953" y="1124123"/>
                  </a:lnTo>
                  <a:lnTo>
                    <a:pt x="1894263" y="1097400"/>
                  </a:lnTo>
                  <a:lnTo>
                    <a:pt x="1941669" y="1070826"/>
                  </a:lnTo>
                  <a:lnTo>
                    <a:pt x="1989107" y="1044443"/>
                  </a:lnTo>
                  <a:lnTo>
                    <a:pt x="2036513" y="1018298"/>
                  </a:lnTo>
                  <a:lnTo>
                    <a:pt x="2083823" y="992432"/>
                  </a:lnTo>
                  <a:lnTo>
                    <a:pt x="2130971" y="966892"/>
                  </a:lnTo>
                  <a:lnTo>
                    <a:pt x="2177893" y="941722"/>
                  </a:lnTo>
                  <a:lnTo>
                    <a:pt x="2224526" y="916965"/>
                  </a:lnTo>
                  <a:lnTo>
                    <a:pt x="2270803" y="892666"/>
                  </a:lnTo>
                  <a:lnTo>
                    <a:pt x="2316662" y="868870"/>
                  </a:lnTo>
                  <a:lnTo>
                    <a:pt x="2362037" y="845621"/>
                  </a:lnTo>
                  <a:lnTo>
                    <a:pt x="2406863" y="822962"/>
                  </a:lnTo>
                  <a:lnTo>
                    <a:pt x="2451077" y="800939"/>
                  </a:lnTo>
                  <a:lnTo>
                    <a:pt x="2494614" y="779596"/>
                  </a:lnTo>
                  <a:lnTo>
                    <a:pt x="2537410" y="758978"/>
                  </a:lnTo>
                  <a:lnTo>
                    <a:pt x="2579399" y="739127"/>
                  </a:lnTo>
                  <a:lnTo>
                    <a:pt x="2620517" y="720089"/>
                  </a:lnTo>
                  <a:lnTo>
                    <a:pt x="2673072" y="696260"/>
                  </a:lnTo>
                  <a:lnTo>
                    <a:pt x="2723683" y="673818"/>
                  </a:lnTo>
                  <a:lnTo>
                    <a:pt x="2772572" y="652663"/>
                  </a:lnTo>
                  <a:lnTo>
                    <a:pt x="2819960" y="632693"/>
                  </a:lnTo>
                  <a:lnTo>
                    <a:pt x="2866070" y="613805"/>
                  </a:lnTo>
                  <a:lnTo>
                    <a:pt x="2911121" y="595899"/>
                  </a:lnTo>
                  <a:lnTo>
                    <a:pt x="2955337" y="578874"/>
                  </a:lnTo>
                  <a:lnTo>
                    <a:pt x="2998937" y="562626"/>
                  </a:lnTo>
                  <a:lnTo>
                    <a:pt x="3042144" y="547056"/>
                  </a:lnTo>
                  <a:lnTo>
                    <a:pt x="3085179" y="532061"/>
                  </a:lnTo>
                  <a:lnTo>
                    <a:pt x="3128263" y="517540"/>
                  </a:lnTo>
                  <a:lnTo>
                    <a:pt x="3171619" y="503392"/>
                  </a:lnTo>
                  <a:lnTo>
                    <a:pt x="3215466" y="489514"/>
                  </a:lnTo>
                  <a:lnTo>
                    <a:pt x="3260027" y="475806"/>
                  </a:lnTo>
                  <a:lnTo>
                    <a:pt x="3305523" y="462165"/>
                  </a:lnTo>
                  <a:lnTo>
                    <a:pt x="3352176" y="448490"/>
                  </a:lnTo>
                  <a:lnTo>
                    <a:pt x="3400206" y="434680"/>
                  </a:lnTo>
                  <a:lnTo>
                    <a:pt x="3449836" y="420633"/>
                  </a:lnTo>
                  <a:lnTo>
                    <a:pt x="3501286" y="406247"/>
                  </a:lnTo>
                  <a:lnTo>
                    <a:pt x="3554779" y="391422"/>
                  </a:lnTo>
                  <a:lnTo>
                    <a:pt x="3610535" y="376055"/>
                  </a:lnTo>
                  <a:lnTo>
                    <a:pt x="3668776" y="360045"/>
                  </a:lnTo>
                  <a:lnTo>
                    <a:pt x="3710225" y="348793"/>
                  </a:lnTo>
                  <a:lnTo>
                    <a:pt x="3752649" y="337542"/>
                  </a:lnTo>
                  <a:lnTo>
                    <a:pt x="3796001" y="326290"/>
                  </a:lnTo>
                  <a:lnTo>
                    <a:pt x="3840232" y="315039"/>
                  </a:lnTo>
                  <a:lnTo>
                    <a:pt x="3885294" y="303787"/>
                  </a:lnTo>
                  <a:lnTo>
                    <a:pt x="3931140" y="292536"/>
                  </a:lnTo>
                  <a:lnTo>
                    <a:pt x="3977722" y="281285"/>
                  </a:lnTo>
                  <a:lnTo>
                    <a:pt x="4024991" y="270033"/>
                  </a:lnTo>
                  <a:lnTo>
                    <a:pt x="4072899" y="258782"/>
                  </a:lnTo>
                  <a:lnTo>
                    <a:pt x="4121399" y="247530"/>
                  </a:lnTo>
                  <a:lnTo>
                    <a:pt x="4170443" y="236279"/>
                  </a:lnTo>
                  <a:lnTo>
                    <a:pt x="4219983" y="225028"/>
                  </a:lnTo>
                  <a:lnTo>
                    <a:pt x="4269970" y="213776"/>
                  </a:lnTo>
                  <a:lnTo>
                    <a:pt x="4320357" y="202525"/>
                  </a:lnTo>
                  <a:lnTo>
                    <a:pt x="4371096" y="191273"/>
                  </a:lnTo>
                  <a:lnTo>
                    <a:pt x="4422140" y="180022"/>
                  </a:lnTo>
                  <a:lnTo>
                    <a:pt x="4473439" y="168771"/>
                  </a:lnTo>
                  <a:lnTo>
                    <a:pt x="4524946" y="157519"/>
                  </a:lnTo>
                  <a:lnTo>
                    <a:pt x="4576613" y="146268"/>
                  </a:lnTo>
                  <a:lnTo>
                    <a:pt x="4628392" y="135016"/>
                  </a:lnTo>
                  <a:lnTo>
                    <a:pt x="4680235" y="123765"/>
                  </a:lnTo>
                  <a:lnTo>
                    <a:pt x="4732095" y="112514"/>
                  </a:lnTo>
                  <a:lnTo>
                    <a:pt x="4783923" y="101262"/>
                  </a:lnTo>
                  <a:lnTo>
                    <a:pt x="4835671" y="90011"/>
                  </a:lnTo>
                  <a:lnTo>
                    <a:pt x="4887292" y="78759"/>
                  </a:lnTo>
                  <a:lnTo>
                    <a:pt x="4938737" y="67508"/>
                  </a:lnTo>
                  <a:lnTo>
                    <a:pt x="4989959" y="56257"/>
                  </a:lnTo>
                  <a:lnTo>
                    <a:pt x="5040909" y="45005"/>
                  </a:lnTo>
                  <a:lnTo>
                    <a:pt x="5091539" y="33754"/>
                  </a:lnTo>
                  <a:lnTo>
                    <a:pt x="5141803" y="22502"/>
                  </a:lnTo>
                  <a:lnTo>
                    <a:pt x="5191651" y="11251"/>
                  </a:lnTo>
                  <a:lnTo>
                    <a:pt x="5241036" y="0"/>
                  </a:lnTo>
                </a:path>
              </a:pathLst>
            </a:custGeom>
            <a:ln w="19050">
              <a:solidFill>
                <a:srgbClr val="1A31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33943" y="5508688"/>
              <a:ext cx="73532" cy="7353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43059" y="4068508"/>
              <a:ext cx="73532" cy="7353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53699" y="3347656"/>
              <a:ext cx="73533" cy="7353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02211" y="2987992"/>
              <a:ext cx="73533" cy="7353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73455" y="2628328"/>
              <a:ext cx="73532" cy="73533"/>
            </a:xfrm>
            <a:prstGeom prst="rect">
              <a:avLst/>
            </a:prstGeom>
          </p:spPr>
        </p:pic>
      </p:grp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96071" y="4787836"/>
            <a:ext cx="73533" cy="73532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617725" y="2574416"/>
            <a:ext cx="165100" cy="3044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585858"/>
                </a:solidFill>
                <a:latin typeface="Trebuchet MS"/>
                <a:cs typeface="Trebuchet MS"/>
              </a:rPr>
              <a:t>1</a:t>
            </a:r>
            <a:endParaRPr sz="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000">
              <a:latin typeface="Trebuchet MS"/>
              <a:cs typeface="Trebuchet MS"/>
            </a:endParaRPr>
          </a:p>
          <a:p>
            <a:pPr marR="5080" algn="r">
              <a:lnSpc>
                <a:spcPct val="100000"/>
              </a:lnSpc>
              <a:spcBef>
                <a:spcPts val="5"/>
              </a:spcBef>
            </a:pPr>
            <a:r>
              <a:rPr sz="900" spc="-20" dirty="0">
                <a:solidFill>
                  <a:srgbClr val="585858"/>
                </a:solidFill>
                <a:latin typeface="Trebuchet MS"/>
                <a:cs typeface="Trebuchet MS"/>
              </a:rPr>
              <a:t>0</a:t>
            </a:r>
            <a:r>
              <a:rPr sz="900" spc="-145" dirty="0">
                <a:solidFill>
                  <a:srgbClr val="585858"/>
                </a:solidFill>
                <a:latin typeface="Trebuchet MS"/>
                <a:cs typeface="Trebuchet MS"/>
              </a:rPr>
              <a:t>,</a:t>
            </a:r>
            <a:r>
              <a:rPr sz="900" spc="-25" dirty="0">
                <a:solidFill>
                  <a:srgbClr val="585858"/>
                </a:solidFill>
                <a:latin typeface="Trebuchet MS"/>
                <a:cs typeface="Trebuchet MS"/>
              </a:rPr>
              <a:t>9</a:t>
            </a:r>
            <a:endParaRPr sz="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000">
              <a:latin typeface="Trebuchet MS"/>
              <a:cs typeface="Trebuchet MS"/>
            </a:endParaRPr>
          </a:p>
          <a:p>
            <a:pPr marR="5080" algn="r">
              <a:lnSpc>
                <a:spcPct val="100000"/>
              </a:lnSpc>
            </a:pPr>
            <a:r>
              <a:rPr sz="900" spc="-20" dirty="0">
                <a:solidFill>
                  <a:srgbClr val="585858"/>
                </a:solidFill>
                <a:latin typeface="Trebuchet MS"/>
                <a:cs typeface="Trebuchet MS"/>
              </a:rPr>
              <a:t>0</a:t>
            </a:r>
            <a:r>
              <a:rPr sz="900" spc="-145" dirty="0">
                <a:solidFill>
                  <a:srgbClr val="585858"/>
                </a:solidFill>
                <a:latin typeface="Trebuchet MS"/>
                <a:cs typeface="Trebuchet MS"/>
              </a:rPr>
              <a:t>,</a:t>
            </a:r>
            <a:r>
              <a:rPr sz="900" spc="-25" dirty="0">
                <a:solidFill>
                  <a:srgbClr val="585858"/>
                </a:solidFill>
                <a:latin typeface="Trebuchet MS"/>
                <a:cs typeface="Trebuchet MS"/>
              </a:rPr>
              <a:t>8</a:t>
            </a:r>
            <a:endParaRPr sz="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000">
              <a:latin typeface="Trebuchet MS"/>
              <a:cs typeface="Trebuchet MS"/>
            </a:endParaRPr>
          </a:p>
          <a:p>
            <a:pPr marR="5080" algn="r">
              <a:lnSpc>
                <a:spcPct val="100000"/>
              </a:lnSpc>
            </a:pPr>
            <a:r>
              <a:rPr sz="900" spc="-20" dirty="0">
                <a:solidFill>
                  <a:srgbClr val="585858"/>
                </a:solidFill>
                <a:latin typeface="Trebuchet MS"/>
                <a:cs typeface="Trebuchet MS"/>
              </a:rPr>
              <a:t>0</a:t>
            </a:r>
            <a:r>
              <a:rPr sz="900" spc="-145" dirty="0">
                <a:solidFill>
                  <a:srgbClr val="585858"/>
                </a:solidFill>
                <a:latin typeface="Trebuchet MS"/>
                <a:cs typeface="Trebuchet MS"/>
              </a:rPr>
              <a:t>,</a:t>
            </a:r>
            <a:r>
              <a:rPr sz="900" spc="-25" dirty="0">
                <a:solidFill>
                  <a:srgbClr val="585858"/>
                </a:solidFill>
                <a:latin typeface="Trebuchet MS"/>
                <a:cs typeface="Trebuchet MS"/>
              </a:rPr>
              <a:t>7</a:t>
            </a:r>
            <a:endParaRPr sz="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00">
              <a:latin typeface="Trebuchet MS"/>
              <a:cs typeface="Trebuchet MS"/>
            </a:endParaRPr>
          </a:p>
          <a:p>
            <a:pPr marR="5080" algn="r">
              <a:lnSpc>
                <a:spcPct val="100000"/>
              </a:lnSpc>
            </a:pPr>
            <a:r>
              <a:rPr sz="900" spc="-20" dirty="0">
                <a:solidFill>
                  <a:srgbClr val="585858"/>
                </a:solidFill>
                <a:latin typeface="Trebuchet MS"/>
                <a:cs typeface="Trebuchet MS"/>
              </a:rPr>
              <a:t>0</a:t>
            </a:r>
            <a:r>
              <a:rPr sz="900" spc="-145" dirty="0">
                <a:solidFill>
                  <a:srgbClr val="585858"/>
                </a:solidFill>
                <a:latin typeface="Trebuchet MS"/>
                <a:cs typeface="Trebuchet MS"/>
              </a:rPr>
              <a:t>,</a:t>
            </a:r>
            <a:r>
              <a:rPr sz="900" spc="-25" dirty="0">
                <a:solidFill>
                  <a:srgbClr val="585858"/>
                </a:solidFill>
                <a:latin typeface="Trebuchet MS"/>
                <a:cs typeface="Trebuchet MS"/>
              </a:rPr>
              <a:t>6</a:t>
            </a:r>
            <a:endParaRPr sz="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000">
              <a:latin typeface="Trebuchet MS"/>
              <a:cs typeface="Trebuchet MS"/>
            </a:endParaRPr>
          </a:p>
          <a:p>
            <a:pPr marR="5080" algn="r">
              <a:lnSpc>
                <a:spcPct val="100000"/>
              </a:lnSpc>
              <a:spcBef>
                <a:spcPts val="5"/>
              </a:spcBef>
            </a:pPr>
            <a:r>
              <a:rPr sz="900" spc="-20" dirty="0">
                <a:solidFill>
                  <a:srgbClr val="585858"/>
                </a:solidFill>
                <a:latin typeface="Trebuchet MS"/>
                <a:cs typeface="Trebuchet MS"/>
              </a:rPr>
              <a:t>0</a:t>
            </a:r>
            <a:r>
              <a:rPr sz="900" spc="-145" dirty="0">
                <a:solidFill>
                  <a:srgbClr val="585858"/>
                </a:solidFill>
                <a:latin typeface="Trebuchet MS"/>
                <a:cs typeface="Trebuchet MS"/>
              </a:rPr>
              <a:t>,</a:t>
            </a:r>
            <a:r>
              <a:rPr sz="900" spc="-25" dirty="0">
                <a:solidFill>
                  <a:srgbClr val="585858"/>
                </a:solidFill>
                <a:latin typeface="Trebuchet MS"/>
                <a:cs typeface="Trebuchet MS"/>
              </a:rPr>
              <a:t>5</a:t>
            </a:r>
            <a:endParaRPr sz="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000">
              <a:latin typeface="Trebuchet MS"/>
              <a:cs typeface="Trebuchet MS"/>
            </a:endParaRPr>
          </a:p>
          <a:p>
            <a:pPr marR="5080" algn="r">
              <a:lnSpc>
                <a:spcPct val="100000"/>
              </a:lnSpc>
            </a:pPr>
            <a:r>
              <a:rPr sz="900" spc="-20" dirty="0">
                <a:solidFill>
                  <a:srgbClr val="585858"/>
                </a:solidFill>
                <a:latin typeface="Trebuchet MS"/>
                <a:cs typeface="Trebuchet MS"/>
              </a:rPr>
              <a:t>0</a:t>
            </a:r>
            <a:r>
              <a:rPr sz="900" spc="-145" dirty="0">
                <a:solidFill>
                  <a:srgbClr val="585858"/>
                </a:solidFill>
                <a:latin typeface="Trebuchet MS"/>
                <a:cs typeface="Trebuchet MS"/>
              </a:rPr>
              <a:t>,</a:t>
            </a:r>
            <a:r>
              <a:rPr sz="900" spc="-25" dirty="0">
                <a:solidFill>
                  <a:srgbClr val="585858"/>
                </a:solidFill>
                <a:latin typeface="Trebuchet MS"/>
                <a:cs typeface="Trebuchet MS"/>
              </a:rPr>
              <a:t>4</a:t>
            </a:r>
            <a:endParaRPr sz="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00">
              <a:latin typeface="Trebuchet MS"/>
              <a:cs typeface="Trebuchet MS"/>
            </a:endParaRPr>
          </a:p>
          <a:p>
            <a:pPr marR="5080" algn="r">
              <a:lnSpc>
                <a:spcPct val="100000"/>
              </a:lnSpc>
            </a:pPr>
            <a:r>
              <a:rPr sz="900" spc="-20" dirty="0">
                <a:solidFill>
                  <a:srgbClr val="585858"/>
                </a:solidFill>
                <a:latin typeface="Trebuchet MS"/>
                <a:cs typeface="Trebuchet MS"/>
              </a:rPr>
              <a:t>0</a:t>
            </a:r>
            <a:r>
              <a:rPr sz="900" spc="-145" dirty="0">
                <a:solidFill>
                  <a:srgbClr val="585858"/>
                </a:solidFill>
                <a:latin typeface="Trebuchet MS"/>
                <a:cs typeface="Trebuchet MS"/>
              </a:rPr>
              <a:t>,</a:t>
            </a:r>
            <a:r>
              <a:rPr sz="900" spc="-25" dirty="0">
                <a:solidFill>
                  <a:srgbClr val="585858"/>
                </a:solidFill>
                <a:latin typeface="Trebuchet MS"/>
                <a:cs typeface="Trebuchet MS"/>
              </a:rPr>
              <a:t>3</a:t>
            </a:r>
            <a:endParaRPr sz="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000">
              <a:latin typeface="Trebuchet MS"/>
              <a:cs typeface="Trebuchet MS"/>
            </a:endParaRPr>
          </a:p>
          <a:p>
            <a:pPr marR="5080" algn="r">
              <a:lnSpc>
                <a:spcPct val="100000"/>
              </a:lnSpc>
            </a:pPr>
            <a:r>
              <a:rPr sz="900" spc="-20" dirty="0">
                <a:solidFill>
                  <a:srgbClr val="585858"/>
                </a:solidFill>
                <a:latin typeface="Trebuchet MS"/>
                <a:cs typeface="Trebuchet MS"/>
              </a:rPr>
              <a:t>0</a:t>
            </a:r>
            <a:r>
              <a:rPr sz="900" spc="-145" dirty="0">
                <a:solidFill>
                  <a:srgbClr val="585858"/>
                </a:solidFill>
                <a:latin typeface="Trebuchet MS"/>
                <a:cs typeface="Trebuchet MS"/>
              </a:rPr>
              <a:t>,</a:t>
            </a:r>
            <a:r>
              <a:rPr sz="900" spc="-25" dirty="0">
                <a:solidFill>
                  <a:srgbClr val="585858"/>
                </a:solidFill>
                <a:latin typeface="Trebuchet MS"/>
                <a:cs typeface="Trebuchet MS"/>
              </a:rPr>
              <a:t>2</a:t>
            </a:r>
            <a:endParaRPr sz="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000">
              <a:latin typeface="Trebuchet MS"/>
              <a:cs typeface="Trebuchet MS"/>
            </a:endParaRPr>
          </a:p>
          <a:p>
            <a:pPr marR="5080" algn="r">
              <a:lnSpc>
                <a:spcPct val="100000"/>
              </a:lnSpc>
            </a:pPr>
            <a:r>
              <a:rPr sz="900" spc="-20" dirty="0">
                <a:solidFill>
                  <a:srgbClr val="585858"/>
                </a:solidFill>
                <a:latin typeface="Trebuchet MS"/>
                <a:cs typeface="Trebuchet MS"/>
              </a:rPr>
              <a:t>0</a:t>
            </a:r>
            <a:r>
              <a:rPr sz="900" spc="-145" dirty="0">
                <a:solidFill>
                  <a:srgbClr val="585858"/>
                </a:solidFill>
                <a:latin typeface="Trebuchet MS"/>
                <a:cs typeface="Trebuchet MS"/>
              </a:rPr>
              <a:t>,</a:t>
            </a:r>
            <a:r>
              <a:rPr sz="900" spc="-25" dirty="0">
                <a:solidFill>
                  <a:srgbClr val="585858"/>
                </a:solidFill>
                <a:latin typeface="Trebuchet MS"/>
                <a:cs typeface="Trebuchet MS"/>
              </a:rPr>
              <a:t>1</a:t>
            </a:r>
            <a:endParaRPr sz="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00">
              <a:latin typeface="Trebuchet MS"/>
              <a:cs typeface="Trebuchet MS"/>
            </a:endParaRPr>
          </a:p>
          <a:p>
            <a:pPr marR="5080" algn="r">
              <a:lnSpc>
                <a:spcPct val="100000"/>
              </a:lnSpc>
            </a:pPr>
            <a:r>
              <a:rPr sz="900" spc="-25" dirty="0">
                <a:solidFill>
                  <a:srgbClr val="585858"/>
                </a:solidFill>
                <a:latin typeface="Trebuchet MS"/>
                <a:cs typeface="Trebuchet MS"/>
              </a:rPr>
              <a:t>0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30451" y="5597753"/>
            <a:ext cx="825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585858"/>
                </a:solidFill>
                <a:latin typeface="Trebuchet MS"/>
                <a:cs typeface="Trebuchet MS"/>
              </a:rPr>
              <a:t>0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54326" y="5597753"/>
            <a:ext cx="825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585858"/>
                </a:solidFill>
                <a:latin typeface="Trebuchet MS"/>
                <a:cs typeface="Trebuchet MS"/>
              </a:rPr>
              <a:t>2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878582" y="5597753"/>
            <a:ext cx="825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585858"/>
                </a:solidFill>
                <a:latin typeface="Trebuchet MS"/>
                <a:cs typeface="Trebuchet MS"/>
              </a:rPr>
              <a:t>4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402584" y="5597753"/>
            <a:ext cx="825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585858"/>
                </a:solidFill>
                <a:latin typeface="Trebuchet MS"/>
                <a:cs typeface="Trebuchet MS"/>
              </a:rPr>
              <a:t>6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926840" y="5597753"/>
            <a:ext cx="825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585858"/>
                </a:solidFill>
                <a:latin typeface="Trebuchet MS"/>
                <a:cs typeface="Trebuchet MS"/>
              </a:rPr>
              <a:t>8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422140" y="5568834"/>
            <a:ext cx="142240" cy="37528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900" spc="-20" dirty="0">
                <a:solidFill>
                  <a:srgbClr val="585858"/>
                </a:solidFill>
                <a:latin typeface="Trebuchet MS"/>
                <a:cs typeface="Trebuchet MS"/>
              </a:rPr>
              <a:t>10</a:t>
            </a:r>
            <a:endParaRPr sz="900">
              <a:latin typeface="Trebuchet MS"/>
              <a:cs typeface="Trebuchet MS"/>
            </a:endParaRPr>
          </a:p>
          <a:p>
            <a:pPr marL="24130">
              <a:lnSpc>
                <a:spcPct val="100000"/>
              </a:lnSpc>
              <a:spcBef>
                <a:spcPts val="250"/>
              </a:spcBef>
            </a:pPr>
            <a:r>
              <a:rPr sz="1000" spc="145" dirty="0">
                <a:solidFill>
                  <a:srgbClr val="585858"/>
                </a:solidFill>
                <a:latin typeface="Trebuchet MS"/>
                <a:cs typeface="Trebuchet MS"/>
              </a:rPr>
              <a:t>X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946396" y="5597753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585858"/>
                </a:solidFill>
                <a:latin typeface="Trebuchet MS"/>
                <a:cs typeface="Trebuchet MS"/>
              </a:rPr>
              <a:t>12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470397" y="5597753"/>
            <a:ext cx="14224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585858"/>
                </a:solidFill>
                <a:latin typeface="Trebuchet MS"/>
                <a:cs typeface="Trebuchet MS"/>
              </a:rPr>
              <a:t>14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994653" y="5597753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585858"/>
                </a:solidFill>
                <a:latin typeface="Trebuchet MS"/>
                <a:cs typeface="Trebuchet MS"/>
              </a:rPr>
              <a:t>16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518529" y="5597753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585858"/>
                </a:solidFill>
                <a:latin typeface="Trebuchet MS"/>
                <a:cs typeface="Trebuchet MS"/>
              </a:rPr>
              <a:t>18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042784" y="5597753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585858"/>
                </a:solidFill>
                <a:latin typeface="Trebuchet MS"/>
                <a:cs typeface="Trebuchet MS"/>
              </a:rPr>
              <a:t>20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249928" y="2274188"/>
            <a:ext cx="35687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65" dirty="0">
                <a:solidFill>
                  <a:srgbClr val="585858"/>
                </a:solidFill>
                <a:latin typeface="Trebuchet MS"/>
                <a:cs typeface="Trebuchet MS"/>
              </a:rPr>
              <a:t>u</a:t>
            </a:r>
            <a:r>
              <a:rPr sz="1400" spc="55" dirty="0">
                <a:solidFill>
                  <a:srgbClr val="585858"/>
                </a:solidFill>
                <a:latin typeface="Trebuchet MS"/>
                <a:cs typeface="Trebuchet MS"/>
              </a:rPr>
              <a:t>(</a:t>
            </a:r>
            <a:r>
              <a:rPr sz="1400" spc="90" dirty="0">
                <a:solidFill>
                  <a:srgbClr val="585858"/>
                </a:solidFill>
                <a:latin typeface="Trebuchet MS"/>
                <a:cs typeface="Trebuchet MS"/>
              </a:rPr>
              <a:t>X</a:t>
            </a:r>
            <a:r>
              <a:rPr sz="1400" spc="-65" dirty="0">
                <a:solidFill>
                  <a:srgbClr val="585858"/>
                </a:solidFill>
                <a:latin typeface="Trebuchet MS"/>
                <a:cs typeface="Trebuchet MS"/>
              </a:rPr>
              <a:t>)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8055" y="600455"/>
            <a:ext cx="8239125" cy="125920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600" dirty="0">
              <a:latin typeface="Times New Roman"/>
              <a:cs typeface="Times New Roman"/>
            </a:endParaRPr>
          </a:p>
          <a:p>
            <a:pPr marL="161925">
              <a:lnSpc>
                <a:spcPct val="100000"/>
              </a:lnSpc>
              <a:spcBef>
                <a:spcPts val="5"/>
              </a:spcBef>
            </a:pPr>
            <a:r>
              <a:rPr sz="1800" spc="55" dirty="0">
                <a:solidFill>
                  <a:srgbClr val="FFFFFF"/>
                </a:solidFill>
                <a:latin typeface="Trebuchet MS"/>
                <a:cs typeface="Trebuchet MS"/>
              </a:rPr>
              <a:t>PARTIENDO</a:t>
            </a:r>
            <a:r>
              <a:rPr sz="1800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9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165" dirty="0">
                <a:solidFill>
                  <a:srgbClr val="FFFFFF"/>
                </a:solidFill>
                <a:latin typeface="Trebuchet MS"/>
                <a:cs typeface="Trebuchet MS"/>
              </a:rPr>
              <a:t>UNA</a:t>
            </a:r>
            <a:r>
              <a:rPr sz="18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130" dirty="0">
                <a:solidFill>
                  <a:srgbClr val="FFFFFF"/>
                </a:solidFill>
                <a:latin typeface="Trebuchet MS"/>
                <a:cs typeface="Trebuchet MS"/>
              </a:rPr>
              <a:t>FUNCIÓN</a:t>
            </a:r>
            <a:r>
              <a:rPr sz="18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9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70" dirty="0">
                <a:solidFill>
                  <a:srgbClr val="FFFFFF"/>
                </a:solidFill>
                <a:latin typeface="Trebuchet MS"/>
                <a:cs typeface="Trebuchet MS"/>
              </a:rPr>
              <a:t>UTILIDAD</a:t>
            </a:r>
            <a:r>
              <a:rPr sz="1800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20" dirty="0">
                <a:solidFill>
                  <a:srgbClr val="FFFFFF"/>
                </a:solidFill>
                <a:latin typeface="Trebuchet MS"/>
                <a:cs typeface="Trebuchet MS"/>
              </a:rPr>
              <a:t>PROTOTIPO</a:t>
            </a:r>
            <a:r>
              <a:rPr sz="1800" spc="-2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60" dirty="0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r>
              <a:rPr sz="18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100" dirty="0">
                <a:solidFill>
                  <a:srgbClr val="FFFFFF"/>
                </a:solidFill>
                <a:latin typeface="Trebuchet MS"/>
                <a:cs typeface="Trebuchet MS"/>
              </a:rPr>
              <a:t>ESTIMANDO</a:t>
            </a:r>
            <a:r>
              <a:rPr sz="1800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Trebuchet MS"/>
                <a:cs typeface="Trebuchet MS"/>
              </a:rPr>
              <a:t>SUS</a:t>
            </a:r>
            <a:endParaRPr sz="1800" dirty="0">
              <a:latin typeface="Trebuchet MS"/>
              <a:cs typeface="Trebuchet MS"/>
            </a:endParaRPr>
          </a:p>
          <a:p>
            <a:pPr marL="161925">
              <a:lnSpc>
                <a:spcPct val="100000"/>
              </a:lnSpc>
            </a:pPr>
            <a:r>
              <a:rPr sz="1800" spc="30" dirty="0">
                <a:solidFill>
                  <a:srgbClr val="FFFFFF"/>
                </a:solidFill>
                <a:latin typeface="Trebuchet MS"/>
                <a:cs typeface="Trebuchet MS"/>
              </a:rPr>
              <a:t>PARÁMETROS</a:t>
            </a: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229" dirty="0">
                <a:solidFill>
                  <a:srgbClr val="FFFFFF"/>
                </a:solidFill>
                <a:latin typeface="Trebuchet MS"/>
                <a:cs typeface="Trebuchet MS"/>
              </a:rPr>
              <a:t>CON</a:t>
            </a:r>
            <a:r>
              <a:rPr sz="18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10" dirty="0">
                <a:solidFill>
                  <a:srgbClr val="FFFFFF"/>
                </a:solidFill>
                <a:latin typeface="Trebuchet MS"/>
                <a:cs typeface="Trebuchet MS"/>
              </a:rPr>
              <a:t>BASE</a:t>
            </a:r>
            <a:r>
              <a:rPr sz="18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95" dirty="0">
                <a:solidFill>
                  <a:srgbClr val="FFFFFF"/>
                </a:solidFill>
                <a:latin typeface="Trebuchet MS"/>
                <a:cs typeface="Trebuchet MS"/>
              </a:rPr>
              <a:t>EN</a:t>
            </a:r>
            <a:r>
              <a:rPr sz="18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114" dirty="0">
                <a:solidFill>
                  <a:srgbClr val="FFFFFF"/>
                </a:solidFill>
                <a:latin typeface="Trebuchet MS"/>
                <a:cs typeface="Trebuchet MS"/>
              </a:rPr>
              <a:t>INFORMACIÓN</a:t>
            </a: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9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8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80" dirty="0">
                <a:solidFill>
                  <a:srgbClr val="FFFFFF"/>
                </a:solidFill>
                <a:latin typeface="Trebuchet MS"/>
                <a:cs typeface="Trebuchet MS"/>
              </a:rPr>
              <a:t>DECISOR</a:t>
            </a:r>
            <a:endParaRPr sz="1800" dirty="0">
              <a:latin typeface="Trebuchet MS"/>
              <a:cs typeface="Trebuchet MS"/>
            </a:endParaRPr>
          </a:p>
          <a:p>
            <a:pPr marL="161925">
              <a:lnSpc>
                <a:spcPct val="100000"/>
              </a:lnSpc>
            </a:pPr>
            <a:r>
              <a:rPr sz="1800" spc="30" dirty="0">
                <a:solidFill>
                  <a:srgbClr val="FFFFFF"/>
                </a:solidFill>
                <a:latin typeface="Trebuchet MS"/>
                <a:cs typeface="Trebuchet MS"/>
              </a:rPr>
              <a:t>MÉ</a:t>
            </a:r>
            <a:r>
              <a:rPr sz="1800" spc="-80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1800" spc="254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800" spc="245" dirty="0">
                <a:solidFill>
                  <a:srgbClr val="FFFFFF"/>
                </a:solidFill>
                <a:latin typeface="Trebuchet MS"/>
                <a:cs typeface="Trebuchet MS"/>
              </a:rPr>
              <a:t>D</a:t>
            </a:r>
            <a:r>
              <a:rPr sz="1800" spc="265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8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65" dirty="0">
                <a:solidFill>
                  <a:srgbClr val="FFFFFF"/>
                </a:solidFill>
                <a:latin typeface="Trebuchet MS"/>
                <a:cs typeface="Trebuchet MS"/>
              </a:rPr>
              <a:t>MARS</a:t>
            </a:r>
            <a:r>
              <a:rPr sz="1800" spc="50" dirty="0">
                <a:solidFill>
                  <a:srgbClr val="FFFFFF"/>
                </a:solidFill>
                <a:latin typeface="Trebuchet MS"/>
                <a:cs typeface="Trebuchet MS"/>
              </a:rPr>
              <a:t>HALL</a:t>
            </a:r>
            <a:r>
              <a:rPr sz="1800" spc="-3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60" dirty="0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254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800" spc="-30" dirty="0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sz="1800" spc="-55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VE</a:t>
            </a:r>
            <a:r>
              <a:rPr sz="1800" spc="5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800" spc="-270" dirty="0">
                <a:solidFill>
                  <a:srgbClr val="FFFFFF"/>
                </a:solidFill>
                <a:latin typeface="Trebuchet MS"/>
                <a:cs typeface="Trebuchet MS"/>
              </a:rPr>
              <a:t>,</a:t>
            </a:r>
            <a:r>
              <a:rPr sz="1800" spc="-2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1995</a:t>
            </a:r>
            <a:r>
              <a:rPr sz="18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235" dirty="0">
                <a:solidFill>
                  <a:srgbClr val="FFFFFF"/>
                </a:solidFill>
                <a:latin typeface="Trebuchet MS"/>
                <a:cs typeface="Trebuchet MS"/>
              </a:rPr>
              <a:t>–</a:t>
            </a:r>
            <a:r>
              <a:rPr sz="1800" spc="-3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VER</a:t>
            </a: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245" dirty="0">
                <a:solidFill>
                  <a:srgbClr val="FFFFFF"/>
                </a:solidFill>
                <a:latin typeface="Trebuchet MS"/>
                <a:cs typeface="Trebuchet MS"/>
              </a:rPr>
              <a:t>D</a:t>
            </a:r>
            <a:r>
              <a:rPr sz="1800" spc="254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800" spc="135" dirty="0">
                <a:solidFill>
                  <a:srgbClr val="FFFFFF"/>
                </a:solidFill>
                <a:latin typeface="Trebuchet MS"/>
                <a:cs typeface="Trebuchet MS"/>
              </a:rPr>
              <a:t>CU</a:t>
            </a:r>
            <a:r>
              <a:rPr sz="1800" spc="15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800" spc="-270" dirty="0">
                <a:solidFill>
                  <a:srgbClr val="FFFFFF"/>
                </a:solidFill>
                <a:latin typeface="Trebuchet MS"/>
                <a:cs typeface="Trebuchet MS"/>
              </a:rPr>
              <a:t>.</a:t>
            </a:r>
            <a:r>
              <a:rPr sz="1800" spc="-2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15" dirty="0">
                <a:solidFill>
                  <a:srgbClr val="FFFFFF"/>
                </a:solidFill>
                <a:latin typeface="Trebuchet MS"/>
                <a:cs typeface="Trebuchet MS"/>
              </a:rPr>
              <a:t>PDF</a:t>
            </a:r>
            <a:r>
              <a:rPr sz="18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FFFFFF"/>
                </a:solidFill>
                <a:latin typeface="Trebuchet MS"/>
                <a:cs typeface="Trebuchet MS"/>
              </a:rPr>
              <a:t>P</a:t>
            </a:r>
            <a:r>
              <a:rPr sz="1800" spc="-15" dirty="0">
                <a:solidFill>
                  <a:srgbClr val="FFFFFF"/>
                </a:solidFill>
                <a:latin typeface="Trebuchet MS"/>
                <a:cs typeface="Trebuchet MS"/>
              </a:rPr>
              <a:t>ÁGS.</a:t>
            </a:r>
            <a:r>
              <a:rPr sz="1800" spc="-2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242</a:t>
            </a:r>
            <a:r>
              <a:rPr sz="1800" spc="1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60" dirty="0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 243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227320" y="2596769"/>
            <a:ext cx="170815" cy="20320"/>
          </a:xfrm>
          <a:custGeom>
            <a:avLst/>
            <a:gdLst/>
            <a:ahLst/>
            <a:cxnLst/>
            <a:rect l="l" t="t" r="r" b="b"/>
            <a:pathLst>
              <a:path w="170814" h="20319">
                <a:moveTo>
                  <a:pt x="170687" y="0"/>
                </a:moveTo>
                <a:lnTo>
                  <a:pt x="0" y="0"/>
                </a:lnTo>
                <a:lnTo>
                  <a:pt x="0" y="19812"/>
                </a:lnTo>
                <a:lnTo>
                  <a:pt x="170687" y="19812"/>
                </a:lnTo>
                <a:lnTo>
                  <a:pt x="170687" y="0"/>
                </a:lnTo>
                <a:close/>
              </a:path>
            </a:pathLst>
          </a:custGeom>
          <a:solidFill>
            <a:srgbClr val="3C3C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311528" y="3686302"/>
            <a:ext cx="370205" cy="282575"/>
          </a:xfrm>
          <a:custGeom>
            <a:avLst/>
            <a:gdLst/>
            <a:ahLst/>
            <a:cxnLst/>
            <a:rect l="l" t="t" r="r" b="b"/>
            <a:pathLst>
              <a:path w="370205" h="282575">
                <a:moveTo>
                  <a:pt x="280034" y="0"/>
                </a:moveTo>
                <a:lnTo>
                  <a:pt x="276098" y="11430"/>
                </a:lnTo>
                <a:lnTo>
                  <a:pt x="292405" y="18522"/>
                </a:lnTo>
                <a:lnTo>
                  <a:pt x="306450" y="28352"/>
                </a:lnTo>
                <a:lnTo>
                  <a:pt x="334974" y="73852"/>
                </a:lnTo>
                <a:lnTo>
                  <a:pt x="343269" y="115623"/>
                </a:lnTo>
                <a:lnTo>
                  <a:pt x="344297" y="139700"/>
                </a:lnTo>
                <a:lnTo>
                  <a:pt x="343251" y="164633"/>
                </a:lnTo>
                <a:lnTo>
                  <a:pt x="334920" y="207547"/>
                </a:lnTo>
                <a:lnTo>
                  <a:pt x="306498" y="253793"/>
                </a:lnTo>
                <a:lnTo>
                  <a:pt x="276479" y="270891"/>
                </a:lnTo>
                <a:lnTo>
                  <a:pt x="280034" y="282321"/>
                </a:lnTo>
                <a:lnTo>
                  <a:pt x="318531" y="264239"/>
                </a:lnTo>
                <a:lnTo>
                  <a:pt x="346837" y="232918"/>
                </a:lnTo>
                <a:lnTo>
                  <a:pt x="364267" y="191119"/>
                </a:lnTo>
                <a:lnTo>
                  <a:pt x="370078" y="141224"/>
                </a:lnTo>
                <a:lnTo>
                  <a:pt x="368625" y="115339"/>
                </a:lnTo>
                <a:lnTo>
                  <a:pt x="357004" y="69429"/>
                </a:lnTo>
                <a:lnTo>
                  <a:pt x="333881" y="32093"/>
                </a:lnTo>
                <a:lnTo>
                  <a:pt x="300491" y="7379"/>
                </a:lnTo>
                <a:lnTo>
                  <a:pt x="280034" y="0"/>
                </a:lnTo>
                <a:close/>
              </a:path>
              <a:path w="370205" h="282575">
                <a:moveTo>
                  <a:pt x="90043" y="0"/>
                </a:moveTo>
                <a:lnTo>
                  <a:pt x="51641" y="18081"/>
                </a:lnTo>
                <a:lnTo>
                  <a:pt x="23240" y="49403"/>
                </a:lnTo>
                <a:lnTo>
                  <a:pt x="5810" y="91408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31" y="263717"/>
                </a:lnTo>
                <a:lnTo>
                  <a:pt x="63642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781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754" y="28352"/>
                </a:lnTo>
                <a:lnTo>
                  <a:pt x="94107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3C3C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359406" y="3390900"/>
            <a:ext cx="1915160" cy="520700"/>
          </a:xfrm>
          <a:custGeom>
            <a:avLst/>
            <a:gdLst/>
            <a:ahLst/>
            <a:cxnLst/>
            <a:rect l="l" t="t" r="r" b="b"/>
            <a:pathLst>
              <a:path w="1915160" h="520700">
                <a:moveTo>
                  <a:pt x="113411" y="29845"/>
                </a:moveTo>
                <a:lnTo>
                  <a:pt x="63919" y="53809"/>
                </a:lnTo>
                <a:lnTo>
                  <a:pt x="29464" y="110744"/>
                </a:lnTo>
                <a:lnTo>
                  <a:pt x="7340" y="184175"/>
                </a:lnTo>
                <a:lnTo>
                  <a:pt x="1828" y="225209"/>
                </a:lnTo>
                <a:lnTo>
                  <a:pt x="0" y="269113"/>
                </a:lnTo>
                <a:lnTo>
                  <a:pt x="1828" y="312864"/>
                </a:lnTo>
                <a:lnTo>
                  <a:pt x="7340" y="353822"/>
                </a:lnTo>
                <a:lnTo>
                  <a:pt x="16548" y="392023"/>
                </a:lnTo>
                <a:lnTo>
                  <a:pt x="45415" y="458876"/>
                </a:lnTo>
                <a:lnTo>
                  <a:pt x="84988" y="505460"/>
                </a:lnTo>
                <a:lnTo>
                  <a:pt x="108585" y="520700"/>
                </a:lnTo>
                <a:lnTo>
                  <a:pt x="113411" y="508762"/>
                </a:lnTo>
                <a:lnTo>
                  <a:pt x="94500" y="493483"/>
                </a:lnTo>
                <a:lnTo>
                  <a:pt x="77787" y="473544"/>
                </a:lnTo>
                <a:lnTo>
                  <a:pt x="50927" y="419735"/>
                </a:lnTo>
                <a:lnTo>
                  <a:pt x="34061" y="350621"/>
                </a:lnTo>
                <a:lnTo>
                  <a:pt x="29845" y="311543"/>
                </a:lnTo>
                <a:lnTo>
                  <a:pt x="28448" y="269494"/>
                </a:lnTo>
                <a:lnTo>
                  <a:pt x="29870" y="226682"/>
                </a:lnTo>
                <a:lnTo>
                  <a:pt x="34137" y="187185"/>
                </a:lnTo>
                <a:lnTo>
                  <a:pt x="51181" y="118110"/>
                </a:lnTo>
                <a:lnTo>
                  <a:pt x="78054" y="64884"/>
                </a:lnTo>
                <a:lnTo>
                  <a:pt x="94665" y="45085"/>
                </a:lnTo>
                <a:lnTo>
                  <a:pt x="113411" y="29845"/>
                </a:lnTo>
                <a:close/>
              </a:path>
              <a:path w="1915160" h="520700">
                <a:moveTo>
                  <a:pt x="1224280" y="7239"/>
                </a:moveTo>
                <a:lnTo>
                  <a:pt x="1188618" y="32385"/>
                </a:lnTo>
                <a:lnTo>
                  <a:pt x="1163193" y="80391"/>
                </a:lnTo>
                <a:lnTo>
                  <a:pt x="1145692" y="143103"/>
                </a:lnTo>
                <a:lnTo>
                  <a:pt x="1139825" y="219837"/>
                </a:lnTo>
                <a:lnTo>
                  <a:pt x="1141285" y="259867"/>
                </a:lnTo>
                <a:lnTo>
                  <a:pt x="1152994" y="329641"/>
                </a:lnTo>
                <a:lnTo>
                  <a:pt x="1175397" y="385229"/>
                </a:lnTo>
                <a:lnTo>
                  <a:pt x="1202829" y="425335"/>
                </a:lnTo>
                <a:lnTo>
                  <a:pt x="1218057" y="439547"/>
                </a:lnTo>
                <a:lnTo>
                  <a:pt x="1224280" y="432308"/>
                </a:lnTo>
                <a:lnTo>
                  <a:pt x="1211148" y="417868"/>
                </a:lnTo>
                <a:lnTo>
                  <a:pt x="1199222" y="399846"/>
                </a:lnTo>
                <a:lnTo>
                  <a:pt x="1178941" y="353187"/>
                </a:lnTo>
                <a:lnTo>
                  <a:pt x="1165390" y="292989"/>
                </a:lnTo>
                <a:lnTo>
                  <a:pt x="1160907" y="219710"/>
                </a:lnTo>
                <a:lnTo>
                  <a:pt x="1162024" y="181571"/>
                </a:lnTo>
                <a:lnTo>
                  <a:pt x="1171028" y="114846"/>
                </a:lnTo>
                <a:lnTo>
                  <a:pt x="1188478" y="61290"/>
                </a:lnTo>
                <a:lnTo>
                  <a:pt x="1211148" y="21755"/>
                </a:lnTo>
                <a:lnTo>
                  <a:pt x="1224280" y="7239"/>
                </a:lnTo>
                <a:close/>
              </a:path>
              <a:path w="1915160" h="520700">
                <a:moveTo>
                  <a:pt x="1668526" y="213245"/>
                </a:moveTo>
                <a:lnTo>
                  <a:pt x="1231138" y="213245"/>
                </a:lnTo>
                <a:lnTo>
                  <a:pt x="1231138" y="226949"/>
                </a:lnTo>
                <a:lnTo>
                  <a:pt x="1668526" y="226949"/>
                </a:lnTo>
                <a:lnTo>
                  <a:pt x="1668526" y="213245"/>
                </a:lnTo>
                <a:close/>
              </a:path>
              <a:path w="1915160" h="520700">
                <a:moveTo>
                  <a:pt x="1668526" y="170561"/>
                </a:moveTo>
                <a:lnTo>
                  <a:pt x="1531366" y="170561"/>
                </a:lnTo>
                <a:lnTo>
                  <a:pt x="1531366" y="184277"/>
                </a:lnTo>
                <a:lnTo>
                  <a:pt x="1668526" y="184277"/>
                </a:lnTo>
                <a:lnTo>
                  <a:pt x="1668526" y="170561"/>
                </a:lnTo>
                <a:close/>
              </a:path>
              <a:path w="1915160" h="520700">
                <a:moveTo>
                  <a:pt x="1759966" y="219710"/>
                </a:moveTo>
                <a:lnTo>
                  <a:pt x="1758505" y="179654"/>
                </a:lnTo>
                <a:lnTo>
                  <a:pt x="1746834" y="110020"/>
                </a:lnTo>
                <a:lnTo>
                  <a:pt x="1724444" y="54444"/>
                </a:lnTo>
                <a:lnTo>
                  <a:pt x="1697062" y="14249"/>
                </a:lnTo>
                <a:lnTo>
                  <a:pt x="1681861" y="0"/>
                </a:lnTo>
                <a:lnTo>
                  <a:pt x="1675638" y="7239"/>
                </a:lnTo>
                <a:lnTo>
                  <a:pt x="1688757" y="21755"/>
                </a:lnTo>
                <a:lnTo>
                  <a:pt x="1700682" y="39751"/>
                </a:lnTo>
                <a:lnTo>
                  <a:pt x="1720977" y="86360"/>
                </a:lnTo>
                <a:lnTo>
                  <a:pt x="1734400" y="146583"/>
                </a:lnTo>
                <a:lnTo>
                  <a:pt x="1738884" y="219837"/>
                </a:lnTo>
                <a:lnTo>
                  <a:pt x="1737753" y="258038"/>
                </a:lnTo>
                <a:lnTo>
                  <a:pt x="1728800" y="324713"/>
                </a:lnTo>
                <a:lnTo>
                  <a:pt x="1711426" y="378294"/>
                </a:lnTo>
                <a:lnTo>
                  <a:pt x="1688757" y="417868"/>
                </a:lnTo>
                <a:lnTo>
                  <a:pt x="1675638" y="432308"/>
                </a:lnTo>
                <a:lnTo>
                  <a:pt x="1681861" y="439547"/>
                </a:lnTo>
                <a:lnTo>
                  <a:pt x="1711274" y="407225"/>
                </a:lnTo>
                <a:lnTo>
                  <a:pt x="1736598" y="359283"/>
                </a:lnTo>
                <a:lnTo>
                  <a:pt x="1754136" y="296506"/>
                </a:lnTo>
                <a:lnTo>
                  <a:pt x="1758505" y="259867"/>
                </a:lnTo>
                <a:lnTo>
                  <a:pt x="1759966" y="219710"/>
                </a:lnTo>
                <a:close/>
              </a:path>
              <a:path w="1915160" h="520700">
                <a:moveTo>
                  <a:pt x="1915160" y="269113"/>
                </a:moveTo>
                <a:lnTo>
                  <a:pt x="1913318" y="225209"/>
                </a:lnTo>
                <a:lnTo>
                  <a:pt x="1907819" y="184175"/>
                </a:lnTo>
                <a:lnTo>
                  <a:pt x="1898650" y="146011"/>
                </a:lnTo>
                <a:lnTo>
                  <a:pt x="1869859" y="79654"/>
                </a:lnTo>
                <a:lnTo>
                  <a:pt x="1830235" y="33223"/>
                </a:lnTo>
                <a:lnTo>
                  <a:pt x="1806575" y="17907"/>
                </a:lnTo>
                <a:lnTo>
                  <a:pt x="1801749" y="29845"/>
                </a:lnTo>
                <a:lnTo>
                  <a:pt x="1820506" y="45085"/>
                </a:lnTo>
                <a:lnTo>
                  <a:pt x="1837156" y="64884"/>
                </a:lnTo>
                <a:lnTo>
                  <a:pt x="1864106" y="118110"/>
                </a:lnTo>
                <a:lnTo>
                  <a:pt x="1881073" y="187185"/>
                </a:lnTo>
                <a:lnTo>
                  <a:pt x="1885302" y="226682"/>
                </a:lnTo>
                <a:lnTo>
                  <a:pt x="1886712" y="269494"/>
                </a:lnTo>
                <a:lnTo>
                  <a:pt x="1885302" y="311543"/>
                </a:lnTo>
                <a:lnTo>
                  <a:pt x="1881085" y="350621"/>
                </a:lnTo>
                <a:lnTo>
                  <a:pt x="1864233" y="419735"/>
                </a:lnTo>
                <a:lnTo>
                  <a:pt x="1837372" y="473544"/>
                </a:lnTo>
                <a:lnTo>
                  <a:pt x="1801749" y="508762"/>
                </a:lnTo>
                <a:lnTo>
                  <a:pt x="1806575" y="520700"/>
                </a:lnTo>
                <a:lnTo>
                  <a:pt x="1851342" y="484860"/>
                </a:lnTo>
                <a:lnTo>
                  <a:pt x="1885823" y="427482"/>
                </a:lnTo>
                <a:lnTo>
                  <a:pt x="1907819" y="353822"/>
                </a:lnTo>
                <a:lnTo>
                  <a:pt x="1913318" y="312864"/>
                </a:lnTo>
                <a:lnTo>
                  <a:pt x="1915160" y="269113"/>
                </a:lnTo>
                <a:close/>
              </a:path>
            </a:pathLst>
          </a:custGeom>
          <a:solidFill>
            <a:srgbClr val="3C3C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35940" y="2132203"/>
            <a:ext cx="7887334" cy="144780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>
              <a:lnSpc>
                <a:spcPct val="102499"/>
              </a:lnSpc>
              <a:spcBef>
                <a:spcPts val="25"/>
              </a:spcBef>
            </a:pPr>
            <a:r>
              <a:rPr sz="2400" u="heavy" spc="-55" dirty="0">
                <a:solidFill>
                  <a:srgbClr val="3C3C3C"/>
                </a:solidFill>
                <a:uFill>
                  <a:solidFill>
                    <a:srgbClr val="3C3C3C"/>
                  </a:solidFill>
                </a:uFill>
                <a:latin typeface="Trebuchet MS"/>
                <a:cs typeface="Trebuchet MS"/>
              </a:rPr>
              <a:t>Tipo </a:t>
            </a:r>
            <a:r>
              <a:rPr sz="2400" u="heavy" spc="-130" dirty="0">
                <a:solidFill>
                  <a:srgbClr val="3C3C3C"/>
                </a:solidFill>
                <a:uFill>
                  <a:solidFill>
                    <a:srgbClr val="3C3C3C"/>
                  </a:solidFill>
                </a:uFill>
                <a:latin typeface="Trebuchet MS"/>
                <a:cs typeface="Trebuchet MS"/>
              </a:rPr>
              <a:t>Exponencial</a:t>
            </a:r>
            <a:r>
              <a:rPr sz="2400" b="1" spc="-130" dirty="0">
                <a:solidFill>
                  <a:srgbClr val="3C3C3C"/>
                </a:solidFill>
                <a:latin typeface="Trebuchet MS"/>
                <a:cs typeface="Trebuchet MS"/>
              </a:rPr>
              <a:t>:</a:t>
            </a:r>
            <a:r>
              <a:rPr sz="2400" b="1" spc="-30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400" spc="-105" dirty="0">
                <a:solidFill>
                  <a:srgbClr val="3C3C3C"/>
                </a:solidFill>
                <a:latin typeface="Trebuchet MS"/>
                <a:cs typeface="Trebuchet MS"/>
              </a:rPr>
              <a:t>se</a:t>
            </a:r>
            <a:r>
              <a:rPr sz="24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400" spc="-130" dirty="0">
                <a:solidFill>
                  <a:srgbClr val="3C3C3C"/>
                </a:solidFill>
                <a:latin typeface="Trebuchet MS"/>
                <a:cs typeface="Trebuchet MS"/>
              </a:rPr>
              <a:t>quiere</a:t>
            </a:r>
            <a:r>
              <a:rPr sz="2400" spc="-5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400" spc="-75" dirty="0">
                <a:solidFill>
                  <a:srgbClr val="3C3C3C"/>
                </a:solidFill>
                <a:latin typeface="Trebuchet MS"/>
                <a:cs typeface="Trebuchet MS"/>
              </a:rPr>
              <a:t>construir</a:t>
            </a:r>
            <a:r>
              <a:rPr sz="2400" spc="-6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400" spc="-155" dirty="0">
                <a:solidFill>
                  <a:srgbClr val="3C3C3C"/>
                </a:solidFill>
                <a:latin typeface="Trebuchet MS"/>
                <a:cs typeface="Trebuchet MS"/>
              </a:rPr>
              <a:t>una</a:t>
            </a:r>
            <a:r>
              <a:rPr sz="24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400" spc="-130" dirty="0">
                <a:solidFill>
                  <a:srgbClr val="3C3C3C"/>
                </a:solidFill>
                <a:latin typeface="Trebuchet MS"/>
                <a:cs typeface="Trebuchet MS"/>
              </a:rPr>
              <a:t>función</a:t>
            </a:r>
            <a:r>
              <a:rPr sz="2400" spc="-6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400" spc="-140" dirty="0">
                <a:solidFill>
                  <a:srgbClr val="3C3C3C"/>
                </a:solidFill>
                <a:latin typeface="Trebuchet MS"/>
                <a:cs typeface="Trebuchet MS"/>
              </a:rPr>
              <a:t>de</a:t>
            </a:r>
            <a:r>
              <a:rPr sz="24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400" spc="-155" dirty="0">
                <a:solidFill>
                  <a:srgbClr val="3C3C3C"/>
                </a:solidFill>
                <a:latin typeface="Trebuchet MS"/>
                <a:cs typeface="Trebuchet MS"/>
              </a:rPr>
              <a:t>utilidad</a:t>
            </a:r>
            <a:r>
              <a:rPr sz="2400" spc="-6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400" spc="-140" dirty="0">
                <a:solidFill>
                  <a:srgbClr val="3C3C3C"/>
                </a:solidFill>
                <a:latin typeface="Trebuchet MS"/>
                <a:cs typeface="Trebuchet MS"/>
              </a:rPr>
              <a:t>en </a:t>
            </a:r>
            <a:r>
              <a:rPr sz="2400" spc="-7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400" spc="-175" dirty="0">
                <a:solidFill>
                  <a:srgbClr val="3C3C3C"/>
                </a:solidFill>
                <a:latin typeface="Trebuchet MS"/>
                <a:cs typeface="Trebuchet MS"/>
              </a:rPr>
              <a:t>el</a:t>
            </a:r>
            <a:r>
              <a:rPr sz="2400" spc="-6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400" spc="-114" dirty="0">
                <a:solidFill>
                  <a:srgbClr val="3C3C3C"/>
                </a:solidFill>
                <a:latin typeface="Trebuchet MS"/>
                <a:cs typeface="Trebuchet MS"/>
              </a:rPr>
              <a:t>conjunto</a:t>
            </a:r>
            <a:r>
              <a:rPr sz="2400" spc="-6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400" spc="-140" dirty="0">
                <a:solidFill>
                  <a:srgbClr val="3C3C3C"/>
                </a:solidFill>
                <a:latin typeface="Trebuchet MS"/>
                <a:cs typeface="Trebuchet MS"/>
              </a:rPr>
              <a:t>de</a:t>
            </a:r>
            <a:r>
              <a:rPr sz="2400" spc="-6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400" spc="-120" dirty="0">
                <a:solidFill>
                  <a:srgbClr val="3C3C3C"/>
                </a:solidFill>
                <a:latin typeface="Trebuchet MS"/>
                <a:cs typeface="Trebuchet MS"/>
              </a:rPr>
              <a:t>consecuencias</a:t>
            </a:r>
            <a:r>
              <a:rPr sz="2400" spc="-7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3C3C3C"/>
                </a:solidFill>
                <a:latin typeface="Cambria Math"/>
                <a:cs typeface="Cambria Math"/>
              </a:rPr>
              <a:t>𝐶</a:t>
            </a:r>
            <a:r>
              <a:rPr sz="2400" spc="245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3C3C3C"/>
                </a:solidFill>
                <a:latin typeface="Cambria Math"/>
                <a:cs typeface="Cambria Math"/>
              </a:rPr>
              <a:t>=</a:t>
            </a:r>
            <a:r>
              <a:rPr sz="2400" spc="140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2400" spc="20" dirty="0">
                <a:solidFill>
                  <a:srgbClr val="3C3C3C"/>
                </a:solidFill>
                <a:latin typeface="Cambria Math"/>
                <a:cs typeface="Cambria Math"/>
              </a:rPr>
              <a:t>[</a:t>
            </a:r>
            <a:r>
              <a:rPr sz="2400" u="heavy" spc="20" dirty="0">
                <a:solidFill>
                  <a:srgbClr val="3C3C3C"/>
                </a:solidFill>
                <a:uFill>
                  <a:solidFill>
                    <a:srgbClr val="3C3C3C"/>
                  </a:solidFill>
                </a:uFill>
                <a:latin typeface="Cambria Math"/>
                <a:cs typeface="Cambria Math"/>
              </a:rPr>
              <a:t>𝑥</a:t>
            </a:r>
            <a:r>
              <a:rPr sz="2400" spc="20" dirty="0">
                <a:solidFill>
                  <a:srgbClr val="3C3C3C"/>
                </a:solidFill>
                <a:latin typeface="Cambria Math"/>
                <a:cs typeface="Cambria Math"/>
              </a:rPr>
              <a:t>,</a:t>
            </a:r>
            <a:r>
              <a:rPr sz="2400" spc="-135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3C3C3C"/>
                </a:solidFill>
                <a:latin typeface="Cambria Math"/>
                <a:cs typeface="Cambria Math"/>
              </a:rPr>
              <a:t>𝑥</a:t>
            </a:r>
            <a:r>
              <a:rPr sz="2400" spc="65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2400" spc="-180" dirty="0">
                <a:solidFill>
                  <a:srgbClr val="3C3C3C"/>
                </a:solidFill>
                <a:latin typeface="Cambria Math"/>
                <a:cs typeface="Cambria Math"/>
              </a:rPr>
              <a:t>]</a:t>
            </a:r>
            <a:r>
              <a:rPr sz="2400" spc="-180" dirty="0">
                <a:solidFill>
                  <a:srgbClr val="3C3C3C"/>
                </a:solidFill>
                <a:latin typeface="Trebuchet MS"/>
                <a:cs typeface="Trebuchet MS"/>
              </a:rPr>
              <a:t>,</a:t>
            </a:r>
            <a:r>
              <a:rPr sz="2400" spc="-29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400" spc="-140" dirty="0">
                <a:solidFill>
                  <a:srgbClr val="3C3C3C"/>
                </a:solidFill>
                <a:latin typeface="Trebuchet MS"/>
                <a:cs typeface="Trebuchet MS"/>
              </a:rPr>
              <a:t>utilizando</a:t>
            </a:r>
            <a:r>
              <a:rPr sz="2400" spc="-6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400" spc="-215" dirty="0">
                <a:solidFill>
                  <a:srgbClr val="3C3C3C"/>
                </a:solidFill>
                <a:latin typeface="Trebuchet MS"/>
                <a:cs typeface="Trebuchet MS"/>
              </a:rPr>
              <a:t>la</a:t>
            </a:r>
            <a:r>
              <a:rPr sz="2400" spc="-7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400" spc="-130" dirty="0">
                <a:solidFill>
                  <a:srgbClr val="3C3C3C"/>
                </a:solidFill>
                <a:latin typeface="Trebuchet MS"/>
                <a:cs typeface="Trebuchet MS"/>
              </a:rPr>
              <a:t>función </a:t>
            </a:r>
            <a:r>
              <a:rPr sz="2400" spc="-1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400" spc="-105" dirty="0">
                <a:solidFill>
                  <a:srgbClr val="3C3C3C"/>
                </a:solidFill>
                <a:latin typeface="Trebuchet MS"/>
                <a:cs typeface="Trebuchet MS"/>
              </a:rPr>
              <a:t>prototipo:</a:t>
            </a:r>
            <a:endParaRPr sz="2400" dirty="0">
              <a:latin typeface="Trebuchet MS"/>
              <a:cs typeface="Trebuchet MS"/>
            </a:endParaRPr>
          </a:p>
          <a:p>
            <a:pPr marR="1336675" algn="ctr">
              <a:lnSpc>
                <a:spcPct val="100000"/>
              </a:lnSpc>
              <a:spcBef>
                <a:spcPts val="315"/>
              </a:spcBef>
            </a:pPr>
            <a:r>
              <a:rPr sz="1750" spc="75" dirty="0">
                <a:solidFill>
                  <a:srgbClr val="3C3C3C"/>
                </a:solidFill>
                <a:latin typeface="Cambria Math"/>
                <a:cs typeface="Cambria Math"/>
              </a:rPr>
              <a:t>𝑥−𝑥</a:t>
            </a:r>
            <a:endParaRPr sz="1750" dirty="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590544" y="3645280"/>
            <a:ext cx="437515" cy="216535"/>
          </a:xfrm>
          <a:custGeom>
            <a:avLst/>
            <a:gdLst/>
            <a:ahLst/>
            <a:cxnLst/>
            <a:rect l="l" t="t" r="r" b="b"/>
            <a:pathLst>
              <a:path w="437514" h="216535">
                <a:moveTo>
                  <a:pt x="137160" y="0"/>
                </a:moveTo>
                <a:lnTo>
                  <a:pt x="0" y="0"/>
                </a:lnTo>
                <a:lnTo>
                  <a:pt x="0" y="13716"/>
                </a:lnTo>
                <a:lnTo>
                  <a:pt x="137160" y="13716"/>
                </a:lnTo>
                <a:lnTo>
                  <a:pt x="137160" y="0"/>
                </a:lnTo>
                <a:close/>
              </a:path>
              <a:path w="437514" h="216535">
                <a:moveTo>
                  <a:pt x="437388" y="202692"/>
                </a:moveTo>
                <a:lnTo>
                  <a:pt x="300228" y="202692"/>
                </a:lnTo>
                <a:lnTo>
                  <a:pt x="300228" y="216408"/>
                </a:lnTo>
                <a:lnTo>
                  <a:pt x="437388" y="216408"/>
                </a:lnTo>
                <a:lnTo>
                  <a:pt x="437388" y="202692"/>
                </a:lnTo>
                <a:close/>
              </a:path>
            </a:pathLst>
          </a:custGeom>
          <a:solidFill>
            <a:srgbClr val="3C3C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444750" y="3439490"/>
            <a:ext cx="1616710" cy="4438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1130" algn="ctr">
              <a:lnSpc>
                <a:spcPts val="1255"/>
              </a:lnSpc>
              <a:spcBef>
                <a:spcPts val="105"/>
              </a:spcBef>
            </a:pPr>
            <a:r>
              <a:rPr sz="1750" spc="35" dirty="0">
                <a:solidFill>
                  <a:srgbClr val="3C3C3C"/>
                </a:solidFill>
                <a:latin typeface="Cambria Math"/>
                <a:cs typeface="Cambria Math"/>
              </a:rPr>
              <a:t>−𝑏</a:t>
            </a:r>
            <a:endParaRPr sz="1750" dirty="0">
              <a:latin typeface="Cambria Math"/>
              <a:cs typeface="Cambria Math"/>
            </a:endParaRPr>
          </a:p>
          <a:p>
            <a:pPr marL="38100">
              <a:lnSpc>
                <a:spcPts val="2035"/>
              </a:lnSpc>
              <a:tabLst>
                <a:tab pos="1146175" algn="l"/>
              </a:tabLst>
            </a:pPr>
            <a:r>
              <a:rPr sz="3600" baseline="-19675" dirty="0">
                <a:solidFill>
                  <a:srgbClr val="3C3C3C"/>
                </a:solidFill>
                <a:latin typeface="Cambria Math"/>
                <a:cs typeface="Cambria Math"/>
              </a:rPr>
              <a:t>1</a:t>
            </a:r>
            <a:r>
              <a:rPr sz="3600" spc="7" baseline="-19675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3600" baseline="-19675" dirty="0">
                <a:solidFill>
                  <a:srgbClr val="3C3C3C"/>
                </a:solidFill>
                <a:latin typeface="Cambria Math"/>
                <a:cs typeface="Cambria Math"/>
              </a:rPr>
              <a:t>−</a:t>
            </a:r>
            <a:r>
              <a:rPr sz="3600" spc="-15" baseline="-19675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3600" baseline="-19675" dirty="0">
                <a:solidFill>
                  <a:srgbClr val="3C3C3C"/>
                </a:solidFill>
                <a:latin typeface="Cambria Math"/>
                <a:cs typeface="Cambria Math"/>
              </a:rPr>
              <a:t>𝑒	</a:t>
            </a:r>
            <a:r>
              <a:rPr sz="1750" spc="70" dirty="0">
                <a:solidFill>
                  <a:srgbClr val="3C3C3C"/>
                </a:solidFill>
                <a:latin typeface="Cambria Math"/>
                <a:cs typeface="Cambria Math"/>
              </a:rPr>
              <a:t>𝑥−𝑥</a:t>
            </a:r>
            <a:endParaRPr sz="1750" dirty="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161532" y="3697096"/>
            <a:ext cx="170815" cy="20320"/>
          </a:xfrm>
          <a:custGeom>
            <a:avLst/>
            <a:gdLst/>
            <a:ahLst/>
            <a:cxnLst/>
            <a:rect l="l" t="t" r="r" b="b"/>
            <a:pathLst>
              <a:path w="170814" h="20320">
                <a:moveTo>
                  <a:pt x="170687" y="0"/>
                </a:moveTo>
                <a:lnTo>
                  <a:pt x="0" y="0"/>
                </a:lnTo>
                <a:lnTo>
                  <a:pt x="0" y="19811"/>
                </a:lnTo>
                <a:lnTo>
                  <a:pt x="170687" y="19811"/>
                </a:lnTo>
                <a:lnTo>
                  <a:pt x="170687" y="0"/>
                </a:lnTo>
                <a:close/>
              </a:path>
            </a:pathLst>
          </a:custGeom>
          <a:solidFill>
            <a:srgbClr val="3C3C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089456" y="3597020"/>
            <a:ext cx="69576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21945" algn="l"/>
                <a:tab pos="702945" algn="l"/>
                <a:tab pos="3261995" algn="l"/>
                <a:tab pos="3934460" algn="l"/>
                <a:tab pos="5914390" algn="l"/>
              </a:tabLst>
            </a:pPr>
            <a:r>
              <a:rPr sz="2400" dirty="0">
                <a:solidFill>
                  <a:srgbClr val="3C3C3C"/>
                </a:solidFill>
                <a:latin typeface="Cambria Math"/>
                <a:cs typeface="Cambria Math"/>
              </a:rPr>
              <a:t>𝑢	𝑥	=</a:t>
            </a:r>
            <a:r>
              <a:rPr sz="2400" spc="135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3C3C3C"/>
                </a:solidFill>
                <a:latin typeface="Cambria Math"/>
                <a:cs typeface="Cambria Math"/>
              </a:rPr>
              <a:t>𝑎	,	</a:t>
            </a:r>
            <a:r>
              <a:rPr sz="2400" u="heavy" dirty="0">
                <a:solidFill>
                  <a:srgbClr val="3C3C3C"/>
                </a:solidFill>
                <a:uFill>
                  <a:solidFill>
                    <a:srgbClr val="3C3C3C"/>
                  </a:solidFill>
                </a:uFill>
                <a:latin typeface="Cambria Math"/>
                <a:cs typeface="Cambria Math"/>
              </a:rPr>
              <a:t>𝑥</a:t>
            </a:r>
            <a:r>
              <a:rPr sz="2400" spc="210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3C3C3C"/>
                </a:solidFill>
                <a:latin typeface="Cambria Math"/>
                <a:cs typeface="Cambria Math"/>
              </a:rPr>
              <a:t>≤</a:t>
            </a:r>
            <a:r>
              <a:rPr sz="2400" spc="130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3C3C3C"/>
                </a:solidFill>
                <a:latin typeface="Cambria Math"/>
                <a:cs typeface="Cambria Math"/>
              </a:rPr>
              <a:t>𝑥</a:t>
            </a:r>
            <a:r>
              <a:rPr sz="2400" spc="210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3C3C3C"/>
                </a:solidFill>
                <a:latin typeface="Cambria Math"/>
                <a:cs typeface="Cambria Math"/>
              </a:rPr>
              <a:t>≤</a:t>
            </a:r>
            <a:r>
              <a:rPr sz="2400" spc="145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2400" spc="65" dirty="0">
                <a:solidFill>
                  <a:srgbClr val="3C3C3C"/>
                </a:solidFill>
                <a:latin typeface="Cambria Math"/>
                <a:cs typeface="Cambria Math"/>
              </a:rPr>
              <a:t>𝑥</a:t>
            </a:r>
            <a:r>
              <a:rPr sz="2400" dirty="0">
                <a:solidFill>
                  <a:srgbClr val="3C3C3C"/>
                </a:solidFill>
                <a:latin typeface="Cambria Math"/>
                <a:cs typeface="Cambria Math"/>
              </a:rPr>
              <a:t>,	</a:t>
            </a:r>
            <a:r>
              <a:rPr sz="2400" spc="65" dirty="0">
                <a:solidFill>
                  <a:srgbClr val="3C3C3C"/>
                </a:solidFill>
                <a:latin typeface="Cambria Math"/>
                <a:cs typeface="Cambria Math"/>
              </a:rPr>
              <a:t>𝑎</a:t>
            </a:r>
            <a:r>
              <a:rPr sz="2400" dirty="0">
                <a:solidFill>
                  <a:srgbClr val="3C3C3C"/>
                </a:solidFill>
                <a:latin typeface="Cambria Math"/>
                <a:cs typeface="Cambria Math"/>
              </a:rPr>
              <a:t>,</a:t>
            </a:r>
            <a:r>
              <a:rPr sz="2400" spc="-135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3C3C3C"/>
                </a:solidFill>
                <a:latin typeface="Cambria Math"/>
                <a:cs typeface="Cambria Math"/>
              </a:rPr>
              <a:t>𝑏</a:t>
            </a:r>
            <a:r>
              <a:rPr sz="2400" spc="190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3C3C3C"/>
                </a:solidFill>
                <a:latin typeface="Cambria Math"/>
                <a:cs typeface="Cambria Math"/>
              </a:rPr>
              <a:t>&gt;</a:t>
            </a:r>
            <a:r>
              <a:rPr sz="2400" spc="145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3C3C3C"/>
                </a:solidFill>
                <a:latin typeface="Cambria Math"/>
                <a:cs typeface="Cambria Math"/>
              </a:rPr>
              <a:t>0</a:t>
            </a:r>
            <a:endParaRPr sz="2400" dirty="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710561" y="4725923"/>
            <a:ext cx="391160" cy="368300"/>
          </a:xfrm>
          <a:custGeom>
            <a:avLst/>
            <a:gdLst/>
            <a:ahLst/>
            <a:cxnLst/>
            <a:rect l="l" t="t" r="r" b="b"/>
            <a:pathLst>
              <a:path w="391160" h="368300">
                <a:moveTo>
                  <a:pt x="100457" y="12192"/>
                </a:moveTo>
                <a:lnTo>
                  <a:pt x="96774" y="0"/>
                </a:lnTo>
                <a:lnTo>
                  <a:pt x="74866" y="8534"/>
                </a:lnTo>
                <a:lnTo>
                  <a:pt x="55626" y="21907"/>
                </a:lnTo>
                <a:lnTo>
                  <a:pt x="25146" y="63246"/>
                </a:lnTo>
                <a:lnTo>
                  <a:pt x="6286" y="118986"/>
                </a:lnTo>
                <a:lnTo>
                  <a:pt x="0" y="184277"/>
                </a:lnTo>
                <a:lnTo>
                  <a:pt x="1562" y="217855"/>
                </a:lnTo>
                <a:lnTo>
                  <a:pt x="14135" y="278244"/>
                </a:lnTo>
                <a:lnTo>
                  <a:pt x="39052" y="328028"/>
                </a:lnTo>
                <a:lnTo>
                  <a:pt x="74866" y="359651"/>
                </a:lnTo>
                <a:lnTo>
                  <a:pt x="96774" y="368173"/>
                </a:lnTo>
                <a:lnTo>
                  <a:pt x="100457" y="355981"/>
                </a:lnTo>
                <a:lnTo>
                  <a:pt x="83540" y="347218"/>
                </a:lnTo>
                <a:lnTo>
                  <a:pt x="68808" y="334454"/>
                </a:lnTo>
                <a:lnTo>
                  <a:pt x="45847" y="296926"/>
                </a:lnTo>
                <a:lnTo>
                  <a:pt x="32016" y="246087"/>
                </a:lnTo>
                <a:lnTo>
                  <a:pt x="27432" y="184150"/>
                </a:lnTo>
                <a:lnTo>
                  <a:pt x="28575" y="151930"/>
                </a:lnTo>
                <a:lnTo>
                  <a:pt x="37769" y="95402"/>
                </a:lnTo>
                <a:lnTo>
                  <a:pt x="56248" y="50482"/>
                </a:lnTo>
                <a:lnTo>
                  <a:pt x="83540" y="20955"/>
                </a:lnTo>
                <a:lnTo>
                  <a:pt x="100457" y="12192"/>
                </a:lnTo>
                <a:close/>
              </a:path>
              <a:path w="391160" h="368300">
                <a:moveTo>
                  <a:pt x="281051" y="326009"/>
                </a:moveTo>
                <a:lnTo>
                  <a:pt x="110363" y="326009"/>
                </a:lnTo>
                <a:lnTo>
                  <a:pt x="110363" y="345821"/>
                </a:lnTo>
                <a:lnTo>
                  <a:pt x="281051" y="345821"/>
                </a:lnTo>
                <a:lnTo>
                  <a:pt x="281051" y="326009"/>
                </a:lnTo>
                <a:close/>
              </a:path>
              <a:path w="391160" h="368300">
                <a:moveTo>
                  <a:pt x="391160" y="184150"/>
                </a:moveTo>
                <a:lnTo>
                  <a:pt x="384873" y="118986"/>
                </a:lnTo>
                <a:lnTo>
                  <a:pt x="366014" y="63246"/>
                </a:lnTo>
                <a:lnTo>
                  <a:pt x="335534" y="21907"/>
                </a:lnTo>
                <a:lnTo>
                  <a:pt x="294386" y="0"/>
                </a:lnTo>
                <a:lnTo>
                  <a:pt x="290703" y="12192"/>
                </a:lnTo>
                <a:lnTo>
                  <a:pt x="307606" y="20955"/>
                </a:lnTo>
                <a:lnTo>
                  <a:pt x="322338" y="33718"/>
                </a:lnTo>
                <a:lnTo>
                  <a:pt x="345313" y="71247"/>
                </a:lnTo>
                <a:lnTo>
                  <a:pt x="359194" y="122288"/>
                </a:lnTo>
                <a:lnTo>
                  <a:pt x="363855" y="184277"/>
                </a:lnTo>
                <a:lnTo>
                  <a:pt x="362686" y="216547"/>
                </a:lnTo>
                <a:lnTo>
                  <a:pt x="353402" y="272884"/>
                </a:lnTo>
                <a:lnTo>
                  <a:pt x="334899" y="317703"/>
                </a:lnTo>
                <a:lnTo>
                  <a:pt x="307606" y="347218"/>
                </a:lnTo>
                <a:lnTo>
                  <a:pt x="290703" y="355981"/>
                </a:lnTo>
                <a:lnTo>
                  <a:pt x="294386" y="368173"/>
                </a:lnTo>
                <a:lnTo>
                  <a:pt x="335534" y="346265"/>
                </a:lnTo>
                <a:lnTo>
                  <a:pt x="366014" y="304927"/>
                </a:lnTo>
                <a:lnTo>
                  <a:pt x="384860" y="249212"/>
                </a:lnTo>
                <a:lnTo>
                  <a:pt x="389585" y="217855"/>
                </a:lnTo>
                <a:lnTo>
                  <a:pt x="391160" y="184150"/>
                </a:lnTo>
                <a:close/>
              </a:path>
            </a:pathLst>
          </a:custGeom>
          <a:solidFill>
            <a:srgbClr val="3C3C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35940" y="4663779"/>
            <a:ext cx="3250565" cy="4114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285365" algn="l"/>
                <a:tab pos="2677160" algn="l"/>
              </a:tabLst>
            </a:pPr>
            <a:r>
              <a:rPr sz="2400" spc="-50" dirty="0">
                <a:solidFill>
                  <a:srgbClr val="3C3C3C"/>
                </a:solidFill>
                <a:latin typeface="Trebuchet MS"/>
                <a:cs typeface="Trebuchet MS"/>
              </a:rPr>
              <a:t>Obsérvese</a:t>
            </a:r>
            <a:r>
              <a:rPr sz="2400" spc="-7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400" spc="-135" dirty="0">
                <a:solidFill>
                  <a:srgbClr val="3C3C3C"/>
                </a:solidFill>
                <a:latin typeface="Trebuchet MS"/>
                <a:cs typeface="Trebuchet MS"/>
              </a:rPr>
              <a:t>que</a:t>
            </a:r>
            <a:r>
              <a:rPr sz="2400" spc="-6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3C3C3C"/>
                </a:solidFill>
                <a:latin typeface="Cambria Math"/>
                <a:cs typeface="Cambria Math"/>
              </a:rPr>
              <a:t>𝑢	𝑥	=</a:t>
            </a:r>
            <a:r>
              <a:rPr sz="2400" spc="50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2400" spc="-20" dirty="0">
                <a:solidFill>
                  <a:srgbClr val="3C3C3C"/>
                </a:solidFill>
                <a:latin typeface="Cambria Math"/>
                <a:cs typeface="Cambria Math"/>
              </a:rPr>
              <a:t>0</a:t>
            </a:r>
            <a:r>
              <a:rPr sz="2500" spc="-20" dirty="0">
                <a:solidFill>
                  <a:srgbClr val="3C3C3C"/>
                </a:solidFill>
                <a:latin typeface="Cambria Math"/>
                <a:cs typeface="Cambria Math"/>
              </a:rPr>
              <a:t>;</a:t>
            </a:r>
            <a:endParaRPr sz="2500" dirty="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458589" y="5310885"/>
            <a:ext cx="372110" cy="282575"/>
          </a:xfrm>
          <a:custGeom>
            <a:avLst/>
            <a:gdLst/>
            <a:ahLst/>
            <a:cxnLst/>
            <a:rect l="l" t="t" r="r" b="b"/>
            <a:pathLst>
              <a:path w="372110" h="282575">
                <a:moveTo>
                  <a:pt x="94107" y="11430"/>
                </a:moveTo>
                <a:lnTo>
                  <a:pt x="90043" y="0"/>
                </a:lnTo>
                <a:lnTo>
                  <a:pt x="69583" y="7391"/>
                </a:lnTo>
                <a:lnTo>
                  <a:pt x="51638" y="18084"/>
                </a:lnTo>
                <a:lnTo>
                  <a:pt x="23241" y="49403"/>
                </a:lnTo>
                <a:lnTo>
                  <a:pt x="5803" y="91414"/>
                </a:lnTo>
                <a:lnTo>
                  <a:pt x="0" y="141224"/>
                </a:lnTo>
                <a:lnTo>
                  <a:pt x="1447" y="167182"/>
                </a:lnTo>
                <a:lnTo>
                  <a:pt x="13068" y="213042"/>
                </a:lnTo>
                <a:lnTo>
                  <a:pt x="36118" y="250228"/>
                </a:lnTo>
                <a:lnTo>
                  <a:pt x="69507" y="274942"/>
                </a:lnTo>
                <a:lnTo>
                  <a:pt x="90043" y="282295"/>
                </a:lnTo>
                <a:lnTo>
                  <a:pt x="93599" y="270891"/>
                </a:lnTo>
                <a:lnTo>
                  <a:pt x="77520" y="263728"/>
                </a:lnTo>
                <a:lnTo>
                  <a:pt x="63639" y="253796"/>
                </a:lnTo>
                <a:lnTo>
                  <a:pt x="35204" y="207556"/>
                </a:lnTo>
                <a:lnTo>
                  <a:pt x="26822" y="164642"/>
                </a:lnTo>
                <a:lnTo>
                  <a:pt x="25781" y="139700"/>
                </a:lnTo>
                <a:lnTo>
                  <a:pt x="26822" y="115633"/>
                </a:lnTo>
                <a:lnTo>
                  <a:pt x="35204" y="73863"/>
                </a:lnTo>
                <a:lnTo>
                  <a:pt x="63754" y="28359"/>
                </a:lnTo>
                <a:lnTo>
                  <a:pt x="77787" y="18529"/>
                </a:lnTo>
                <a:lnTo>
                  <a:pt x="94107" y="11430"/>
                </a:lnTo>
                <a:close/>
              </a:path>
              <a:path w="372110" h="282575">
                <a:moveTo>
                  <a:pt x="270383" y="10795"/>
                </a:moveTo>
                <a:lnTo>
                  <a:pt x="99695" y="10795"/>
                </a:lnTo>
                <a:lnTo>
                  <a:pt x="99695" y="30607"/>
                </a:lnTo>
                <a:lnTo>
                  <a:pt x="270383" y="30607"/>
                </a:lnTo>
                <a:lnTo>
                  <a:pt x="270383" y="10795"/>
                </a:lnTo>
                <a:close/>
              </a:path>
              <a:path w="372110" h="282575">
                <a:moveTo>
                  <a:pt x="371602" y="141224"/>
                </a:moveTo>
                <a:lnTo>
                  <a:pt x="365785" y="91414"/>
                </a:lnTo>
                <a:lnTo>
                  <a:pt x="348361" y="49403"/>
                </a:lnTo>
                <a:lnTo>
                  <a:pt x="319951" y="18084"/>
                </a:lnTo>
                <a:lnTo>
                  <a:pt x="281559" y="0"/>
                </a:lnTo>
                <a:lnTo>
                  <a:pt x="277622" y="11430"/>
                </a:lnTo>
                <a:lnTo>
                  <a:pt x="293928" y="18529"/>
                </a:lnTo>
                <a:lnTo>
                  <a:pt x="307975" y="28359"/>
                </a:lnTo>
                <a:lnTo>
                  <a:pt x="336486" y="73863"/>
                </a:lnTo>
                <a:lnTo>
                  <a:pt x="344792" y="115633"/>
                </a:lnTo>
                <a:lnTo>
                  <a:pt x="345821" y="139700"/>
                </a:lnTo>
                <a:lnTo>
                  <a:pt x="344766" y="164642"/>
                </a:lnTo>
                <a:lnTo>
                  <a:pt x="336435" y="207556"/>
                </a:lnTo>
                <a:lnTo>
                  <a:pt x="308013" y="253796"/>
                </a:lnTo>
                <a:lnTo>
                  <a:pt x="278003" y="270891"/>
                </a:lnTo>
                <a:lnTo>
                  <a:pt x="281559" y="282295"/>
                </a:lnTo>
                <a:lnTo>
                  <a:pt x="320052" y="264236"/>
                </a:lnTo>
                <a:lnTo>
                  <a:pt x="348361" y="232918"/>
                </a:lnTo>
                <a:lnTo>
                  <a:pt x="365785" y="191122"/>
                </a:lnTo>
                <a:lnTo>
                  <a:pt x="370141" y="167182"/>
                </a:lnTo>
                <a:lnTo>
                  <a:pt x="371602" y="141224"/>
                </a:lnTo>
                <a:close/>
              </a:path>
            </a:pathLst>
          </a:custGeom>
          <a:solidFill>
            <a:srgbClr val="3C3C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928996" y="5221985"/>
            <a:ext cx="24060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3C3C3C"/>
                </a:solidFill>
                <a:latin typeface="Cambria Math"/>
                <a:cs typeface="Cambria Math"/>
              </a:rPr>
              <a:t>=</a:t>
            </a:r>
            <a:r>
              <a:rPr sz="2400" spc="135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3C3C3C"/>
                </a:solidFill>
                <a:latin typeface="Cambria Math"/>
                <a:cs typeface="Cambria Math"/>
              </a:rPr>
              <a:t>1</a:t>
            </a:r>
            <a:r>
              <a:rPr sz="2400" spc="130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2400" spc="-105" dirty="0">
                <a:solidFill>
                  <a:srgbClr val="3C3C3C"/>
                </a:solidFill>
                <a:latin typeface="Trebuchet MS"/>
                <a:cs typeface="Trebuchet MS"/>
              </a:rPr>
              <a:t>se</a:t>
            </a:r>
            <a:r>
              <a:rPr sz="2400" spc="-7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400" spc="-125" dirty="0">
                <a:solidFill>
                  <a:srgbClr val="3C3C3C"/>
                </a:solidFill>
                <a:latin typeface="Trebuchet MS"/>
                <a:cs typeface="Trebuchet MS"/>
              </a:rPr>
              <a:t>obtiene</a:t>
            </a:r>
            <a:r>
              <a:rPr sz="2400" spc="-5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400" spc="-150" dirty="0">
                <a:solidFill>
                  <a:srgbClr val="3C3C3C"/>
                </a:solidFill>
                <a:latin typeface="Trebuchet MS"/>
                <a:cs typeface="Trebuchet MS"/>
              </a:rPr>
              <a:t>q</a:t>
            </a:r>
            <a:r>
              <a:rPr sz="2400" spc="-140" dirty="0">
                <a:solidFill>
                  <a:srgbClr val="3C3C3C"/>
                </a:solidFill>
                <a:latin typeface="Trebuchet MS"/>
                <a:cs typeface="Trebuchet MS"/>
              </a:rPr>
              <a:t>ue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815717" y="5938748"/>
            <a:ext cx="372110" cy="282575"/>
          </a:xfrm>
          <a:custGeom>
            <a:avLst/>
            <a:gdLst/>
            <a:ahLst/>
            <a:cxnLst/>
            <a:rect l="l" t="t" r="r" b="b"/>
            <a:pathLst>
              <a:path w="372110" h="282575">
                <a:moveTo>
                  <a:pt x="94107" y="11455"/>
                </a:moveTo>
                <a:lnTo>
                  <a:pt x="90043" y="0"/>
                </a:lnTo>
                <a:lnTo>
                  <a:pt x="69583" y="7391"/>
                </a:lnTo>
                <a:lnTo>
                  <a:pt x="51638" y="18097"/>
                </a:lnTo>
                <a:lnTo>
                  <a:pt x="23241" y="49479"/>
                </a:lnTo>
                <a:lnTo>
                  <a:pt x="5803" y="91440"/>
                </a:lnTo>
                <a:lnTo>
                  <a:pt x="0" y="141236"/>
                </a:lnTo>
                <a:lnTo>
                  <a:pt x="1447" y="167182"/>
                </a:lnTo>
                <a:lnTo>
                  <a:pt x="13068" y="213055"/>
                </a:lnTo>
                <a:lnTo>
                  <a:pt x="36118" y="250291"/>
                </a:lnTo>
                <a:lnTo>
                  <a:pt x="69507" y="274955"/>
                </a:lnTo>
                <a:lnTo>
                  <a:pt x="90043" y="282321"/>
                </a:lnTo>
                <a:lnTo>
                  <a:pt x="93599" y="270865"/>
                </a:lnTo>
                <a:lnTo>
                  <a:pt x="77520" y="263740"/>
                </a:lnTo>
                <a:lnTo>
                  <a:pt x="63639" y="253822"/>
                </a:lnTo>
                <a:lnTo>
                  <a:pt x="35204" y="207594"/>
                </a:lnTo>
                <a:lnTo>
                  <a:pt x="26822" y="164655"/>
                </a:lnTo>
                <a:lnTo>
                  <a:pt x="25781" y="139750"/>
                </a:lnTo>
                <a:lnTo>
                  <a:pt x="26822" y="115671"/>
                </a:lnTo>
                <a:lnTo>
                  <a:pt x="35204" y="73888"/>
                </a:lnTo>
                <a:lnTo>
                  <a:pt x="63754" y="28371"/>
                </a:lnTo>
                <a:lnTo>
                  <a:pt x="77787" y="18554"/>
                </a:lnTo>
                <a:lnTo>
                  <a:pt x="94107" y="11455"/>
                </a:lnTo>
                <a:close/>
              </a:path>
              <a:path w="372110" h="282575">
                <a:moveTo>
                  <a:pt x="270383" y="10833"/>
                </a:moveTo>
                <a:lnTo>
                  <a:pt x="99695" y="10833"/>
                </a:lnTo>
                <a:lnTo>
                  <a:pt x="99695" y="30645"/>
                </a:lnTo>
                <a:lnTo>
                  <a:pt x="270383" y="30645"/>
                </a:lnTo>
                <a:lnTo>
                  <a:pt x="270383" y="10833"/>
                </a:lnTo>
                <a:close/>
              </a:path>
              <a:path w="372110" h="282575">
                <a:moveTo>
                  <a:pt x="371602" y="141236"/>
                </a:moveTo>
                <a:lnTo>
                  <a:pt x="365785" y="91440"/>
                </a:lnTo>
                <a:lnTo>
                  <a:pt x="348361" y="49479"/>
                </a:lnTo>
                <a:lnTo>
                  <a:pt x="319951" y="18097"/>
                </a:lnTo>
                <a:lnTo>
                  <a:pt x="281559" y="0"/>
                </a:lnTo>
                <a:lnTo>
                  <a:pt x="277622" y="11455"/>
                </a:lnTo>
                <a:lnTo>
                  <a:pt x="293928" y="18554"/>
                </a:lnTo>
                <a:lnTo>
                  <a:pt x="307962" y="28371"/>
                </a:lnTo>
                <a:lnTo>
                  <a:pt x="336486" y="73888"/>
                </a:lnTo>
                <a:lnTo>
                  <a:pt x="344792" y="115671"/>
                </a:lnTo>
                <a:lnTo>
                  <a:pt x="345821" y="139750"/>
                </a:lnTo>
                <a:lnTo>
                  <a:pt x="344766" y="164655"/>
                </a:lnTo>
                <a:lnTo>
                  <a:pt x="336435" y="207594"/>
                </a:lnTo>
                <a:lnTo>
                  <a:pt x="308013" y="253822"/>
                </a:lnTo>
                <a:lnTo>
                  <a:pt x="278003" y="270865"/>
                </a:lnTo>
                <a:lnTo>
                  <a:pt x="281559" y="282321"/>
                </a:lnTo>
                <a:lnTo>
                  <a:pt x="320052" y="264274"/>
                </a:lnTo>
                <a:lnTo>
                  <a:pt x="348361" y="232994"/>
                </a:lnTo>
                <a:lnTo>
                  <a:pt x="365785" y="191122"/>
                </a:lnTo>
                <a:lnTo>
                  <a:pt x="370141" y="167182"/>
                </a:lnTo>
                <a:lnTo>
                  <a:pt x="371602" y="141236"/>
                </a:lnTo>
                <a:close/>
              </a:path>
            </a:pathLst>
          </a:custGeom>
          <a:solidFill>
            <a:srgbClr val="3C3C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813936" y="5894832"/>
            <a:ext cx="1232535" cy="368300"/>
          </a:xfrm>
          <a:custGeom>
            <a:avLst/>
            <a:gdLst/>
            <a:ahLst/>
            <a:cxnLst/>
            <a:rect l="l" t="t" r="r" b="b"/>
            <a:pathLst>
              <a:path w="1232535" h="368300">
                <a:moveTo>
                  <a:pt x="1135634" y="0"/>
                </a:moveTo>
                <a:lnTo>
                  <a:pt x="1131951" y="12204"/>
                </a:lnTo>
                <a:lnTo>
                  <a:pt x="1148859" y="20975"/>
                </a:lnTo>
                <a:lnTo>
                  <a:pt x="1163589" y="33743"/>
                </a:lnTo>
                <a:lnTo>
                  <a:pt x="1186561" y="71285"/>
                </a:lnTo>
                <a:lnTo>
                  <a:pt x="1200451" y="122301"/>
                </a:lnTo>
                <a:lnTo>
                  <a:pt x="1205102" y="184251"/>
                </a:lnTo>
                <a:lnTo>
                  <a:pt x="1203938" y="216522"/>
                </a:lnTo>
                <a:lnTo>
                  <a:pt x="1194655" y="272891"/>
                </a:lnTo>
                <a:lnTo>
                  <a:pt x="1176152" y="317722"/>
                </a:lnTo>
                <a:lnTo>
                  <a:pt x="1148859" y="347226"/>
                </a:lnTo>
                <a:lnTo>
                  <a:pt x="1131951" y="355993"/>
                </a:lnTo>
                <a:lnTo>
                  <a:pt x="1135634" y="368198"/>
                </a:lnTo>
                <a:lnTo>
                  <a:pt x="1176782" y="346281"/>
                </a:lnTo>
                <a:lnTo>
                  <a:pt x="1207262" y="304952"/>
                </a:lnTo>
                <a:lnTo>
                  <a:pt x="1226121" y="249212"/>
                </a:lnTo>
                <a:lnTo>
                  <a:pt x="1232408" y="184099"/>
                </a:lnTo>
                <a:lnTo>
                  <a:pt x="1230836" y="150371"/>
                </a:lnTo>
                <a:lnTo>
                  <a:pt x="1218263" y="89944"/>
                </a:lnTo>
                <a:lnTo>
                  <a:pt x="1193355" y="40153"/>
                </a:lnTo>
                <a:lnTo>
                  <a:pt x="1157541" y="8526"/>
                </a:lnTo>
                <a:lnTo>
                  <a:pt x="1135634" y="0"/>
                </a:lnTo>
                <a:close/>
              </a:path>
              <a:path w="1232535" h="368300">
                <a:moveTo>
                  <a:pt x="96774" y="0"/>
                </a:moveTo>
                <a:lnTo>
                  <a:pt x="55625" y="21912"/>
                </a:lnTo>
                <a:lnTo>
                  <a:pt x="25146" y="63246"/>
                </a:lnTo>
                <a:lnTo>
                  <a:pt x="6286" y="118986"/>
                </a:lnTo>
                <a:lnTo>
                  <a:pt x="0" y="184099"/>
                </a:lnTo>
                <a:lnTo>
                  <a:pt x="1571" y="217827"/>
                </a:lnTo>
                <a:lnTo>
                  <a:pt x="14144" y="278253"/>
                </a:lnTo>
                <a:lnTo>
                  <a:pt x="39052" y="328043"/>
                </a:lnTo>
                <a:lnTo>
                  <a:pt x="74866" y="359666"/>
                </a:lnTo>
                <a:lnTo>
                  <a:pt x="96774" y="368198"/>
                </a:lnTo>
                <a:lnTo>
                  <a:pt x="100457" y="355993"/>
                </a:lnTo>
                <a:lnTo>
                  <a:pt x="83548" y="347226"/>
                </a:lnTo>
                <a:lnTo>
                  <a:pt x="68818" y="334468"/>
                </a:lnTo>
                <a:lnTo>
                  <a:pt x="45847" y="296989"/>
                </a:lnTo>
                <a:lnTo>
                  <a:pt x="32019" y="246068"/>
                </a:lnTo>
                <a:lnTo>
                  <a:pt x="27437" y="184099"/>
                </a:lnTo>
                <a:lnTo>
                  <a:pt x="28576" y="151909"/>
                </a:lnTo>
                <a:lnTo>
                  <a:pt x="37772" y="95426"/>
                </a:lnTo>
                <a:lnTo>
                  <a:pt x="56255" y="50513"/>
                </a:lnTo>
                <a:lnTo>
                  <a:pt x="83548" y="20975"/>
                </a:lnTo>
                <a:lnTo>
                  <a:pt x="100457" y="12204"/>
                </a:lnTo>
                <a:lnTo>
                  <a:pt x="96774" y="0"/>
                </a:lnTo>
                <a:close/>
              </a:path>
            </a:pathLst>
          </a:custGeom>
          <a:solidFill>
            <a:srgbClr val="3C3C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97840" y="5221985"/>
            <a:ext cx="4962525" cy="1019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4060825" algn="l"/>
              </a:tabLst>
            </a:pPr>
            <a:r>
              <a:rPr sz="2400" spc="-160" dirty="0">
                <a:solidFill>
                  <a:srgbClr val="3C3C3C"/>
                </a:solidFill>
                <a:latin typeface="Trebuchet MS"/>
                <a:cs typeface="Trebuchet MS"/>
              </a:rPr>
              <a:t>adicionalmente,</a:t>
            </a:r>
            <a:r>
              <a:rPr sz="2400" spc="-28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400" spc="-130" dirty="0">
                <a:solidFill>
                  <a:srgbClr val="3C3C3C"/>
                </a:solidFill>
                <a:latin typeface="Trebuchet MS"/>
                <a:cs typeface="Trebuchet MS"/>
              </a:rPr>
              <a:t>haciendo</a:t>
            </a:r>
            <a:r>
              <a:rPr sz="2400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400" spc="-140" dirty="0">
                <a:solidFill>
                  <a:srgbClr val="3C3C3C"/>
                </a:solidFill>
                <a:latin typeface="Trebuchet MS"/>
                <a:cs typeface="Trebuchet MS"/>
              </a:rPr>
              <a:t>que</a:t>
            </a:r>
            <a:r>
              <a:rPr sz="24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3C3C3C"/>
                </a:solidFill>
                <a:latin typeface="Cambria Math"/>
                <a:cs typeface="Cambria Math"/>
              </a:rPr>
              <a:t>𝑢	𝑥</a:t>
            </a:r>
            <a:endParaRPr sz="2400" dirty="0">
              <a:latin typeface="Cambria Math"/>
              <a:cs typeface="Cambria Math"/>
            </a:endParaRPr>
          </a:p>
          <a:p>
            <a:pPr marL="1544320">
              <a:lnSpc>
                <a:spcPct val="100000"/>
              </a:lnSpc>
              <a:spcBef>
                <a:spcPts val="2060"/>
              </a:spcBef>
              <a:tabLst>
                <a:tab pos="2418080" algn="l"/>
                <a:tab pos="2800350" algn="l"/>
                <a:tab pos="3426460" algn="l"/>
                <a:tab pos="4659630" algn="l"/>
              </a:tabLst>
            </a:pPr>
            <a:r>
              <a:rPr sz="2400" dirty="0">
                <a:solidFill>
                  <a:srgbClr val="3C3C3C"/>
                </a:solidFill>
                <a:latin typeface="Cambria Math"/>
                <a:cs typeface="Cambria Math"/>
              </a:rPr>
              <a:t>1</a:t>
            </a:r>
            <a:r>
              <a:rPr sz="2400" spc="130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3C3C3C"/>
                </a:solidFill>
                <a:latin typeface="Cambria Math"/>
                <a:cs typeface="Cambria Math"/>
              </a:rPr>
              <a:t>=</a:t>
            </a:r>
            <a:r>
              <a:rPr sz="2400" spc="135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3C3C3C"/>
                </a:solidFill>
                <a:latin typeface="Cambria Math"/>
                <a:cs typeface="Cambria Math"/>
              </a:rPr>
              <a:t>𝑢	𝑥	=</a:t>
            </a:r>
            <a:r>
              <a:rPr sz="2400" spc="135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3C3C3C"/>
                </a:solidFill>
                <a:latin typeface="Cambria Math"/>
                <a:cs typeface="Cambria Math"/>
              </a:rPr>
              <a:t>𝑎	1</a:t>
            </a:r>
            <a:r>
              <a:rPr sz="2400" spc="5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3C3C3C"/>
                </a:solidFill>
                <a:latin typeface="Cambria Math"/>
                <a:cs typeface="Cambria Math"/>
              </a:rPr>
              <a:t>−</a:t>
            </a:r>
            <a:r>
              <a:rPr sz="2400" spc="-10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2400" spc="65" dirty="0">
                <a:solidFill>
                  <a:srgbClr val="3C3C3C"/>
                </a:solidFill>
                <a:latin typeface="Cambria Math"/>
                <a:cs typeface="Cambria Math"/>
              </a:rPr>
              <a:t>𝑒</a:t>
            </a:r>
            <a:r>
              <a:rPr sz="2625" spc="97" baseline="28571" dirty="0">
                <a:solidFill>
                  <a:srgbClr val="3C3C3C"/>
                </a:solidFill>
                <a:latin typeface="Cambria Math"/>
                <a:cs typeface="Cambria Math"/>
              </a:rPr>
              <a:t>−𝑏	</a:t>
            </a:r>
            <a:r>
              <a:rPr sz="2400" dirty="0">
                <a:solidFill>
                  <a:srgbClr val="3C3C3C"/>
                </a:solidFill>
                <a:latin typeface="Cambria Math"/>
                <a:cs typeface="Cambria Math"/>
              </a:rPr>
              <a:t>⇒</a:t>
            </a:r>
            <a:endParaRPr sz="2400" dirty="0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079235" y="6069977"/>
            <a:ext cx="1012190" cy="20320"/>
          </a:xfrm>
          <a:custGeom>
            <a:avLst/>
            <a:gdLst/>
            <a:ahLst/>
            <a:cxnLst/>
            <a:rect l="l" t="t" r="r" b="b"/>
            <a:pathLst>
              <a:path w="1012190" h="20320">
                <a:moveTo>
                  <a:pt x="1011936" y="0"/>
                </a:moveTo>
                <a:lnTo>
                  <a:pt x="0" y="0"/>
                </a:lnTo>
                <a:lnTo>
                  <a:pt x="0" y="19811"/>
                </a:lnTo>
                <a:lnTo>
                  <a:pt x="1011936" y="19811"/>
                </a:lnTo>
                <a:lnTo>
                  <a:pt x="1011936" y="0"/>
                </a:lnTo>
                <a:close/>
              </a:path>
            </a:pathLst>
          </a:custGeom>
          <a:solidFill>
            <a:srgbClr val="3C3C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5436870" y="5662421"/>
            <a:ext cx="1728470" cy="864235"/>
          </a:xfrm>
          <a:prstGeom prst="rect">
            <a:avLst/>
          </a:prstGeom>
          <a:ln w="22225">
            <a:solidFill>
              <a:srgbClr val="006FC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65530">
              <a:lnSpc>
                <a:spcPts val="2110"/>
              </a:lnSpc>
            </a:pPr>
            <a:r>
              <a:rPr sz="2400" dirty="0">
                <a:solidFill>
                  <a:srgbClr val="3C3C3C"/>
                </a:solidFill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  <a:p>
            <a:pPr marL="69850">
              <a:lnSpc>
                <a:spcPts val="1710"/>
              </a:lnSpc>
            </a:pPr>
            <a:r>
              <a:rPr sz="2400" dirty="0">
                <a:solidFill>
                  <a:srgbClr val="3C3C3C"/>
                </a:solidFill>
                <a:latin typeface="Cambria Math"/>
                <a:cs typeface="Cambria Math"/>
              </a:rPr>
              <a:t>𝑎</a:t>
            </a:r>
            <a:r>
              <a:rPr sz="2400" spc="135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3C3C3C"/>
                </a:solidFill>
                <a:latin typeface="Cambria Math"/>
                <a:cs typeface="Cambria Math"/>
              </a:rPr>
              <a:t>=</a:t>
            </a:r>
            <a:endParaRPr sz="2400">
              <a:latin typeface="Cambria Math"/>
              <a:cs typeface="Cambria Math"/>
            </a:endParaRPr>
          </a:p>
          <a:p>
            <a:pPr marL="642620">
              <a:lnSpc>
                <a:spcPts val="2245"/>
              </a:lnSpc>
            </a:pPr>
            <a:r>
              <a:rPr sz="2400" dirty="0">
                <a:solidFill>
                  <a:srgbClr val="3C3C3C"/>
                </a:solidFill>
                <a:latin typeface="Cambria Math"/>
                <a:cs typeface="Cambria Math"/>
              </a:rPr>
              <a:t>1</a:t>
            </a:r>
            <a:r>
              <a:rPr sz="2400" spc="-30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3C3C3C"/>
                </a:solidFill>
                <a:latin typeface="Cambria Math"/>
                <a:cs typeface="Cambria Math"/>
              </a:rPr>
              <a:t>−</a:t>
            </a:r>
            <a:r>
              <a:rPr sz="2400" spc="-35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2400" spc="65" dirty="0">
                <a:solidFill>
                  <a:srgbClr val="3C3C3C"/>
                </a:solidFill>
                <a:latin typeface="Cambria Math"/>
                <a:cs typeface="Cambria Math"/>
              </a:rPr>
              <a:t>𝑒</a:t>
            </a:r>
            <a:r>
              <a:rPr sz="2625" spc="97" baseline="22222" dirty="0">
                <a:solidFill>
                  <a:srgbClr val="3C3C3C"/>
                </a:solidFill>
                <a:latin typeface="Cambria Math"/>
                <a:cs typeface="Cambria Math"/>
              </a:rPr>
              <a:t>−𝑏</a:t>
            </a:r>
            <a:endParaRPr sz="2625" baseline="22222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351646" y="6054344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4590B8"/>
                </a:solidFill>
                <a:latin typeface="Trebuchet MS"/>
                <a:cs typeface="Trebuchet MS"/>
              </a:rPr>
              <a:t>29</a:t>
            </a:r>
            <a:endParaRPr sz="900">
              <a:latin typeface="Trebuchet MS"/>
              <a:cs typeface="Trebuchet M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54134FFD-2A9F-7895-458A-85635E9F38D3}"/>
                  </a:ext>
                </a:extLst>
              </p:cNvPr>
              <p:cNvSpPr txBox="1"/>
              <p:nvPr/>
            </p:nvSpPr>
            <p:spPr>
              <a:xfrm>
                <a:off x="4061460" y="4088256"/>
                <a:ext cx="4962525" cy="83099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s-CO" sz="1600" dirty="0"/>
                  <a:t>El parámetro b, capta la curvatura de la función. Refleja si el decisor es: Averso (</a:t>
                </a:r>
                <a14:m>
                  <m:oMath xmlns:m="http://schemas.openxmlformats.org/officeDocument/2006/math">
                    <m:r>
                      <a:rPr lang="es-419" sz="16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s-419" sz="1600" b="0" i="1" smtClean="0">
                        <a:latin typeface="Cambria Math" panose="02040503050406030204" pitchFamily="18" charset="0"/>
                      </a:rPr>
                      <m:t>&gt;0), </m:t>
                    </m:r>
                  </m:oMath>
                </a14:m>
                <a:r>
                  <a:rPr lang="es-CO" sz="1600" dirty="0"/>
                  <a:t>Neutral (</a:t>
                </a:r>
                <a14:m>
                  <m:oMath xmlns:m="http://schemas.openxmlformats.org/officeDocument/2006/math">
                    <m:r>
                      <a:rPr lang="es-CO" sz="16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s-CO" sz="160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s-CO" sz="1600" dirty="0"/>
                  <a:t>) o Amante (</a:t>
                </a:r>
                <a14:m>
                  <m:oMath xmlns:m="http://schemas.openxmlformats.org/officeDocument/2006/math">
                    <m:r>
                      <a:rPr lang="es-CO" sz="16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s-CO" sz="1600" i="1" dirty="0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s-CO" sz="1600" dirty="0"/>
                  <a:t>). El parámetro a es un factor de escala.</a:t>
                </a:r>
              </a:p>
            </p:txBody>
          </p:sp>
        </mc:Choice>
        <mc:Fallback xmlns="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54134FFD-2A9F-7895-458A-85635E9F38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1460" y="4088256"/>
                <a:ext cx="4962525" cy="830997"/>
              </a:xfrm>
              <a:prstGeom prst="rect">
                <a:avLst/>
              </a:prstGeom>
              <a:blipFill>
                <a:blip r:embed="rId3"/>
                <a:stretch>
                  <a:fillRect l="-510" t="-3030" r="-510" b="-757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8055" y="600455"/>
            <a:ext cx="8239125" cy="125920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150495" rIns="0" bIns="0" rtlCol="0">
            <a:spAutoFit/>
          </a:bodyPr>
          <a:lstStyle/>
          <a:p>
            <a:pPr marL="161925" marR="207645">
              <a:lnSpc>
                <a:spcPct val="100000"/>
              </a:lnSpc>
              <a:spcBef>
                <a:spcPts val="1185"/>
              </a:spcBef>
            </a:pPr>
            <a:r>
              <a:rPr sz="1800" spc="50" dirty="0">
                <a:solidFill>
                  <a:srgbClr val="FFFFFF"/>
                </a:solidFill>
                <a:latin typeface="Trebuchet MS"/>
                <a:cs typeface="Trebuchet MS"/>
              </a:rPr>
              <a:t>PARTIENDO</a:t>
            </a:r>
            <a:r>
              <a:rPr sz="18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9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8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165" dirty="0">
                <a:solidFill>
                  <a:srgbClr val="FFFFFF"/>
                </a:solidFill>
                <a:latin typeface="Trebuchet MS"/>
                <a:cs typeface="Trebuchet MS"/>
              </a:rPr>
              <a:t>UNA</a:t>
            </a:r>
            <a:r>
              <a:rPr sz="18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125" dirty="0">
                <a:solidFill>
                  <a:srgbClr val="FFFFFF"/>
                </a:solidFill>
                <a:latin typeface="Trebuchet MS"/>
                <a:cs typeface="Trebuchet MS"/>
              </a:rPr>
              <a:t>FUNCIÓN</a:t>
            </a:r>
            <a:r>
              <a:rPr sz="18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9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8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70" dirty="0">
                <a:solidFill>
                  <a:srgbClr val="FFFFFF"/>
                </a:solidFill>
                <a:latin typeface="Trebuchet MS"/>
                <a:cs typeface="Trebuchet MS"/>
              </a:rPr>
              <a:t>UTILIDAD</a:t>
            </a:r>
            <a:r>
              <a:rPr sz="1800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20" dirty="0">
                <a:solidFill>
                  <a:srgbClr val="FFFFFF"/>
                </a:solidFill>
                <a:latin typeface="Trebuchet MS"/>
                <a:cs typeface="Trebuchet MS"/>
              </a:rPr>
              <a:t>PROTOTIPO</a:t>
            </a:r>
            <a:r>
              <a:rPr sz="1800" spc="-3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60" dirty="0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100" dirty="0">
                <a:solidFill>
                  <a:srgbClr val="FFFFFF"/>
                </a:solidFill>
                <a:latin typeface="Trebuchet MS"/>
                <a:cs typeface="Trebuchet MS"/>
              </a:rPr>
              <a:t>ESTIMANDO</a:t>
            </a:r>
            <a:r>
              <a:rPr sz="18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Trebuchet MS"/>
                <a:cs typeface="Trebuchet MS"/>
              </a:rPr>
              <a:t>SUS </a:t>
            </a:r>
            <a:r>
              <a:rPr sz="1800" spc="-5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30" dirty="0">
                <a:solidFill>
                  <a:srgbClr val="FFFFFF"/>
                </a:solidFill>
                <a:latin typeface="Trebuchet MS"/>
                <a:cs typeface="Trebuchet MS"/>
              </a:rPr>
              <a:t>PARÁMETROS</a:t>
            </a: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229" dirty="0">
                <a:solidFill>
                  <a:srgbClr val="FFFFFF"/>
                </a:solidFill>
                <a:latin typeface="Trebuchet MS"/>
                <a:cs typeface="Trebuchet MS"/>
              </a:rPr>
              <a:t>CON</a:t>
            </a:r>
            <a:r>
              <a:rPr sz="18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10" dirty="0">
                <a:solidFill>
                  <a:srgbClr val="FFFFFF"/>
                </a:solidFill>
                <a:latin typeface="Trebuchet MS"/>
                <a:cs typeface="Trebuchet MS"/>
              </a:rPr>
              <a:t>BASE</a:t>
            </a:r>
            <a:r>
              <a:rPr sz="18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95" dirty="0">
                <a:solidFill>
                  <a:srgbClr val="FFFFFF"/>
                </a:solidFill>
                <a:latin typeface="Trebuchet MS"/>
                <a:cs typeface="Trebuchet MS"/>
              </a:rPr>
              <a:t>EN</a:t>
            </a: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114" dirty="0">
                <a:solidFill>
                  <a:srgbClr val="FFFFFF"/>
                </a:solidFill>
                <a:latin typeface="Trebuchet MS"/>
                <a:cs typeface="Trebuchet MS"/>
              </a:rPr>
              <a:t>INFORMACIÓN</a:t>
            </a: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9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8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80" dirty="0">
                <a:solidFill>
                  <a:srgbClr val="FFFFFF"/>
                </a:solidFill>
                <a:latin typeface="Trebuchet MS"/>
                <a:cs typeface="Trebuchet MS"/>
              </a:rPr>
              <a:t>DECISOR</a:t>
            </a:r>
            <a:endParaRPr sz="1800">
              <a:latin typeface="Trebuchet MS"/>
              <a:cs typeface="Trebuchet MS"/>
            </a:endParaRPr>
          </a:p>
          <a:p>
            <a:pPr marL="161925">
              <a:lnSpc>
                <a:spcPct val="100000"/>
              </a:lnSpc>
            </a:pPr>
            <a:r>
              <a:rPr sz="1800" spc="30" dirty="0">
                <a:solidFill>
                  <a:srgbClr val="FFFFFF"/>
                </a:solidFill>
                <a:latin typeface="Trebuchet MS"/>
                <a:cs typeface="Trebuchet MS"/>
              </a:rPr>
              <a:t>MÉ</a:t>
            </a:r>
            <a:r>
              <a:rPr sz="1800" spc="-80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1800" spc="254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800" spc="245" dirty="0">
                <a:solidFill>
                  <a:srgbClr val="FFFFFF"/>
                </a:solidFill>
                <a:latin typeface="Trebuchet MS"/>
                <a:cs typeface="Trebuchet MS"/>
              </a:rPr>
              <a:t>D</a:t>
            </a:r>
            <a:r>
              <a:rPr sz="1800" spc="265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8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65" dirty="0">
                <a:solidFill>
                  <a:srgbClr val="FFFFFF"/>
                </a:solidFill>
                <a:latin typeface="Trebuchet MS"/>
                <a:cs typeface="Trebuchet MS"/>
              </a:rPr>
              <a:t>MARS</a:t>
            </a:r>
            <a:r>
              <a:rPr sz="1800" spc="50" dirty="0">
                <a:solidFill>
                  <a:srgbClr val="FFFFFF"/>
                </a:solidFill>
                <a:latin typeface="Trebuchet MS"/>
                <a:cs typeface="Trebuchet MS"/>
              </a:rPr>
              <a:t>HALL</a:t>
            </a:r>
            <a:r>
              <a:rPr sz="1800" spc="-3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60" dirty="0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254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800" spc="-30" dirty="0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sz="1800" spc="-55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VE</a:t>
            </a:r>
            <a:r>
              <a:rPr sz="1800" spc="5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800" spc="-270" dirty="0">
                <a:solidFill>
                  <a:srgbClr val="FFFFFF"/>
                </a:solidFill>
                <a:latin typeface="Trebuchet MS"/>
                <a:cs typeface="Trebuchet MS"/>
              </a:rPr>
              <a:t>,</a:t>
            </a:r>
            <a:r>
              <a:rPr sz="1800" spc="-2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1995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5680" y="1931873"/>
            <a:ext cx="7827645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spc="20" dirty="0">
                <a:solidFill>
                  <a:srgbClr val="3C3C3C"/>
                </a:solidFill>
                <a:latin typeface="Trebuchet MS"/>
                <a:cs typeface="Trebuchet MS"/>
              </a:rPr>
              <a:t>¿Cómo </a:t>
            </a:r>
            <a:r>
              <a:rPr sz="2400" spc="-130" dirty="0">
                <a:solidFill>
                  <a:srgbClr val="3C3C3C"/>
                </a:solidFill>
                <a:latin typeface="Trebuchet MS"/>
                <a:cs typeface="Trebuchet MS"/>
              </a:rPr>
              <a:t>estimar </a:t>
            </a:r>
            <a:r>
              <a:rPr sz="2400" spc="-170" dirty="0">
                <a:solidFill>
                  <a:srgbClr val="3C3C3C"/>
                </a:solidFill>
                <a:latin typeface="Trebuchet MS"/>
                <a:cs typeface="Trebuchet MS"/>
              </a:rPr>
              <a:t>el </a:t>
            </a:r>
            <a:r>
              <a:rPr sz="2400" spc="-120" dirty="0">
                <a:solidFill>
                  <a:srgbClr val="3C3C3C"/>
                </a:solidFill>
                <a:latin typeface="Trebuchet MS"/>
                <a:cs typeface="Trebuchet MS"/>
              </a:rPr>
              <a:t>parámetro </a:t>
            </a:r>
            <a:r>
              <a:rPr sz="2400" dirty="0">
                <a:solidFill>
                  <a:srgbClr val="3C3C3C"/>
                </a:solidFill>
                <a:latin typeface="Cambria Math"/>
                <a:cs typeface="Cambria Math"/>
              </a:rPr>
              <a:t>𝑏 </a:t>
            </a:r>
            <a:r>
              <a:rPr sz="2400" spc="-40" dirty="0">
                <a:solidFill>
                  <a:srgbClr val="3C3C3C"/>
                </a:solidFill>
                <a:latin typeface="Trebuchet MS"/>
                <a:cs typeface="Trebuchet MS"/>
              </a:rPr>
              <a:t>(o </a:t>
            </a:r>
            <a:r>
              <a:rPr sz="2400" spc="-170" dirty="0">
                <a:solidFill>
                  <a:srgbClr val="3C3C3C"/>
                </a:solidFill>
                <a:latin typeface="Trebuchet MS"/>
                <a:cs typeface="Trebuchet MS"/>
              </a:rPr>
              <a:t>el </a:t>
            </a:r>
            <a:r>
              <a:rPr sz="2400" spc="-120" dirty="0">
                <a:solidFill>
                  <a:srgbClr val="3C3C3C"/>
                </a:solidFill>
                <a:latin typeface="Trebuchet MS"/>
                <a:cs typeface="Trebuchet MS"/>
              </a:rPr>
              <a:t>parámetro </a:t>
            </a:r>
            <a:r>
              <a:rPr sz="2400" spc="-140" dirty="0">
                <a:solidFill>
                  <a:srgbClr val="3C3C3C"/>
                </a:solidFill>
                <a:latin typeface="Cambria Math"/>
                <a:cs typeface="Cambria Math"/>
              </a:rPr>
              <a:t>𝑎</a:t>
            </a:r>
            <a:r>
              <a:rPr sz="2400" spc="-140" dirty="0">
                <a:solidFill>
                  <a:srgbClr val="3C3C3C"/>
                </a:solidFill>
                <a:latin typeface="Trebuchet MS"/>
                <a:cs typeface="Trebuchet MS"/>
              </a:rPr>
              <a:t>), </a:t>
            </a:r>
            <a:r>
              <a:rPr sz="2400" spc="-70" dirty="0">
                <a:solidFill>
                  <a:srgbClr val="3C3C3C"/>
                </a:solidFill>
                <a:latin typeface="Trebuchet MS"/>
                <a:cs typeface="Trebuchet MS"/>
              </a:rPr>
              <a:t>con </a:t>
            </a:r>
            <a:r>
              <a:rPr sz="2400" spc="-150" dirty="0">
                <a:solidFill>
                  <a:srgbClr val="3C3C3C"/>
                </a:solidFill>
                <a:latin typeface="Trebuchet MS"/>
                <a:cs typeface="Trebuchet MS"/>
              </a:rPr>
              <a:t>base </a:t>
            </a:r>
            <a:r>
              <a:rPr sz="2400" spc="-135" dirty="0">
                <a:solidFill>
                  <a:srgbClr val="3C3C3C"/>
                </a:solidFill>
                <a:latin typeface="Trebuchet MS"/>
                <a:cs typeface="Trebuchet MS"/>
              </a:rPr>
              <a:t>en </a:t>
            </a:r>
            <a:r>
              <a:rPr sz="2400" spc="-7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400" spc="-180" dirty="0">
                <a:solidFill>
                  <a:srgbClr val="3C3C3C"/>
                </a:solidFill>
                <a:latin typeface="Trebuchet MS"/>
                <a:cs typeface="Trebuchet MS"/>
              </a:rPr>
              <a:t>alguna </a:t>
            </a:r>
            <a:r>
              <a:rPr sz="2400" spc="-140" dirty="0">
                <a:solidFill>
                  <a:srgbClr val="3C3C3C"/>
                </a:solidFill>
                <a:latin typeface="Trebuchet MS"/>
                <a:cs typeface="Trebuchet MS"/>
              </a:rPr>
              <a:t>característica </a:t>
            </a:r>
            <a:r>
              <a:rPr sz="2400" spc="-155" dirty="0">
                <a:solidFill>
                  <a:srgbClr val="3C3C3C"/>
                </a:solidFill>
                <a:latin typeface="Trebuchet MS"/>
                <a:cs typeface="Trebuchet MS"/>
              </a:rPr>
              <a:t>del </a:t>
            </a:r>
            <a:r>
              <a:rPr sz="2400" spc="-80" dirty="0">
                <a:solidFill>
                  <a:srgbClr val="3C3C3C"/>
                </a:solidFill>
                <a:latin typeface="Trebuchet MS"/>
                <a:cs typeface="Trebuchet MS"/>
              </a:rPr>
              <a:t>decisor </a:t>
            </a:r>
            <a:r>
              <a:rPr sz="2400" spc="-140" dirty="0">
                <a:solidFill>
                  <a:srgbClr val="3C3C3C"/>
                </a:solidFill>
                <a:latin typeface="Trebuchet MS"/>
                <a:cs typeface="Trebuchet MS"/>
              </a:rPr>
              <a:t>en </a:t>
            </a:r>
            <a:r>
              <a:rPr sz="2400" spc="-120" dirty="0">
                <a:solidFill>
                  <a:srgbClr val="3C3C3C"/>
                </a:solidFill>
                <a:latin typeface="Trebuchet MS"/>
                <a:cs typeface="Trebuchet MS"/>
              </a:rPr>
              <a:t>cuanto </a:t>
            </a:r>
            <a:r>
              <a:rPr sz="2400" spc="-240" dirty="0">
                <a:solidFill>
                  <a:srgbClr val="3C3C3C"/>
                </a:solidFill>
                <a:latin typeface="Trebuchet MS"/>
                <a:cs typeface="Trebuchet MS"/>
              </a:rPr>
              <a:t>a </a:t>
            </a:r>
            <a:r>
              <a:rPr sz="2400" spc="-80" dirty="0">
                <a:solidFill>
                  <a:srgbClr val="3C3C3C"/>
                </a:solidFill>
                <a:latin typeface="Trebuchet MS"/>
                <a:cs typeface="Trebuchet MS"/>
              </a:rPr>
              <a:t>su </a:t>
            </a:r>
            <a:r>
              <a:rPr sz="2400" spc="-155" dirty="0">
                <a:solidFill>
                  <a:srgbClr val="3C3C3C"/>
                </a:solidFill>
                <a:latin typeface="Trebuchet MS"/>
                <a:cs typeface="Trebuchet MS"/>
              </a:rPr>
              <a:t>actitud </a:t>
            </a:r>
            <a:r>
              <a:rPr sz="2400" spc="-180" dirty="0">
                <a:solidFill>
                  <a:srgbClr val="3C3C3C"/>
                </a:solidFill>
                <a:latin typeface="Trebuchet MS"/>
                <a:cs typeface="Trebuchet MS"/>
              </a:rPr>
              <a:t>hacia </a:t>
            </a:r>
            <a:r>
              <a:rPr sz="2400" spc="-175" dirty="0">
                <a:solidFill>
                  <a:srgbClr val="3C3C3C"/>
                </a:solidFill>
                <a:latin typeface="Trebuchet MS"/>
                <a:cs typeface="Trebuchet MS"/>
              </a:rPr>
              <a:t>el </a:t>
            </a:r>
            <a:r>
              <a:rPr sz="2400" spc="-17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400" spc="-90" dirty="0">
                <a:solidFill>
                  <a:srgbClr val="3C3C3C"/>
                </a:solidFill>
                <a:latin typeface="Trebuchet MS"/>
                <a:cs typeface="Trebuchet MS"/>
              </a:rPr>
              <a:t>riesgo?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95304" y="4878629"/>
            <a:ext cx="56026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70" dirty="0">
                <a:solidFill>
                  <a:srgbClr val="3C3C3C"/>
                </a:solidFill>
                <a:latin typeface="Trebuchet MS"/>
                <a:cs typeface="Trebuchet MS"/>
              </a:rPr>
              <a:t>Es</a:t>
            </a:r>
            <a:r>
              <a:rPr sz="2400" spc="-6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400" spc="-140" dirty="0">
                <a:solidFill>
                  <a:srgbClr val="3C3C3C"/>
                </a:solidFill>
                <a:latin typeface="Trebuchet MS"/>
                <a:cs typeface="Trebuchet MS"/>
              </a:rPr>
              <a:t>de</a:t>
            </a:r>
            <a:r>
              <a:rPr sz="2400" spc="-5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400" spc="-120" dirty="0">
                <a:solidFill>
                  <a:srgbClr val="3C3C3C"/>
                </a:solidFill>
                <a:latin typeface="Trebuchet MS"/>
                <a:cs typeface="Trebuchet MS"/>
              </a:rPr>
              <a:t>interé</a:t>
            </a:r>
            <a:r>
              <a:rPr sz="2400" spc="-105" dirty="0">
                <a:solidFill>
                  <a:srgbClr val="3C3C3C"/>
                </a:solidFill>
                <a:latin typeface="Trebuchet MS"/>
                <a:cs typeface="Trebuchet MS"/>
              </a:rPr>
              <a:t>s</a:t>
            </a:r>
            <a:r>
              <a:rPr sz="2400" spc="-6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400" spc="-140" dirty="0">
                <a:solidFill>
                  <a:srgbClr val="3C3C3C"/>
                </a:solidFill>
                <a:latin typeface="Trebuchet MS"/>
                <a:cs typeface="Trebuchet MS"/>
              </a:rPr>
              <a:t>en</a:t>
            </a:r>
            <a:r>
              <a:rPr sz="2400" spc="-6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400" spc="-120" dirty="0">
                <a:solidFill>
                  <a:srgbClr val="3C3C3C"/>
                </a:solidFill>
                <a:latin typeface="Trebuchet MS"/>
                <a:cs typeface="Trebuchet MS"/>
              </a:rPr>
              <a:t>cuanto</a:t>
            </a:r>
            <a:r>
              <a:rPr sz="2400" spc="-6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400" spc="-254" dirty="0">
                <a:solidFill>
                  <a:srgbClr val="3C3C3C"/>
                </a:solidFill>
                <a:latin typeface="Trebuchet MS"/>
                <a:cs typeface="Trebuchet MS"/>
              </a:rPr>
              <a:t>a</a:t>
            </a:r>
            <a:r>
              <a:rPr sz="2400" spc="-185" dirty="0">
                <a:solidFill>
                  <a:srgbClr val="3C3C3C"/>
                </a:solidFill>
                <a:latin typeface="Trebuchet MS"/>
                <a:cs typeface="Trebuchet MS"/>
              </a:rPr>
              <a:t>l</a:t>
            </a:r>
            <a:r>
              <a:rPr sz="2400" spc="-5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400" spc="-145" dirty="0">
                <a:solidFill>
                  <a:srgbClr val="3C3C3C"/>
                </a:solidFill>
                <a:latin typeface="Trebuchet MS"/>
                <a:cs typeface="Trebuchet MS"/>
              </a:rPr>
              <a:t>de</a:t>
            </a:r>
            <a:r>
              <a:rPr sz="2400" spc="-125" dirty="0">
                <a:solidFill>
                  <a:srgbClr val="3C3C3C"/>
                </a:solidFill>
                <a:latin typeface="Trebuchet MS"/>
                <a:cs typeface="Trebuchet MS"/>
              </a:rPr>
              <a:t>c</a:t>
            </a:r>
            <a:r>
              <a:rPr sz="2400" spc="-45" dirty="0">
                <a:solidFill>
                  <a:srgbClr val="3C3C3C"/>
                </a:solidFill>
                <a:latin typeface="Trebuchet MS"/>
                <a:cs typeface="Trebuchet MS"/>
              </a:rPr>
              <a:t>iso</a:t>
            </a:r>
            <a:r>
              <a:rPr sz="2400" spc="-40" dirty="0">
                <a:solidFill>
                  <a:srgbClr val="3C3C3C"/>
                </a:solidFill>
                <a:latin typeface="Trebuchet MS"/>
                <a:cs typeface="Trebuchet MS"/>
              </a:rPr>
              <a:t>r</a:t>
            </a:r>
            <a:r>
              <a:rPr sz="2400" spc="-7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400" spc="-160" dirty="0">
                <a:solidFill>
                  <a:srgbClr val="3C3C3C"/>
                </a:solidFill>
                <a:latin typeface="Trebuchet MS"/>
                <a:cs typeface="Trebuchet MS"/>
              </a:rPr>
              <a:t>l</a:t>
            </a:r>
            <a:r>
              <a:rPr sz="2400" spc="-270" dirty="0">
                <a:solidFill>
                  <a:srgbClr val="3C3C3C"/>
                </a:solidFill>
                <a:latin typeface="Trebuchet MS"/>
                <a:cs typeface="Trebuchet MS"/>
              </a:rPr>
              <a:t>a</a:t>
            </a:r>
            <a:r>
              <a:rPr sz="2400" spc="-7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2400" spc="-40" dirty="0">
                <a:solidFill>
                  <a:srgbClr val="3C3C3C"/>
                </a:solidFill>
                <a:latin typeface="Trebuchet MS"/>
                <a:cs typeface="Trebuchet MS"/>
              </a:rPr>
              <a:t>r</a:t>
            </a:r>
            <a:r>
              <a:rPr sz="2400" spc="-175" dirty="0">
                <a:solidFill>
                  <a:srgbClr val="3C3C3C"/>
                </a:solidFill>
                <a:latin typeface="Trebuchet MS"/>
                <a:cs typeface="Trebuchet MS"/>
              </a:rPr>
              <a:t>elaci</a:t>
            </a:r>
            <a:r>
              <a:rPr sz="2400" spc="-145" dirty="0">
                <a:solidFill>
                  <a:srgbClr val="3C3C3C"/>
                </a:solidFill>
                <a:latin typeface="Trebuchet MS"/>
                <a:cs typeface="Trebuchet MS"/>
              </a:rPr>
              <a:t>ón: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589402" y="5773318"/>
            <a:ext cx="53086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3C3C3C"/>
                </a:solidFill>
                <a:latin typeface="Cambria Math"/>
                <a:cs typeface="Cambria Math"/>
              </a:rPr>
              <a:t>𝛽</a:t>
            </a:r>
            <a:r>
              <a:rPr sz="2400" spc="110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3C3C3C"/>
                </a:solidFill>
                <a:latin typeface="Cambria Math"/>
                <a:cs typeface="Cambria Math"/>
              </a:rPr>
              <a:t>=</a:t>
            </a:r>
            <a:endParaRPr sz="2400" dirty="0">
              <a:latin typeface="Cambria Math"/>
              <a:cs typeface="Cambria Math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191510" y="5993815"/>
            <a:ext cx="719455" cy="20320"/>
          </a:xfrm>
          <a:custGeom>
            <a:avLst/>
            <a:gdLst/>
            <a:ahLst/>
            <a:cxnLst/>
            <a:rect l="l" t="t" r="r" b="b"/>
            <a:pathLst>
              <a:path w="719454" h="20320">
                <a:moveTo>
                  <a:pt x="719327" y="0"/>
                </a:moveTo>
                <a:lnTo>
                  <a:pt x="0" y="0"/>
                </a:lnTo>
                <a:lnTo>
                  <a:pt x="0" y="19811"/>
                </a:lnTo>
                <a:lnTo>
                  <a:pt x="719327" y="19811"/>
                </a:lnTo>
                <a:lnTo>
                  <a:pt x="719327" y="0"/>
                </a:lnTo>
                <a:close/>
              </a:path>
            </a:pathLst>
          </a:custGeom>
          <a:solidFill>
            <a:srgbClr val="3C3C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3154045" y="5430723"/>
            <a:ext cx="3384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spc="172" baseline="-20833" dirty="0">
                <a:solidFill>
                  <a:srgbClr val="3C3C3C"/>
                </a:solidFill>
                <a:latin typeface="Cambria Math"/>
                <a:cs typeface="Cambria Math"/>
              </a:rPr>
              <a:t>𝑢</a:t>
            </a:r>
            <a:r>
              <a:rPr sz="1750" spc="114" dirty="0">
                <a:solidFill>
                  <a:srgbClr val="3C3C3C"/>
                </a:solidFill>
                <a:latin typeface="Cambria Math"/>
                <a:cs typeface="Cambria Math"/>
              </a:rPr>
              <a:t>′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492627" y="5586983"/>
            <a:ext cx="391160" cy="368300"/>
          </a:xfrm>
          <a:custGeom>
            <a:avLst/>
            <a:gdLst/>
            <a:ahLst/>
            <a:cxnLst/>
            <a:rect l="l" t="t" r="r" b="b"/>
            <a:pathLst>
              <a:path w="391160" h="368300">
                <a:moveTo>
                  <a:pt x="100457" y="12230"/>
                </a:moveTo>
                <a:lnTo>
                  <a:pt x="96774" y="0"/>
                </a:lnTo>
                <a:lnTo>
                  <a:pt x="74866" y="8547"/>
                </a:lnTo>
                <a:lnTo>
                  <a:pt x="55626" y="21945"/>
                </a:lnTo>
                <a:lnTo>
                  <a:pt x="25146" y="63284"/>
                </a:lnTo>
                <a:lnTo>
                  <a:pt x="6286" y="119024"/>
                </a:lnTo>
                <a:lnTo>
                  <a:pt x="0" y="184124"/>
                </a:lnTo>
                <a:lnTo>
                  <a:pt x="1562" y="217855"/>
                </a:lnTo>
                <a:lnTo>
                  <a:pt x="14135" y="278282"/>
                </a:lnTo>
                <a:lnTo>
                  <a:pt x="39052" y="328079"/>
                </a:lnTo>
                <a:lnTo>
                  <a:pt x="74866" y="359702"/>
                </a:lnTo>
                <a:lnTo>
                  <a:pt x="96774" y="368223"/>
                </a:lnTo>
                <a:lnTo>
                  <a:pt x="100457" y="356019"/>
                </a:lnTo>
                <a:lnTo>
                  <a:pt x="83540" y="347256"/>
                </a:lnTo>
                <a:lnTo>
                  <a:pt x="68834" y="334505"/>
                </a:lnTo>
                <a:lnTo>
                  <a:pt x="45974" y="297014"/>
                </a:lnTo>
                <a:lnTo>
                  <a:pt x="32029" y="246100"/>
                </a:lnTo>
                <a:lnTo>
                  <a:pt x="27432" y="184124"/>
                </a:lnTo>
                <a:lnTo>
                  <a:pt x="28575" y="151942"/>
                </a:lnTo>
                <a:lnTo>
                  <a:pt x="37820" y="95453"/>
                </a:lnTo>
                <a:lnTo>
                  <a:pt x="56299" y="50546"/>
                </a:lnTo>
                <a:lnTo>
                  <a:pt x="83540" y="21005"/>
                </a:lnTo>
                <a:lnTo>
                  <a:pt x="100457" y="12230"/>
                </a:lnTo>
                <a:close/>
              </a:path>
              <a:path w="391160" h="368300">
                <a:moveTo>
                  <a:pt x="281051" y="326059"/>
                </a:moveTo>
                <a:lnTo>
                  <a:pt x="110363" y="326059"/>
                </a:lnTo>
                <a:lnTo>
                  <a:pt x="110363" y="345871"/>
                </a:lnTo>
                <a:lnTo>
                  <a:pt x="281051" y="345871"/>
                </a:lnTo>
                <a:lnTo>
                  <a:pt x="281051" y="326059"/>
                </a:lnTo>
                <a:close/>
              </a:path>
              <a:path w="391160" h="368300">
                <a:moveTo>
                  <a:pt x="391160" y="184124"/>
                </a:moveTo>
                <a:lnTo>
                  <a:pt x="384873" y="119024"/>
                </a:lnTo>
                <a:lnTo>
                  <a:pt x="366014" y="63284"/>
                </a:lnTo>
                <a:lnTo>
                  <a:pt x="335546" y="21945"/>
                </a:lnTo>
                <a:lnTo>
                  <a:pt x="294513" y="0"/>
                </a:lnTo>
                <a:lnTo>
                  <a:pt x="290703" y="12230"/>
                </a:lnTo>
                <a:lnTo>
                  <a:pt x="307606" y="21005"/>
                </a:lnTo>
                <a:lnTo>
                  <a:pt x="322338" y="33782"/>
                </a:lnTo>
                <a:lnTo>
                  <a:pt x="345313" y="71310"/>
                </a:lnTo>
                <a:lnTo>
                  <a:pt x="359194" y="122326"/>
                </a:lnTo>
                <a:lnTo>
                  <a:pt x="363855" y="184277"/>
                </a:lnTo>
                <a:lnTo>
                  <a:pt x="362686" y="216560"/>
                </a:lnTo>
                <a:lnTo>
                  <a:pt x="353402" y="272923"/>
                </a:lnTo>
                <a:lnTo>
                  <a:pt x="334899" y="317754"/>
                </a:lnTo>
                <a:lnTo>
                  <a:pt x="307606" y="347256"/>
                </a:lnTo>
                <a:lnTo>
                  <a:pt x="290703" y="356019"/>
                </a:lnTo>
                <a:lnTo>
                  <a:pt x="294513" y="368223"/>
                </a:lnTo>
                <a:lnTo>
                  <a:pt x="335546" y="346316"/>
                </a:lnTo>
                <a:lnTo>
                  <a:pt x="366014" y="304977"/>
                </a:lnTo>
                <a:lnTo>
                  <a:pt x="384860" y="249237"/>
                </a:lnTo>
                <a:lnTo>
                  <a:pt x="389585" y="217855"/>
                </a:lnTo>
                <a:lnTo>
                  <a:pt x="391160" y="184124"/>
                </a:lnTo>
                <a:close/>
              </a:path>
            </a:pathLst>
          </a:custGeom>
          <a:solidFill>
            <a:srgbClr val="3C3C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3164713" y="5886399"/>
            <a:ext cx="339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spc="172" baseline="-16203" dirty="0">
                <a:solidFill>
                  <a:srgbClr val="3C3C3C"/>
                </a:solidFill>
                <a:latin typeface="Cambria Math"/>
                <a:cs typeface="Cambria Math"/>
              </a:rPr>
              <a:t>𝑢</a:t>
            </a:r>
            <a:r>
              <a:rPr sz="1750" spc="114" dirty="0">
                <a:solidFill>
                  <a:srgbClr val="3C3C3C"/>
                </a:solidFill>
                <a:latin typeface="Cambria Math"/>
                <a:cs typeface="Cambria Math"/>
              </a:rPr>
              <a:t>′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503295" y="6066790"/>
            <a:ext cx="370205" cy="282575"/>
          </a:xfrm>
          <a:custGeom>
            <a:avLst/>
            <a:gdLst/>
            <a:ahLst/>
            <a:cxnLst/>
            <a:rect l="l" t="t" r="r" b="b"/>
            <a:pathLst>
              <a:path w="370204" h="282575">
                <a:moveTo>
                  <a:pt x="94107" y="11455"/>
                </a:moveTo>
                <a:lnTo>
                  <a:pt x="90043" y="0"/>
                </a:lnTo>
                <a:lnTo>
                  <a:pt x="69583" y="7404"/>
                </a:lnTo>
                <a:lnTo>
                  <a:pt x="51638" y="18110"/>
                </a:lnTo>
                <a:lnTo>
                  <a:pt x="23241" y="49491"/>
                </a:lnTo>
                <a:lnTo>
                  <a:pt x="5803" y="91440"/>
                </a:lnTo>
                <a:lnTo>
                  <a:pt x="0" y="141236"/>
                </a:lnTo>
                <a:lnTo>
                  <a:pt x="1447" y="167182"/>
                </a:lnTo>
                <a:lnTo>
                  <a:pt x="13068" y="213055"/>
                </a:lnTo>
                <a:lnTo>
                  <a:pt x="36118" y="250291"/>
                </a:lnTo>
                <a:lnTo>
                  <a:pt x="69507" y="274955"/>
                </a:lnTo>
                <a:lnTo>
                  <a:pt x="90043" y="282333"/>
                </a:lnTo>
                <a:lnTo>
                  <a:pt x="93599" y="270865"/>
                </a:lnTo>
                <a:lnTo>
                  <a:pt x="77520" y="263753"/>
                </a:lnTo>
                <a:lnTo>
                  <a:pt x="63639" y="253834"/>
                </a:lnTo>
                <a:lnTo>
                  <a:pt x="35204" y="207594"/>
                </a:lnTo>
                <a:lnTo>
                  <a:pt x="26822" y="164655"/>
                </a:lnTo>
                <a:lnTo>
                  <a:pt x="25781" y="139750"/>
                </a:lnTo>
                <a:lnTo>
                  <a:pt x="26822" y="115671"/>
                </a:lnTo>
                <a:lnTo>
                  <a:pt x="35204" y="73888"/>
                </a:lnTo>
                <a:lnTo>
                  <a:pt x="63754" y="28384"/>
                </a:lnTo>
                <a:lnTo>
                  <a:pt x="77787" y="18554"/>
                </a:lnTo>
                <a:lnTo>
                  <a:pt x="94107" y="11455"/>
                </a:lnTo>
                <a:close/>
              </a:path>
              <a:path w="370204" h="282575">
                <a:moveTo>
                  <a:pt x="270383" y="10845"/>
                </a:moveTo>
                <a:lnTo>
                  <a:pt x="99695" y="10845"/>
                </a:lnTo>
                <a:lnTo>
                  <a:pt x="99695" y="30657"/>
                </a:lnTo>
                <a:lnTo>
                  <a:pt x="270383" y="30657"/>
                </a:lnTo>
                <a:lnTo>
                  <a:pt x="270383" y="10845"/>
                </a:lnTo>
                <a:close/>
              </a:path>
              <a:path w="370204" h="282575">
                <a:moveTo>
                  <a:pt x="370078" y="141236"/>
                </a:moveTo>
                <a:lnTo>
                  <a:pt x="364261" y="91440"/>
                </a:lnTo>
                <a:lnTo>
                  <a:pt x="346837" y="49491"/>
                </a:lnTo>
                <a:lnTo>
                  <a:pt x="318477" y="18110"/>
                </a:lnTo>
                <a:lnTo>
                  <a:pt x="280035" y="0"/>
                </a:lnTo>
                <a:lnTo>
                  <a:pt x="276098" y="11455"/>
                </a:lnTo>
                <a:lnTo>
                  <a:pt x="292404" y="18554"/>
                </a:lnTo>
                <a:lnTo>
                  <a:pt x="306451" y="28384"/>
                </a:lnTo>
                <a:lnTo>
                  <a:pt x="334962" y="73888"/>
                </a:lnTo>
                <a:lnTo>
                  <a:pt x="343268" y="115671"/>
                </a:lnTo>
                <a:lnTo>
                  <a:pt x="344297" y="139750"/>
                </a:lnTo>
                <a:lnTo>
                  <a:pt x="343268" y="164655"/>
                </a:lnTo>
                <a:lnTo>
                  <a:pt x="334962" y="207594"/>
                </a:lnTo>
                <a:lnTo>
                  <a:pt x="306489" y="253834"/>
                </a:lnTo>
                <a:lnTo>
                  <a:pt x="276479" y="270865"/>
                </a:lnTo>
                <a:lnTo>
                  <a:pt x="280035" y="282333"/>
                </a:lnTo>
                <a:lnTo>
                  <a:pt x="318579" y="264274"/>
                </a:lnTo>
                <a:lnTo>
                  <a:pt x="346837" y="232994"/>
                </a:lnTo>
                <a:lnTo>
                  <a:pt x="364261" y="191122"/>
                </a:lnTo>
                <a:lnTo>
                  <a:pt x="368617" y="167182"/>
                </a:lnTo>
                <a:lnTo>
                  <a:pt x="370078" y="141236"/>
                </a:lnTo>
                <a:close/>
              </a:path>
            </a:pathLst>
          </a:custGeom>
          <a:solidFill>
            <a:srgbClr val="3C3C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3590925" y="5978144"/>
            <a:ext cx="1879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3C3C3C"/>
                </a:solidFill>
                <a:latin typeface="Cambria Math"/>
                <a:cs typeface="Cambria Math"/>
              </a:rPr>
              <a:t>𝑥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4307078" y="5993815"/>
            <a:ext cx="481965" cy="20320"/>
          </a:xfrm>
          <a:custGeom>
            <a:avLst/>
            <a:gdLst/>
            <a:ahLst/>
            <a:cxnLst/>
            <a:rect l="l" t="t" r="r" b="b"/>
            <a:pathLst>
              <a:path w="481964" h="20320">
                <a:moveTo>
                  <a:pt x="481584" y="0"/>
                </a:moveTo>
                <a:lnTo>
                  <a:pt x="0" y="0"/>
                </a:lnTo>
                <a:lnTo>
                  <a:pt x="0" y="19811"/>
                </a:lnTo>
                <a:lnTo>
                  <a:pt x="481584" y="19811"/>
                </a:lnTo>
                <a:lnTo>
                  <a:pt x="481584" y="0"/>
                </a:lnTo>
                <a:close/>
              </a:path>
            </a:pathLst>
          </a:custGeom>
          <a:solidFill>
            <a:srgbClr val="3C3C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3590925" y="5543499"/>
            <a:ext cx="10553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73125" algn="l"/>
              </a:tabLst>
            </a:pPr>
            <a:r>
              <a:rPr sz="2400" dirty="0">
                <a:solidFill>
                  <a:srgbClr val="3C3C3C"/>
                </a:solidFill>
                <a:latin typeface="Cambria Math"/>
                <a:cs typeface="Cambria Math"/>
              </a:rPr>
              <a:t>𝑥	1</a:t>
            </a:r>
            <a:endParaRPr sz="2400" dirty="0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269613" y="5886399"/>
            <a:ext cx="5391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spc="97" baseline="-16203" dirty="0">
                <a:solidFill>
                  <a:srgbClr val="3C3C3C"/>
                </a:solidFill>
                <a:latin typeface="Cambria Math"/>
                <a:cs typeface="Cambria Math"/>
              </a:rPr>
              <a:t>𝑒</a:t>
            </a:r>
            <a:r>
              <a:rPr sz="1750" spc="65" dirty="0">
                <a:solidFill>
                  <a:srgbClr val="3C3C3C"/>
                </a:solidFill>
                <a:latin typeface="Cambria Math"/>
                <a:cs typeface="Cambria Math"/>
              </a:rPr>
              <a:t>−𝑏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982592" y="5773318"/>
            <a:ext cx="116776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90269" algn="l"/>
              </a:tabLst>
            </a:pPr>
            <a:r>
              <a:rPr sz="2400" dirty="0">
                <a:solidFill>
                  <a:srgbClr val="3C3C3C"/>
                </a:solidFill>
                <a:latin typeface="Cambria Math"/>
                <a:cs typeface="Cambria Math"/>
              </a:rPr>
              <a:t>=	⇒</a:t>
            </a:r>
            <a:endParaRPr sz="2400" dirty="0">
              <a:latin typeface="Cambria Math"/>
              <a:cs typeface="Cambria Math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5864605" y="5993815"/>
            <a:ext cx="723900" cy="20320"/>
          </a:xfrm>
          <a:custGeom>
            <a:avLst/>
            <a:gdLst/>
            <a:ahLst/>
            <a:cxnLst/>
            <a:rect l="l" t="t" r="r" b="b"/>
            <a:pathLst>
              <a:path w="723900" h="20320">
                <a:moveTo>
                  <a:pt x="723900" y="0"/>
                </a:moveTo>
                <a:lnTo>
                  <a:pt x="0" y="0"/>
                </a:lnTo>
                <a:lnTo>
                  <a:pt x="0" y="19811"/>
                </a:lnTo>
                <a:lnTo>
                  <a:pt x="723900" y="19811"/>
                </a:lnTo>
                <a:lnTo>
                  <a:pt x="723900" y="0"/>
                </a:lnTo>
                <a:close/>
              </a:path>
            </a:pathLst>
          </a:custGeom>
          <a:solidFill>
            <a:srgbClr val="3C3C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5229859" y="5584825"/>
            <a:ext cx="1420495" cy="835025"/>
          </a:xfrm>
          <a:prstGeom prst="rect">
            <a:avLst/>
          </a:prstGeom>
          <a:ln w="19811">
            <a:solidFill>
              <a:srgbClr val="3C3C3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00430">
              <a:lnSpc>
                <a:spcPts val="2120"/>
              </a:lnSpc>
            </a:pPr>
            <a:r>
              <a:rPr sz="2400" dirty="0">
                <a:solidFill>
                  <a:srgbClr val="3C3C3C"/>
                </a:solidFill>
                <a:latin typeface="Cambria Math"/>
                <a:cs typeface="Cambria Math"/>
              </a:rPr>
              <a:t>𝛽</a:t>
            </a:r>
            <a:endParaRPr sz="2400" dirty="0">
              <a:latin typeface="Cambria Math"/>
              <a:cs typeface="Cambria Math"/>
            </a:endParaRPr>
          </a:p>
          <a:p>
            <a:pPr marL="62230">
              <a:lnSpc>
                <a:spcPts val="1710"/>
              </a:lnSpc>
            </a:pPr>
            <a:r>
              <a:rPr sz="2400" dirty="0">
                <a:solidFill>
                  <a:srgbClr val="3C3C3C"/>
                </a:solidFill>
                <a:latin typeface="Cambria Math"/>
                <a:cs typeface="Cambria Math"/>
              </a:rPr>
              <a:t>𝑎</a:t>
            </a:r>
            <a:r>
              <a:rPr sz="2400" spc="145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3C3C3C"/>
                </a:solidFill>
                <a:latin typeface="Cambria Math"/>
                <a:cs typeface="Cambria Math"/>
              </a:rPr>
              <a:t>=</a:t>
            </a:r>
            <a:endParaRPr sz="2400" dirty="0">
              <a:latin typeface="Cambria Math"/>
              <a:cs typeface="Cambria Math"/>
            </a:endParaRPr>
          </a:p>
          <a:p>
            <a:pPr marL="635635">
              <a:lnSpc>
                <a:spcPts val="2245"/>
              </a:lnSpc>
            </a:pPr>
            <a:r>
              <a:rPr sz="2400" dirty="0">
                <a:solidFill>
                  <a:srgbClr val="3C3C3C"/>
                </a:solidFill>
                <a:latin typeface="Cambria Math"/>
                <a:cs typeface="Cambria Math"/>
              </a:rPr>
              <a:t>𝛽</a:t>
            </a:r>
            <a:r>
              <a:rPr sz="2400" spc="40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3C3C3C"/>
                </a:solidFill>
                <a:latin typeface="Cambria Math"/>
                <a:cs typeface="Cambria Math"/>
              </a:rPr>
              <a:t>−</a:t>
            </a:r>
            <a:r>
              <a:rPr sz="2400" spc="-45" dirty="0">
                <a:solidFill>
                  <a:srgbClr val="3C3C3C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3C3C3C"/>
                </a:solidFill>
                <a:latin typeface="Cambria Math"/>
                <a:cs typeface="Cambria Math"/>
              </a:rPr>
              <a:t>1</a:t>
            </a:r>
            <a:endParaRPr sz="2400" dirty="0">
              <a:latin typeface="Cambria Math"/>
              <a:cs typeface="Cambria Math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351646" y="6054344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4590B8"/>
                </a:solidFill>
                <a:latin typeface="Trebuchet MS"/>
                <a:cs typeface="Trebuchet MS"/>
              </a:rPr>
              <a:t>30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42" name="Imagen 41">
            <a:extLst>
              <a:ext uri="{FF2B5EF4-FFF2-40B4-BE49-F238E27FC236}">
                <a16:creationId xmlns:a16="http://schemas.microsoft.com/office/drawing/2014/main" id="{D2C59DFB-B69F-DE77-C996-C43A7B407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7293" y="2895601"/>
            <a:ext cx="4743968" cy="17918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5C68E060-3D95-6396-6845-83078CA699CB}"/>
                  </a:ext>
                </a:extLst>
              </p:cNvPr>
              <p:cNvSpPr txBox="1"/>
              <p:nvPr/>
            </p:nvSpPr>
            <p:spPr>
              <a:xfrm>
                <a:off x="6832655" y="2671524"/>
                <a:ext cx="2170031" cy="4031873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s-CO" sz="1600" dirty="0"/>
                  <a:t>El parámetro </a:t>
                </a:r>
                <a14:m>
                  <m:oMath xmlns:m="http://schemas.openxmlformats.org/officeDocument/2006/math">
                    <m:r>
                      <a:rPr lang="es-CO" sz="16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s-CO" sz="1600" dirty="0"/>
                  <a:t>, capta la </a:t>
                </a:r>
                <a:r>
                  <a:rPr lang="es-419" sz="1600" dirty="0"/>
                  <a:t>actitud de riesgo del decisor. </a:t>
                </a:r>
              </a:p>
              <a:p>
                <a:r>
                  <a:rPr lang="es-419" sz="1600" dirty="0"/>
                  <a:t>Mide qué tan rápido decrece la utilidad marginal conforme aumenta la riqueza. </a:t>
                </a:r>
              </a:p>
              <a:p>
                <a:endParaRPr lang="es-419" sz="1600" dirty="0"/>
              </a:p>
              <a:p>
                <a:r>
                  <a:rPr lang="es-419" sz="1600" dirty="0"/>
                  <a:t>Si </a:t>
                </a:r>
                <a14:m>
                  <m:oMath xmlns:m="http://schemas.openxmlformats.org/officeDocument/2006/math">
                    <m:r>
                      <a:rPr lang="es-CO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s-CO" sz="1600" dirty="0"/>
                  <a:t> &gt;1, la </a:t>
                </a:r>
                <a:r>
                  <a:rPr lang="es-CO" sz="1600" dirty="0" err="1"/>
                  <a:t>Util</a:t>
                </a:r>
                <a:r>
                  <a:rPr lang="es-CO" sz="1600" dirty="0"/>
                  <a:t> Marginal disminuye rápido: aversión al riesgo.</a:t>
                </a:r>
              </a:p>
              <a:p>
                <a:r>
                  <a:rPr lang="es-CO" sz="1600" dirty="0"/>
                  <a:t>Si </a:t>
                </a:r>
                <a14:m>
                  <m:oMath xmlns:m="http://schemas.openxmlformats.org/officeDocument/2006/math">
                    <m:r>
                      <a:rPr lang="es-CO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s-CO" sz="16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s-419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s-CO" sz="1600" dirty="0"/>
                  <a:t>: Riesgo neutral.</a:t>
                </a:r>
              </a:p>
              <a:p>
                <a:r>
                  <a:rPr lang="es-CO" sz="1600" dirty="0"/>
                  <a:t>Si </a:t>
                </a:r>
                <a14:m>
                  <m:oMath xmlns:m="http://schemas.openxmlformats.org/officeDocument/2006/math">
                    <m:r>
                      <a:rPr lang="es-CO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s-419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s-419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s-CO" sz="1600" dirty="0"/>
                  <a:t>: Propenso al riesgo.</a:t>
                </a:r>
              </a:p>
              <a:p>
                <a:endParaRPr lang="es-CO" sz="1600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5C68E060-3D95-6396-6845-83078CA699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2655" y="2671524"/>
                <a:ext cx="2170031" cy="4031873"/>
              </a:xfrm>
              <a:prstGeom prst="rect">
                <a:avLst/>
              </a:prstGeom>
              <a:blipFill>
                <a:blip r:embed="rId3"/>
                <a:stretch>
                  <a:fillRect l="-1754" t="-629" r="-3509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5955" y="885035"/>
            <a:ext cx="7954645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spc="30" dirty="0"/>
              <a:t>Algunas</a:t>
            </a:r>
            <a:r>
              <a:rPr spc="-55" dirty="0"/>
              <a:t> </a:t>
            </a:r>
            <a:r>
              <a:rPr spc="-30" dirty="0"/>
              <a:t>de</a:t>
            </a:r>
            <a:r>
              <a:rPr spc="-55" dirty="0"/>
              <a:t> </a:t>
            </a:r>
            <a:r>
              <a:rPr spc="-20" dirty="0"/>
              <a:t>las</a:t>
            </a:r>
            <a:r>
              <a:rPr spc="-70" dirty="0"/>
              <a:t> </a:t>
            </a:r>
            <a:r>
              <a:rPr spc="-10" dirty="0"/>
              <a:t>Funciones</a:t>
            </a:r>
            <a:r>
              <a:rPr spc="-50" dirty="0"/>
              <a:t> </a:t>
            </a:r>
            <a:r>
              <a:rPr spc="-20" dirty="0"/>
              <a:t>de</a:t>
            </a:r>
            <a:r>
              <a:rPr spc="-50" dirty="0"/>
              <a:t> </a:t>
            </a:r>
            <a:r>
              <a:rPr spc="15" dirty="0" err="1"/>
              <a:t>Utilidad</a:t>
            </a:r>
            <a:r>
              <a:rPr lang="es-CO" spc="15" dirty="0"/>
              <a:t> </a:t>
            </a:r>
            <a:r>
              <a:rPr lang="es-ES" spc="-25" dirty="0"/>
              <a:t>de</a:t>
            </a:r>
            <a:r>
              <a:rPr lang="es-ES" spc="-45" dirty="0"/>
              <a:t> </a:t>
            </a:r>
            <a:r>
              <a:rPr lang="es-ES" spc="5" dirty="0"/>
              <a:t>uso</a:t>
            </a:r>
            <a:r>
              <a:rPr lang="es-ES" spc="-25" dirty="0"/>
              <a:t> </a:t>
            </a:r>
            <a:r>
              <a:rPr lang="es-ES" spc="55" dirty="0"/>
              <a:t>más</a:t>
            </a:r>
            <a:r>
              <a:rPr lang="es-ES" spc="-60" dirty="0"/>
              <a:t> </a:t>
            </a:r>
            <a:r>
              <a:rPr lang="es-ES" spc="35" dirty="0"/>
              <a:t>común</a:t>
            </a:r>
            <a:r>
              <a:rPr lang="es-ES" spc="-35" dirty="0"/>
              <a:t> </a:t>
            </a:r>
            <a:r>
              <a:rPr lang="es-ES" spc="-30" dirty="0"/>
              <a:t>en</a:t>
            </a:r>
            <a:r>
              <a:rPr lang="es-ES" spc="-45" dirty="0"/>
              <a:t> </a:t>
            </a:r>
            <a:r>
              <a:rPr lang="es-ES" spc="-20" dirty="0"/>
              <a:t>las</a:t>
            </a:r>
            <a:r>
              <a:rPr lang="es-ES" spc="-60" dirty="0"/>
              <a:t> </a:t>
            </a:r>
            <a:r>
              <a:rPr lang="es-ES" spc="-35" dirty="0"/>
              <a:t>aplicaciones.</a:t>
            </a:r>
            <a:r>
              <a:rPr lang="es-ES" spc="-250" dirty="0"/>
              <a:t> </a:t>
            </a:r>
            <a:r>
              <a:rPr lang="es-ES" spc="-10" dirty="0"/>
              <a:t>Funciones</a:t>
            </a:r>
            <a:r>
              <a:rPr lang="es-ES" spc="-20" dirty="0"/>
              <a:t> </a:t>
            </a:r>
            <a:r>
              <a:rPr lang="es-ES" u="sng" spc="-40" dirty="0">
                <a:uFill>
                  <a:solidFill>
                    <a:srgbClr val="3C3C3C"/>
                  </a:solidFill>
                </a:uFill>
              </a:rPr>
              <a:t>crecientes</a:t>
            </a:r>
            <a:r>
              <a:rPr lang="es-ES" spc="-40" dirty="0"/>
              <a:t>.</a:t>
            </a:r>
            <a:br>
              <a:rPr lang="es-ES" dirty="0"/>
            </a:br>
            <a:endParaRPr spc="15" dirty="0"/>
          </a:p>
        </p:txBody>
      </p:sp>
      <p:sp>
        <p:nvSpPr>
          <p:cNvPr id="3" name="object 3"/>
          <p:cNvSpPr txBox="1"/>
          <p:nvPr/>
        </p:nvSpPr>
        <p:spPr>
          <a:xfrm>
            <a:off x="402437" y="1193038"/>
            <a:ext cx="8290559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1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785"/>
              </a:spcBef>
            </a:pP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La</a:t>
            </a:r>
            <a:r>
              <a:rPr sz="18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210" dirty="0">
                <a:solidFill>
                  <a:srgbClr val="3C3C3C"/>
                </a:solidFill>
                <a:latin typeface="Trebuchet MS"/>
                <a:cs typeface="Trebuchet MS"/>
              </a:rPr>
              <a:t>f.u.</a:t>
            </a:r>
            <a:r>
              <a:rPr sz="1800" spc="-2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3C3C3C"/>
                </a:solidFill>
                <a:latin typeface="Trebuchet MS"/>
                <a:cs typeface="Trebuchet MS"/>
              </a:rPr>
              <a:t>específica</a:t>
            </a:r>
            <a:r>
              <a:rPr sz="1800" spc="-5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que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3C3C3C"/>
                </a:solidFill>
                <a:latin typeface="Trebuchet MS"/>
                <a:cs typeface="Trebuchet MS"/>
              </a:rPr>
              <a:t>se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3C3C3C"/>
                </a:solidFill>
                <a:latin typeface="Trebuchet MS"/>
                <a:cs typeface="Trebuchet MS"/>
              </a:rPr>
              <a:t>usa</a:t>
            </a:r>
            <a:r>
              <a:rPr sz="18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3C3C3C"/>
                </a:solidFill>
                <a:latin typeface="Trebuchet MS"/>
                <a:cs typeface="Trebuchet MS"/>
              </a:rPr>
              <a:t>varía</a:t>
            </a:r>
            <a:r>
              <a:rPr sz="18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3C3C3C"/>
                </a:solidFill>
                <a:latin typeface="Trebuchet MS"/>
                <a:cs typeface="Trebuchet MS"/>
              </a:rPr>
              <a:t>dependiendo</a:t>
            </a:r>
            <a:r>
              <a:rPr sz="1800" spc="-5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de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3C3C3C"/>
                </a:solidFill>
                <a:latin typeface="Trebuchet MS"/>
                <a:cs typeface="Trebuchet MS"/>
              </a:rPr>
              <a:t>las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3C3C3C"/>
                </a:solidFill>
                <a:latin typeface="Trebuchet MS"/>
                <a:cs typeface="Trebuchet MS"/>
              </a:rPr>
              <a:t>características</a:t>
            </a:r>
            <a:r>
              <a:rPr sz="1800" spc="-7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3C3C3C"/>
                </a:solidFill>
                <a:latin typeface="Trebuchet MS"/>
                <a:cs typeface="Trebuchet MS"/>
              </a:rPr>
              <a:t>del</a:t>
            </a:r>
            <a:r>
              <a:rPr sz="1800" spc="-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3C3C3C"/>
                </a:solidFill>
                <a:latin typeface="Trebuchet MS"/>
                <a:cs typeface="Trebuchet MS"/>
              </a:rPr>
              <a:t>decisor</a:t>
            </a:r>
            <a:r>
              <a:rPr sz="18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en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3C3C3C"/>
                </a:solidFill>
                <a:latin typeface="Trebuchet MS"/>
                <a:cs typeface="Trebuchet MS"/>
              </a:rPr>
              <a:t>cuanto</a:t>
            </a: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180" dirty="0">
                <a:solidFill>
                  <a:srgbClr val="3C3C3C"/>
                </a:solidFill>
                <a:latin typeface="Trebuchet MS"/>
                <a:cs typeface="Trebuchet MS"/>
              </a:rPr>
              <a:t>a</a:t>
            </a:r>
            <a:r>
              <a:rPr sz="1800" spc="-5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60" dirty="0">
                <a:solidFill>
                  <a:srgbClr val="3C3C3C"/>
                </a:solidFill>
                <a:latin typeface="Trebuchet MS"/>
                <a:cs typeface="Trebuchet MS"/>
              </a:rPr>
              <a:t>su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3C3C3C"/>
                </a:solidFill>
                <a:latin typeface="Trebuchet MS"/>
                <a:cs typeface="Trebuchet MS"/>
              </a:rPr>
              <a:t>actitud</a:t>
            </a:r>
            <a:r>
              <a:rPr sz="1800" spc="-6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35" dirty="0">
                <a:solidFill>
                  <a:srgbClr val="3C3C3C"/>
                </a:solidFill>
                <a:latin typeface="Trebuchet MS"/>
                <a:cs typeface="Trebuchet MS"/>
              </a:rPr>
              <a:t>hacia</a:t>
            </a:r>
            <a:r>
              <a:rPr sz="18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30" dirty="0">
                <a:solidFill>
                  <a:srgbClr val="3C3C3C"/>
                </a:solidFill>
                <a:latin typeface="Trebuchet MS"/>
                <a:cs typeface="Trebuchet MS"/>
              </a:rPr>
              <a:t>el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3C3C3C"/>
                </a:solidFill>
                <a:latin typeface="Trebuchet MS"/>
                <a:cs typeface="Trebuchet MS"/>
              </a:rPr>
              <a:t>riesgo,</a:t>
            </a:r>
            <a:r>
              <a:rPr sz="1800" spc="-2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60" dirty="0">
                <a:solidFill>
                  <a:srgbClr val="3C3C3C"/>
                </a:solidFill>
                <a:latin typeface="Trebuchet MS"/>
                <a:cs typeface="Trebuchet MS"/>
              </a:rPr>
              <a:t>su</a:t>
            </a:r>
            <a:r>
              <a:rPr sz="18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3C3C3C"/>
                </a:solidFill>
                <a:latin typeface="Trebuchet MS"/>
                <a:cs typeface="Trebuchet MS"/>
              </a:rPr>
              <a:t>tolerancia</a:t>
            </a:r>
            <a:r>
              <a:rPr sz="1800" spc="-5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60" dirty="0">
                <a:solidFill>
                  <a:srgbClr val="3C3C3C"/>
                </a:solidFill>
                <a:latin typeface="Trebuchet MS"/>
                <a:cs typeface="Trebuchet MS"/>
              </a:rPr>
              <a:t>al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3C3C3C"/>
                </a:solidFill>
                <a:latin typeface="Trebuchet MS"/>
                <a:cs typeface="Trebuchet MS"/>
              </a:rPr>
              <a:t>riesgo,</a:t>
            </a:r>
            <a:r>
              <a:rPr sz="1800" spc="-2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3C3C3C"/>
                </a:solidFill>
                <a:latin typeface="Trebuchet MS"/>
                <a:cs typeface="Trebuchet MS"/>
              </a:rPr>
              <a:t>y</a:t>
            </a:r>
            <a:r>
              <a:rPr sz="18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60" dirty="0">
                <a:solidFill>
                  <a:srgbClr val="3C3C3C"/>
                </a:solidFill>
                <a:latin typeface="Trebuchet MS"/>
                <a:cs typeface="Trebuchet MS"/>
              </a:rPr>
              <a:t>su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3C3C3C"/>
                </a:solidFill>
                <a:latin typeface="Trebuchet MS"/>
                <a:cs typeface="Trebuchet MS"/>
              </a:rPr>
              <a:t>entorno</a:t>
            </a:r>
            <a:r>
              <a:rPr sz="1800" spc="-6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financiero</a:t>
            </a:r>
            <a:r>
              <a:rPr sz="18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30" dirty="0">
                <a:solidFill>
                  <a:srgbClr val="3C3C3C"/>
                </a:solidFill>
                <a:latin typeface="Trebuchet MS"/>
                <a:cs typeface="Trebuchet MS"/>
              </a:rPr>
              <a:t>individual.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51646" y="6054344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4590B8"/>
                </a:solidFill>
                <a:latin typeface="Trebuchet MS"/>
                <a:cs typeface="Trebuchet MS"/>
              </a:rPr>
              <a:t>31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9720" y="2735071"/>
            <a:ext cx="461899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0" indent="-457200">
              <a:lnSpc>
                <a:spcPts val="2155"/>
              </a:lnSpc>
              <a:spcBef>
                <a:spcPts val="100"/>
              </a:spcBef>
              <a:buFont typeface="Arial MT"/>
              <a:buAutoNum type="arabicPeriod"/>
              <a:tabLst>
                <a:tab pos="507365" algn="l"/>
                <a:tab pos="508000" algn="l"/>
                <a:tab pos="4313555" algn="l"/>
              </a:tabLst>
            </a:pPr>
            <a:r>
              <a:rPr sz="1800" spc="-114" dirty="0">
                <a:latin typeface="Trebuchet MS"/>
                <a:cs typeface="Trebuchet MS"/>
              </a:rPr>
              <a:t>Lineal	</a:t>
            </a:r>
            <a:r>
              <a:rPr sz="1800" spc="-160" dirty="0">
                <a:latin typeface="Trebuchet MS"/>
                <a:cs typeface="Trebuchet MS"/>
              </a:rPr>
              <a:t>4.</a:t>
            </a:r>
            <a:endParaRPr sz="1800" dirty="0">
              <a:latin typeface="Trebuchet MS"/>
              <a:cs typeface="Trebuchet MS"/>
            </a:endParaRPr>
          </a:p>
          <a:p>
            <a:pPr marL="508000">
              <a:lnSpc>
                <a:spcPts val="2155"/>
              </a:lnSpc>
            </a:pPr>
            <a:r>
              <a:rPr sz="1800" spc="-100" dirty="0">
                <a:latin typeface="Trebuchet MS"/>
                <a:cs typeface="Trebuchet MS"/>
              </a:rPr>
              <a:t>u</a:t>
            </a:r>
            <a:r>
              <a:rPr sz="1800" spc="-80" dirty="0">
                <a:latin typeface="Trebuchet MS"/>
                <a:cs typeface="Trebuchet MS"/>
              </a:rPr>
              <a:t>(</a:t>
            </a:r>
            <a:r>
              <a:rPr sz="1800" spc="-45" dirty="0">
                <a:latin typeface="Trebuchet MS"/>
                <a:cs typeface="Trebuchet MS"/>
              </a:rPr>
              <a:t>x)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105" dirty="0">
                <a:latin typeface="Trebuchet MS"/>
                <a:cs typeface="Trebuchet MS"/>
              </a:rPr>
              <a:t>=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80" dirty="0">
                <a:latin typeface="Trebuchet MS"/>
                <a:cs typeface="Trebuchet MS"/>
              </a:rPr>
              <a:t>a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105" dirty="0">
                <a:latin typeface="Trebuchet MS"/>
                <a:cs typeface="Trebuchet MS"/>
              </a:rPr>
              <a:t>+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bx</a:t>
            </a:r>
            <a:r>
              <a:rPr sz="1800" spc="-270" dirty="0">
                <a:latin typeface="Trebuchet MS"/>
                <a:cs typeface="Trebuchet MS"/>
              </a:rPr>
              <a:t>,</a:t>
            </a:r>
            <a:r>
              <a:rPr sz="1800" spc="-225" dirty="0">
                <a:latin typeface="Trebuchet MS"/>
                <a:cs typeface="Trebuchet MS"/>
              </a:rPr>
              <a:t> </a:t>
            </a:r>
            <a:r>
              <a:rPr sz="1800" spc="-105" dirty="0">
                <a:latin typeface="Trebuchet MS"/>
                <a:cs typeface="Trebuchet MS"/>
              </a:rPr>
              <a:t>b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105" dirty="0">
                <a:latin typeface="Trebuchet MS"/>
                <a:cs typeface="Trebuchet MS"/>
              </a:rPr>
              <a:t>&gt;</a:t>
            </a:r>
            <a:r>
              <a:rPr sz="1800" spc="-45" dirty="0">
                <a:latin typeface="Trebuchet MS"/>
                <a:cs typeface="Trebuchet MS"/>
              </a:rPr>
              <a:t> 0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850" dirty="0">
              <a:latin typeface="Trebuchet MS"/>
              <a:cs typeface="Trebuchet MS"/>
            </a:endParaRPr>
          </a:p>
          <a:p>
            <a:pPr marL="508000" indent="-393700">
              <a:lnSpc>
                <a:spcPct val="100000"/>
              </a:lnSpc>
              <a:buAutoNum type="arabicPeriod" startAt="2"/>
              <a:tabLst>
                <a:tab pos="507365" algn="l"/>
                <a:tab pos="508000" algn="l"/>
                <a:tab pos="4377690" algn="l"/>
              </a:tabLst>
            </a:pPr>
            <a:r>
              <a:rPr sz="1800" spc="-90" dirty="0">
                <a:latin typeface="Trebuchet MS"/>
                <a:cs typeface="Trebuchet MS"/>
              </a:rPr>
              <a:t>Exponencial	</a:t>
            </a:r>
            <a:r>
              <a:rPr sz="1800" spc="-160" dirty="0">
                <a:latin typeface="Trebuchet MS"/>
                <a:cs typeface="Trebuchet MS"/>
              </a:rPr>
              <a:t>5.</a:t>
            </a:r>
            <a:endParaRPr sz="1800" dirty="0">
              <a:latin typeface="Trebuchet MS"/>
              <a:cs typeface="Trebuchet MS"/>
            </a:endParaRPr>
          </a:p>
          <a:p>
            <a:pPr marL="508000">
              <a:lnSpc>
                <a:spcPct val="100000"/>
              </a:lnSpc>
              <a:spcBef>
                <a:spcPts val="15"/>
              </a:spcBef>
            </a:pPr>
            <a:r>
              <a:rPr sz="1800" spc="-100" dirty="0">
                <a:latin typeface="Trebuchet MS"/>
                <a:cs typeface="Trebuchet MS"/>
              </a:rPr>
              <a:t>u</a:t>
            </a:r>
            <a:r>
              <a:rPr sz="1800" spc="-80" dirty="0">
                <a:latin typeface="Trebuchet MS"/>
                <a:cs typeface="Trebuchet MS"/>
              </a:rPr>
              <a:t>(</a:t>
            </a:r>
            <a:r>
              <a:rPr sz="1800" spc="-45" dirty="0">
                <a:latin typeface="Trebuchet MS"/>
                <a:cs typeface="Trebuchet MS"/>
              </a:rPr>
              <a:t>x)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105" dirty="0">
                <a:latin typeface="Trebuchet MS"/>
                <a:cs typeface="Trebuchet MS"/>
              </a:rPr>
              <a:t>=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00" dirty="0">
                <a:latin typeface="Trebuchet MS"/>
                <a:cs typeface="Trebuchet MS"/>
              </a:rPr>
              <a:t>u</a:t>
            </a:r>
            <a:r>
              <a:rPr sz="1800" spc="-80" dirty="0">
                <a:latin typeface="Trebuchet MS"/>
                <a:cs typeface="Trebuchet MS"/>
              </a:rPr>
              <a:t>(</a:t>
            </a:r>
            <a:r>
              <a:rPr sz="1800" spc="-45" dirty="0">
                <a:latin typeface="Trebuchet MS"/>
                <a:cs typeface="Trebuchet MS"/>
              </a:rPr>
              <a:t>x)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105" dirty="0">
                <a:latin typeface="Trebuchet MS"/>
                <a:cs typeface="Trebuchet MS"/>
              </a:rPr>
              <a:t>=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80" dirty="0">
                <a:latin typeface="Trebuchet MS"/>
                <a:cs typeface="Trebuchet MS"/>
              </a:rPr>
              <a:t>a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-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14" dirty="0">
                <a:latin typeface="Trebuchet MS"/>
                <a:cs typeface="Trebuchet MS"/>
              </a:rPr>
              <a:t>be</a:t>
            </a:r>
            <a:r>
              <a:rPr sz="1800" spc="-89" baseline="25462" dirty="0">
                <a:latin typeface="Trebuchet MS"/>
                <a:cs typeface="Trebuchet MS"/>
              </a:rPr>
              <a:t>-</a:t>
            </a:r>
            <a:r>
              <a:rPr sz="1800" spc="-52" baseline="25462" dirty="0">
                <a:latin typeface="Trebuchet MS"/>
                <a:cs typeface="Trebuchet MS"/>
              </a:rPr>
              <a:t>cx</a:t>
            </a:r>
            <a:r>
              <a:rPr sz="1800" spc="-270" dirty="0">
                <a:latin typeface="Trebuchet MS"/>
                <a:cs typeface="Trebuchet MS"/>
              </a:rPr>
              <a:t>,</a:t>
            </a:r>
            <a:r>
              <a:rPr sz="1800" spc="-225" dirty="0">
                <a:latin typeface="Trebuchet MS"/>
                <a:cs typeface="Trebuchet MS"/>
              </a:rPr>
              <a:t> </a:t>
            </a:r>
            <a:r>
              <a:rPr sz="1800" spc="-100" dirty="0">
                <a:latin typeface="Trebuchet MS"/>
                <a:cs typeface="Trebuchet MS"/>
              </a:rPr>
              <a:t>c</a:t>
            </a:r>
            <a:r>
              <a:rPr sz="1800" spc="-30" dirty="0">
                <a:latin typeface="Trebuchet MS"/>
                <a:cs typeface="Trebuchet MS"/>
              </a:rPr>
              <a:t>on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120" dirty="0">
                <a:latin typeface="Trebuchet MS"/>
                <a:cs typeface="Trebuchet MS"/>
              </a:rPr>
              <a:t>b</a:t>
            </a:r>
            <a:r>
              <a:rPr sz="1800" spc="-270" dirty="0">
                <a:latin typeface="Trebuchet MS"/>
                <a:cs typeface="Trebuchet MS"/>
              </a:rPr>
              <a:t>,</a:t>
            </a:r>
            <a:r>
              <a:rPr sz="1800" spc="-229" dirty="0">
                <a:latin typeface="Trebuchet MS"/>
                <a:cs typeface="Trebuchet MS"/>
              </a:rPr>
              <a:t> </a:t>
            </a:r>
            <a:r>
              <a:rPr sz="1800" spc="-105" dirty="0">
                <a:latin typeface="Trebuchet MS"/>
                <a:cs typeface="Trebuchet MS"/>
              </a:rPr>
              <a:t>c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Symbol"/>
                <a:cs typeface="Symbol"/>
              </a:rPr>
              <a:t>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0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1827" y="4379721"/>
            <a:ext cx="1845310" cy="5759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405765" marR="5080" indent="-393700">
              <a:lnSpc>
                <a:spcPct val="100600"/>
              </a:lnSpc>
              <a:spcBef>
                <a:spcPts val="85"/>
              </a:spcBef>
              <a:tabLst>
                <a:tab pos="405765" algn="l"/>
              </a:tabLst>
            </a:pPr>
            <a:r>
              <a:rPr sz="1800" spc="-160" dirty="0">
                <a:latin typeface="Trebuchet MS"/>
                <a:cs typeface="Trebuchet MS"/>
              </a:rPr>
              <a:t>3.	</a:t>
            </a:r>
            <a:r>
              <a:rPr sz="1800" spc="-95" dirty="0">
                <a:latin typeface="Trebuchet MS"/>
                <a:cs typeface="Trebuchet MS"/>
              </a:rPr>
              <a:t>Logarítmica </a:t>
            </a:r>
            <a:r>
              <a:rPr sz="1800" spc="-90" dirty="0">
                <a:latin typeface="Trebuchet MS"/>
                <a:cs typeface="Trebuchet MS"/>
              </a:rPr>
              <a:t> </a:t>
            </a:r>
            <a:r>
              <a:rPr sz="1800" spc="-100" dirty="0">
                <a:latin typeface="Trebuchet MS"/>
                <a:cs typeface="Trebuchet MS"/>
              </a:rPr>
              <a:t>u</a:t>
            </a:r>
            <a:r>
              <a:rPr sz="1800" spc="-80" dirty="0">
                <a:latin typeface="Trebuchet MS"/>
                <a:cs typeface="Trebuchet MS"/>
              </a:rPr>
              <a:t>(</a:t>
            </a:r>
            <a:r>
              <a:rPr sz="1800" spc="-45" dirty="0">
                <a:latin typeface="Trebuchet MS"/>
                <a:cs typeface="Trebuchet MS"/>
              </a:rPr>
              <a:t>x)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105" dirty="0">
                <a:latin typeface="Trebuchet MS"/>
                <a:cs typeface="Trebuchet MS"/>
              </a:rPr>
              <a:t>=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10" dirty="0">
                <a:latin typeface="Trebuchet MS"/>
                <a:cs typeface="Trebuchet MS"/>
              </a:rPr>
              <a:t>ln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85" dirty="0">
                <a:latin typeface="Trebuchet MS"/>
                <a:cs typeface="Trebuchet MS"/>
              </a:rPr>
              <a:t>(</a:t>
            </a:r>
            <a:r>
              <a:rPr sz="1800" dirty="0">
                <a:latin typeface="Trebuchet MS"/>
                <a:cs typeface="Trebuchet MS"/>
              </a:rPr>
              <a:t>x+b</a:t>
            </a:r>
            <a:r>
              <a:rPr sz="1800" spc="-90" dirty="0">
                <a:latin typeface="Trebuchet MS"/>
                <a:cs typeface="Trebuchet MS"/>
              </a:rPr>
              <a:t>)</a:t>
            </a:r>
            <a:r>
              <a:rPr sz="1800" spc="-270" dirty="0">
                <a:latin typeface="Trebuchet MS"/>
                <a:cs typeface="Trebuchet MS"/>
              </a:rPr>
              <a:t>,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92045" y="4655566"/>
            <a:ext cx="903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5" dirty="0">
                <a:latin typeface="Trebuchet MS"/>
                <a:cs typeface="Trebuchet MS"/>
              </a:rPr>
              <a:t>(x+b)</a:t>
            </a:r>
            <a:r>
              <a:rPr sz="1800" spc="-75" dirty="0">
                <a:latin typeface="Trebuchet MS"/>
                <a:cs typeface="Trebuchet MS"/>
              </a:rPr>
              <a:t> </a:t>
            </a:r>
            <a:r>
              <a:rPr sz="1800" dirty="0">
                <a:latin typeface="Symbol"/>
                <a:cs typeface="Symbol"/>
              </a:rPr>
              <a:t>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0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07483" y="2733547"/>
            <a:ext cx="3727450" cy="1398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</a:pPr>
            <a:r>
              <a:rPr sz="1800" spc="-105" dirty="0">
                <a:latin typeface="Trebuchet MS"/>
                <a:cs typeface="Trebuchet MS"/>
              </a:rPr>
              <a:t>Potencia</a:t>
            </a:r>
            <a:endParaRPr sz="1800">
              <a:latin typeface="Trebuchet MS"/>
              <a:cs typeface="Trebuchet MS"/>
            </a:endParaRPr>
          </a:p>
          <a:p>
            <a:pPr marL="63500">
              <a:lnSpc>
                <a:spcPct val="100000"/>
              </a:lnSpc>
              <a:spcBef>
                <a:spcPts val="10"/>
              </a:spcBef>
              <a:tabLst>
                <a:tab pos="2814320" algn="l"/>
              </a:tabLst>
            </a:pPr>
            <a:r>
              <a:rPr sz="1800" spc="-100" dirty="0">
                <a:latin typeface="Trebuchet MS"/>
                <a:cs typeface="Trebuchet MS"/>
              </a:rPr>
              <a:t>u</a:t>
            </a:r>
            <a:r>
              <a:rPr sz="1800" spc="-80" dirty="0">
                <a:latin typeface="Trebuchet MS"/>
                <a:cs typeface="Trebuchet MS"/>
              </a:rPr>
              <a:t>(</a:t>
            </a:r>
            <a:r>
              <a:rPr sz="1800" spc="-45" dirty="0">
                <a:latin typeface="Trebuchet MS"/>
                <a:cs typeface="Trebuchet MS"/>
              </a:rPr>
              <a:t>x)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105" dirty="0">
                <a:latin typeface="Trebuchet MS"/>
                <a:cs typeface="Trebuchet MS"/>
              </a:rPr>
              <a:t>=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90" dirty="0">
                <a:latin typeface="Trebuchet MS"/>
                <a:cs typeface="Trebuchet MS"/>
              </a:rPr>
              <a:t>(</a:t>
            </a:r>
            <a:r>
              <a:rPr sz="1800" dirty="0">
                <a:latin typeface="Trebuchet MS"/>
                <a:cs typeface="Trebuchet MS"/>
              </a:rPr>
              <a:t>x+b</a:t>
            </a:r>
            <a:r>
              <a:rPr sz="1800" spc="-90" dirty="0">
                <a:latin typeface="Trebuchet MS"/>
                <a:cs typeface="Trebuchet MS"/>
              </a:rPr>
              <a:t>)</a:t>
            </a:r>
            <a:r>
              <a:rPr sz="1800" spc="-89" baseline="25462" dirty="0">
                <a:latin typeface="Trebuchet MS"/>
                <a:cs typeface="Trebuchet MS"/>
              </a:rPr>
              <a:t>(</a:t>
            </a:r>
            <a:r>
              <a:rPr sz="1800" spc="-7" baseline="25462" dirty="0">
                <a:latin typeface="Arial MT"/>
                <a:cs typeface="Arial MT"/>
              </a:rPr>
              <a:t>1</a:t>
            </a:r>
            <a:r>
              <a:rPr sz="1800" spc="-82" baseline="25462" dirty="0">
                <a:latin typeface="Trebuchet MS"/>
                <a:cs typeface="Trebuchet MS"/>
              </a:rPr>
              <a:t>-</a:t>
            </a:r>
            <a:r>
              <a:rPr sz="1800" spc="-30" baseline="25462" dirty="0">
                <a:latin typeface="Trebuchet MS"/>
                <a:cs typeface="Trebuchet MS"/>
              </a:rPr>
              <a:t> </a:t>
            </a:r>
            <a:r>
              <a:rPr sz="1800" spc="-97" baseline="25462" dirty="0">
                <a:latin typeface="Trebuchet MS"/>
                <a:cs typeface="Trebuchet MS"/>
              </a:rPr>
              <a:t>c)</a:t>
            </a:r>
            <a:r>
              <a:rPr sz="1800" spc="202" baseline="25462" dirty="0">
                <a:latin typeface="Trebuchet MS"/>
                <a:cs typeface="Trebuchet MS"/>
              </a:rPr>
              <a:t> </a:t>
            </a:r>
            <a:r>
              <a:rPr sz="1800" spc="-270" dirty="0">
                <a:latin typeface="Trebuchet MS"/>
                <a:cs typeface="Trebuchet MS"/>
              </a:rPr>
              <a:t>,</a:t>
            </a:r>
            <a:r>
              <a:rPr sz="1800" spc="-225" dirty="0">
                <a:latin typeface="Trebuchet MS"/>
                <a:cs typeface="Trebuchet MS"/>
              </a:rPr>
              <a:t> </a:t>
            </a:r>
            <a:r>
              <a:rPr sz="1800" spc="-85" dirty="0">
                <a:latin typeface="Trebuchet MS"/>
                <a:cs typeface="Trebuchet MS"/>
              </a:rPr>
              <a:t>(</a:t>
            </a:r>
            <a:r>
              <a:rPr sz="1800" dirty="0">
                <a:latin typeface="Trebuchet MS"/>
                <a:cs typeface="Trebuchet MS"/>
              </a:rPr>
              <a:t>x+b</a:t>
            </a:r>
            <a:r>
              <a:rPr sz="1800" spc="-80" dirty="0">
                <a:latin typeface="Trebuchet MS"/>
                <a:cs typeface="Trebuchet MS"/>
              </a:rPr>
              <a:t>)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105" dirty="0">
                <a:latin typeface="Trebuchet MS"/>
                <a:cs typeface="Trebuchet MS"/>
              </a:rPr>
              <a:t>&gt;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60" dirty="0">
                <a:latin typeface="Trebuchet MS"/>
                <a:cs typeface="Trebuchet MS"/>
              </a:rPr>
              <a:t>0,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-45" dirty="0">
                <a:latin typeface="Trebuchet MS"/>
                <a:cs typeface="Trebuchet MS"/>
              </a:rPr>
              <a:t>0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105" dirty="0">
                <a:latin typeface="Trebuchet MS"/>
                <a:cs typeface="Trebuchet MS"/>
              </a:rPr>
              <a:t>&lt;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05" dirty="0">
                <a:latin typeface="Trebuchet MS"/>
                <a:cs typeface="Trebuchet MS"/>
              </a:rPr>
              <a:t>c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105" dirty="0">
                <a:latin typeface="Trebuchet MS"/>
                <a:cs typeface="Trebuchet MS"/>
              </a:rPr>
              <a:t>&lt;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850">
              <a:latin typeface="Arial MT"/>
              <a:cs typeface="Arial MT"/>
            </a:endParaRPr>
          </a:p>
          <a:p>
            <a:pPr marL="63500">
              <a:lnSpc>
                <a:spcPct val="100000"/>
              </a:lnSpc>
            </a:pPr>
            <a:r>
              <a:rPr sz="1800" spc="-85" dirty="0">
                <a:latin typeface="Trebuchet MS"/>
                <a:cs typeface="Trebuchet MS"/>
              </a:rPr>
              <a:t>Cuadrática</a:t>
            </a:r>
            <a:endParaRPr sz="1800">
              <a:latin typeface="Trebuchet MS"/>
              <a:cs typeface="Trebuchet MS"/>
            </a:endParaRPr>
          </a:p>
          <a:p>
            <a:pPr marL="63500">
              <a:lnSpc>
                <a:spcPct val="100000"/>
              </a:lnSpc>
              <a:spcBef>
                <a:spcPts val="15"/>
              </a:spcBef>
            </a:pPr>
            <a:r>
              <a:rPr sz="1800" spc="-100" dirty="0">
                <a:latin typeface="Trebuchet MS"/>
                <a:cs typeface="Trebuchet MS"/>
              </a:rPr>
              <a:t>u</a:t>
            </a:r>
            <a:r>
              <a:rPr sz="1800" spc="-80" dirty="0">
                <a:latin typeface="Trebuchet MS"/>
                <a:cs typeface="Trebuchet MS"/>
              </a:rPr>
              <a:t>(</a:t>
            </a:r>
            <a:r>
              <a:rPr sz="1800" spc="-45" dirty="0">
                <a:latin typeface="Trebuchet MS"/>
                <a:cs typeface="Trebuchet MS"/>
              </a:rPr>
              <a:t>x)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105" dirty="0">
                <a:latin typeface="Trebuchet MS"/>
                <a:cs typeface="Trebuchet MS"/>
              </a:rPr>
              <a:t>=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80" dirty="0">
                <a:latin typeface="Trebuchet MS"/>
                <a:cs typeface="Trebuchet MS"/>
              </a:rPr>
              <a:t>a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105" dirty="0">
                <a:latin typeface="Trebuchet MS"/>
                <a:cs typeface="Trebuchet MS"/>
              </a:rPr>
              <a:t>+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bx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-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cx</a:t>
            </a:r>
            <a:r>
              <a:rPr sz="1800" spc="-44" baseline="25462" dirty="0">
                <a:latin typeface="Trebuchet MS"/>
                <a:cs typeface="Trebuchet MS"/>
              </a:rPr>
              <a:t>2</a:t>
            </a:r>
            <a:r>
              <a:rPr sz="1800" spc="-270" dirty="0">
                <a:latin typeface="Trebuchet MS"/>
                <a:cs typeface="Trebuchet MS"/>
              </a:rPr>
              <a:t>,</a:t>
            </a:r>
            <a:r>
              <a:rPr sz="1800" spc="-220" dirty="0">
                <a:latin typeface="Trebuchet MS"/>
                <a:cs typeface="Trebuchet MS"/>
              </a:rPr>
              <a:t> </a:t>
            </a:r>
            <a:r>
              <a:rPr sz="1800" spc="-120" dirty="0">
                <a:latin typeface="Trebuchet MS"/>
                <a:cs typeface="Trebuchet MS"/>
              </a:rPr>
              <a:t>b</a:t>
            </a:r>
            <a:r>
              <a:rPr sz="1800" spc="-165" dirty="0">
                <a:latin typeface="Trebuchet MS"/>
                <a:cs typeface="Trebuchet MS"/>
              </a:rPr>
              <a:t>,</a:t>
            </a:r>
            <a:r>
              <a:rPr sz="1800" spc="-215" dirty="0">
                <a:latin typeface="Trebuchet MS"/>
                <a:cs typeface="Trebuchet MS"/>
              </a:rPr>
              <a:t>c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105" dirty="0">
                <a:latin typeface="Trebuchet MS"/>
                <a:cs typeface="Trebuchet MS"/>
              </a:rPr>
              <a:t>&gt;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60" dirty="0">
                <a:latin typeface="Trebuchet MS"/>
                <a:cs typeface="Trebuchet MS"/>
              </a:rPr>
              <a:t>0,</a:t>
            </a:r>
            <a:r>
              <a:rPr sz="1800" spc="-215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x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Symbol"/>
                <a:cs typeface="Symbol"/>
              </a:rPr>
              <a:t>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175" dirty="0">
                <a:latin typeface="Trebuchet MS"/>
                <a:cs typeface="Trebuchet MS"/>
              </a:rPr>
              <a:t>b/2c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D8A72D-0A04-1336-EF5E-1589C36E2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116" y="668223"/>
            <a:ext cx="6211570" cy="276999"/>
          </a:xfrm>
        </p:spPr>
        <p:txBody>
          <a:bodyPr/>
          <a:lstStyle/>
          <a:p>
            <a:r>
              <a:rPr lang="es-CO" dirty="0"/>
              <a:t>Prima de riesgo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5E245E7-753A-A896-D3E9-22EB7C90E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11" y="1161467"/>
            <a:ext cx="2114659" cy="34926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80BD3CF-A34A-2551-CB98-6FBD09C4DBC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3732"/>
          <a:stretch/>
        </p:blipFill>
        <p:spPr>
          <a:xfrm>
            <a:off x="0" y="1519331"/>
            <a:ext cx="4597636" cy="69047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CA742D8-4265-CF74-F4B2-22964F86F61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1061"/>
          <a:stretch/>
        </p:blipFill>
        <p:spPr>
          <a:xfrm>
            <a:off x="20652" y="2409738"/>
            <a:ext cx="4597636" cy="73032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AB09659C-BB17-E615-328C-1DBB06A475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3340002"/>
            <a:ext cx="2825895" cy="425472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1BD15388-9115-F010-A087-ACA6F2C4F9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3810000"/>
            <a:ext cx="4095961" cy="577880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E12455E1-11D7-3D21-9158-167F0F39DFE2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2475"/>
          <a:stretch/>
        </p:blipFill>
        <p:spPr>
          <a:xfrm>
            <a:off x="482090" y="4552140"/>
            <a:ext cx="3302170" cy="786530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2FAE05BF-0ACE-A6EB-836D-E82C40735459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12953" b="-2"/>
          <a:stretch/>
        </p:blipFill>
        <p:spPr>
          <a:xfrm>
            <a:off x="1428962" y="5680817"/>
            <a:ext cx="3429000" cy="275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80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8055" y="600455"/>
            <a:ext cx="8239125" cy="125920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4650">
              <a:latin typeface="Times New Roman"/>
              <a:cs typeface="Times New Roman"/>
            </a:endParaRPr>
          </a:p>
          <a:p>
            <a:pPr marL="224154">
              <a:lnSpc>
                <a:spcPct val="100000"/>
              </a:lnSpc>
            </a:pPr>
            <a:r>
              <a:rPr sz="2800" b="0" spc="50" dirty="0">
                <a:solidFill>
                  <a:srgbClr val="FFFFFF"/>
                </a:solidFill>
                <a:latin typeface="Trebuchet MS"/>
                <a:cs typeface="Trebuchet MS"/>
              </a:rPr>
              <a:t>PRIMA</a:t>
            </a:r>
            <a:r>
              <a:rPr sz="2800" b="0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b="0" spc="135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800" b="0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b="0" spc="65" dirty="0">
                <a:solidFill>
                  <a:srgbClr val="FFFFFF"/>
                </a:solidFill>
                <a:latin typeface="Trebuchet MS"/>
                <a:cs typeface="Trebuchet MS"/>
              </a:rPr>
              <a:t>RIESGO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51646" y="6054344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4590B8"/>
                </a:solidFill>
                <a:latin typeface="Trebuchet MS"/>
                <a:cs typeface="Trebuchet MS"/>
              </a:rPr>
              <a:t>32</a:t>
            </a:r>
            <a:endParaRPr sz="900">
              <a:latin typeface="Trebuchet MS"/>
              <a:cs typeface="Trebuchet M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/>
              <p:cNvSpPr txBox="1"/>
              <p:nvPr/>
            </p:nvSpPr>
            <p:spPr>
              <a:xfrm>
                <a:off x="735788" y="1912284"/>
                <a:ext cx="5588811" cy="1998238"/>
              </a:xfrm>
              <a:prstGeom prst="rect">
                <a:avLst/>
              </a:prstGeom>
            </p:spPr>
            <p:txBody>
              <a:bodyPr vert="horz" wrap="square" lIns="0" tIns="14604" rIns="0" bIns="0" rtlCol="0">
                <a:spAutoFit/>
              </a:bodyPr>
              <a:lstStyle/>
              <a:p>
                <a:pPr marL="75565">
                  <a:lnSpc>
                    <a:spcPct val="100000"/>
                  </a:lnSpc>
                  <a:spcBef>
                    <a:spcPts val="114"/>
                  </a:spcBef>
                </a:pPr>
                <a:r>
                  <a:rPr lang="es-CO" sz="2700" spc="15" baseline="1543" dirty="0">
                    <a:latin typeface="Symbol"/>
                    <a:cs typeface="Symbol"/>
                  </a:rPr>
                  <a:t></a:t>
                </a:r>
                <a:r>
                  <a:rPr lang="es-CO" sz="2700" spc="75" baseline="1543" dirty="0">
                    <a:latin typeface="Times New Roman"/>
                    <a:cs typeface="Times New Roman"/>
                  </a:rPr>
                  <a:t> </a:t>
                </a:r>
                <a:r>
                  <a:rPr lang="es-CO" sz="2700" spc="7" baseline="1543" dirty="0">
                    <a:latin typeface="Arial MT"/>
                    <a:cs typeface="Arial MT"/>
                  </a:rPr>
                  <a:t>(X)</a:t>
                </a:r>
                <a:r>
                  <a:rPr lang="es-CO" sz="2700" spc="-7" baseline="1543" dirty="0">
                    <a:latin typeface="Arial MT"/>
                    <a:cs typeface="Arial MT"/>
                  </a:rPr>
                  <a:t> </a:t>
                </a:r>
                <a:r>
                  <a:rPr lang="es-CO" sz="2700" spc="15" baseline="1543" dirty="0">
                    <a:latin typeface="Arial MT"/>
                    <a:cs typeface="Arial MT"/>
                  </a:rPr>
                  <a:t>=</a:t>
                </a:r>
                <a:r>
                  <a:rPr lang="es-CO" sz="2700" spc="-22" baseline="1543" dirty="0">
                    <a:latin typeface="Arial MT"/>
                    <a:cs typeface="Arial MT"/>
                  </a:rPr>
                  <a:t> </a:t>
                </a:r>
                <a:r>
                  <a:rPr lang="es-CO" sz="2700" spc="15" baseline="1543" dirty="0">
                    <a:latin typeface="Arial MT"/>
                    <a:cs typeface="Arial MT"/>
                  </a:rPr>
                  <a:t>E</a:t>
                </a:r>
                <a:r>
                  <a:rPr lang="es-CO" sz="2700" baseline="1543" dirty="0">
                    <a:latin typeface="Arial MT"/>
                    <a:cs typeface="Arial MT"/>
                  </a:rPr>
                  <a:t> </a:t>
                </a:r>
                <a:r>
                  <a:rPr lang="es-CO" sz="2700" spc="7" baseline="1543" dirty="0">
                    <a:latin typeface="Arial MT"/>
                    <a:cs typeface="Arial MT"/>
                  </a:rPr>
                  <a:t>(X)</a:t>
                </a:r>
                <a:r>
                  <a:rPr lang="es-CO" sz="2700" spc="-15" baseline="1543" dirty="0">
                    <a:latin typeface="Arial MT"/>
                    <a:cs typeface="Arial MT"/>
                  </a:rPr>
                  <a:t> </a:t>
                </a:r>
                <a:r>
                  <a:rPr lang="es-CO" sz="2700" spc="7" baseline="1543" dirty="0">
                    <a:latin typeface="Arial MT"/>
                    <a:cs typeface="Arial MT"/>
                  </a:rPr>
                  <a:t>-</a:t>
                </a:r>
                <a:r>
                  <a:rPr lang="es-CO" sz="2700" spc="-15" baseline="1543" dirty="0">
                    <a:latin typeface="Arial MT"/>
                    <a:cs typeface="Arial MT"/>
                  </a:rPr>
                  <a:t> </a:t>
                </a:r>
                <a:r>
                  <a:rPr lang="es-CO" sz="2700" spc="7" baseline="1543" dirty="0">
                    <a:latin typeface="Arial MT"/>
                    <a:cs typeface="Arial MT"/>
                  </a:rPr>
                  <a:t>x</a:t>
                </a:r>
                <a:r>
                  <a:rPr lang="es-CO" sz="1200" spc="5" dirty="0">
                    <a:latin typeface="Arial MT"/>
                    <a:cs typeface="Arial MT"/>
                  </a:rPr>
                  <a:t>c</a:t>
                </a:r>
                <a:endParaRPr lang="es-CO" sz="1200" dirty="0">
                  <a:latin typeface="Arial MT"/>
                  <a:cs typeface="Arial MT"/>
                </a:endParaRPr>
              </a:p>
              <a:p>
                <a:pPr>
                  <a:lnSpc>
                    <a:spcPct val="100000"/>
                  </a:lnSpc>
                  <a:spcBef>
                    <a:spcPts val="35"/>
                  </a:spcBef>
                </a:pPr>
                <a:endParaRPr lang="es-CO" sz="1700" dirty="0">
                  <a:latin typeface="Arial MT"/>
                  <a:cs typeface="Arial MT"/>
                </a:endParaRPr>
              </a:p>
              <a:p>
                <a:pPr marL="75565">
                  <a:lnSpc>
                    <a:spcPct val="100000"/>
                  </a:lnSpc>
                </a:pPr>
                <a:r>
                  <a:rPr lang="es-CO" sz="1800" b="1" spc="5" dirty="0">
                    <a:latin typeface="Arial"/>
                    <a:cs typeface="Arial"/>
                  </a:rPr>
                  <a:t>Ejercicios</a:t>
                </a:r>
                <a:r>
                  <a:rPr lang="es-CO" sz="1800" b="1" spc="-30" dirty="0">
                    <a:latin typeface="Arial"/>
                    <a:cs typeface="Arial"/>
                  </a:rPr>
                  <a:t> </a:t>
                </a:r>
                <a:r>
                  <a:rPr lang="es-CO" sz="1800" b="1" spc="5" dirty="0">
                    <a:latin typeface="Arial"/>
                    <a:cs typeface="Arial"/>
                  </a:rPr>
                  <a:t>estudiantes:</a:t>
                </a:r>
                <a:endParaRPr lang="es-CO" sz="1800" dirty="0">
                  <a:latin typeface="Arial"/>
                  <a:cs typeface="Arial"/>
                </a:endParaRPr>
              </a:p>
              <a:p>
                <a:pPr>
                  <a:lnSpc>
                    <a:spcPct val="100000"/>
                  </a:lnSpc>
                  <a:spcBef>
                    <a:spcPts val="5"/>
                  </a:spcBef>
                </a:pPr>
                <a:endParaRPr lang="es-CO" sz="1850" dirty="0">
                  <a:latin typeface="Arial"/>
                  <a:cs typeface="Arial"/>
                </a:endParaRPr>
              </a:p>
              <a:p>
                <a:pPr marL="76200">
                  <a:lnSpc>
                    <a:spcPct val="100000"/>
                  </a:lnSpc>
                  <a:tabLst>
                    <a:tab pos="2018030" algn="l"/>
                    <a:tab pos="2325370" algn="l"/>
                  </a:tabLst>
                </a:pPr>
                <a:r>
                  <a:rPr lang="es-CO" sz="1800" spc="10" dirty="0">
                    <a:latin typeface="Arial MT"/>
                    <a:cs typeface="Arial MT"/>
                  </a:rPr>
                  <a:t>Sean:</a:t>
                </a:r>
              </a:p>
              <a:p>
                <a:pPr marL="76200">
                  <a:lnSpc>
                    <a:spcPct val="100000"/>
                  </a:lnSpc>
                  <a:tabLst>
                    <a:tab pos="2018030" algn="l"/>
                    <a:tab pos="2325370" algn="l"/>
                  </a:tabLst>
                </a:pPr>
                <a:r>
                  <a:rPr lang="es-CO" sz="1800" spc="5" dirty="0">
                    <a:latin typeface="Arial MT"/>
                    <a:cs typeface="Arial MT"/>
                  </a:rPr>
                  <a:t> u(x)</a:t>
                </a:r>
                <a:r>
                  <a:rPr lang="es-CO" sz="1800" spc="-5" dirty="0">
                    <a:latin typeface="Arial MT"/>
                    <a:cs typeface="Arial MT"/>
                  </a:rPr>
                  <a:t> </a:t>
                </a:r>
                <a:r>
                  <a:rPr lang="es-CO" sz="1800" spc="10" dirty="0">
                    <a:latin typeface="Arial MT"/>
                    <a:cs typeface="Arial MT"/>
                  </a:rPr>
                  <a:t>=</a:t>
                </a:r>
                <a:r>
                  <a:rPr lang="es-CO" sz="1800" spc="15" dirty="0">
                    <a:latin typeface="Arial MT"/>
                    <a:cs typeface="Arial MT"/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ar-AE" sz="1800" i="1" spc="5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ar-AE" sz="1800" b="0" i="1" spc="5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s-CO" sz="1800" b="0" i="1" spc="5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lang="ar-AE" sz="1800" spc="7" baseline="27777" dirty="0">
                    <a:latin typeface="Arial MT"/>
                    <a:cs typeface="Arial MT"/>
                  </a:rPr>
                  <a:t>	</a:t>
                </a:r>
                <a:r>
                  <a:rPr lang="es-CO" sz="1800" spc="5" dirty="0">
                    <a:latin typeface="Arial MT"/>
                    <a:cs typeface="Arial MT"/>
                  </a:rPr>
                  <a:t>y	x</a:t>
                </a:r>
                <a:r>
                  <a:rPr lang="es-CO" sz="1800" spc="-5" dirty="0">
                    <a:latin typeface="Arial MT"/>
                    <a:cs typeface="Arial MT"/>
                  </a:rPr>
                  <a:t> </a:t>
                </a:r>
                <a:r>
                  <a:rPr lang="es-CO" sz="1800" spc="10" dirty="0">
                    <a:latin typeface="Arial MT"/>
                    <a:cs typeface="Arial MT"/>
                  </a:rPr>
                  <a:t>=</a:t>
                </a:r>
                <a:r>
                  <a:rPr lang="es-CO" sz="1800" dirty="0">
                    <a:latin typeface="Arial MT"/>
                    <a:cs typeface="Arial MT"/>
                  </a:rPr>
                  <a:t> </a:t>
                </a:r>
                <a:r>
                  <a:rPr lang="es-CO" sz="1800" spc="5" dirty="0">
                    <a:latin typeface="Symbol"/>
                    <a:cs typeface="Symbol"/>
                  </a:rPr>
                  <a:t></a:t>
                </a:r>
                <a:r>
                  <a:rPr lang="es-CO" sz="1800" spc="5" dirty="0">
                    <a:latin typeface="Arial MT"/>
                    <a:cs typeface="Arial MT"/>
                  </a:rPr>
                  <a:t>0,</a:t>
                </a:r>
                <a:r>
                  <a:rPr lang="es-CO" sz="1800" dirty="0">
                    <a:latin typeface="Arial MT"/>
                    <a:cs typeface="Arial MT"/>
                  </a:rPr>
                  <a:t> 0.7, </a:t>
                </a:r>
                <a:r>
                  <a:rPr lang="es-CO" sz="1800" spc="5" dirty="0">
                    <a:latin typeface="Arial MT"/>
                    <a:cs typeface="Arial MT"/>
                  </a:rPr>
                  <a:t>6</a:t>
                </a:r>
                <a:r>
                  <a:rPr lang="es-CO" sz="1800" spc="5" dirty="0">
                    <a:latin typeface="Symbol"/>
                    <a:cs typeface="Symbol"/>
                  </a:rPr>
                  <a:t></a:t>
                </a:r>
                <a:r>
                  <a:rPr lang="es-CO" sz="1800" spc="5" dirty="0">
                    <a:latin typeface="Arial MT"/>
                    <a:cs typeface="Arial MT"/>
                  </a:rPr>
                  <a:t>. Calcular</a:t>
                </a:r>
                <a:r>
                  <a:rPr lang="es-CO" sz="1800" dirty="0">
                    <a:latin typeface="Arial MT"/>
                    <a:cs typeface="Arial MT"/>
                  </a:rPr>
                  <a:t> </a:t>
                </a:r>
                <a:r>
                  <a:rPr lang="es-CO" sz="1800" spc="10" dirty="0">
                    <a:latin typeface="Symbol"/>
                    <a:cs typeface="Symbol"/>
                  </a:rPr>
                  <a:t></a:t>
                </a:r>
                <a:r>
                  <a:rPr lang="es-CO" sz="1800" spc="50" dirty="0">
                    <a:latin typeface="Times New Roman"/>
                    <a:cs typeface="Times New Roman"/>
                  </a:rPr>
                  <a:t> </a:t>
                </a:r>
                <a:r>
                  <a:rPr lang="es-CO" sz="1800" dirty="0">
                    <a:latin typeface="Arial MT"/>
                    <a:cs typeface="Arial MT"/>
                  </a:rPr>
                  <a:t>(X).</a:t>
                </a:r>
              </a:p>
              <a:p>
                <a:pPr marL="76200">
                  <a:lnSpc>
                    <a:spcPct val="100000"/>
                  </a:lnSpc>
                  <a:tabLst>
                    <a:tab pos="2018030" algn="l"/>
                    <a:tab pos="2325370" algn="l"/>
                  </a:tabLst>
                </a:pPr>
                <a:r>
                  <a:rPr lang="es-CO" spc="5" dirty="0">
                    <a:latin typeface="Arial MT"/>
                    <a:cs typeface="Arial MT"/>
                  </a:rPr>
                  <a:t>v(x)</a:t>
                </a:r>
                <a:r>
                  <a:rPr lang="es-CO" spc="-5" dirty="0">
                    <a:latin typeface="Arial MT"/>
                    <a:cs typeface="Arial MT"/>
                  </a:rPr>
                  <a:t> </a:t>
                </a:r>
                <a:r>
                  <a:rPr lang="es-CO" spc="10" dirty="0">
                    <a:latin typeface="Arial MT"/>
                    <a:cs typeface="Arial MT"/>
                  </a:rPr>
                  <a:t>=</a:t>
                </a:r>
                <a:r>
                  <a:rPr lang="es-CO" spc="15" dirty="0">
                    <a:latin typeface="Arial MT"/>
                    <a:cs typeface="Arial MT"/>
                  </a:rPr>
                  <a:t> 4+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ar-AE" i="1" spc="5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ar-AE" i="1" spc="5" dirty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s-CO" i="1" spc="5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lang="ar-AE" spc="7" baseline="27777" dirty="0">
                    <a:latin typeface="Arial MT"/>
                    <a:cs typeface="Arial MT"/>
                  </a:rPr>
                  <a:t>	</a:t>
                </a:r>
                <a:r>
                  <a:rPr lang="es-CO" spc="5" dirty="0">
                    <a:latin typeface="Arial MT"/>
                    <a:cs typeface="Arial MT"/>
                  </a:rPr>
                  <a:t>y	x</a:t>
                </a:r>
                <a:r>
                  <a:rPr lang="es-CO" spc="-5" dirty="0">
                    <a:latin typeface="Arial MT"/>
                    <a:cs typeface="Arial MT"/>
                  </a:rPr>
                  <a:t> </a:t>
                </a:r>
                <a:r>
                  <a:rPr lang="es-CO" spc="10" dirty="0">
                    <a:latin typeface="Arial MT"/>
                    <a:cs typeface="Arial MT"/>
                  </a:rPr>
                  <a:t>=</a:t>
                </a:r>
                <a:r>
                  <a:rPr lang="es-CO" dirty="0">
                    <a:latin typeface="Arial MT"/>
                    <a:cs typeface="Arial MT"/>
                  </a:rPr>
                  <a:t> </a:t>
                </a:r>
                <a:r>
                  <a:rPr lang="es-CO" spc="5" dirty="0">
                    <a:latin typeface="Symbol"/>
                    <a:cs typeface="Symbol"/>
                  </a:rPr>
                  <a:t></a:t>
                </a:r>
                <a:r>
                  <a:rPr lang="es-CO" spc="5" dirty="0">
                    <a:latin typeface="Arial MT"/>
                    <a:cs typeface="Arial MT"/>
                  </a:rPr>
                  <a:t>0,</a:t>
                </a:r>
                <a:r>
                  <a:rPr lang="es-CO" dirty="0">
                    <a:latin typeface="Arial MT"/>
                    <a:cs typeface="Arial MT"/>
                  </a:rPr>
                  <a:t> 0.7, </a:t>
                </a:r>
                <a:r>
                  <a:rPr lang="es-CO" spc="5" dirty="0">
                    <a:latin typeface="Arial MT"/>
                    <a:cs typeface="Arial MT"/>
                  </a:rPr>
                  <a:t>6</a:t>
                </a:r>
                <a:r>
                  <a:rPr lang="es-CO" spc="5" dirty="0">
                    <a:latin typeface="Symbol"/>
                    <a:cs typeface="Symbol"/>
                  </a:rPr>
                  <a:t></a:t>
                </a:r>
                <a:r>
                  <a:rPr lang="es-CO" spc="5" dirty="0">
                    <a:latin typeface="Arial MT"/>
                    <a:cs typeface="Arial MT"/>
                  </a:rPr>
                  <a:t>. Calcular</a:t>
                </a:r>
                <a:r>
                  <a:rPr lang="es-CO" dirty="0">
                    <a:latin typeface="Arial MT"/>
                    <a:cs typeface="Arial MT"/>
                  </a:rPr>
                  <a:t> </a:t>
                </a:r>
                <a:r>
                  <a:rPr lang="es-CO" spc="10" dirty="0">
                    <a:latin typeface="Symbol"/>
                    <a:cs typeface="Symbol"/>
                  </a:rPr>
                  <a:t></a:t>
                </a:r>
                <a:r>
                  <a:rPr lang="es-CO" spc="50" dirty="0">
                    <a:latin typeface="Times New Roman"/>
                    <a:cs typeface="Times New Roman"/>
                  </a:rPr>
                  <a:t> </a:t>
                </a:r>
                <a:r>
                  <a:rPr lang="es-CO" dirty="0">
                    <a:latin typeface="Arial MT"/>
                    <a:cs typeface="Arial MT"/>
                  </a:rPr>
                  <a:t>(X).</a:t>
                </a:r>
                <a:endParaRPr sz="1800" dirty="0">
                  <a:latin typeface="Arial MT"/>
                  <a:cs typeface="Arial MT"/>
                </a:endParaRPr>
              </a:p>
            </p:txBody>
          </p:sp>
        </mc:Choice>
        <mc:Fallback xmlns="">
          <p:sp>
            <p:nvSpPr>
              <p:cNvPr id="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788" y="1912284"/>
                <a:ext cx="5588811" cy="1998238"/>
              </a:xfrm>
              <a:prstGeom prst="rect">
                <a:avLst/>
              </a:prstGeom>
              <a:blipFill>
                <a:blip r:embed="rId2"/>
                <a:stretch>
                  <a:fillRect l="-1310" t="-3976" b="-6728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uadroTexto 4">
            <a:extLst>
              <a:ext uri="{FF2B5EF4-FFF2-40B4-BE49-F238E27FC236}">
                <a16:creationId xmlns:a16="http://schemas.microsoft.com/office/drawing/2014/main" id="{285A9742-EC54-6745-FCDF-DE944C5217FD}"/>
              </a:ext>
            </a:extLst>
          </p:cNvPr>
          <p:cNvSpPr txBox="1"/>
          <p:nvPr/>
        </p:nvSpPr>
        <p:spPr>
          <a:xfrm>
            <a:off x="3352800" y="4876800"/>
            <a:ext cx="187070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/>
              <a:t>Respuestas: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1800" spc="10" dirty="0">
                <a:latin typeface="Symbol"/>
                <a:cs typeface="Symbol"/>
              </a:rPr>
              <a:t></a:t>
            </a:r>
            <a:r>
              <a:rPr lang="es-CO" sz="1800" spc="50" dirty="0">
                <a:latin typeface="Times New Roman"/>
                <a:cs typeface="Times New Roman"/>
              </a:rPr>
              <a:t> </a:t>
            </a:r>
            <a:r>
              <a:rPr lang="es-CO" sz="1800" dirty="0">
                <a:latin typeface="Arial MT"/>
                <a:cs typeface="Arial MT"/>
              </a:rPr>
              <a:t>(X)=1.26 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1800" spc="10" dirty="0">
                <a:latin typeface="Symbol"/>
                <a:cs typeface="Symbol"/>
              </a:rPr>
              <a:t></a:t>
            </a:r>
            <a:r>
              <a:rPr lang="es-CO" sz="1800" spc="50" dirty="0">
                <a:latin typeface="Times New Roman"/>
                <a:cs typeface="Times New Roman"/>
              </a:rPr>
              <a:t> </a:t>
            </a:r>
            <a:r>
              <a:rPr lang="es-CO" sz="1800" dirty="0">
                <a:latin typeface="Arial MT"/>
                <a:cs typeface="Arial MT"/>
              </a:rPr>
              <a:t>(X)=1.26 M</a:t>
            </a:r>
            <a:endParaRPr lang="es-CO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8055" y="600455"/>
            <a:ext cx="8239125" cy="125920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4650">
              <a:latin typeface="Times New Roman"/>
              <a:cs typeface="Times New Roman"/>
            </a:endParaRPr>
          </a:p>
          <a:p>
            <a:pPr marL="224154">
              <a:lnSpc>
                <a:spcPct val="100000"/>
              </a:lnSpc>
            </a:pPr>
            <a:r>
              <a:rPr sz="2800" b="0" spc="50" dirty="0">
                <a:solidFill>
                  <a:srgbClr val="FFFFFF"/>
                </a:solidFill>
                <a:latin typeface="Trebuchet MS"/>
                <a:cs typeface="Trebuchet MS"/>
              </a:rPr>
              <a:t>PRIMA</a:t>
            </a:r>
            <a:r>
              <a:rPr sz="2800" b="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b="0" spc="135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800" b="0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b="0" spc="75" dirty="0">
                <a:solidFill>
                  <a:srgbClr val="FFFFFF"/>
                </a:solidFill>
                <a:latin typeface="Trebuchet MS"/>
                <a:cs typeface="Trebuchet MS"/>
              </a:rPr>
              <a:t>SEGURO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51646" y="6054344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4590B8"/>
                </a:solidFill>
                <a:latin typeface="Trebuchet MS"/>
                <a:cs typeface="Trebuchet MS"/>
              </a:rPr>
              <a:t>33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0903" y="2622931"/>
            <a:ext cx="8060690" cy="63436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 marR="30480">
              <a:lnSpc>
                <a:spcPts val="2390"/>
              </a:lnSpc>
              <a:spcBef>
                <a:spcPts val="190"/>
              </a:spcBef>
              <a:tabLst>
                <a:tab pos="380365" algn="l"/>
                <a:tab pos="729615" algn="l"/>
              </a:tabLst>
            </a:pPr>
            <a:r>
              <a:rPr sz="2000" spc="-95" dirty="0">
                <a:latin typeface="Trebuchet MS"/>
                <a:cs typeface="Trebuchet MS"/>
              </a:rPr>
              <a:t>Si	</a:t>
            </a:r>
            <a:r>
              <a:rPr sz="2000" spc="305" dirty="0">
                <a:latin typeface="Trebuchet MS"/>
                <a:cs typeface="Trebuchet MS"/>
              </a:rPr>
              <a:t>X	</a:t>
            </a:r>
            <a:r>
              <a:rPr sz="2000" spc="-85" dirty="0">
                <a:latin typeface="Trebuchet MS"/>
                <a:cs typeface="Trebuchet MS"/>
              </a:rPr>
              <a:t>es</a:t>
            </a:r>
            <a:r>
              <a:rPr sz="2000" spc="65" dirty="0">
                <a:latin typeface="Trebuchet MS"/>
                <a:cs typeface="Trebuchet MS"/>
              </a:rPr>
              <a:t> </a:t>
            </a:r>
            <a:r>
              <a:rPr sz="2000" spc="-130" dirty="0">
                <a:latin typeface="Trebuchet MS"/>
                <a:cs typeface="Trebuchet MS"/>
              </a:rPr>
              <a:t>una</a:t>
            </a:r>
            <a:r>
              <a:rPr sz="2000" spc="55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lotería</a:t>
            </a:r>
            <a:r>
              <a:rPr sz="2000" spc="75" dirty="0">
                <a:latin typeface="Trebuchet MS"/>
                <a:cs typeface="Trebuchet MS"/>
              </a:rPr>
              <a:t> </a:t>
            </a:r>
            <a:r>
              <a:rPr sz="2000" spc="-135" dirty="0">
                <a:latin typeface="Trebuchet MS"/>
                <a:cs typeface="Trebuchet MS"/>
              </a:rPr>
              <a:t>desfavorable,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por</a:t>
            </a:r>
            <a:r>
              <a:rPr sz="2000" spc="70" dirty="0">
                <a:latin typeface="Trebuchet MS"/>
                <a:cs typeface="Trebuchet MS"/>
              </a:rPr>
              <a:t> </a:t>
            </a:r>
            <a:r>
              <a:rPr sz="2000" spc="-135" dirty="0">
                <a:latin typeface="Trebuchet MS"/>
                <a:cs typeface="Trebuchet MS"/>
              </a:rPr>
              <a:t>ejemplo</a:t>
            </a:r>
            <a:r>
              <a:rPr sz="2000" spc="65" dirty="0">
                <a:latin typeface="Trebuchet MS"/>
                <a:cs typeface="Trebuchet MS"/>
              </a:rPr>
              <a:t> </a:t>
            </a:r>
            <a:r>
              <a:rPr sz="2000" spc="-120" dirty="0">
                <a:latin typeface="Symbol"/>
                <a:cs typeface="Symbol"/>
              </a:rPr>
              <a:t></a:t>
            </a:r>
            <a:r>
              <a:rPr sz="2000" spc="-120" dirty="0">
                <a:latin typeface="Trebuchet MS"/>
                <a:cs typeface="Trebuchet MS"/>
              </a:rPr>
              <a:t>0,</a:t>
            </a:r>
            <a:r>
              <a:rPr sz="2000" spc="-125" dirty="0">
                <a:latin typeface="Trebuchet MS"/>
                <a:cs typeface="Trebuchet MS"/>
              </a:rPr>
              <a:t> </a:t>
            </a:r>
            <a:r>
              <a:rPr sz="2000" spc="-100" dirty="0">
                <a:latin typeface="Trebuchet MS"/>
                <a:cs typeface="Trebuchet MS"/>
              </a:rPr>
              <a:t>-30</a:t>
            </a:r>
            <a:r>
              <a:rPr sz="2000" spc="-100" dirty="0">
                <a:latin typeface="Symbol"/>
                <a:cs typeface="Symbol"/>
              </a:rPr>
              <a:t></a:t>
            </a:r>
            <a:r>
              <a:rPr sz="2000" spc="-100" dirty="0">
                <a:latin typeface="Trebuchet MS"/>
                <a:cs typeface="Trebuchet MS"/>
              </a:rPr>
              <a:t>,</a:t>
            </a:r>
            <a:r>
              <a:rPr sz="2000" spc="-130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se</a:t>
            </a:r>
            <a:r>
              <a:rPr sz="2000" spc="70" dirty="0">
                <a:latin typeface="Trebuchet MS"/>
                <a:cs typeface="Trebuchet MS"/>
              </a:rPr>
              <a:t> </a:t>
            </a:r>
            <a:r>
              <a:rPr sz="2000" spc="-140" dirty="0">
                <a:latin typeface="Trebuchet MS"/>
                <a:cs typeface="Trebuchet MS"/>
              </a:rPr>
              <a:t>define</a:t>
            </a:r>
            <a:r>
              <a:rPr sz="2000" spc="65" dirty="0">
                <a:latin typeface="Trebuchet MS"/>
                <a:cs typeface="Trebuchet MS"/>
              </a:rPr>
              <a:t> </a:t>
            </a:r>
            <a:r>
              <a:rPr sz="2000" spc="-175" dirty="0">
                <a:latin typeface="Trebuchet MS"/>
                <a:cs typeface="Trebuchet MS"/>
              </a:rPr>
              <a:t>la</a:t>
            </a:r>
            <a:r>
              <a:rPr sz="2000" spc="55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prima</a:t>
            </a:r>
            <a:r>
              <a:rPr sz="2000" spc="70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de </a:t>
            </a:r>
            <a:r>
              <a:rPr sz="2000" spc="-585" dirty="0">
                <a:latin typeface="Trebuchet MS"/>
                <a:cs typeface="Trebuchet MS"/>
              </a:rPr>
              <a:t> </a:t>
            </a:r>
            <a:r>
              <a:rPr sz="2000" spc="-70" dirty="0">
                <a:latin typeface="Trebuchet MS"/>
                <a:cs typeface="Trebuchet MS"/>
              </a:rPr>
              <a:t>seguro </a:t>
            </a:r>
            <a:r>
              <a:rPr sz="2000" spc="-85" dirty="0">
                <a:latin typeface="Trebuchet MS"/>
                <a:cs typeface="Trebuchet MS"/>
              </a:rPr>
              <a:t>(PS)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como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PS(X)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120" dirty="0">
                <a:latin typeface="Trebuchet MS"/>
                <a:cs typeface="Trebuchet MS"/>
              </a:rPr>
              <a:t>=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-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70" dirty="0">
                <a:latin typeface="Trebuchet MS"/>
                <a:cs typeface="Trebuchet MS"/>
              </a:rPr>
              <a:t>EMC(X)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120" dirty="0">
                <a:latin typeface="Trebuchet MS"/>
                <a:cs typeface="Trebuchet MS"/>
              </a:rPr>
              <a:t>=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-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30" dirty="0">
                <a:latin typeface="Trebuchet MS"/>
                <a:cs typeface="Trebuchet MS"/>
              </a:rPr>
              <a:t>x</a:t>
            </a:r>
            <a:r>
              <a:rPr sz="1950" spc="-44" baseline="-21367" dirty="0">
                <a:latin typeface="Trebuchet MS"/>
                <a:cs typeface="Trebuchet MS"/>
              </a:rPr>
              <a:t>c</a:t>
            </a:r>
            <a:endParaRPr sz="1950" baseline="-21367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4800" y="3675125"/>
            <a:ext cx="4584498" cy="859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b="1" u="sng" spc="-40" dirty="0">
                <a:solidFill>
                  <a:srgbClr val="4590B8"/>
                </a:solidFill>
                <a:uFill>
                  <a:solidFill>
                    <a:srgbClr val="4590B8"/>
                  </a:solidFill>
                </a:uFill>
                <a:latin typeface="Trebuchet MS"/>
                <a:cs typeface="Trebuchet MS"/>
              </a:rPr>
              <a:t>Ejercicio:</a:t>
            </a:r>
            <a:endParaRPr sz="2000" dirty="0">
              <a:latin typeface="Trebuchet MS"/>
              <a:cs typeface="Trebuchet MS"/>
            </a:endParaRPr>
          </a:p>
          <a:p>
            <a:pPr marL="38100">
              <a:lnSpc>
                <a:spcPts val="2095"/>
              </a:lnSpc>
              <a:spcBef>
                <a:spcPts val="15"/>
              </a:spcBef>
            </a:pPr>
            <a:r>
              <a:rPr sz="2000" spc="135" dirty="0">
                <a:latin typeface="Trebuchet MS"/>
                <a:cs typeface="Trebuchet MS"/>
              </a:rPr>
              <a:t>C</a:t>
            </a:r>
            <a:r>
              <a:rPr sz="2000" spc="110" dirty="0">
                <a:latin typeface="Trebuchet MS"/>
                <a:cs typeface="Trebuchet MS"/>
              </a:rPr>
              <a:t>o</a:t>
            </a:r>
            <a:r>
              <a:rPr sz="2000" spc="-80" dirty="0">
                <a:latin typeface="Trebuchet MS"/>
                <a:cs typeface="Trebuchet MS"/>
              </a:rPr>
              <a:t>nside</a:t>
            </a:r>
            <a:r>
              <a:rPr sz="2000" spc="-110" dirty="0">
                <a:latin typeface="Trebuchet MS"/>
                <a:cs typeface="Trebuchet MS"/>
              </a:rPr>
              <a:t>r</a:t>
            </a:r>
            <a:r>
              <a:rPr sz="2000" spc="-130" dirty="0">
                <a:latin typeface="Trebuchet MS"/>
                <a:cs typeface="Trebuchet MS"/>
              </a:rPr>
              <a:t>e</a:t>
            </a:r>
            <a:r>
              <a:rPr sz="2000" spc="80" dirty="0">
                <a:latin typeface="Trebuchet MS"/>
                <a:cs typeface="Trebuchet MS"/>
              </a:rPr>
              <a:t> </a:t>
            </a:r>
            <a:r>
              <a:rPr sz="2000" spc="-135" dirty="0">
                <a:latin typeface="Trebuchet MS"/>
                <a:cs typeface="Trebuchet MS"/>
              </a:rPr>
              <a:t>la</a:t>
            </a:r>
            <a:r>
              <a:rPr sz="2000" spc="-130" dirty="0">
                <a:latin typeface="Trebuchet MS"/>
                <a:cs typeface="Trebuchet MS"/>
              </a:rPr>
              <a:t>s</a:t>
            </a:r>
            <a:r>
              <a:rPr sz="2000" spc="75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l</a:t>
            </a:r>
            <a:r>
              <a:rPr sz="2000" spc="-90" dirty="0">
                <a:latin typeface="Trebuchet MS"/>
                <a:cs typeface="Trebuchet MS"/>
              </a:rPr>
              <a:t>o</a:t>
            </a:r>
            <a:r>
              <a:rPr sz="2000" spc="-105" dirty="0">
                <a:latin typeface="Trebuchet MS"/>
                <a:cs typeface="Trebuchet MS"/>
              </a:rPr>
              <a:t>ter</a:t>
            </a:r>
            <a:r>
              <a:rPr sz="2000" spc="-75" dirty="0">
                <a:latin typeface="Trebuchet MS"/>
                <a:cs typeface="Trebuchet MS"/>
              </a:rPr>
              <a:t>í</a:t>
            </a:r>
            <a:r>
              <a:rPr sz="2000" spc="-120" dirty="0">
                <a:latin typeface="Trebuchet MS"/>
                <a:cs typeface="Trebuchet MS"/>
              </a:rPr>
              <a:t>as</a:t>
            </a:r>
            <a:r>
              <a:rPr sz="2000" spc="85" dirty="0">
                <a:latin typeface="Trebuchet MS"/>
                <a:cs typeface="Trebuchet MS"/>
              </a:rPr>
              <a:t> </a:t>
            </a:r>
            <a:r>
              <a:rPr sz="2000" spc="305" dirty="0">
                <a:latin typeface="Trebuchet MS"/>
                <a:cs typeface="Trebuchet MS"/>
              </a:rPr>
              <a:t>X</a:t>
            </a:r>
            <a:r>
              <a:rPr sz="2000" spc="75" dirty="0">
                <a:latin typeface="Trebuchet MS"/>
                <a:cs typeface="Trebuchet MS"/>
              </a:rPr>
              <a:t> </a:t>
            </a:r>
            <a:r>
              <a:rPr sz="2000" spc="120" dirty="0">
                <a:latin typeface="Trebuchet MS"/>
                <a:cs typeface="Trebuchet MS"/>
              </a:rPr>
              <a:t>=</a:t>
            </a:r>
            <a:r>
              <a:rPr sz="2000" spc="85" dirty="0">
                <a:latin typeface="Trebuchet MS"/>
                <a:cs typeface="Trebuchet MS"/>
              </a:rPr>
              <a:t> </a:t>
            </a:r>
            <a:r>
              <a:rPr sz="2000" spc="-5" dirty="0">
                <a:latin typeface="Symbol"/>
                <a:cs typeface="Symbol"/>
              </a:rPr>
              <a:t></a:t>
            </a:r>
            <a:r>
              <a:rPr sz="2000" spc="-105" dirty="0">
                <a:latin typeface="Trebuchet MS"/>
                <a:cs typeface="Trebuchet MS"/>
              </a:rPr>
              <a:t>-</a:t>
            </a:r>
            <a:r>
              <a:rPr sz="2000" spc="-50" dirty="0">
                <a:latin typeface="Trebuchet MS"/>
                <a:cs typeface="Trebuchet MS"/>
              </a:rPr>
              <a:t>2</a:t>
            </a:r>
            <a:r>
              <a:rPr lang="es-CO" sz="2000" spc="-60" dirty="0">
                <a:latin typeface="Trebuchet MS"/>
                <a:cs typeface="Trebuchet MS"/>
              </a:rPr>
              <a:t>5</a:t>
            </a:r>
            <a:r>
              <a:rPr sz="2000" spc="-295" dirty="0">
                <a:latin typeface="Trebuchet MS"/>
                <a:cs typeface="Trebuchet MS"/>
              </a:rPr>
              <a:t>,</a:t>
            </a:r>
            <a:r>
              <a:rPr sz="2000" spc="-110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-</a:t>
            </a:r>
            <a:r>
              <a:rPr sz="2000" spc="-50" dirty="0">
                <a:latin typeface="Trebuchet MS"/>
                <a:cs typeface="Trebuchet MS"/>
              </a:rPr>
              <a:t>1</a:t>
            </a:r>
            <a:r>
              <a:rPr lang="es-CO" sz="2000" spc="-60" dirty="0">
                <a:latin typeface="Trebuchet MS"/>
                <a:cs typeface="Trebuchet MS"/>
              </a:rPr>
              <a:t>5</a:t>
            </a:r>
            <a:r>
              <a:rPr sz="2000" dirty="0">
                <a:latin typeface="Symbol"/>
                <a:cs typeface="Symbol"/>
              </a:rPr>
              <a:t></a:t>
            </a:r>
          </a:p>
          <a:p>
            <a:pPr marL="38100">
              <a:lnSpc>
                <a:spcPts val="2095"/>
              </a:lnSpc>
            </a:pPr>
            <a:r>
              <a:rPr sz="3000" spc="-135" baseline="-16666" dirty="0">
                <a:latin typeface="Trebuchet MS"/>
                <a:cs typeface="Trebuchet MS"/>
              </a:rPr>
              <a:t>u(</a:t>
            </a:r>
            <a:r>
              <a:rPr sz="3000" spc="-67" baseline="-16666" dirty="0">
                <a:latin typeface="Trebuchet MS"/>
                <a:cs typeface="Trebuchet MS"/>
              </a:rPr>
              <a:t>x)</a:t>
            </a:r>
            <a:r>
              <a:rPr sz="3000" spc="-82" baseline="-16666" dirty="0">
                <a:latin typeface="Trebuchet MS"/>
                <a:cs typeface="Trebuchet MS"/>
              </a:rPr>
              <a:t> </a:t>
            </a:r>
            <a:r>
              <a:rPr sz="3000" spc="179" baseline="-16666" dirty="0">
                <a:latin typeface="Trebuchet MS"/>
                <a:cs typeface="Trebuchet MS"/>
              </a:rPr>
              <a:t>=</a:t>
            </a:r>
            <a:r>
              <a:rPr sz="3000" spc="-89" baseline="-16666" dirty="0">
                <a:latin typeface="Trebuchet MS"/>
                <a:cs typeface="Trebuchet MS"/>
              </a:rPr>
              <a:t> </a:t>
            </a:r>
            <a:r>
              <a:rPr sz="3000" spc="-135" baseline="-16666" dirty="0">
                <a:latin typeface="Trebuchet MS"/>
                <a:cs typeface="Trebuchet MS"/>
              </a:rPr>
              <a:t>-</a:t>
            </a:r>
            <a:r>
              <a:rPr lang="es-CO" sz="3000" spc="-135" baseline="-16666" dirty="0">
                <a:latin typeface="Trebuchet MS"/>
                <a:cs typeface="Trebuchet MS"/>
              </a:rPr>
              <a:t>2</a:t>
            </a:r>
            <a:r>
              <a:rPr sz="3000" spc="-82" baseline="-16666" dirty="0">
                <a:latin typeface="Trebuchet MS"/>
                <a:cs typeface="Trebuchet MS"/>
              </a:rPr>
              <a:t> </a:t>
            </a:r>
            <a:r>
              <a:rPr sz="3000" spc="-202" baseline="-16666" dirty="0">
                <a:latin typeface="Trebuchet MS"/>
                <a:cs typeface="Trebuchet MS"/>
              </a:rPr>
              <a:t>e</a:t>
            </a:r>
            <a:r>
              <a:rPr sz="3000" spc="-82" baseline="-16666" dirty="0">
                <a:latin typeface="Trebuchet MS"/>
                <a:cs typeface="Trebuchet MS"/>
              </a:rPr>
              <a:t> </a:t>
            </a:r>
            <a:r>
              <a:rPr sz="1300" spc="-50" dirty="0">
                <a:latin typeface="Trebuchet MS"/>
                <a:cs typeface="Trebuchet MS"/>
              </a:rPr>
              <a:t>-</a:t>
            </a:r>
            <a:r>
              <a:rPr sz="1300" spc="-15" dirty="0">
                <a:latin typeface="Trebuchet MS"/>
                <a:cs typeface="Trebuchet MS"/>
              </a:rPr>
              <a:t>0</a:t>
            </a:r>
            <a:r>
              <a:rPr sz="1300" spc="-195" dirty="0">
                <a:latin typeface="Trebuchet MS"/>
                <a:cs typeface="Trebuchet MS"/>
              </a:rPr>
              <a:t>.</a:t>
            </a:r>
            <a:r>
              <a:rPr lang="es-CO" sz="1300" spc="-20" dirty="0">
                <a:latin typeface="Trebuchet MS"/>
                <a:cs typeface="Trebuchet MS"/>
              </a:rPr>
              <a:t>2</a:t>
            </a:r>
            <a:r>
              <a:rPr sz="1300" spc="-40" dirty="0">
                <a:latin typeface="Trebuchet MS"/>
                <a:cs typeface="Trebuchet MS"/>
              </a:rPr>
              <a:t> </a:t>
            </a:r>
            <a:r>
              <a:rPr sz="1300" spc="-50" dirty="0">
                <a:latin typeface="Trebuchet MS"/>
                <a:cs typeface="Trebuchet MS"/>
              </a:rPr>
              <a:t>(</a:t>
            </a:r>
            <a:r>
              <a:rPr lang="es-CO" sz="1300" spc="-15" dirty="0">
                <a:latin typeface="Trebuchet MS"/>
                <a:cs typeface="Trebuchet MS"/>
              </a:rPr>
              <a:t>1</a:t>
            </a:r>
            <a:r>
              <a:rPr sz="1300" spc="-15" dirty="0">
                <a:latin typeface="Trebuchet MS"/>
                <a:cs typeface="Trebuchet MS"/>
              </a:rPr>
              <a:t>0</a:t>
            </a:r>
            <a:r>
              <a:rPr sz="1300" spc="20" dirty="0">
                <a:latin typeface="Trebuchet MS"/>
                <a:cs typeface="Trebuchet MS"/>
              </a:rPr>
              <a:t>+x</a:t>
            </a:r>
            <a:r>
              <a:rPr sz="1300" spc="10" dirty="0">
                <a:latin typeface="Trebuchet MS"/>
                <a:cs typeface="Trebuchet MS"/>
              </a:rPr>
              <a:t>)</a:t>
            </a:r>
            <a:r>
              <a:rPr sz="1300" spc="-190" dirty="0">
                <a:latin typeface="Trebuchet MS"/>
                <a:cs typeface="Trebuchet MS"/>
              </a:rPr>
              <a:t>.</a:t>
            </a:r>
            <a:endParaRPr sz="1300" dirty="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81944" y="3927782"/>
            <a:ext cx="4040504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99085" algn="l"/>
                <a:tab pos="1699895" algn="l"/>
                <a:tab pos="1985010" algn="l"/>
                <a:tab pos="3260725" algn="l"/>
              </a:tabLst>
            </a:pPr>
            <a:r>
              <a:rPr sz="2000" spc="-110" dirty="0">
                <a:latin typeface="Trebuchet MS"/>
                <a:cs typeface="Trebuchet MS"/>
              </a:rPr>
              <a:t>y	</a:t>
            </a:r>
            <a:r>
              <a:rPr sz="2000" spc="70" dirty="0">
                <a:latin typeface="Trebuchet MS"/>
                <a:cs typeface="Trebuchet MS"/>
              </a:rPr>
              <a:t>Y</a:t>
            </a:r>
            <a:r>
              <a:rPr sz="2000" spc="65" dirty="0">
                <a:latin typeface="Trebuchet MS"/>
                <a:cs typeface="Trebuchet MS"/>
              </a:rPr>
              <a:t> </a:t>
            </a:r>
            <a:r>
              <a:rPr sz="2000" spc="120" dirty="0">
                <a:latin typeface="Trebuchet MS"/>
                <a:cs typeface="Trebuchet MS"/>
              </a:rPr>
              <a:t>=</a:t>
            </a:r>
            <a:r>
              <a:rPr sz="2000" spc="90" dirty="0">
                <a:latin typeface="Trebuchet MS"/>
                <a:cs typeface="Trebuchet MS"/>
              </a:rPr>
              <a:t> </a:t>
            </a:r>
            <a:r>
              <a:rPr sz="2000" spc="-100" dirty="0">
                <a:latin typeface="Symbol"/>
                <a:cs typeface="Symbol"/>
              </a:rPr>
              <a:t></a:t>
            </a:r>
            <a:r>
              <a:rPr sz="2000" spc="-100" dirty="0">
                <a:latin typeface="Trebuchet MS"/>
                <a:cs typeface="Trebuchet MS"/>
              </a:rPr>
              <a:t>-1</a:t>
            </a:r>
            <a:r>
              <a:rPr lang="es-CO" sz="2000" spc="-100" dirty="0">
                <a:latin typeface="Trebuchet MS"/>
                <a:cs typeface="Trebuchet MS"/>
              </a:rPr>
              <a:t>0</a:t>
            </a:r>
            <a:r>
              <a:rPr sz="2000" spc="-100" dirty="0">
                <a:latin typeface="Trebuchet MS"/>
                <a:cs typeface="Trebuchet MS"/>
              </a:rPr>
              <a:t>,</a:t>
            </a:r>
            <a:r>
              <a:rPr sz="2000" spc="-114" dirty="0">
                <a:latin typeface="Trebuchet MS"/>
                <a:cs typeface="Trebuchet MS"/>
              </a:rPr>
              <a:t> </a:t>
            </a:r>
            <a:r>
              <a:rPr sz="2000" spc="-30" dirty="0">
                <a:latin typeface="Trebuchet MS"/>
                <a:cs typeface="Trebuchet MS"/>
              </a:rPr>
              <a:t>0</a:t>
            </a:r>
            <a:r>
              <a:rPr sz="2000" spc="-30" dirty="0">
                <a:latin typeface="Symbol"/>
                <a:cs typeface="Symbol"/>
              </a:rPr>
              <a:t></a:t>
            </a:r>
            <a:r>
              <a:rPr sz="2000" spc="-30" dirty="0">
                <a:latin typeface="Times New Roman"/>
                <a:cs typeface="Times New Roman"/>
              </a:rPr>
              <a:t>	</a:t>
            </a:r>
            <a:r>
              <a:rPr sz="2000" spc="-110" dirty="0">
                <a:latin typeface="Trebuchet MS"/>
                <a:cs typeface="Trebuchet MS"/>
              </a:rPr>
              <a:t>y	</a:t>
            </a:r>
            <a:r>
              <a:rPr sz="2000" spc="-90" dirty="0">
                <a:latin typeface="Trebuchet MS"/>
                <a:cs typeface="Trebuchet MS"/>
              </a:rPr>
              <a:t>un</a:t>
            </a:r>
            <a:r>
              <a:rPr sz="2000" spc="90" dirty="0">
                <a:latin typeface="Trebuchet MS"/>
                <a:cs typeface="Trebuchet MS"/>
              </a:rPr>
              <a:t> </a:t>
            </a:r>
            <a:r>
              <a:rPr sz="2000" spc="-70" dirty="0">
                <a:latin typeface="Trebuchet MS"/>
                <a:cs typeface="Trebuchet MS"/>
              </a:rPr>
              <a:t>decisor	con</a:t>
            </a:r>
            <a:r>
              <a:rPr sz="2000" spc="25" dirty="0">
                <a:latin typeface="Trebuchet MS"/>
                <a:cs typeface="Trebuchet MS"/>
              </a:rPr>
              <a:t> </a:t>
            </a:r>
            <a:r>
              <a:rPr sz="2000" spc="-235" dirty="0">
                <a:latin typeface="Trebuchet MS"/>
                <a:cs typeface="Trebuchet MS"/>
              </a:rPr>
              <a:t>f.u.</a:t>
            </a:r>
            <a:endParaRPr sz="2000" dirty="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6303" y="5060441"/>
            <a:ext cx="444119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0" dirty="0">
                <a:latin typeface="Trebuchet MS"/>
                <a:cs typeface="Trebuchet MS"/>
              </a:rPr>
              <a:t>Hal</a:t>
            </a:r>
            <a:r>
              <a:rPr sz="2000" spc="-55" dirty="0">
                <a:latin typeface="Trebuchet MS"/>
                <a:cs typeface="Trebuchet MS"/>
              </a:rPr>
              <a:t>l</a:t>
            </a:r>
            <a:r>
              <a:rPr sz="2000" spc="-90" dirty="0">
                <a:latin typeface="Trebuchet MS"/>
                <a:cs typeface="Trebuchet MS"/>
              </a:rPr>
              <a:t>ar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spc="-135" dirty="0">
                <a:latin typeface="Trebuchet MS"/>
                <a:cs typeface="Trebuchet MS"/>
              </a:rPr>
              <a:t>la</a:t>
            </a:r>
            <a:r>
              <a:rPr sz="2000" spc="-130" dirty="0">
                <a:latin typeface="Trebuchet MS"/>
                <a:cs typeface="Trebuchet MS"/>
              </a:rPr>
              <a:t>s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pr</a:t>
            </a:r>
            <a:r>
              <a:rPr sz="2000" spc="-50" dirty="0">
                <a:latin typeface="Trebuchet MS"/>
                <a:cs typeface="Trebuchet MS"/>
              </a:rPr>
              <a:t>i</a:t>
            </a:r>
            <a:r>
              <a:rPr sz="2000" spc="-120" dirty="0">
                <a:latin typeface="Trebuchet MS"/>
                <a:cs typeface="Trebuchet MS"/>
              </a:rPr>
              <a:t>mas</a:t>
            </a:r>
            <a:r>
              <a:rPr sz="2000" spc="-90" dirty="0">
                <a:latin typeface="Trebuchet MS"/>
                <a:cs typeface="Trebuchet MS"/>
              </a:rPr>
              <a:t> </a:t>
            </a:r>
            <a:r>
              <a:rPr sz="2000" spc="-120" dirty="0">
                <a:latin typeface="Trebuchet MS"/>
                <a:cs typeface="Trebuchet MS"/>
              </a:rPr>
              <a:t>d</a:t>
            </a:r>
            <a:r>
              <a:rPr sz="2000" spc="-114" dirty="0">
                <a:latin typeface="Trebuchet MS"/>
                <a:cs typeface="Trebuchet MS"/>
              </a:rPr>
              <a:t>e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se</a:t>
            </a:r>
            <a:r>
              <a:rPr sz="2000" spc="-120" dirty="0">
                <a:latin typeface="Trebuchet MS"/>
                <a:cs typeface="Trebuchet MS"/>
              </a:rPr>
              <a:t>g</a:t>
            </a:r>
            <a:r>
              <a:rPr sz="2000" spc="-45" dirty="0">
                <a:latin typeface="Trebuchet MS"/>
                <a:cs typeface="Trebuchet MS"/>
              </a:rPr>
              <a:t>u</a:t>
            </a:r>
            <a:r>
              <a:rPr sz="2000" spc="-80" dirty="0">
                <a:latin typeface="Trebuchet MS"/>
                <a:cs typeface="Trebuchet MS"/>
              </a:rPr>
              <a:t>r</a:t>
            </a:r>
            <a:r>
              <a:rPr sz="2000" spc="30" dirty="0">
                <a:latin typeface="Trebuchet MS"/>
                <a:cs typeface="Trebuchet MS"/>
              </a:rPr>
              <a:t>o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25" dirty="0">
                <a:latin typeface="Trebuchet MS"/>
                <a:cs typeface="Trebuchet MS"/>
              </a:rPr>
              <a:t>para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spc="305" dirty="0">
                <a:latin typeface="Trebuchet MS"/>
                <a:cs typeface="Trebuchet MS"/>
              </a:rPr>
              <a:t>X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110" dirty="0">
                <a:latin typeface="Trebuchet MS"/>
                <a:cs typeface="Trebuchet MS"/>
              </a:rPr>
              <a:t>y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125" dirty="0">
                <a:latin typeface="Trebuchet MS"/>
                <a:cs typeface="Trebuchet MS"/>
              </a:rPr>
              <a:t>para</a:t>
            </a:r>
            <a:r>
              <a:rPr lang="es-CO" sz="2000" spc="-125" dirty="0">
                <a:latin typeface="Trebuchet MS"/>
                <a:cs typeface="Trebuchet MS"/>
              </a:rPr>
              <a:t> </a:t>
            </a:r>
            <a:r>
              <a:rPr sz="2000" spc="-200" dirty="0">
                <a:latin typeface="Trebuchet MS"/>
                <a:cs typeface="Trebuchet MS"/>
              </a:rPr>
              <a:t>Y</a:t>
            </a:r>
            <a:r>
              <a:rPr lang="es-CO" sz="2000" spc="-295" dirty="0">
                <a:latin typeface="Trebuchet MS"/>
                <a:cs typeface="Trebuchet MS"/>
              </a:rPr>
              <a:t>.</a:t>
            </a:r>
            <a:endParaRPr sz="2000" dirty="0">
              <a:latin typeface="Trebuchet MS"/>
              <a:cs typeface="Trebuchet MS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333AB81-BB27-22FA-3A33-E99CA17FC413}"/>
              </a:ext>
            </a:extLst>
          </p:cNvPr>
          <p:cNvSpPr txBox="1"/>
          <p:nvPr/>
        </p:nvSpPr>
        <p:spPr>
          <a:xfrm>
            <a:off x="3429000" y="5592679"/>
            <a:ext cx="219258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/>
              <a:t>Respuestas: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1800" spc="10" dirty="0">
                <a:latin typeface="Source Sans Pro" panose="020B0503030403020204" pitchFamily="34" charset="0"/>
                <a:ea typeface="Source Sans Pro" panose="020B0503030403020204" pitchFamily="34" charset="0"/>
                <a:cs typeface="Symbol"/>
              </a:rPr>
              <a:t>PS</a:t>
            </a:r>
            <a:r>
              <a:rPr lang="es-CO" sz="1800" dirty="0">
                <a:latin typeface="Arial MT"/>
                <a:cs typeface="Arial MT"/>
              </a:rPr>
              <a:t>(X)=22.168 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pc="10" dirty="0">
                <a:latin typeface="Source Sans Pro" panose="020B0503030403020204" pitchFamily="34" charset="0"/>
                <a:ea typeface="Source Sans Pro" panose="020B0503030403020204" pitchFamily="34" charset="0"/>
                <a:cs typeface="Symbol"/>
              </a:rPr>
              <a:t>PS</a:t>
            </a:r>
            <a:r>
              <a:rPr lang="es-CO" sz="1800" spc="50" dirty="0">
                <a:latin typeface="Times New Roman"/>
                <a:cs typeface="Times New Roman"/>
              </a:rPr>
              <a:t> </a:t>
            </a:r>
            <a:r>
              <a:rPr lang="es-CO" sz="1800" dirty="0">
                <a:latin typeface="Arial MT"/>
                <a:cs typeface="Arial MT"/>
              </a:rPr>
              <a:t>(X)=7.168 M</a:t>
            </a:r>
            <a:endParaRPr lang="es-CO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20294</TotalTime>
  <Words>1514</Words>
  <Application>Microsoft Macintosh PowerPoint</Application>
  <PresentationFormat>On-screen Show (4:3)</PresentationFormat>
  <Paragraphs>241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8" baseType="lpstr">
      <vt:lpstr>Aptos</vt:lpstr>
      <vt:lpstr>Arial</vt:lpstr>
      <vt:lpstr>Arial MT</vt:lpstr>
      <vt:lpstr>Calibri</vt:lpstr>
      <vt:lpstr>Cambria</vt:lpstr>
      <vt:lpstr>Cambria Math</vt:lpstr>
      <vt:lpstr>Source Sans Pro</vt:lpstr>
      <vt:lpstr>Symbol</vt:lpstr>
      <vt:lpstr>Times New Roman</vt:lpstr>
      <vt:lpstr>Trebuchet MS</vt:lpstr>
      <vt:lpstr>Office Theme</vt:lpstr>
      <vt:lpstr>PowerPoint Presentation</vt:lpstr>
      <vt:lpstr>MOTIVACIÓN DEL CONCEPTO DE  EQUIVALENTE MONETARIO CIERTO(EMC)  DE UNA LOTERÍA</vt:lpstr>
      <vt:lpstr>Definición formal de Equivalente Monetario Cierto (EMC)</vt:lpstr>
      <vt:lpstr> EQUIVALENTE MONETARIO CIERTO (EMC)</vt:lpstr>
      <vt:lpstr> EJERCICICIO</vt:lpstr>
      <vt:lpstr>Solución</vt:lpstr>
      <vt:lpstr>CONSTRUCCIÓN DE FUNCIÓN DE UTILIDAD  PARA UN DECISOR D</vt:lpstr>
      <vt:lpstr>PowerPoint Presentation</vt:lpstr>
      <vt:lpstr>A TRAVÉS DE LA FORMULACIÓN DE LOTERÍAS  AL DECISOR</vt:lpstr>
      <vt:lpstr>A TRAVÉS DE LA FORMULACIÓN DE LOTERÍAS  AL DECISOR</vt:lpstr>
      <vt:lpstr> FUNCIÓN DE UTILIDAD OBTENIDA</vt:lpstr>
      <vt:lpstr>PowerPoint Presentation</vt:lpstr>
      <vt:lpstr>PowerPoint Presentation</vt:lpstr>
      <vt:lpstr>Algunas de las Funciones de Utilidad de uso más común en las aplicaciones. Funciones crecientes. </vt:lpstr>
      <vt:lpstr>Prima de riesgo</vt:lpstr>
      <vt:lpstr> PRIMA DE RIESGO</vt:lpstr>
      <vt:lpstr> PRIMA DE SEGURO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Teoría de la Decisión</dc:title>
  <dc:creator>usuario registrado</dc:creator>
  <cp:lastModifiedBy>Brigitte Castañeda</cp:lastModifiedBy>
  <cp:revision>13</cp:revision>
  <dcterms:created xsi:type="dcterms:W3CDTF">2023-08-10T17:09:58Z</dcterms:created>
  <dcterms:modified xsi:type="dcterms:W3CDTF">2026-08-12T19:54:24Z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2022-08-17T00:00:00Z</vt:filetime>
  </property>
  <property fmtid="{D5CDD505-2E9C-101B-9397-08002B2CF9AE}" pid="3" name="Creator">
    <vt:lpwstr>Microsoft® PowerPoint® para Microsoft 365</vt:lpwstr>
  </property>
  <property fmtid="{D5CDD505-2E9C-101B-9397-08002B2CF9AE}" pid="4" name="LastSaved">
    <vt:filetime>2023-08-10T00:00:00Z</vt:filetime>
  </property>
</Properties>
</file>