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87" r:id="rId2"/>
  </p:sldIdLst>
  <p:sldSz cx="9144000" cy="6858000" type="screen4x3"/>
  <p:notesSz cx="9144000" cy="6858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1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85"/>
    <p:restoredTop sz="97371" autoAdjust="0"/>
  </p:normalViewPr>
  <p:slideViewPr>
    <p:cSldViewPr>
      <p:cViewPr>
        <p:scale>
          <a:sx n="190" d="100"/>
          <a:sy n="190" d="100"/>
        </p:scale>
        <p:origin x="1256" y="1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7B64DD-0579-420F-B0CE-60906180509D}" type="datetimeFigureOut">
              <a:rPr lang="es-CO" smtClean="0"/>
              <a:t>2/09/26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AA922-64C5-4F83-810C-806EFB96F915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2795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DAA922-64C5-4F83-810C-806EFB96F915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98421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590B8"/>
                </a:solidFill>
                <a:latin typeface="Trebuchet MS"/>
                <a:cs typeface="Trebuchet MS"/>
              </a:defRPr>
            </a:lvl1pPr>
          </a:lstStyle>
          <a:p>
            <a:pPr marL="9525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2475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rgbClr val="3C3C3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590B8"/>
                </a:solidFill>
                <a:latin typeface="Trebuchet MS"/>
                <a:cs typeface="Trebuchet MS"/>
              </a:defRPr>
            </a:lvl1pPr>
          </a:lstStyle>
          <a:p>
            <a:pPr marL="9525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2475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590B8"/>
                </a:solidFill>
                <a:latin typeface="Trebuchet MS"/>
                <a:cs typeface="Trebuchet MS"/>
              </a:defRPr>
            </a:lvl1pPr>
          </a:lstStyle>
          <a:p>
            <a:pPr marL="9525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22475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590B8"/>
                </a:solidFill>
                <a:latin typeface="Trebuchet MS"/>
                <a:cs typeface="Trebuchet MS"/>
              </a:defRPr>
            </a:lvl1pPr>
          </a:lstStyle>
          <a:p>
            <a:pPr marL="9525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4590B8"/>
                </a:solidFill>
                <a:latin typeface="Trebuchet MS"/>
                <a:cs typeface="Trebuchet MS"/>
              </a:defRPr>
            </a:lvl1pPr>
          </a:lstStyle>
          <a:p>
            <a:pPr marL="9525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48055" y="441198"/>
            <a:ext cx="2719705" cy="108585"/>
          </a:xfrm>
          <a:custGeom>
            <a:avLst/>
            <a:gdLst/>
            <a:ahLst/>
            <a:cxnLst/>
            <a:rect l="l" t="t" r="r" b="b"/>
            <a:pathLst>
              <a:path w="2719705" h="108584">
                <a:moveTo>
                  <a:pt x="2719578" y="0"/>
                </a:moveTo>
                <a:lnTo>
                  <a:pt x="0" y="0"/>
                </a:lnTo>
                <a:lnTo>
                  <a:pt x="0" y="108203"/>
                </a:lnTo>
                <a:lnTo>
                  <a:pt x="2719578" y="108203"/>
                </a:lnTo>
                <a:lnTo>
                  <a:pt x="2719578" y="0"/>
                </a:lnTo>
                <a:close/>
              </a:path>
            </a:pathLst>
          </a:custGeom>
          <a:solidFill>
            <a:srgbClr val="1A315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976365" y="441198"/>
            <a:ext cx="2710815" cy="108585"/>
          </a:xfrm>
          <a:custGeom>
            <a:avLst/>
            <a:gdLst/>
            <a:ahLst/>
            <a:cxnLst/>
            <a:rect l="l" t="t" r="r" b="b"/>
            <a:pathLst>
              <a:path w="2710815" h="108584">
                <a:moveTo>
                  <a:pt x="2710434" y="0"/>
                </a:moveTo>
                <a:lnTo>
                  <a:pt x="0" y="0"/>
                </a:lnTo>
                <a:lnTo>
                  <a:pt x="0" y="108203"/>
                </a:lnTo>
                <a:lnTo>
                  <a:pt x="2710434" y="108203"/>
                </a:lnTo>
                <a:lnTo>
                  <a:pt x="2710434" y="0"/>
                </a:lnTo>
                <a:close/>
              </a:path>
            </a:pathLst>
          </a:custGeom>
          <a:solidFill>
            <a:srgbClr val="959FA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216401" y="441198"/>
            <a:ext cx="2711450" cy="108585"/>
          </a:xfrm>
          <a:custGeom>
            <a:avLst/>
            <a:gdLst/>
            <a:ahLst/>
            <a:cxnLst/>
            <a:rect l="l" t="t" r="r" b="b"/>
            <a:pathLst>
              <a:path w="2711450" h="108584">
                <a:moveTo>
                  <a:pt x="2711196" y="0"/>
                </a:moveTo>
                <a:lnTo>
                  <a:pt x="0" y="0"/>
                </a:lnTo>
                <a:lnTo>
                  <a:pt x="0" y="108203"/>
                </a:lnTo>
                <a:lnTo>
                  <a:pt x="2711196" y="108203"/>
                </a:lnTo>
                <a:lnTo>
                  <a:pt x="2711196" y="0"/>
                </a:lnTo>
                <a:close/>
              </a:path>
            </a:pathLst>
          </a:custGeom>
          <a:solidFill>
            <a:srgbClr val="4590B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18336" y="1244346"/>
            <a:ext cx="6307327" cy="879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22475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6354" y="1910384"/>
            <a:ext cx="8051800" cy="2564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rgbClr val="3C3C3C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327643" y="6061420"/>
            <a:ext cx="190500" cy="1581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4590B8"/>
                </a:solidFill>
                <a:latin typeface="Trebuchet MS"/>
                <a:cs typeface="Trebuchet MS"/>
              </a:defRPr>
            </a:lvl1pPr>
          </a:lstStyle>
          <a:p>
            <a:pPr marL="9525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26" Type="http://schemas.openxmlformats.org/officeDocument/2006/relationships/image" Target="../media/image49.png"/><Relationship Id="rId3" Type="http://schemas.openxmlformats.org/officeDocument/2006/relationships/image" Target="../media/image260.png"/><Relationship Id="rId21" Type="http://schemas.openxmlformats.org/officeDocument/2006/relationships/image" Target="../media/image44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5" Type="http://schemas.openxmlformats.org/officeDocument/2006/relationships/image" Target="../media/image48.png"/><Relationship Id="rId33" Type="http://schemas.openxmlformats.org/officeDocument/2006/relationships/image" Target="../media/image5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29" Type="http://schemas.openxmlformats.org/officeDocument/2006/relationships/image" Target="../media/image5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0.png"/><Relationship Id="rId11" Type="http://schemas.openxmlformats.org/officeDocument/2006/relationships/image" Target="../media/image34.png"/><Relationship Id="rId24" Type="http://schemas.openxmlformats.org/officeDocument/2006/relationships/image" Target="../media/image47.png"/><Relationship Id="rId32" Type="http://schemas.openxmlformats.org/officeDocument/2006/relationships/image" Target="../media/image55.png"/><Relationship Id="rId5" Type="http://schemas.openxmlformats.org/officeDocument/2006/relationships/image" Target="../media/image29.png"/><Relationship Id="rId15" Type="http://schemas.openxmlformats.org/officeDocument/2006/relationships/image" Target="../media/image38.png"/><Relationship Id="rId23" Type="http://schemas.openxmlformats.org/officeDocument/2006/relationships/image" Target="../media/image46.png"/><Relationship Id="rId28" Type="http://schemas.openxmlformats.org/officeDocument/2006/relationships/image" Target="../media/image51.pn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31" Type="http://schemas.openxmlformats.org/officeDocument/2006/relationships/image" Target="../media/image54.png"/><Relationship Id="rId4" Type="http://schemas.openxmlformats.org/officeDocument/2006/relationships/image" Target="../media/image270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Relationship Id="rId22" Type="http://schemas.openxmlformats.org/officeDocument/2006/relationships/image" Target="../media/image45.png"/><Relationship Id="rId27" Type="http://schemas.openxmlformats.org/officeDocument/2006/relationships/image" Target="../media/image50.png"/><Relationship Id="rId30" Type="http://schemas.openxmlformats.org/officeDocument/2006/relationships/image" Target="../media/image53.png"/><Relationship Id="rId8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5795443D-5033-474B-B8A2-754825E42B8A}"/>
              </a:ext>
            </a:extLst>
          </p:cNvPr>
          <p:cNvSpPr/>
          <p:nvPr/>
        </p:nvSpPr>
        <p:spPr>
          <a:xfrm>
            <a:off x="5241584" y="5725881"/>
            <a:ext cx="3902414" cy="10500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2" name="object 2"/>
          <p:cNvSpPr txBox="1"/>
          <p:nvPr/>
        </p:nvSpPr>
        <p:spPr>
          <a:xfrm>
            <a:off x="381000" y="76200"/>
            <a:ext cx="346710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b="1" i="1" dirty="0">
                <a:latin typeface="+mj-lt"/>
                <a:cs typeface="Trebuchet MS"/>
              </a:rPr>
              <a:t>Swing Weighting con T</a:t>
            </a:r>
            <a:r>
              <a:rPr lang="es-419" sz="1600" b="1" i="1" dirty="0">
                <a:latin typeface="+mj-lt"/>
                <a:cs typeface="Trebuchet MS"/>
              </a:rPr>
              <a:t>res Atributos</a:t>
            </a:r>
            <a:endParaRPr sz="1600" dirty="0">
              <a:latin typeface="+mj-lt"/>
              <a:cs typeface="Trebuchet MS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6B143BC-6EBD-4D34-B1CE-C796EF994A61}"/>
              </a:ext>
            </a:extLst>
          </p:cNvPr>
          <p:cNvSpPr txBox="1"/>
          <p:nvPr/>
        </p:nvSpPr>
        <p:spPr>
          <a:xfrm>
            <a:off x="304800" y="609600"/>
            <a:ext cx="1219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050" b="1" dirty="0"/>
              <a:t>Atributos:</a:t>
            </a:r>
          </a:p>
          <a:p>
            <a:pPr marL="90488" indent="-90488">
              <a:buAutoNum type="arabicPeriod"/>
            </a:pPr>
            <a:r>
              <a:rPr lang="es-CO" sz="1050" dirty="0">
                <a:solidFill>
                  <a:schemeClr val="accent6">
                    <a:lumMod val="75000"/>
                  </a:schemeClr>
                </a:solidFill>
              </a:rPr>
              <a:t>Imagen</a:t>
            </a:r>
          </a:p>
          <a:p>
            <a:pPr marL="90488" indent="-90488">
              <a:buAutoNum type="arabicPeriod"/>
            </a:pPr>
            <a:r>
              <a:rPr lang="es-CO" sz="1050" dirty="0">
                <a:solidFill>
                  <a:schemeClr val="accent3">
                    <a:lumMod val="50000"/>
                  </a:schemeClr>
                </a:solidFill>
              </a:rPr>
              <a:t>Confiabilidad</a:t>
            </a:r>
            <a:r>
              <a:rPr lang="es-CO" sz="1050" dirty="0"/>
              <a:t> </a:t>
            </a:r>
          </a:p>
          <a:p>
            <a:pPr marL="90488" indent="-90488">
              <a:buAutoNum type="arabicPeriod"/>
            </a:pPr>
            <a:r>
              <a:rPr lang="es-CO" sz="1050" dirty="0"/>
              <a:t>Costo</a:t>
            </a:r>
          </a:p>
          <a:p>
            <a:endParaRPr lang="es-CO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0B5F642-7BB5-4F64-885A-DF1A1AEEAFA0}"/>
              </a:ext>
            </a:extLst>
          </p:cNvPr>
          <p:cNvSpPr txBox="1"/>
          <p:nvPr/>
        </p:nvSpPr>
        <p:spPr>
          <a:xfrm>
            <a:off x="1379928" y="640604"/>
            <a:ext cx="838690" cy="33855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/>
              <a:t>Imagen interna</a:t>
            </a:r>
          </a:p>
          <a:p>
            <a:r>
              <a:rPr lang="es-CO" sz="800" dirty="0"/>
              <a:t>Imagen externa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051DE7D-0A94-490A-8C79-595F1A7D1C4B}"/>
              </a:ext>
            </a:extLst>
          </p:cNvPr>
          <p:cNvSpPr txBox="1"/>
          <p:nvPr/>
        </p:nvSpPr>
        <p:spPr>
          <a:xfrm>
            <a:off x="1379927" y="979158"/>
            <a:ext cx="838690" cy="338554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dirty="0"/>
              <a:t>Capacidad</a:t>
            </a:r>
          </a:p>
          <a:p>
            <a:r>
              <a:rPr lang="es-CO" sz="800" dirty="0"/>
              <a:t>Redundancia</a:t>
            </a:r>
          </a:p>
        </p:txBody>
      </p:sp>
      <p:sp>
        <p:nvSpPr>
          <p:cNvPr id="24" name="Abrir llave 23">
            <a:extLst>
              <a:ext uri="{FF2B5EF4-FFF2-40B4-BE49-F238E27FC236}">
                <a16:creationId xmlns:a16="http://schemas.microsoft.com/office/drawing/2014/main" id="{A0AACEF3-DD72-415C-86BD-A0D11F1FF842}"/>
              </a:ext>
            </a:extLst>
          </p:cNvPr>
          <p:cNvSpPr/>
          <p:nvPr/>
        </p:nvSpPr>
        <p:spPr>
          <a:xfrm>
            <a:off x="1219200" y="652046"/>
            <a:ext cx="228600" cy="338554"/>
          </a:xfrm>
          <a:prstGeom prst="leftBrace">
            <a:avLst>
              <a:gd name="adj1" fmla="val 8333"/>
              <a:gd name="adj2" fmla="val 7360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5" name="Abrir llave 24">
            <a:extLst>
              <a:ext uri="{FF2B5EF4-FFF2-40B4-BE49-F238E27FC236}">
                <a16:creationId xmlns:a16="http://schemas.microsoft.com/office/drawing/2014/main" id="{AC2B76C9-6516-4763-8236-FE5B52806294}"/>
              </a:ext>
            </a:extLst>
          </p:cNvPr>
          <p:cNvSpPr/>
          <p:nvPr/>
        </p:nvSpPr>
        <p:spPr>
          <a:xfrm>
            <a:off x="1219200" y="1002042"/>
            <a:ext cx="228600" cy="334508"/>
          </a:xfrm>
          <a:prstGeom prst="leftBrace">
            <a:avLst>
              <a:gd name="adj1" fmla="val 8333"/>
              <a:gd name="adj2" fmla="val 1887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BE462BA-5D16-43B7-A07F-F11887D2F085}"/>
              </a:ext>
            </a:extLst>
          </p:cNvPr>
          <p:cNvSpPr txBox="1"/>
          <p:nvPr/>
        </p:nvSpPr>
        <p:spPr>
          <a:xfrm>
            <a:off x="2225974" y="581474"/>
            <a:ext cx="3225037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800" b="1" dirty="0"/>
              <a:t>Alternativas:</a:t>
            </a:r>
          </a:p>
          <a:p>
            <a:pPr marL="88900" indent="-88900">
              <a:buAutoNum type="arabicPeriod"/>
            </a:pPr>
            <a:r>
              <a:rPr lang="es-CO" sz="800" dirty="0"/>
              <a:t>Usar poliducto inicial sin modificaciones, arrendar por 10 años el nuevo.</a:t>
            </a:r>
          </a:p>
          <a:p>
            <a:pPr marL="88900" indent="-88900">
              <a:buAutoNum type="arabicPeriod"/>
            </a:pPr>
            <a:r>
              <a:rPr lang="es-CO" sz="800" dirty="0"/>
              <a:t>Usar sistema actual, no modificaciones más poliducto nuevo.</a:t>
            </a:r>
          </a:p>
          <a:p>
            <a:pPr marL="88900" indent="-88900">
              <a:buAutoNum type="arabicPeriod"/>
            </a:pPr>
            <a:r>
              <a:rPr lang="es-CO" sz="800" dirty="0"/>
              <a:t>Usar sistema actual, eliminar algunas estaciones, más poliducto nuevo.</a:t>
            </a:r>
          </a:p>
          <a:p>
            <a:pPr marL="88900" indent="-88900">
              <a:buAutoNum type="arabicPeriod"/>
            </a:pPr>
            <a:endParaRPr lang="es-CO" sz="8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3FD9654-0E7D-49A7-AF99-65D950DAB652}"/>
              </a:ext>
            </a:extLst>
          </p:cNvPr>
          <p:cNvSpPr txBox="1"/>
          <p:nvPr/>
        </p:nvSpPr>
        <p:spPr>
          <a:xfrm>
            <a:off x="5411761" y="555786"/>
            <a:ext cx="3243146" cy="93871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700" b="1" dirty="0"/>
              <a:t>Ingresos y Egresos en Valor Presente (10 años):</a:t>
            </a:r>
          </a:p>
          <a:p>
            <a:r>
              <a:rPr lang="es-CO" sz="700" dirty="0"/>
              <a:t>*Costo operación sistema actual + Poliducto: $150 M</a:t>
            </a:r>
          </a:p>
          <a:p>
            <a:r>
              <a:rPr lang="es-CO" sz="700" dirty="0"/>
              <a:t>* Costo operación sistema actual: $120 M</a:t>
            </a:r>
          </a:p>
          <a:p>
            <a:r>
              <a:rPr lang="es-CO" sz="700" dirty="0"/>
              <a:t>*Eliminar estaciones: ahorro:$120 M.</a:t>
            </a:r>
          </a:p>
          <a:p>
            <a:r>
              <a:rPr lang="es-CO" sz="700" dirty="0"/>
              <a:t>*Arriendo poliducto: ingresos $40 M</a:t>
            </a:r>
          </a:p>
          <a:p>
            <a:r>
              <a:rPr lang="es-CO" sz="700" b="1" dirty="0"/>
              <a:t>Capacidades y Demandas:</a:t>
            </a:r>
          </a:p>
          <a:p>
            <a:r>
              <a:rPr lang="es-CO" sz="700" dirty="0"/>
              <a:t>*Demanda actual: 70 mil barriles/día</a:t>
            </a:r>
          </a:p>
          <a:p>
            <a:endParaRPr lang="es-CO" sz="600" dirty="0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E8095845-1817-4CB8-9084-8C3DAF23C3BB}"/>
              </a:ext>
            </a:extLst>
          </p:cNvPr>
          <p:cNvSpPr txBox="1"/>
          <p:nvPr/>
        </p:nvSpPr>
        <p:spPr>
          <a:xfrm>
            <a:off x="2476884" y="1636961"/>
            <a:ext cx="2323716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700" b="1" dirty="0"/>
              <a:t>Cálculo de funciones utilidad Individuales:</a:t>
            </a:r>
          </a:p>
          <a:p>
            <a:r>
              <a:rPr lang="es-CO" sz="700" dirty="0"/>
              <a:t>Razones: Para Imagen Interna y Externa (Cualitativos).</a:t>
            </a:r>
            <a:endParaRPr lang="es-CO" sz="700" b="1" dirty="0"/>
          </a:p>
          <a:p>
            <a:r>
              <a:rPr lang="es-CO" sz="700" b="1" dirty="0">
                <a:solidFill>
                  <a:schemeClr val="accent2">
                    <a:lumMod val="75000"/>
                  </a:schemeClr>
                </a:solidFill>
              </a:rPr>
              <a:t>Puntajes proporcionales </a:t>
            </a:r>
            <a:r>
              <a:rPr lang="es-CO" sz="700" dirty="0"/>
              <a:t>para Confiabilidad (Capacidad y Redundancia) y </a:t>
            </a:r>
            <a:r>
              <a:rPr lang="es-CO" sz="700" b="1" u="sng" dirty="0"/>
              <a:t>Costos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C374340F-7564-4CDE-A072-BC4AA1D316A8}"/>
              </a:ext>
            </a:extLst>
          </p:cNvPr>
          <p:cNvSpPr txBox="1"/>
          <p:nvPr/>
        </p:nvSpPr>
        <p:spPr>
          <a:xfrm>
            <a:off x="262718" y="1635686"/>
            <a:ext cx="2223132" cy="52322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700" b="1" dirty="0"/>
              <a:t>Cálculo de funciones utilidad Individuales:</a:t>
            </a:r>
          </a:p>
          <a:p>
            <a:r>
              <a:rPr lang="es-CO" sz="700" b="1" dirty="0">
                <a:solidFill>
                  <a:schemeClr val="accent2">
                    <a:lumMod val="75000"/>
                  </a:schemeClr>
                </a:solidFill>
              </a:rPr>
              <a:t>Razones</a:t>
            </a:r>
            <a:r>
              <a:rPr lang="es-CO" sz="700" dirty="0"/>
              <a:t>: Para </a:t>
            </a:r>
            <a:r>
              <a:rPr lang="es-CO" sz="700" b="1" u="sng" dirty="0"/>
              <a:t>Imagen Interna y Externa </a:t>
            </a:r>
            <a:r>
              <a:rPr lang="es-CO" sz="700" dirty="0"/>
              <a:t>(Cualitativos).</a:t>
            </a:r>
            <a:endParaRPr lang="es-CO" sz="700" b="1" dirty="0"/>
          </a:p>
          <a:p>
            <a:r>
              <a:rPr lang="es-CO" sz="700" b="1" dirty="0">
                <a:solidFill>
                  <a:schemeClr val="accent2">
                    <a:lumMod val="75000"/>
                  </a:schemeClr>
                </a:solidFill>
              </a:rPr>
              <a:t>Puntajes Proporcionales </a:t>
            </a:r>
            <a:r>
              <a:rPr lang="es-CO" sz="700" dirty="0"/>
              <a:t>para </a:t>
            </a:r>
            <a:r>
              <a:rPr lang="es-CO" sz="700" b="1" u="sng" dirty="0"/>
              <a:t>Confiabilidad</a:t>
            </a:r>
            <a:r>
              <a:rPr lang="es-CO" sz="700" dirty="0"/>
              <a:t> </a:t>
            </a:r>
          </a:p>
          <a:p>
            <a:r>
              <a:rPr lang="es-CO" sz="700" dirty="0"/>
              <a:t>(Capacidad y Redundancia) y Costos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B61FAB8-51B0-40E2-8B0D-2F8FEEB26757}"/>
              </a:ext>
            </a:extLst>
          </p:cNvPr>
          <p:cNvSpPr txBox="1"/>
          <p:nvPr/>
        </p:nvSpPr>
        <p:spPr>
          <a:xfrm>
            <a:off x="7391400" y="573900"/>
            <a:ext cx="1752600" cy="89255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700" b="1" dirty="0"/>
              <a:t>Imagen Interna y Externa</a:t>
            </a:r>
          </a:p>
          <a:p>
            <a:r>
              <a:rPr lang="es-CO" sz="700" dirty="0"/>
              <a:t>*Uso poliducto nuevo:</a:t>
            </a:r>
          </a:p>
          <a:p>
            <a:r>
              <a:rPr lang="es-CO" sz="700" dirty="0"/>
              <a:t>     *Imagen Externa (IE): Dos veces mejor</a:t>
            </a:r>
          </a:p>
          <a:p>
            <a:r>
              <a:rPr lang="es-CO" sz="700" dirty="0"/>
              <a:t>     *Imagen Interna(IE): Igual.</a:t>
            </a:r>
          </a:p>
          <a:p>
            <a:r>
              <a:rPr lang="es-CO" sz="700" dirty="0"/>
              <a:t>*Eliminación estaciones: 2 veces mejor vs no eliminarlos.</a:t>
            </a:r>
          </a:p>
          <a:p>
            <a:endParaRPr lang="es-CO" sz="500" dirty="0"/>
          </a:p>
          <a:p>
            <a:endParaRPr lang="es-CO" sz="500" dirty="0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111A351-AF2E-4E16-9934-3AE265E74731}"/>
              </a:ext>
            </a:extLst>
          </p:cNvPr>
          <p:cNvSpPr txBox="1"/>
          <p:nvPr/>
        </p:nvSpPr>
        <p:spPr>
          <a:xfrm>
            <a:off x="262719" y="2100590"/>
            <a:ext cx="2223132" cy="2648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1100" b="1" dirty="0"/>
              <a:t>Obtención F.U individuales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D55ADE08-CAAA-4124-ABC8-3B4B1CDF5697}"/>
              </a:ext>
            </a:extLst>
          </p:cNvPr>
          <p:cNvSpPr txBox="1"/>
          <p:nvPr/>
        </p:nvSpPr>
        <p:spPr>
          <a:xfrm>
            <a:off x="143872" y="2622444"/>
            <a:ext cx="14285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800" b="1" dirty="0"/>
              <a:t>1a) Imagen Interna (Razones)</a:t>
            </a:r>
          </a:p>
        </p:txBody>
      </p:sp>
      <p:graphicFrame>
        <p:nvGraphicFramePr>
          <p:cNvPr id="35" name="Tabla 34">
            <a:extLst>
              <a:ext uri="{FF2B5EF4-FFF2-40B4-BE49-F238E27FC236}">
                <a16:creationId xmlns:a16="http://schemas.microsoft.com/office/drawing/2014/main" id="{C53BA3C2-2481-4F04-9BF6-0BB71D9FC8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020859"/>
              </p:ext>
            </p:extLst>
          </p:nvPr>
        </p:nvGraphicFramePr>
        <p:xfrm>
          <a:off x="238836" y="2853276"/>
          <a:ext cx="675564" cy="73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7782">
                  <a:extLst>
                    <a:ext uri="{9D8B030D-6E8A-4147-A177-3AD203B41FA5}">
                      <a16:colId xmlns:a16="http://schemas.microsoft.com/office/drawing/2014/main" val="1507334311"/>
                    </a:ext>
                  </a:extLst>
                </a:gridCol>
                <a:gridCol w="337782">
                  <a:extLst>
                    <a:ext uri="{9D8B030D-6E8A-4147-A177-3AD203B41FA5}">
                      <a16:colId xmlns:a16="http://schemas.microsoft.com/office/drawing/2014/main" val="3418777770"/>
                    </a:ext>
                  </a:extLst>
                </a:gridCol>
              </a:tblGrid>
              <a:tr h="153514"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 err="1"/>
                        <a:t>Punt</a:t>
                      </a:r>
                      <a:endParaRPr lang="es-CO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482977"/>
                  </a:ext>
                </a:extLst>
              </a:tr>
              <a:tr h="153514"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663716"/>
                  </a:ext>
                </a:extLst>
              </a:tr>
              <a:tr h="153514"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908931"/>
                  </a:ext>
                </a:extLst>
              </a:tr>
              <a:tr h="153514"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44086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CB7D5936-E4B0-4CEB-AE34-EDF68F5CE792}"/>
                  </a:ext>
                </a:extLst>
              </p:cNvPr>
              <p:cNvSpPr txBox="1"/>
              <p:nvPr/>
            </p:nvSpPr>
            <p:spPr>
              <a:xfrm>
                <a:off x="950941" y="2822022"/>
                <a:ext cx="56579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sz="800" b="0" i="1" smtClean="0">
                          <a:latin typeface="Cambria Math" panose="02040503050406030204" pitchFamily="18" charset="0"/>
                        </a:rPr>
                        <m:t>0=</m:t>
                      </m:r>
                      <m:r>
                        <a:rPr lang="es-CO" sz="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CO" sz="800" b="0" i="1" smtClean="0"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s-CO" sz="8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CO" sz="800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8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sz="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CO" sz="800" i="1">
                          <a:latin typeface="Cambria Math" panose="02040503050406030204" pitchFamily="18" charset="0"/>
                        </a:rPr>
                        <m:t>+20</m:t>
                      </m:r>
                      <m:r>
                        <a:rPr lang="es-CO" sz="8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CO" sz="800" dirty="0"/>
              </a:p>
            </p:txBody>
          </p:sp>
        </mc:Choice>
        <mc:Fallback xmlns="">
          <p:sp>
            <p:nvSpPr>
              <p:cNvPr id="36" name="CuadroTexto 35">
                <a:extLst>
                  <a:ext uri="{FF2B5EF4-FFF2-40B4-BE49-F238E27FC236}">
                    <a16:creationId xmlns:a16="http://schemas.microsoft.com/office/drawing/2014/main" id="{CB7D5936-E4B0-4CEB-AE34-EDF68F5CE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941" y="2822022"/>
                <a:ext cx="565796" cy="246221"/>
              </a:xfrm>
              <a:prstGeom prst="rect">
                <a:avLst/>
              </a:prstGeom>
              <a:blipFill>
                <a:blip r:embed="rId3"/>
                <a:stretch>
                  <a:fillRect l="-4301" r="-3226" b="-75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Cerrar llave 36">
            <a:extLst>
              <a:ext uri="{FF2B5EF4-FFF2-40B4-BE49-F238E27FC236}">
                <a16:creationId xmlns:a16="http://schemas.microsoft.com/office/drawing/2014/main" id="{2FAF0F1C-A52A-4DDA-914F-B1ED5FF15569}"/>
              </a:ext>
            </a:extLst>
          </p:cNvPr>
          <p:cNvSpPr/>
          <p:nvPr/>
        </p:nvSpPr>
        <p:spPr>
          <a:xfrm>
            <a:off x="1538443" y="2806632"/>
            <a:ext cx="45719" cy="27699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2CFB755F-EC78-4A84-8080-D421C1D37FDC}"/>
                  </a:ext>
                </a:extLst>
              </p:cNvPr>
              <p:cNvSpPr txBox="1"/>
              <p:nvPr/>
            </p:nvSpPr>
            <p:spPr>
              <a:xfrm>
                <a:off x="1637964" y="2827481"/>
                <a:ext cx="432683" cy="246221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sz="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CO" sz="800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s-CO" sz="800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s-CO" sz="800" b="0" i="1" smtClean="0">
                          <a:latin typeface="Cambria Math" panose="02040503050406030204" pitchFamily="18" charset="0"/>
                        </a:rPr>
                        <m:t>=1/10</m:t>
                      </m:r>
                    </m:oMath>
                  </m:oMathPara>
                </a14:m>
                <a:endParaRPr lang="es-CO" sz="800" dirty="0"/>
              </a:p>
            </p:txBody>
          </p:sp>
        </mc:Choice>
        <mc:Fallback xmlns=""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2CFB755F-EC78-4A84-8080-D421C1D37F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964" y="2827481"/>
                <a:ext cx="432683" cy="246221"/>
              </a:xfrm>
              <a:prstGeom prst="rect">
                <a:avLst/>
              </a:prstGeom>
              <a:blipFill>
                <a:blip r:embed="rId4"/>
                <a:stretch>
                  <a:fillRect l="-7042" r="-5634" b="-20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EE7C7045-395F-4ECB-BC8E-AFAD0E77E86A}"/>
                  </a:ext>
                </a:extLst>
              </p:cNvPr>
              <p:cNvSpPr txBox="1"/>
              <p:nvPr/>
            </p:nvSpPr>
            <p:spPr>
              <a:xfrm>
                <a:off x="934911" y="3087081"/>
                <a:ext cx="923009" cy="202428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  <m:d>
                        <m:dPr>
                          <m:ctrlP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s-CO" sz="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=−1+</m:t>
                      </m:r>
                      <m:f>
                        <m:fPr>
                          <m:ctrlP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s-CO" sz="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CO" sz="7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CO" sz="700" dirty="0"/>
              </a:p>
            </p:txBody>
          </p:sp>
        </mc:Choice>
        <mc:Fallback xmlns="">
          <p:sp>
            <p:nvSpPr>
              <p:cNvPr id="39" name="CuadroTexto 38">
                <a:extLst>
                  <a:ext uri="{FF2B5EF4-FFF2-40B4-BE49-F238E27FC236}">
                    <a16:creationId xmlns:a16="http://schemas.microsoft.com/office/drawing/2014/main" id="{EE7C7045-395F-4ECB-BC8E-AFAD0E77E8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911" y="3087081"/>
                <a:ext cx="923009" cy="202428"/>
              </a:xfrm>
              <a:prstGeom prst="rect">
                <a:avLst/>
              </a:prstGeom>
              <a:blipFill>
                <a:blip r:embed="rId5"/>
                <a:stretch>
                  <a:fillRect l="-1974" t="-2941" r="-1974" b="-14706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CuadroTexto 39">
            <a:extLst>
              <a:ext uri="{FF2B5EF4-FFF2-40B4-BE49-F238E27FC236}">
                <a16:creationId xmlns:a16="http://schemas.microsoft.com/office/drawing/2014/main" id="{A2B76841-62F9-461B-8BF1-B71042E99B6B}"/>
              </a:ext>
            </a:extLst>
          </p:cNvPr>
          <p:cNvSpPr txBox="1"/>
          <p:nvPr/>
        </p:nvSpPr>
        <p:spPr>
          <a:xfrm>
            <a:off x="158341" y="3708638"/>
            <a:ext cx="144623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800" b="1" dirty="0"/>
              <a:t>1b) Imagen Externa (Razones)</a:t>
            </a:r>
          </a:p>
        </p:txBody>
      </p:sp>
      <p:graphicFrame>
        <p:nvGraphicFramePr>
          <p:cNvPr id="41" name="Tabla 40">
            <a:extLst>
              <a:ext uri="{FF2B5EF4-FFF2-40B4-BE49-F238E27FC236}">
                <a16:creationId xmlns:a16="http://schemas.microsoft.com/office/drawing/2014/main" id="{91D02B83-D990-45BF-847D-352871C0BE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570393"/>
              </p:ext>
            </p:extLst>
          </p:nvPr>
        </p:nvGraphicFramePr>
        <p:xfrm>
          <a:off x="210755" y="3882912"/>
          <a:ext cx="675564" cy="731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7782">
                  <a:extLst>
                    <a:ext uri="{9D8B030D-6E8A-4147-A177-3AD203B41FA5}">
                      <a16:colId xmlns:a16="http://schemas.microsoft.com/office/drawing/2014/main" val="1507334311"/>
                    </a:ext>
                  </a:extLst>
                </a:gridCol>
                <a:gridCol w="337782">
                  <a:extLst>
                    <a:ext uri="{9D8B030D-6E8A-4147-A177-3AD203B41FA5}">
                      <a16:colId xmlns:a16="http://schemas.microsoft.com/office/drawing/2014/main" val="3418777770"/>
                    </a:ext>
                  </a:extLst>
                </a:gridCol>
              </a:tblGrid>
              <a:tr h="153514"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 err="1"/>
                        <a:t>Punt</a:t>
                      </a:r>
                      <a:endParaRPr lang="es-CO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482977"/>
                  </a:ext>
                </a:extLst>
              </a:tr>
              <a:tr h="153514"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663716"/>
                  </a:ext>
                </a:extLst>
              </a:tr>
              <a:tr h="153514"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908931"/>
                  </a:ext>
                </a:extLst>
              </a:tr>
              <a:tr h="153514"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44086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2902AEA2-F57F-4D34-AB03-D25DD5260D9E}"/>
                  </a:ext>
                </a:extLst>
              </p:cNvPr>
              <p:cNvSpPr txBox="1"/>
              <p:nvPr/>
            </p:nvSpPr>
            <p:spPr>
              <a:xfrm>
                <a:off x="906412" y="3917410"/>
                <a:ext cx="565796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sz="800" b="0" i="1" smtClean="0">
                          <a:latin typeface="Cambria Math" panose="02040503050406030204" pitchFamily="18" charset="0"/>
                        </a:rPr>
                        <m:t>0=</m:t>
                      </m:r>
                      <m:r>
                        <a:rPr lang="es-CO" sz="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CO" sz="800" b="0" i="1" smtClean="0"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s-CO" sz="8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CO" sz="800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80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sz="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CO" sz="800" i="1">
                          <a:latin typeface="Cambria Math" panose="02040503050406030204" pitchFamily="18" charset="0"/>
                        </a:rPr>
                        <m:t>+40</m:t>
                      </m:r>
                      <m:r>
                        <a:rPr lang="es-CO" sz="8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s-CO" sz="800" dirty="0"/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2902AEA2-F57F-4D34-AB03-D25DD5260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412" y="3917410"/>
                <a:ext cx="565796" cy="246221"/>
              </a:xfrm>
              <a:prstGeom prst="rect">
                <a:avLst/>
              </a:prstGeom>
              <a:blipFill>
                <a:blip r:embed="rId6"/>
                <a:stretch>
                  <a:fillRect l="-4301" r="-3226" b="-75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Cerrar llave 42">
            <a:extLst>
              <a:ext uri="{FF2B5EF4-FFF2-40B4-BE49-F238E27FC236}">
                <a16:creationId xmlns:a16="http://schemas.microsoft.com/office/drawing/2014/main" id="{BD987BE4-0D43-4CE8-8BC8-CF0D5ECC112B}"/>
              </a:ext>
            </a:extLst>
          </p:cNvPr>
          <p:cNvSpPr/>
          <p:nvPr/>
        </p:nvSpPr>
        <p:spPr>
          <a:xfrm>
            <a:off x="1483076" y="3917410"/>
            <a:ext cx="45719" cy="27699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6D2A413-06C1-45DE-A2B5-7D36B8D63A39}"/>
                  </a:ext>
                </a:extLst>
              </p:cNvPr>
              <p:cNvSpPr txBox="1"/>
              <p:nvPr/>
            </p:nvSpPr>
            <p:spPr>
              <a:xfrm>
                <a:off x="1557461" y="3917410"/>
                <a:ext cx="455381" cy="246221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sz="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s-CO" sz="800" b="0" i="1" smtClean="0">
                          <a:latin typeface="Cambria Math" panose="02040503050406030204" pitchFamily="18" charset="0"/>
                        </a:rPr>
                        <m:t>=−1/3</m:t>
                      </m:r>
                    </m:oMath>
                  </m:oMathPara>
                </a14:m>
                <a:endParaRPr lang="es-CO" sz="800" b="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s-CO" sz="800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s-CO" sz="800" b="0" i="1" smtClean="0">
                          <a:latin typeface="Cambria Math" panose="02040503050406030204" pitchFamily="18" charset="0"/>
                        </a:rPr>
                        <m:t>=1/30</m:t>
                      </m:r>
                    </m:oMath>
                  </m:oMathPara>
                </a14:m>
                <a:endParaRPr lang="es-CO" sz="800" dirty="0"/>
              </a:p>
            </p:txBody>
          </p:sp>
        </mc:Choice>
        <mc:Fallback xmlns=""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16D2A413-06C1-45DE-A2B5-7D36B8D63A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7461" y="3917410"/>
                <a:ext cx="455381" cy="246221"/>
              </a:xfrm>
              <a:prstGeom prst="rect">
                <a:avLst/>
              </a:prstGeom>
              <a:blipFill>
                <a:blip r:embed="rId7"/>
                <a:stretch>
                  <a:fillRect l="-2667" t="-2500" r="-5333" b="-20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C60828DC-429E-4656-8F47-352B3EE3E133}"/>
                  </a:ext>
                </a:extLst>
              </p:cNvPr>
              <p:cNvSpPr txBox="1"/>
              <p:nvPr/>
            </p:nvSpPr>
            <p:spPr>
              <a:xfrm>
                <a:off x="934911" y="3315568"/>
                <a:ext cx="923009" cy="202428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  <m:d>
                        <m:dPr>
                          <m:ctrlP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s-CO" sz="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=−1+</m:t>
                      </m:r>
                      <m:f>
                        <m:fPr>
                          <m:ctrlP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s-CO" sz="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CO" sz="7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CO" sz="700" dirty="0"/>
              </a:p>
            </p:txBody>
          </p:sp>
        </mc:Choice>
        <mc:Fallback xmlns="">
          <p:sp>
            <p:nvSpPr>
              <p:cNvPr id="46" name="CuadroTexto 45">
                <a:extLst>
                  <a:ext uri="{FF2B5EF4-FFF2-40B4-BE49-F238E27FC236}">
                    <a16:creationId xmlns:a16="http://schemas.microsoft.com/office/drawing/2014/main" id="{C60828DC-429E-4656-8F47-352B3EE3E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911" y="3315568"/>
                <a:ext cx="923009" cy="202428"/>
              </a:xfrm>
              <a:prstGeom prst="rect">
                <a:avLst/>
              </a:prstGeom>
              <a:blipFill>
                <a:blip r:embed="rId8"/>
                <a:stretch>
                  <a:fillRect l="-1974" t="-3030" r="-1974" b="-1515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252C10F3-4981-4DAE-A7FD-9482DAA34B22}"/>
                  </a:ext>
                </a:extLst>
              </p:cNvPr>
              <p:cNvSpPr txBox="1"/>
              <p:nvPr/>
            </p:nvSpPr>
            <p:spPr>
              <a:xfrm>
                <a:off x="934911" y="3542074"/>
                <a:ext cx="923009" cy="202428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  <m:d>
                        <m:dPr>
                          <m:ctrlP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CO" sz="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=−1+</m:t>
                      </m:r>
                      <m:f>
                        <m:fPr>
                          <m:ctrlP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20</m:t>
                          </m:r>
                        </m:num>
                        <m:den>
                          <m:r>
                            <a:rPr lang="es-CO" sz="7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es-CO" sz="7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CO" sz="7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CO" sz="700" dirty="0"/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252C10F3-4981-4DAE-A7FD-9482DAA34B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911" y="3542074"/>
                <a:ext cx="923009" cy="202428"/>
              </a:xfrm>
              <a:prstGeom prst="rect">
                <a:avLst/>
              </a:prstGeom>
              <a:blipFill>
                <a:blip r:embed="rId9"/>
                <a:stretch>
                  <a:fillRect l="-1974" t="-3030" r="-1974" b="-1818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upo 56">
            <a:extLst>
              <a:ext uri="{FF2B5EF4-FFF2-40B4-BE49-F238E27FC236}">
                <a16:creationId xmlns:a16="http://schemas.microsoft.com/office/drawing/2014/main" id="{436C5651-6CF0-48D4-AC6F-61F39C3C9B8C}"/>
              </a:ext>
            </a:extLst>
          </p:cNvPr>
          <p:cNvGrpSpPr/>
          <p:nvPr/>
        </p:nvGrpSpPr>
        <p:grpSpPr>
          <a:xfrm>
            <a:off x="902291" y="4190418"/>
            <a:ext cx="957769" cy="663507"/>
            <a:chOff x="918386" y="4413104"/>
            <a:chExt cx="957769" cy="66350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5AC3CE08-E47A-43E2-8046-9E98345C5A51}"/>
                    </a:ext>
                  </a:extLst>
                </p:cNvPr>
                <p:cNvSpPr txBox="1"/>
                <p:nvPr/>
              </p:nvSpPr>
              <p:spPr>
                <a:xfrm>
                  <a:off x="919340" y="4413104"/>
                  <a:ext cx="954492" cy="20242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𝐼𝐸</m:t>
                            </m:r>
                          </m:sub>
                        </m:sSub>
                        <m:d>
                          <m:dPr>
                            <m:ctrlP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a:rPr lang="es-CO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s-CO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num>
                          <m:den>
                            <m: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</m:t>
                            </m:r>
                          </m:den>
                        </m:f>
                        <m:r>
                          <a:rPr lang="es-CO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s-CO" sz="7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s-CO" sz="700" dirty="0"/>
                </a:p>
              </p:txBody>
            </p:sp>
          </mc:Choice>
          <mc:Fallback xmlns="">
            <p:sp>
              <p:nvSpPr>
                <p:cNvPr id="45" name="CuadroTexto 44">
                  <a:extLst>
                    <a:ext uri="{FF2B5EF4-FFF2-40B4-BE49-F238E27FC236}">
                      <a16:creationId xmlns:a16="http://schemas.microsoft.com/office/drawing/2014/main" id="{5AC3CE08-E47A-43E2-8046-9E98345C5A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340" y="4413104"/>
                  <a:ext cx="954492" cy="202428"/>
                </a:xfrm>
                <a:prstGeom prst="rect">
                  <a:avLst/>
                </a:prstGeom>
                <a:blipFill>
                  <a:blip r:embed="rId10"/>
                  <a:stretch>
                    <a:fillRect l="-1911" t="-2941" r="-1911" b="-14706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CuadroTexto 52">
                  <a:extLst>
                    <a:ext uri="{FF2B5EF4-FFF2-40B4-BE49-F238E27FC236}">
                      <a16:creationId xmlns:a16="http://schemas.microsoft.com/office/drawing/2014/main" id="{5551E912-71FF-4DC8-AD30-DB762B561B2F}"/>
                    </a:ext>
                  </a:extLst>
                </p:cNvPr>
                <p:cNvSpPr txBox="1"/>
                <p:nvPr/>
              </p:nvSpPr>
              <p:spPr>
                <a:xfrm>
                  <a:off x="921663" y="4642966"/>
                  <a:ext cx="954492" cy="20242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𝐼𝐸</m:t>
                            </m:r>
                          </m:sub>
                        </m:sSub>
                        <m:d>
                          <m:dPr>
                            <m:ctrlP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  <m:r>
                          <a:rPr lang="es-CO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s-CO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</m:t>
                            </m:r>
                          </m:num>
                          <m:den>
                            <m: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</m:t>
                            </m:r>
                          </m:den>
                        </m:f>
                        <m:r>
                          <a:rPr lang="es-CO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s-CO" sz="7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O" sz="7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CO" sz="7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oMath>
                    </m:oMathPara>
                  </a14:m>
                  <a:endParaRPr lang="es-CO" sz="700" dirty="0"/>
                </a:p>
              </p:txBody>
            </p:sp>
          </mc:Choice>
          <mc:Fallback xmlns="">
            <p:sp>
              <p:nvSpPr>
                <p:cNvPr id="53" name="CuadroTexto 52">
                  <a:extLst>
                    <a:ext uri="{FF2B5EF4-FFF2-40B4-BE49-F238E27FC236}">
                      <a16:creationId xmlns:a16="http://schemas.microsoft.com/office/drawing/2014/main" id="{5551E912-71FF-4DC8-AD30-DB762B561B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1663" y="4642966"/>
                  <a:ext cx="954492" cy="202428"/>
                </a:xfrm>
                <a:prstGeom prst="rect">
                  <a:avLst/>
                </a:prstGeom>
                <a:blipFill>
                  <a:blip r:embed="rId11"/>
                  <a:stretch>
                    <a:fillRect l="-2564" t="-3030" r="-1923" b="-18182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CuadroTexto 53">
                  <a:extLst>
                    <a:ext uri="{FF2B5EF4-FFF2-40B4-BE49-F238E27FC236}">
                      <a16:creationId xmlns:a16="http://schemas.microsoft.com/office/drawing/2014/main" id="{B120DB73-C288-4DA1-8572-35EB5453B310}"/>
                    </a:ext>
                  </a:extLst>
                </p:cNvPr>
                <p:cNvSpPr txBox="1"/>
                <p:nvPr/>
              </p:nvSpPr>
              <p:spPr>
                <a:xfrm>
                  <a:off x="918386" y="4874183"/>
                  <a:ext cx="954492" cy="202428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𝐼𝐸</m:t>
                            </m:r>
                          </m:sub>
                        </m:sSub>
                        <m:d>
                          <m:dPr>
                            <m:ctrlP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a:rPr lang="es-CO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s-CO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40</m:t>
                            </m:r>
                          </m:num>
                          <m:den>
                            <m:r>
                              <a:rPr lang="es-CO" sz="7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</m:t>
                            </m:r>
                          </m:den>
                        </m:f>
                        <m:r>
                          <a:rPr lang="es-CO" sz="7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s-CO" sz="7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s-CO" sz="700" dirty="0"/>
                </a:p>
              </p:txBody>
            </p:sp>
          </mc:Choice>
          <mc:Fallback xmlns="">
            <p:sp>
              <p:nvSpPr>
                <p:cNvPr id="54" name="CuadroTexto 53">
                  <a:extLst>
                    <a:ext uri="{FF2B5EF4-FFF2-40B4-BE49-F238E27FC236}">
                      <a16:creationId xmlns:a16="http://schemas.microsoft.com/office/drawing/2014/main" id="{B120DB73-C288-4DA1-8572-35EB5453B3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386" y="4874183"/>
                  <a:ext cx="954492" cy="202428"/>
                </a:xfrm>
                <a:prstGeom prst="rect">
                  <a:avLst/>
                </a:prstGeom>
                <a:blipFill>
                  <a:blip r:embed="rId12"/>
                  <a:stretch>
                    <a:fillRect l="-1911" t="-3030" r="-1911" b="-18182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5" name="CuadroTexto 54">
            <a:extLst>
              <a:ext uri="{FF2B5EF4-FFF2-40B4-BE49-F238E27FC236}">
                <a16:creationId xmlns:a16="http://schemas.microsoft.com/office/drawing/2014/main" id="{04363A8B-191E-49BB-955E-8647036BF8C9}"/>
              </a:ext>
            </a:extLst>
          </p:cNvPr>
          <p:cNvSpPr txBox="1"/>
          <p:nvPr/>
        </p:nvSpPr>
        <p:spPr>
          <a:xfrm>
            <a:off x="267523" y="2351170"/>
            <a:ext cx="2184253" cy="2616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1100" b="1" dirty="0"/>
              <a:t>Razones: Imagen </a:t>
            </a:r>
            <a:r>
              <a:rPr lang="es-CO" sz="1100" b="1" dirty="0" err="1"/>
              <a:t>Int</a:t>
            </a:r>
            <a:r>
              <a:rPr lang="es-CO" sz="1100" b="1" dirty="0"/>
              <a:t> y Ext (II &amp; IE)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982B38DE-3E10-42EC-9789-95304B58B662}"/>
              </a:ext>
            </a:extLst>
          </p:cNvPr>
          <p:cNvSpPr/>
          <p:nvPr/>
        </p:nvSpPr>
        <p:spPr>
          <a:xfrm>
            <a:off x="2362200" y="1625263"/>
            <a:ext cx="126117" cy="523273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8767F63E-21F5-412C-BF33-64385701A26D}"/>
              </a:ext>
            </a:extLst>
          </p:cNvPr>
          <p:cNvSpPr/>
          <p:nvPr/>
        </p:nvSpPr>
        <p:spPr>
          <a:xfrm>
            <a:off x="4724400" y="1639894"/>
            <a:ext cx="132272" cy="282289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3AE6DB0-2204-4FDE-B6F9-727F17A7F00B}"/>
              </a:ext>
            </a:extLst>
          </p:cNvPr>
          <p:cNvSpPr txBox="1"/>
          <p:nvPr/>
        </p:nvSpPr>
        <p:spPr>
          <a:xfrm>
            <a:off x="56103" y="4707788"/>
            <a:ext cx="85953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900" b="1" dirty="0"/>
              <a:t>2a) Capacidad</a:t>
            </a:r>
          </a:p>
        </p:txBody>
      </p:sp>
      <p:graphicFrame>
        <p:nvGraphicFramePr>
          <p:cNvPr id="61" name="Tabla 60">
            <a:extLst>
              <a:ext uri="{FF2B5EF4-FFF2-40B4-BE49-F238E27FC236}">
                <a16:creationId xmlns:a16="http://schemas.microsoft.com/office/drawing/2014/main" id="{AB8898F0-06C6-42F9-9505-46FD9FD52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700038"/>
              </p:ext>
            </p:extLst>
          </p:nvPr>
        </p:nvGraphicFramePr>
        <p:xfrm>
          <a:off x="173310" y="4879957"/>
          <a:ext cx="675564" cy="7467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7782">
                  <a:extLst>
                    <a:ext uri="{9D8B030D-6E8A-4147-A177-3AD203B41FA5}">
                      <a16:colId xmlns:a16="http://schemas.microsoft.com/office/drawing/2014/main" val="1507334311"/>
                    </a:ext>
                  </a:extLst>
                </a:gridCol>
                <a:gridCol w="337782">
                  <a:extLst>
                    <a:ext uri="{9D8B030D-6E8A-4147-A177-3AD203B41FA5}">
                      <a16:colId xmlns:a16="http://schemas.microsoft.com/office/drawing/2014/main" val="3418777770"/>
                    </a:ext>
                  </a:extLst>
                </a:gridCol>
              </a:tblGrid>
              <a:tr h="153514">
                <a:tc>
                  <a:txBody>
                    <a:bodyPr/>
                    <a:lstStyle/>
                    <a:p>
                      <a:pPr algn="ctr"/>
                      <a:r>
                        <a:rPr lang="es-CO" sz="500" dirty="0"/>
                        <a:t>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500" dirty="0" err="1"/>
                        <a:t>Punt</a:t>
                      </a:r>
                      <a:r>
                        <a:rPr lang="es-CO" sz="500" dirty="0"/>
                        <a:t> ($)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482977"/>
                  </a:ext>
                </a:extLst>
              </a:tr>
              <a:tr h="153514">
                <a:tc>
                  <a:txBody>
                    <a:bodyPr/>
                    <a:lstStyle/>
                    <a:p>
                      <a:pPr algn="ctr"/>
                      <a:r>
                        <a:rPr lang="es-CO" sz="5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500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663716"/>
                  </a:ext>
                </a:extLst>
              </a:tr>
              <a:tr h="153514">
                <a:tc>
                  <a:txBody>
                    <a:bodyPr/>
                    <a:lstStyle/>
                    <a:p>
                      <a:pPr algn="ctr"/>
                      <a:r>
                        <a:rPr lang="es-CO" sz="5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500" dirty="0"/>
                        <a:t>130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908931"/>
                  </a:ext>
                </a:extLst>
              </a:tr>
              <a:tr h="153514">
                <a:tc>
                  <a:txBody>
                    <a:bodyPr/>
                    <a:lstStyle/>
                    <a:p>
                      <a:pPr algn="ctr"/>
                      <a:r>
                        <a:rPr lang="es-CO" sz="5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500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440867"/>
                  </a:ext>
                </a:extLst>
              </a:tr>
            </a:tbl>
          </a:graphicData>
        </a:graphic>
      </p:graphicFrame>
      <p:sp>
        <p:nvSpPr>
          <p:cNvPr id="62" name="CuadroTexto 61">
            <a:extLst>
              <a:ext uri="{FF2B5EF4-FFF2-40B4-BE49-F238E27FC236}">
                <a16:creationId xmlns:a16="http://schemas.microsoft.com/office/drawing/2014/main" id="{21D96045-329F-4131-99EF-1412CE2B4B9A}"/>
              </a:ext>
            </a:extLst>
          </p:cNvPr>
          <p:cNvSpPr txBox="1"/>
          <p:nvPr/>
        </p:nvSpPr>
        <p:spPr>
          <a:xfrm>
            <a:off x="920217" y="4880252"/>
            <a:ext cx="348172" cy="16927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s-CO" sz="500" dirty="0"/>
              <a:t>Actual</a:t>
            </a: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29978F10-6759-415B-A08B-AF85ED49DBCF}"/>
              </a:ext>
            </a:extLst>
          </p:cNvPr>
          <p:cNvSpPr txBox="1"/>
          <p:nvPr/>
        </p:nvSpPr>
        <p:spPr>
          <a:xfrm>
            <a:off x="1853220" y="5211555"/>
            <a:ext cx="412292" cy="3231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s-CO" sz="500" dirty="0"/>
              <a:t>Actual +</a:t>
            </a:r>
          </a:p>
          <a:p>
            <a:r>
              <a:rPr lang="es-CO" sz="500" dirty="0"/>
              <a:t>nuevo </a:t>
            </a:r>
          </a:p>
          <a:p>
            <a:r>
              <a:rPr lang="es-CO" sz="500" dirty="0"/>
              <a:t>(80 + 50)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04D6E45E-748C-44CF-AAE8-387131BC55DE}"/>
              </a:ext>
            </a:extLst>
          </p:cNvPr>
          <p:cNvSpPr txBox="1"/>
          <p:nvPr/>
        </p:nvSpPr>
        <p:spPr>
          <a:xfrm>
            <a:off x="1134615" y="5725702"/>
            <a:ext cx="675185" cy="24622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s-CO" sz="500" dirty="0"/>
              <a:t>Actual-estaciones </a:t>
            </a:r>
          </a:p>
          <a:p>
            <a:r>
              <a:rPr lang="es-CO" sz="500" dirty="0"/>
              <a:t>+nuevo (80-30+50)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B569C225-6570-4FDC-A543-B9BDAD2A1023}"/>
                  </a:ext>
                </a:extLst>
              </p:cNvPr>
              <p:cNvSpPr txBox="1"/>
              <p:nvPr/>
            </p:nvSpPr>
            <p:spPr>
              <a:xfrm>
                <a:off x="909879" y="5049529"/>
                <a:ext cx="890308" cy="173509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𝐶𝑎</m:t>
                          </m:r>
                        </m:sub>
                      </m:sSub>
                      <m:d>
                        <m:dPr>
                          <m:ctrlPr>
                            <a:rPr lang="es-CO" sz="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s-CO" sz="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80−80</m:t>
                          </m:r>
                        </m:num>
                        <m:den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130−100</m:t>
                          </m:r>
                        </m:den>
                      </m:f>
                      <m:r>
                        <a:rPr lang="es-CO" sz="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O" sz="600" dirty="0"/>
              </a:p>
            </p:txBody>
          </p:sp>
        </mc:Choice>
        <mc:Fallback xmlns="">
          <p:sp>
            <p:nvSpPr>
              <p:cNvPr id="65" name="CuadroTexto 64">
                <a:extLst>
                  <a:ext uri="{FF2B5EF4-FFF2-40B4-BE49-F238E27FC236}">
                    <a16:creationId xmlns:a16="http://schemas.microsoft.com/office/drawing/2014/main" id="{B569C225-6570-4FDC-A543-B9BDAD2A1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879" y="5049529"/>
                <a:ext cx="890308" cy="173509"/>
              </a:xfrm>
              <a:prstGeom prst="rect">
                <a:avLst/>
              </a:prstGeom>
              <a:blipFill>
                <a:blip r:embed="rId13"/>
                <a:stretch>
                  <a:fillRect l="-2055" t="-3448" r="-2055" b="-1724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F66CBB5D-43AE-48AE-B274-D803EACD0E43}"/>
                  </a:ext>
                </a:extLst>
              </p:cNvPr>
              <p:cNvSpPr txBox="1"/>
              <p:nvPr/>
            </p:nvSpPr>
            <p:spPr>
              <a:xfrm>
                <a:off x="908280" y="5296194"/>
                <a:ext cx="890308" cy="173509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𝐶𝑎</m:t>
                          </m:r>
                        </m:sub>
                      </m:sSub>
                      <m:d>
                        <m:dPr>
                          <m:ctrlPr>
                            <a:rPr lang="es-CO" sz="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s-CO" sz="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130−80</m:t>
                          </m:r>
                        </m:num>
                        <m:den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130−100</m:t>
                          </m:r>
                        </m:den>
                      </m:f>
                      <m:r>
                        <a:rPr lang="es-CO" sz="6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CO" sz="600" dirty="0"/>
              </a:p>
            </p:txBody>
          </p:sp>
        </mc:Choice>
        <mc:Fallback xmlns=""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F66CBB5D-43AE-48AE-B274-D803EACD0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280" y="5296194"/>
                <a:ext cx="890308" cy="173509"/>
              </a:xfrm>
              <a:prstGeom prst="rect">
                <a:avLst/>
              </a:prstGeom>
              <a:blipFill>
                <a:blip r:embed="rId14"/>
                <a:stretch>
                  <a:fillRect l="-2055" t="-7143" r="-2055" b="-2142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72A53809-7860-43CB-8848-BD35EC2E611A}"/>
                  </a:ext>
                </a:extLst>
              </p:cNvPr>
              <p:cNvSpPr txBox="1"/>
              <p:nvPr/>
            </p:nvSpPr>
            <p:spPr>
              <a:xfrm>
                <a:off x="909879" y="5544561"/>
                <a:ext cx="890308" cy="173509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𝐶𝑎</m:t>
                          </m:r>
                        </m:sub>
                      </m:sSub>
                      <m:d>
                        <m:dPr>
                          <m:ctrlPr>
                            <a:rPr lang="es-CO" sz="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CO" sz="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100−80</m:t>
                          </m:r>
                        </m:num>
                        <m:den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130−100</m:t>
                          </m:r>
                        </m:den>
                      </m:f>
                      <m:r>
                        <a:rPr lang="es-CO" sz="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s-CO" sz="600" dirty="0"/>
              </a:p>
            </p:txBody>
          </p:sp>
        </mc:Choice>
        <mc:Fallback xmlns="">
          <p:sp>
            <p:nvSpPr>
              <p:cNvPr id="67" name="CuadroTexto 66">
                <a:extLst>
                  <a:ext uri="{FF2B5EF4-FFF2-40B4-BE49-F238E27FC236}">
                    <a16:creationId xmlns:a16="http://schemas.microsoft.com/office/drawing/2014/main" id="{72A53809-7860-43CB-8848-BD35EC2E6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879" y="5544561"/>
                <a:ext cx="890308" cy="173509"/>
              </a:xfrm>
              <a:prstGeom prst="rect">
                <a:avLst/>
              </a:prstGeom>
              <a:blipFill>
                <a:blip r:embed="rId15"/>
                <a:stretch>
                  <a:fillRect l="-2055" t="-7143" r="-2740" b="-2142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CuadroTexto 67">
            <a:extLst>
              <a:ext uri="{FF2B5EF4-FFF2-40B4-BE49-F238E27FC236}">
                <a16:creationId xmlns:a16="http://schemas.microsoft.com/office/drawing/2014/main" id="{D5DEAA41-8A2A-4114-AB64-F7771C251F73}"/>
              </a:ext>
            </a:extLst>
          </p:cNvPr>
          <p:cNvSpPr txBox="1"/>
          <p:nvPr/>
        </p:nvSpPr>
        <p:spPr>
          <a:xfrm>
            <a:off x="71822" y="5714599"/>
            <a:ext cx="89800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800" b="1" dirty="0"/>
              <a:t>2b) Redundancia</a:t>
            </a:r>
          </a:p>
        </p:txBody>
      </p:sp>
      <p:graphicFrame>
        <p:nvGraphicFramePr>
          <p:cNvPr id="69" name="Tabla 68">
            <a:extLst>
              <a:ext uri="{FF2B5EF4-FFF2-40B4-BE49-F238E27FC236}">
                <a16:creationId xmlns:a16="http://schemas.microsoft.com/office/drawing/2014/main" id="{0BF335B3-4701-4ED5-84A0-2814E207E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492142"/>
              </p:ext>
            </p:extLst>
          </p:nvPr>
        </p:nvGraphicFramePr>
        <p:xfrm>
          <a:off x="162636" y="5883011"/>
          <a:ext cx="675564" cy="822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7782">
                  <a:extLst>
                    <a:ext uri="{9D8B030D-6E8A-4147-A177-3AD203B41FA5}">
                      <a16:colId xmlns:a16="http://schemas.microsoft.com/office/drawing/2014/main" val="1507334311"/>
                    </a:ext>
                  </a:extLst>
                </a:gridCol>
                <a:gridCol w="337782">
                  <a:extLst>
                    <a:ext uri="{9D8B030D-6E8A-4147-A177-3AD203B41FA5}">
                      <a16:colId xmlns:a16="http://schemas.microsoft.com/office/drawing/2014/main" val="3418777770"/>
                    </a:ext>
                  </a:extLst>
                </a:gridCol>
              </a:tblGrid>
              <a:tr h="153514"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 err="1"/>
                        <a:t>Punt</a:t>
                      </a:r>
                      <a:r>
                        <a:rPr lang="es-CO" sz="600" dirty="0"/>
                        <a:t> ($)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482977"/>
                  </a:ext>
                </a:extLst>
              </a:tr>
              <a:tr h="153514"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663716"/>
                  </a:ext>
                </a:extLst>
              </a:tr>
              <a:tr h="153514"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908931"/>
                  </a:ext>
                </a:extLst>
              </a:tr>
              <a:tr h="153514"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44086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59770860-4648-4B52-9E89-279D79A38A78}"/>
                  </a:ext>
                </a:extLst>
              </p:cNvPr>
              <p:cNvSpPr txBox="1"/>
              <p:nvPr/>
            </p:nvSpPr>
            <p:spPr>
              <a:xfrm>
                <a:off x="923046" y="6101558"/>
                <a:ext cx="685444" cy="172868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s-CO" sz="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s-CO" sz="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1−1</m:t>
                          </m:r>
                        </m:num>
                        <m:den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2−1</m:t>
                          </m:r>
                        </m:den>
                      </m:f>
                      <m:r>
                        <a:rPr lang="es-CO" sz="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O" sz="600" dirty="0"/>
              </a:p>
            </p:txBody>
          </p:sp>
        </mc:Choice>
        <mc:Fallback xmlns="">
          <p:sp>
            <p:nvSpPr>
              <p:cNvPr id="70" name="CuadroTexto 69">
                <a:extLst>
                  <a:ext uri="{FF2B5EF4-FFF2-40B4-BE49-F238E27FC236}">
                    <a16:creationId xmlns:a16="http://schemas.microsoft.com/office/drawing/2014/main" id="{59770860-4648-4B52-9E89-279D79A38A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046" y="6101558"/>
                <a:ext cx="685444" cy="172868"/>
              </a:xfrm>
              <a:prstGeom prst="rect">
                <a:avLst/>
              </a:prstGeom>
              <a:blipFill>
                <a:blip r:embed="rId16"/>
                <a:stretch>
                  <a:fillRect l="-2655" t="-7143" r="-1770" b="-2142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DA1163AD-1640-49E1-AE25-B6E8740DB926}"/>
                  </a:ext>
                </a:extLst>
              </p:cNvPr>
              <p:cNvSpPr txBox="1"/>
              <p:nvPr/>
            </p:nvSpPr>
            <p:spPr>
              <a:xfrm>
                <a:off x="920837" y="6333848"/>
                <a:ext cx="703077" cy="172868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>
                <a:defPPr>
                  <a:defRPr lang="es-CO"/>
                </a:defPPr>
                <a:lvl1pPr>
                  <a:defRPr sz="900" b="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6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60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s-CO" sz="60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s-CO" sz="6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60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CO" sz="6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s-CO" sz="6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60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600">
                              <a:latin typeface="Cambria Math" panose="02040503050406030204" pitchFamily="18" charset="0"/>
                            </a:rPr>
                            <m:t>2−1</m:t>
                          </m:r>
                        </m:num>
                        <m:den>
                          <m:r>
                            <a:rPr lang="es-CO" sz="600">
                              <a:latin typeface="Cambria Math" panose="02040503050406030204" pitchFamily="18" charset="0"/>
                            </a:rPr>
                            <m:t>2−1</m:t>
                          </m:r>
                        </m:den>
                      </m:f>
                      <m:r>
                        <a:rPr lang="es-CO" sz="600">
                          <a:latin typeface="Cambria Math" panose="02040503050406030204" pitchFamily="18" charset="0"/>
                        </a:rPr>
                        <m:t>=1 </m:t>
                      </m:r>
                    </m:oMath>
                  </m:oMathPara>
                </a14:m>
                <a:endParaRPr lang="es-CO" sz="700" dirty="0"/>
              </a:p>
            </p:txBody>
          </p:sp>
        </mc:Choice>
        <mc:Fallback xmlns="">
          <p:sp>
            <p:nvSpPr>
              <p:cNvPr id="71" name="CuadroTexto 70">
                <a:extLst>
                  <a:ext uri="{FF2B5EF4-FFF2-40B4-BE49-F238E27FC236}">
                    <a16:creationId xmlns:a16="http://schemas.microsoft.com/office/drawing/2014/main" id="{DA1163AD-1640-49E1-AE25-B6E8740DB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837" y="6333848"/>
                <a:ext cx="703077" cy="172868"/>
              </a:xfrm>
              <a:prstGeom prst="rect">
                <a:avLst/>
              </a:prstGeom>
              <a:blipFill>
                <a:blip r:embed="rId17"/>
                <a:stretch>
                  <a:fillRect l="-2609" t="-7143" b="-2142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852D2C8C-CDDE-48A9-9CD8-45C288738F07}"/>
                  </a:ext>
                </a:extLst>
              </p:cNvPr>
              <p:cNvSpPr txBox="1"/>
              <p:nvPr/>
            </p:nvSpPr>
            <p:spPr>
              <a:xfrm>
                <a:off x="914400" y="6564296"/>
                <a:ext cx="709514" cy="15228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s-CO" sz="7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7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s-CO" sz="7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s-CO" sz="7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CO" sz="7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s-CO" sz="7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s-CO" sz="7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O" sz="7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sz="700" b="0" i="1" smtClean="0">
                            <a:latin typeface="Cambria Math" panose="02040503050406030204" pitchFamily="18" charset="0"/>
                          </a:rPr>
                          <m:t>2−1</m:t>
                        </m:r>
                      </m:num>
                      <m:den>
                        <m:r>
                          <a:rPr lang="es-CO" sz="700" b="0" i="1" smtClean="0">
                            <a:latin typeface="Cambria Math" panose="02040503050406030204" pitchFamily="18" charset="0"/>
                          </a:rPr>
                          <m:t>2−1</m:t>
                        </m:r>
                      </m:den>
                    </m:f>
                    <m:r>
                      <a:rPr lang="es-CO" sz="7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CO" sz="700" dirty="0"/>
                  <a:t>1</a:t>
                </a:r>
              </a:p>
            </p:txBody>
          </p:sp>
        </mc:Choice>
        <mc:Fallback xmlns=""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852D2C8C-CDDE-48A9-9CD8-45C288738F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6564296"/>
                <a:ext cx="709514" cy="152286"/>
              </a:xfrm>
              <a:prstGeom prst="rect">
                <a:avLst/>
              </a:prstGeom>
              <a:blipFill>
                <a:blip r:embed="rId18"/>
                <a:stretch>
                  <a:fillRect l="-4310" t="-8000" r="-862" b="-20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4" name="CuadroTexto 73">
            <a:extLst>
              <a:ext uri="{FF2B5EF4-FFF2-40B4-BE49-F238E27FC236}">
                <a16:creationId xmlns:a16="http://schemas.microsoft.com/office/drawing/2014/main" id="{DFF68953-7165-4336-B5F2-BB560BC174A3}"/>
              </a:ext>
            </a:extLst>
          </p:cNvPr>
          <p:cNvSpPr txBox="1"/>
          <p:nvPr/>
        </p:nvSpPr>
        <p:spPr>
          <a:xfrm>
            <a:off x="2421181" y="2642921"/>
            <a:ext cx="6222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900" b="1" dirty="0"/>
              <a:t>3) Costos</a:t>
            </a:r>
          </a:p>
        </p:txBody>
      </p:sp>
      <p:graphicFrame>
        <p:nvGraphicFramePr>
          <p:cNvPr id="75" name="Tabla 74">
            <a:extLst>
              <a:ext uri="{FF2B5EF4-FFF2-40B4-BE49-F238E27FC236}">
                <a16:creationId xmlns:a16="http://schemas.microsoft.com/office/drawing/2014/main" id="{78133997-D9A9-4188-95F3-75D50DFFA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452641"/>
              </p:ext>
            </p:extLst>
          </p:nvPr>
        </p:nvGraphicFramePr>
        <p:xfrm>
          <a:off x="2506477" y="2819263"/>
          <a:ext cx="791408" cy="8229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95704">
                  <a:extLst>
                    <a:ext uri="{9D8B030D-6E8A-4147-A177-3AD203B41FA5}">
                      <a16:colId xmlns:a16="http://schemas.microsoft.com/office/drawing/2014/main" val="1507334311"/>
                    </a:ext>
                  </a:extLst>
                </a:gridCol>
                <a:gridCol w="395704">
                  <a:extLst>
                    <a:ext uri="{9D8B030D-6E8A-4147-A177-3AD203B41FA5}">
                      <a16:colId xmlns:a16="http://schemas.microsoft.com/office/drawing/2014/main" val="3418777770"/>
                    </a:ext>
                  </a:extLst>
                </a:gridCol>
              </a:tblGrid>
              <a:tr h="153514"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Costo ($)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482977"/>
                  </a:ext>
                </a:extLst>
              </a:tr>
              <a:tr h="153514"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3663716"/>
                  </a:ext>
                </a:extLst>
              </a:tr>
              <a:tr h="153514"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908931"/>
                  </a:ext>
                </a:extLst>
              </a:tr>
              <a:tr h="153514"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130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440867"/>
                  </a:ext>
                </a:extLst>
              </a:tr>
            </a:tbl>
          </a:graphicData>
        </a:graphic>
      </p:graphicFrame>
      <p:sp>
        <p:nvSpPr>
          <p:cNvPr id="76" name="CuadroTexto 75">
            <a:extLst>
              <a:ext uri="{FF2B5EF4-FFF2-40B4-BE49-F238E27FC236}">
                <a16:creationId xmlns:a16="http://schemas.microsoft.com/office/drawing/2014/main" id="{94717730-C9B1-427B-A495-E471ACB6271E}"/>
              </a:ext>
            </a:extLst>
          </p:cNvPr>
          <p:cNvSpPr txBox="1"/>
          <p:nvPr/>
        </p:nvSpPr>
        <p:spPr>
          <a:xfrm>
            <a:off x="2466273" y="2147505"/>
            <a:ext cx="2331860" cy="4462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s-CO" sz="1200" b="1" dirty="0"/>
          </a:p>
          <a:p>
            <a:r>
              <a:rPr lang="es-CO" sz="1100" b="1" dirty="0"/>
              <a:t>Puntajes Proporcionales: Costos</a:t>
            </a:r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F775218E-9B8D-4D37-ADCD-F287E70DA4ED}"/>
              </a:ext>
            </a:extLst>
          </p:cNvPr>
          <p:cNvSpPr txBox="1"/>
          <p:nvPr/>
        </p:nvSpPr>
        <p:spPr>
          <a:xfrm>
            <a:off x="3212640" y="3091454"/>
            <a:ext cx="1003801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600" dirty="0"/>
              <a:t>$120 M – $40M (ingresos)</a:t>
            </a:r>
          </a:p>
        </p:txBody>
      </p:sp>
      <p:sp>
        <p:nvSpPr>
          <p:cNvPr id="78" name="CuadroTexto 77">
            <a:extLst>
              <a:ext uri="{FF2B5EF4-FFF2-40B4-BE49-F238E27FC236}">
                <a16:creationId xmlns:a16="http://schemas.microsoft.com/office/drawing/2014/main" id="{149D6B8B-ACBF-47C5-A51C-A98401D146E2}"/>
              </a:ext>
            </a:extLst>
          </p:cNvPr>
          <p:cNvSpPr txBox="1"/>
          <p:nvPr/>
        </p:nvSpPr>
        <p:spPr>
          <a:xfrm>
            <a:off x="3236649" y="3473453"/>
            <a:ext cx="954107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600" dirty="0"/>
              <a:t>$150 M – $20M (ahorro)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36DC4586-08A3-466D-8BE5-2324927427AF}"/>
                  </a:ext>
                </a:extLst>
              </p:cNvPr>
              <p:cNvSpPr txBox="1"/>
              <p:nvPr/>
            </p:nvSpPr>
            <p:spPr>
              <a:xfrm>
                <a:off x="2514061" y="3700893"/>
                <a:ext cx="1012107" cy="204608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7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s-CO" sz="7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d>
                        <m:dPr>
                          <m:ctrlPr>
                            <a:rPr lang="es-CO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7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CO" sz="7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s-CO" sz="7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7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700" b="0" i="1" smtClean="0">
                              <a:latin typeface="Cambria Math" panose="02040503050406030204" pitchFamily="18" charset="0"/>
                            </a:rPr>
                            <m:t>80−150</m:t>
                          </m:r>
                        </m:num>
                        <m:den>
                          <m:r>
                            <a:rPr lang="es-CO" sz="700" i="1">
                              <a:latin typeface="Cambria Math" panose="02040503050406030204" pitchFamily="18" charset="0"/>
                            </a:rPr>
                            <m:t>80−150</m:t>
                          </m:r>
                        </m:den>
                      </m:f>
                      <m:r>
                        <a:rPr lang="es-CO" sz="7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7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</m:oMath>
                  </m:oMathPara>
                </a14:m>
                <a:endParaRPr lang="es-CO" sz="700" b="1" dirty="0"/>
              </a:p>
            </p:txBody>
          </p:sp>
        </mc:Choice>
        <mc:Fallback xmlns="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36DC4586-08A3-466D-8BE5-2324927427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061" y="3700893"/>
                <a:ext cx="1012107" cy="204608"/>
              </a:xfrm>
              <a:prstGeom prst="rect">
                <a:avLst/>
              </a:prstGeom>
              <a:blipFill>
                <a:blip r:embed="rId19"/>
                <a:stretch>
                  <a:fillRect t="-5882" b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9C351B17-C560-4979-B86D-B771EA746D8A}"/>
                  </a:ext>
                </a:extLst>
              </p:cNvPr>
              <p:cNvSpPr txBox="1"/>
              <p:nvPr/>
            </p:nvSpPr>
            <p:spPr>
              <a:xfrm>
                <a:off x="2511853" y="3933183"/>
                <a:ext cx="1014317" cy="204608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none" lIns="0" tIns="0" rIns="0" bIns="0" rtlCol="0">
                <a:spAutoFit/>
              </a:bodyPr>
              <a:lstStyle>
                <a:defPPr>
                  <a:defRPr lang="es-CO"/>
                </a:defPPr>
                <a:lvl1pPr>
                  <a:defRPr sz="900" b="0" i="1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70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70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s-CO" sz="70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s-CO" sz="7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70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CO" sz="70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s-CO" sz="7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7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700" b="0" i="1" smtClean="0">
                              <a:latin typeface="Cambria Math" panose="02040503050406030204" pitchFamily="18" charset="0"/>
                            </a:rPr>
                            <m:t>150</m:t>
                          </m:r>
                          <m:r>
                            <a:rPr lang="es-CO" sz="7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s-CO" sz="700" b="0" i="1" smtClean="0">
                              <a:latin typeface="Cambria Math" panose="02040503050406030204" pitchFamily="18" charset="0"/>
                            </a:rPr>
                            <m:t>150</m:t>
                          </m:r>
                        </m:num>
                        <m:den>
                          <m:r>
                            <a:rPr lang="es-CO" sz="700" b="0" i="1" smtClean="0">
                              <a:latin typeface="Cambria Math" panose="02040503050406030204" pitchFamily="18" charset="0"/>
                            </a:rPr>
                            <m:t>80−150</m:t>
                          </m:r>
                        </m:den>
                      </m:f>
                      <m:r>
                        <a:rPr lang="es-CO" sz="7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700" b="1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CO" sz="70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CO" sz="800" dirty="0"/>
              </a:p>
            </p:txBody>
          </p:sp>
        </mc:Choice>
        <mc:Fallback xmlns="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9C351B17-C560-4979-B86D-B771EA746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1853" y="3933183"/>
                <a:ext cx="1014317" cy="204608"/>
              </a:xfrm>
              <a:prstGeom prst="rect">
                <a:avLst/>
              </a:prstGeom>
              <a:blipFill>
                <a:blip r:embed="rId20"/>
                <a:stretch>
                  <a:fillRect l="-1807" t="-5882" r="-602" b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82256938-1532-4BBF-89BE-041E091EED81}"/>
                  </a:ext>
                </a:extLst>
              </p:cNvPr>
              <p:cNvSpPr txBox="1"/>
              <p:nvPr/>
            </p:nvSpPr>
            <p:spPr>
              <a:xfrm>
                <a:off x="2505416" y="4163631"/>
                <a:ext cx="1020752" cy="204608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7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s-CO" sz="7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s-CO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CO" sz="7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s-CO" sz="7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  <m:r>
                        <a:rPr lang="es-CO" sz="7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7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700" b="0" i="1" smtClean="0">
                              <a:latin typeface="Cambria Math" panose="02040503050406030204" pitchFamily="18" charset="0"/>
                            </a:rPr>
                            <m:t>130−150</m:t>
                          </m:r>
                        </m:num>
                        <m:den>
                          <m:r>
                            <a:rPr lang="es-CO" sz="700" b="0" i="1" smtClean="0">
                              <a:latin typeface="Cambria Math" panose="02040503050406030204" pitchFamily="18" charset="0"/>
                            </a:rPr>
                            <m:t>80−150 </m:t>
                          </m:r>
                        </m:den>
                      </m:f>
                      <m:r>
                        <a:rPr lang="es-CO" sz="7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7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7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num>
                        <m:den>
                          <m:r>
                            <a:rPr lang="es-CO" sz="700" b="1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𝟕</m:t>
                          </m:r>
                        </m:den>
                      </m:f>
                    </m:oMath>
                  </m:oMathPara>
                </a14:m>
                <a:endParaRPr lang="es-CO" sz="700" b="1" dirty="0"/>
              </a:p>
            </p:txBody>
          </p:sp>
        </mc:Choice>
        <mc:Fallback xmlns=""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82256938-1532-4BBF-89BE-041E091EE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5416" y="4163631"/>
                <a:ext cx="1020752" cy="204608"/>
              </a:xfrm>
              <a:prstGeom prst="rect">
                <a:avLst/>
              </a:prstGeom>
              <a:blipFill>
                <a:blip r:embed="rId21"/>
                <a:stretch>
                  <a:fillRect l="-1198" t="-5882" r="-1198" b="-14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3" name="CuadroTexto 82">
            <a:extLst>
              <a:ext uri="{FF2B5EF4-FFF2-40B4-BE49-F238E27FC236}">
                <a16:creationId xmlns:a16="http://schemas.microsoft.com/office/drawing/2014/main" id="{D12224F2-FB60-48E2-8AD6-69E6B666FD68}"/>
              </a:ext>
            </a:extLst>
          </p:cNvPr>
          <p:cNvSpPr txBox="1"/>
          <p:nvPr/>
        </p:nvSpPr>
        <p:spPr>
          <a:xfrm>
            <a:off x="4800600" y="1639320"/>
            <a:ext cx="4343398" cy="43088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O" sz="1100" b="1" dirty="0"/>
              <a:t>Obtención de Pesos k </a:t>
            </a:r>
          </a:p>
          <a:p>
            <a:r>
              <a:rPr lang="es-CO" sz="1100" b="1" dirty="0"/>
              <a:t>(Swing </a:t>
            </a:r>
            <a:r>
              <a:rPr lang="es-CO" sz="1100" b="1" dirty="0" err="1"/>
              <a:t>Weighting</a:t>
            </a:r>
            <a:r>
              <a:rPr lang="es-CO" sz="1100" b="1" dirty="0"/>
              <a:t> o Balanceo)</a:t>
            </a:r>
          </a:p>
        </p:txBody>
      </p:sp>
      <p:graphicFrame>
        <p:nvGraphicFramePr>
          <p:cNvPr id="84" name="Tabla 83">
            <a:extLst>
              <a:ext uri="{FF2B5EF4-FFF2-40B4-BE49-F238E27FC236}">
                <a16:creationId xmlns:a16="http://schemas.microsoft.com/office/drawing/2014/main" id="{41C9030F-DA2E-4B9B-9C0E-AA38F27CFD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679026"/>
              </p:ext>
            </p:extLst>
          </p:nvPr>
        </p:nvGraphicFramePr>
        <p:xfrm>
          <a:off x="4963374" y="2223850"/>
          <a:ext cx="3216231" cy="8074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05123">
                  <a:extLst>
                    <a:ext uri="{9D8B030D-6E8A-4147-A177-3AD203B41FA5}">
                      <a16:colId xmlns:a16="http://schemas.microsoft.com/office/drawing/2014/main" val="112400073"/>
                    </a:ext>
                  </a:extLst>
                </a:gridCol>
                <a:gridCol w="613767">
                  <a:extLst>
                    <a:ext uri="{9D8B030D-6E8A-4147-A177-3AD203B41FA5}">
                      <a16:colId xmlns:a16="http://schemas.microsoft.com/office/drawing/2014/main" val="3873832926"/>
                    </a:ext>
                  </a:extLst>
                </a:gridCol>
                <a:gridCol w="510848">
                  <a:extLst>
                    <a:ext uri="{9D8B030D-6E8A-4147-A177-3AD203B41FA5}">
                      <a16:colId xmlns:a16="http://schemas.microsoft.com/office/drawing/2014/main" val="3458202735"/>
                    </a:ext>
                  </a:extLst>
                </a:gridCol>
                <a:gridCol w="563244">
                  <a:extLst>
                    <a:ext uri="{9D8B030D-6E8A-4147-A177-3AD203B41FA5}">
                      <a16:colId xmlns:a16="http://schemas.microsoft.com/office/drawing/2014/main" val="2481709888"/>
                    </a:ext>
                  </a:extLst>
                </a:gridCol>
                <a:gridCol w="723249">
                  <a:extLst>
                    <a:ext uri="{9D8B030D-6E8A-4147-A177-3AD203B41FA5}">
                      <a16:colId xmlns:a16="http://schemas.microsoft.com/office/drawing/2014/main" val="904196348"/>
                    </a:ext>
                  </a:extLst>
                </a:gridCol>
              </a:tblGrid>
              <a:tr h="201859">
                <a:tc>
                  <a:txBody>
                    <a:bodyPr/>
                    <a:lstStyle/>
                    <a:p>
                      <a:r>
                        <a:rPr lang="es-CO" sz="600" dirty="0"/>
                        <a:t>Atributo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600" dirty="0"/>
                        <a:t>Resultado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Ranking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 err="1"/>
                        <a:t>Calif</a:t>
                      </a:r>
                      <a:endParaRPr lang="es-CO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Peso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792763"/>
                  </a:ext>
                </a:extLst>
              </a:tr>
              <a:tr h="201859">
                <a:tc>
                  <a:txBody>
                    <a:bodyPr/>
                    <a:lstStyle/>
                    <a:p>
                      <a:r>
                        <a:rPr lang="es-CO" sz="600" dirty="0" err="1"/>
                        <a:t>Benchmark</a:t>
                      </a:r>
                      <a:endParaRPr lang="es-CO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600" dirty="0"/>
                        <a:t>10pts, 10 </a:t>
                      </a:r>
                      <a:r>
                        <a:rPr lang="es-CO" sz="600" dirty="0" err="1"/>
                        <a:t>pts</a:t>
                      </a:r>
                      <a:endParaRPr lang="es-CO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181995"/>
                  </a:ext>
                </a:extLst>
              </a:tr>
              <a:tr h="201859">
                <a:tc>
                  <a:txBody>
                    <a:bodyPr/>
                    <a:lstStyle/>
                    <a:p>
                      <a:r>
                        <a:rPr lang="es-CO" sz="600" dirty="0"/>
                        <a:t>Mayor Imagen </a:t>
                      </a:r>
                      <a:r>
                        <a:rPr lang="es-CO" sz="600" dirty="0" err="1"/>
                        <a:t>Int</a:t>
                      </a:r>
                      <a:endParaRPr lang="es-CO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600" dirty="0"/>
                        <a:t>20 </a:t>
                      </a:r>
                      <a:r>
                        <a:rPr lang="es-CO" sz="600" dirty="0" err="1"/>
                        <a:t>pts</a:t>
                      </a:r>
                      <a:r>
                        <a:rPr lang="es-CO" sz="600" dirty="0"/>
                        <a:t>, 10 </a:t>
                      </a:r>
                      <a:r>
                        <a:rPr lang="es-CO" sz="600" dirty="0" err="1"/>
                        <a:t>pts</a:t>
                      </a:r>
                      <a:endParaRPr lang="es-CO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7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4/9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363095"/>
                  </a:ext>
                </a:extLst>
              </a:tr>
              <a:tr h="201859">
                <a:tc>
                  <a:txBody>
                    <a:bodyPr/>
                    <a:lstStyle/>
                    <a:p>
                      <a:r>
                        <a:rPr lang="es-CO" sz="600" dirty="0"/>
                        <a:t>Mayor Imagen 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600" dirty="0"/>
                        <a:t>10 </a:t>
                      </a:r>
                      <a:r>
                        <a:rPr lang="es-CO" sz="600" dirty="0" err="1"/>
                        <a:t>pts</a:t>
                      </a:r>
                      <a:r>
                        <a:rPr lang="es-CO" sz="600" dirty="0"/>
                        <a:t>, 40 </a:t>
                      </a:r>
                      <a:r>
                        <a:rPr lang="es-CO" sz="600" dirty="0" err="1"/>
                        <a:t>pts</a:t>
                      </a:r>
                      <a:endParaRPr lang="es-CO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7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5/9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676399"/>
                  </a:ext>
                </a:extLst>
              </a:tr>
            </a:tbl>
          </a:graphicData>
        </a:graphic>
      </p:graphicFrame>
      <p:cxnSp>
        <p:nvCxnSpPr>
          <p:cNvPr id="86" name="Conector: curvado 85">
            <a:extLst>
              <a:ext uri="{FF2B5EF4-FFF2-40B4-BE49-F238E27FC236}">
                <a16:creationId xmlns:a16="http://schemas.microsoft.com/office/drawing/2014/main" id="{78ED8DEF-9E85-4672-A80F-20B7FED97C48}"/>
              </a:ext>
            </a:extLst>
          </p:cNvPr>
          <p:cNvCxnSpPr>
            <a:stCxn id="64" idx="1"/>
          </p:cNvCxnSpPr>
          <p:nvPr/>
        </p:nvCxnSpPr>
        <p:spPr>
          <a:xfrm rot="10800000">
            <a:off x="644143" y="5597463"/>
            <a:ext cx="490473" cy="251350"/>
          </a:xfrm>
          <a:prstGeom prst="curvedConnector3">
            <a:avLst>
              <a:gd name="adj1" fmla="val 10025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: curvado 88">
            <a:extLst>
              <a:ext uri="{FF2B5EF4-FFF2-40B4-BE49-F238E27FC236}">
                <a16:creationId xmlns:a16="http://schemas.microsoft.com/office/drawing/2014/main" id="{ADB9BBAE-9539-46B5-A166-C2920F8FF7D3}"/>
              </a:ext>
            </a:extLst>
          </p:cNvPr>
          <p:cNvCxnSpPr/>
          <p:nvPr/>
        </p:nvCxnSpPr>
        <p:spPr>
          <a:xfrm rot="10800000" flipV="1">
            <a:off x="693105" y="5223038"/>
            <a:ext cx="1148748" cy="159910"/>
          </a:xfrm>
          <a:prstGeom prst="curvedConnector3">
            <a:avLst>
              <a:gd name="adj1" fmla="val 8876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: curvado 91">
            <a:extLst>
              <a:ext uri="{FF2B5EF4-FFF2-40B4-BE49-F238E27FC236}">
                <a16:creationId xmlns:a16="http://schemas.microsoft.com/office/drawing/2014/main" id="{F431C21F-38C9-4F33-A2EF-223A4239FCFC}"/>
              </a:ext>
            </a:extLst>
          </p:cNvPr>
          <p:cNvCxnSpPr/>
          <p:nvPr/>
        </p:nvCxnSpPr>
        <p:spPr>
          <a:xfrm rot="10800000" flipV="1">
            <a:off x="718029" y="5030593"/>
            <a:ext cx="184262" cy="135966"/>
          </a:xfrm>
          <a:prstGeom prst="curvedConnector3">
            <a:avLst>
              <a:gd name="adj1" fmla="val 6294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CuadroTexto 94">
            <a:extLst>
              <a:ext uri="{FF2B5EF4-FFF2-40B4-BE49-F238E27FC236}">
                <a16:creationId xmlns:a16="http://schemas.microsoft.com/office/drawing/2014/main" id="{5303FB88-D971-4DD8-A8E6-F64B1C91D12C}"/>
              </a:ext>
            </a:extLst>
          </p:cNvPr>
          <p:cNvSpPr txBox="1"/>
          <p:nvPr/>
        </p:nvSpPr>
        <p:spPr>
          <a:xfrm>
            <a:off x="4948878" y="2040686"/>
            <a:ext cx="28164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900" b="1" dirty="0"/>
              <a:t>a) Para Imagen Interna y Externa:</a:t>
            </a:r>
          </a:p>
        </p:txBody>
      </p:sp>
      <p:graphicFrame>
        <p:nvGraphicFramePr>
          <p:cNvPr id="96" name="Tabla 95">
            <a:extLst>
              <a:ext uri="{FF2B5EF4-FFF2-40B4-BE49-F238E27FC236}">
                <a16:creationId xmlns:a16="http://schemas.microsoft.com/office/drawing/2014/main" id="{4B2756A4-08B4-455F-80F9-90170C124C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7667945"/>
              </p:ext>
            </p:extLst>
          </p:nvPr>
        </p:nvGraphicFramePr>
        <p:xfrm>
          <a:off x="4933370" y="3300283"/>
          <a:ext cx="3257628" cy="80743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15486">
                  <a:extLst>
                    <a:ext uri="{9D8B030D-6E8A-4147-A177-3AD203B41FA5}">
                      <a16:colId xmlns:a16="http://schemas.microsoft.com/office/drawing/2014/main" val="112400073"/>
                    </a:ext>
                  </a:extLst>
                </a:gridCol>
                <a:gridCol w="621667">
                  <a:extLst>
                    <a:ext uri="{9D8B030D-6E8A-4147-A177-3AD203B41FA5}">
                      <a16:colId xmlns:a16="http://schemas.microsoft.com/office/drawing/2014/main" val="3873832926"/>
                    </a:ext>
                  </a:extLst>
                </a:gridCol>
                <a:gridCol w="517424">
                  <a:extLst>
                    <a:ext uri="{9D8B030D-6E8A-4147-A177-3AD203B41FA5}">
                      <a16:colId xmlns:a16="http://schemas.microsoft.com/office/drawing/2014/main" val="3458202735"/>
                    </a:ext>
                  </a:extLst>
                </a:gridCol>
                <a:gridCol w="570494">
                  <a:extLst>
                    <a:ext uri="{9D8B030D-6E8A-4147-A177-3AD203B41FA5}">
                      <a16:colId xmlns:a16="http://schemas.microsoft.com/office/drawing/2014/main" val="2481709888"/>
                    </a:ext>
                  </a:extLst>
                </a:gridCol>
                <a:gridCol w="732557">
                  <a:extLst>
                    <a:ext uri="{9D8B030D-6E8A-4147-A177-3AD203B41FA5}">
                      <a16:colId xmlns:a16="http://schemas.microsoft.com/office/drawing/2014/main" val="904196348"/>
                    </a:ext>
                  </a:extLst>
                </a:gridCol>
              </a:tblGrid>
              <a:tr h="201859">
                <a:tc>
                  <a:txBody>
                    <a:bodyPr/>
                    <a:lstStyle/>
                    <a:p>
                      <a:r>
                        <a:rPr lang="es-CO" sz="600" dirty="0"/>
                        <a:t>Atributo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600" dirty="0"/>
                        <a:t>Resultado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Ranking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 err="1"/>
                        <a:t>Calif</a:t>
                      </a:r>
                      <a:endParaRPr lang="es-CO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Peso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792763"/>
                  </a:ext>
                </a:extLst>
              </a:tr>
              <a:tr h="201859">
                <a:tc>
                  <a:txBody>
                    <a:bodyPr/>
                    <a:lstStyle/>
                    <a:p>
                      <a:r>
                        <a:rPr lang="es-CO" sz="600" dirty="0" err="1"/>
                        <a:t>Benchmark</a:t>
                      </a:r>
                      <a:endParaRPr lang="es-CO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600" dirty="0"/>
                        <a:t>80, 1 </a:t>
                      </a:r>
                      <a:r>
                        <a:rPr lang="es-CO" sz="600" dirty="0" err="1"/>
                        <a:t>sist</a:t>
                      </a:r>
                      <a:endParaRPr lang="es-CO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181995"/>
                  </a:ext>
                </a:extLst>
              </a:tr>
              <a:tr h="201859">
                <a:tc>
                  <a:txBody>
                    <a:bodyPr/>
                    <a:lstStyle/>
                    <a:p>
                      <a:r>
                        <a:rPr lang="es-CO" sz="600" dirty="0"/>
                        <a:t>Mayor 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600" dirty="0"/>
                        <a:t>130, 1 </a:t>
                      </a:r>
                      <a:r>
                        <a:rPr lang="es-CO" sz="600" dirty="0" err="1"/>
                        <a:t>sist</a:t>
                      </a:r>
                      <a:endParaRPr lang="es-CO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700" b="1" dirty="0">
                          <a:solidFill>
                            <a:srgbClr val="00B050"/>
                          </a:solidFill>
                        </a:rPr>
                        <a:t>5/8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363095"/>
                  </a:ext>
                </a:extLst>
              </a:tr>
              <a:tr h="201859">
                <a:tc>
                  <a:txBody>
                    <a:bodyPr/>
                    <a:lstStyle/>
                    <a:p>
                      <a:r>
                        <a:rPr lang="es-CO" sz="600" dirty="0"/>
                        <a:t>Mayor 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600" dirty="0"/>
                        <a:t>80, 2 </a:t>
                      </a:r>
                      <a:r>
                        <a:rPr lang="es-CO" sz="600" dirty="0" err="1"/>
                        <a:t>sist</a:t>
                      </a:r>
                      <a:endParaRPr lang="es-CO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700" b="1" dirty="0">
                          <a:solidFill>
                            <a:srgbClr val="00B050"/>
                          </a:solidFill>
                        </a:rPr>
                        <a:t>3/8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676399"/>
                  </a:ext>
                </a:extLst>
              </a:tr>
            </a:tbl>
          </a:graphicData>
        </a:graphic>
      </p:graphicFrame>
      <p:sp>
        <p:nvSpPr>
          <p:cNvPr id="97" name="CuadroTexto 96">
            <a:extLst>
              <a:ext uri="{FF2B5EF4-FFF2-40B4-BE49-F238E27FC236}">
                <a16:creationId xmlns:a16="http://schemas.microsoft.com/office/drawing/2014/main" id="{0908B61D-A294-42EA-BE91-94957BC67467}"/>
              </a:ext>
            </a:extLst>
          </p:cNvPr>
          <p:cNvSpPr txBox="1"/>
          <p:nvPr/>
        </p:nvSpPr>
        <p:spPr>
          <a:xfrm>
            <a:off x="4931905" y="3080424"/>
            <a:ext cx="281647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900" b="1" dirty="0"/>
              <a:t>b) Para Capacidad y Redundancia (Confiabilidad):</a:t>
            </a:r>
          </a:p>
        </p:txBody>
      </p:sp>
      <p:graphicFrame>
        <p:nvGraphicFramePr>
          <p:cNvPr id="98" name="Tabla 97">
            <a:extLst>
              <a:ext uri="{FF2B5EF4-FFF2-40B4-BE49-F238E27FC236}">
                <a16:creationId xmlns:a16="http://schemas.microsoft.com/office/drawing/2014/main" id="{1F25136A-99B3-4442-83F0-B2AC505CEE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0745724"/>
              </p:ext>
            </p:extLst>
          </p:nvPr>
        </p:nvGraphicFramePr>
        <p:xfrm>
          <a:off x="2514600" y="4517779"/>
          <a:ext cx="5726589" cy="9601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33544">
                  <a:extLst>
                    <a:ext uri="{9D8B030D-6E8A-4147-A177-3AD203B41FA5}">
                      <a16:colId xmlns:a16="http://schemas.microsoft.com/office/drawing/2014/main" val="112400073"/>
                    </a:ext>
                  </a:extLst>
                </a:gridCol>
                <a:gridCol w="1092829">
                  <a:extLst>
                    <a:ext uri="{9D8B030D-6E8A-4147-A177-3AD203B41FA5}">
                      <a16:colId xmlns:a16="http://schemas.microsoft.com/office/drawing/2014/main" val="3873832926"/>
                    </a:ext>
                  </a:extLst>
                </a:gridCol>
                <a:gridCol w="909580">
                  <a:extLst>
                    <a:ext uri="{9D8B030D-6E8A-4147-A177-3AD203B41FA5}">
                      <a16:colId xmlns:a16="http://schemas.microsoft.com/office/drawing/2014/main" val="3458202735"/>
                    </a:ext>
                  </a:extLst>
                </a:gridCol>
                <a:gridCol w="1002872">
                  <a:extLst>
                    <a:ext uri="{9D8B030D-6E8A-4147-A177-3AD203B41FA5}">
                      <a16:colId xmlns:a16="http://schemas.microsoft.com/office/drawing/2014/main" val="2481709888"/>
                    </a:ext>
                  </a:extLst>
                </a:gridCol>
                <a:gridCol w="1287764">
                  <a:extLst>
                    <a:ext uri="{9D8B030D-6E8A-4147-A177-3AD203B41FA5}">
                      <a16:colId xmlns:a16="http://schemas.microsoft.com/office/drawing/2014/main" val="904196348"/>
                    </a:ext>
                  </a:extLst>
                </a:gridCol>
              </a:tblGrid>
              <a:tr h="175300">
                <a:tc>
                  <a:txBody>
                    <a:bodyPr/>
                    <a:lstStyle/>
                    <a:p>
                      <a:r>
                        <a:rPr lang="es-CO" sz="600" dirty="0"/>
                        <a:t>Atributo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600" dirty="0"/>
                        <a:t>Resultado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Ranking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 err="1"/>
                        <a:t>Calif</a:t>
                      </a:r>
                      <a:endParaRPr lang="es-CO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Peso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6792763"/>
                  </a:ext>
                </a:extLst>
              </a:tr>
              <a:tr h="175300">
                <a:tc>
                  <a:txBody>
                    <a:bodyPr/>
                    <a:lstStyle/>
                    <a:p>
                      <a:r>
                        <a:rPr lang="es-CO" sz="600" dirty="0" err="1"/>
                        <a:t>Benchmark</a:t>
                      </a:r>
                      <a:endParaRPr lang="es-CO" sz="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CO" sz="600" dirty="0"/>
                        <a:t>(10,10), (80,1),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sz="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181995"/>
                  </a:ext>
                </a:extLst>
              </a:tr>
              <a:tr h="189909">
                <a:tc>
                  <a:txBody>
                    <a:bodyPr/>
                    <a:lstStyle/>
                    <a:p>
                      <a:r>
                        <a:rPr lang="es-CO" sz="600" dirty="0"/>
                        <a:t>Mayor Confiabilidad (Co)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600" dirty="0"/>
                        <a:t>(10,10), (</a:t>
                      </a:r>
                      <a:r>
                        <a:rPr lang="es-CO" sz="600" b="1" dirty="0">
                          <a:solidFill>
                            <a:srgbClr val="C00000"/>
                          </a:solidFill>
                        </a:rPr>
                        <a:t>130,2</a:t>
                      </a:r>
                      <a:r>
                        <a:rPr lang="es-CO" sz="600" dirty="0"/>
                        <a:t>),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7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10/22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363095"/>
                  </a:ext>
                </a:extLst>
              </a:tr>
              <a:tr h="189909">
                <a:tc>
                  <a:txBody>
                    <a:bodyPr/>
                    <a:lstStyle/>
                    <a:p>
                      <a:r>
                        <a:rPr lang="es-CO" sz="600" dirty="0"/>
                        <a:t>Mayor Imagen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600" dirty="0"/>
                        <a:t>(</a:t>
                      </a:r>
                      <a:r>
                        <a:rPr lang="es-CO" sz="600" b="1" dirty="0">
                          <a:solidFill>
                            <a:srgbClr val="C00000"/>
                          </a:solidFill>
                        </a:rPr>
                        <a:t>20,40</a:t>
                      </a:r>
                      <a:r>
                        <a:rPr lang="es-CO" sz="600" dirty="0"/>
                        <a:t>), (80,1),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7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3/22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7676399"/>
                  </a:ext>
                </a:extLst>
              </a:tr>
              <a:tr h="189909">
                <a:tc>
                  <a:txBody>
                    <a:bodyPr/>
                    <a:lstStyle/>
                    <a:p>
                      <a:r>
                        <a:rPr lang="es-CO" sz="600" dirty="0"/>
                        <a:t>Mejor Costo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600" dirty="0"/>
                        <a:t>(10,10), (80,1), </a:t>
                      </a:r>
                      <a:r>
                        <a:rPr lang="es-CO" sz="600" b="1" dirty="0">
                          <a:solidFill>
                            <a:srgbClr val="C00000"/>
                          </a:solidFill>
                        </a:rPr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6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700" b="1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9/22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3344144"/>
                  </a:ext>
                </a:extLst>
              </a:tr>
            </a:tbl>
          </a:graphicData>
        </a:graphic>
      </p:graphicFrame>
      <p:sp>
        <p:nvSpPr>
          <p:cNvPr id="99" name="CuadroTexto 98">
            <a:extLst>
              <a:ext uri="{FF2B5EF4-FFF2-40B4-BE49-F238E27FC236}">
                <a16:creationId xmlns:a16="http://schemas.microsoft.com/office/drawing/2014/main" id="{2C30320B-27B6-42CB-BAF4-8C007772D36F}"/>
              </a:ext>
            </a:extLst>
          </p:cNvPr>
          <p:cNvSpPr txBox="1"/>
          <p:nvPr/>
        </p:nvSpPr>
        <p:spPr>
          <a:xfrm>
            <a:off x="4931905" y="4304466"/>
            <a:ext cx="28164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b="1" dirty="0"/>
              <a:t>c) Para Imagen, Confiabilidad y Costo:</a:t>
            </a:r>
          </a:p>
        </p:txBody>
      </p:sp>
      <p:sp>
        <p:nvSpPr>
          <p:cNvPr id="100" name="Rectángulo 99">
            <a:extLst>
              <a:ext uri="{FF2B5EF4-FFF2-40B4-BE49-F238E27FC236}">
                <a16:creationId xmlns:a16="http://schemas.microsoft.com/office/drawing/2014/main" id="{1DAE85B5-E213-40AB-B856-1E2AA138E4B1}"/>
              </a:ext>
            </a:extLst>
          </p:cNvPr>
          <p:cNvSpPr/>
          <p:nvPr/>
        </p:nvSpPr>
        <p:spPr>
          <a:xfrm>
            <a:off x="2463109" y="4412084"/>
            <a:ext cx="2393564" cy="783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CO"/>
          </a:p>
        </p:txBody>
      </p:sp>
      <p:sp>
        <p:nvSpPr>
          <p:cNvPr id="101" name="CuadroTexto 100">
            <a:extLst>
              <a:ext uri="{FF2B5EF4-FFF2-40B4-BE49-F238E27FC236}">
                <a16:creationId xmlns:a16="http://schemas.microsoft.com/office/drawing/2014/main" id="{67586DCC-A936-4389-AB37-A98B5D8650EC}"/>
              </a:ext>
            </a:extLst>
          </p:cNvPr>
          <p:cNvSpPr txBox="1"/>
          <p:nvPr/>
        </p:nvSpPr>
        <p:spPr>
          <a:xfrm>
            <a:off x="2476884" y="5488458"/>
            <a:ext cx="6667114" cy="21544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s-CO" sz="800" b="1" dirty="0">
                <a:solidFill>
                  <a:schemeClr val="bg1"/>
                </a:solidFill>
              </a:rPr>
              <a:t>Cálculo de la Función de Utilidad Aditiva: </a:t>
            </a:r>
            <a:r>
              <a:rPr lang="es-CO" sz="700" dirty="0">
                <a:solidFill>
                  <a:schemeClr val="bg1"/>
                </a:solidFill>
              </a:rPr>
              <a:t>Ya con los pesos individuales y los pesos de los atributos, se estima la F.U para los atributos que dependen de otros.</a:t>
            </a:r>
            <a:endParaRPr lang="es-CO" sz="800" b="1" dirty="0">
              <a:solidFill>
                <a:schemeClr val="bg1"/>
              </a:solidFill>
            </a:endParaRPr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1279FB33-3B93-4463-9F3D-A9021C41A095}"/>
              </a:ext>
            </a:extLst>
          </p:cNvPr>
          <p:cNvSpPr txBox="1"/>
          <p:nvPr/>
        </p:nvSpPr>
        <p:spPr>
          <a:xfrm>
            <a:off x="2438393" y="5806686"/>
            <a:ext cx="28164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b="1" dirty="0"/>
              <a:t>Para Imagen (I):</a:t>
            </a:r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0A880685-26A4-4F5D-AD0A-7778D80A0CDA}"/>
              </a:ext>
            </a:extLst>
          </p:cNvPr>
          <p:cNvSpPr txBox="1"/>
          <p:nvPr/>
        </p:nvSpPr>
        <p:spPr>
          <a:xfrm>
            <a:off x="2389094" y="6273485"/>
            <a:ext cx="28164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b="1" dirty="0"/>
              <a:t>Para Confiabilidad:</a:t>
            </a:r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C3D12281-094F-4DF8-95D6-00151D660B5F}"/>
              </a:ext>
            </a:extLst>
          </p:cNvPr>
          <p:cNvSpPr txBox="1"/>
          <p:nvPr/>
        </p:nvSpPr>
        <p:spPr>
          <a:xfrm>
            <a:off x="5499472" y="5699640"/>
            <a:ext cx="331142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800" b="1" dirty="0"/>
              <a:t>Finalmente, se calcula la F.U total para cada una de las alternativas: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D1B71F1-915F-46D7-A92A-3F3EDF2B67AB}"/>
                  </a:ext>
                </a:extLst>
              </p:cNvPr>
              <p:cNvSpPr txBox="1"/>
              <p:nvPr/>
            </p:nvSpPr>
            <p:spPr>
              <a:xfrm>
                <a:off x="2458091" y="5994553"/>
                <a:ext cx="1351909" cy="233718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s-CO" sz="8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es-CO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CO" sz="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CO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</m:num>
                        <m:den>
                          <m:r>
                            <a:rPr lang="es-CO" sz="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sSub>
                        <m:sSubPr>
                          <m:ctrlPr>
                            <a:rPr lang="es-CO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s-CO" sz="800" b="0" i="1" smtClean="0">
                              <a:latin typeface="Cambria Math" panose="02040503050406030204" pitchFamily="18" charset="0"/>
                            </a:rPr>
                            <m:t>𝐼𝐼</m:t>
                          </m:r>
                        </m:sub>
                      </m:sSub>
                      <m:d>
                        <m:dPr>
                          <m:ctrlPr>
                            <a:rPr lang="es-CO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CO" sz="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CO" sz="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sz="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s-CO" sz="800" b="1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sSub>
                        <m:sSubPr>
                          <m:ctrlPr>
                            <a:rPr lang="es-CO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s-CO" sz="800" b="0" i="1" smtClean="0">
                              <a:latin typeface="Cambria Math" panose="02040503050406030204" pitchFamily="18" charset="0"/>
                            </a:rPr>
                            <m:t>𝐼𝐸</m:t>
                          </m:r>
                        </m:sub>
                      </m:sSub>
                      <m:d>
                        <m:dPr>
                          <m:ctrlPr>
                            <a:rPr lang="es-CO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CO" sz="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O" sz="120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1D1B71F1-915F-46D7-A92A-3F3EDF2B6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091" y="5994553"/>
                <a:ext cx="1351909" cy="233718"/>
              </a:xfrm>
              <a:prstGeom prst="rect">
                <a:avLst/>
              </a:prstGeom>
              <a:blipFill>
                <a:blip r:embed="rId22"/>
                <a:stretch>
                  <a:fillRect l="-1802" t="-2564" b="-12821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EBC46645-470D-4769-82E1-E944E31CC877}"/>
                  </a:ext>
                </a:extLst>
              </p:cNvPr>
              <p:cNvSpPr txBox="1"/>
              <p:nvPr/>
            </p:nvSpPr>
            <p:spPr>
              <a:xfrm>
                <a:off x="2468953" y="6418807"/>
                <a:ext cx="1417247" cy="233718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s-CO" sz="800" b="0" i="1" smtClean="0">
                              <a:latin typeface="Cambria Math" panose="02040503050406030204" pitchFamily="18" charset="0"/>
                            </a:rPr>
                            <m:t>𝐶𝑜</m:t>
                          </m:r>
                        </m:sub>
                      </m:sSub>
                      <m:d>
                        <m:dPr>
                          <m:ctrlPr>
                            <a:rPr lang="es-CO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CO" sz="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CO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</m:num>
                        <m:den>
                          <m:r>
                            <a:rPr lang="es-CO" sz="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den>
                      </m:f>
                      <m:sSub>
                        <m:sSubPr>
                          <m:ctrlPr>
                            <a:rPr lang="es-CO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s-CO" sz="800" b="0" i="1" smtClean="0">
                              <a:latin typeface="Cambria Math" panose="02040503050406030204" pitchFamily="18" charset="0"/>
                            </a:rPr>
                            <m:t>𝐶𝑎</m:t>
                          </m:r>
                        </m:sub>
                      </m:sSub>
                      <m:d>
                        <m:dPr>
                          <m:ctrlPr>
                            <a:rPr lang="es-CO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CO" sz="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s-CO" sz="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s-CO" sz="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</m:num>
                        <m:den>
                          <m:r>
                            <a:rPr lang="es-CO" sz="800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𝟖</m:t>
                          </m:r>
                        </m:den>
                      </m:f>
                      <m:sSub>
                        <m:sSubPr>
                          <m:ctrlPr>
                            <a:rPr lang="es-CO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s-CO" sz="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  <m:d>
                        <m:dPr>
                          <m:ctrlPr>
                            <a:rPr lang="es-CO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CO" sz="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s-CO" sz="1200" dirty="0"/>
              </a:p>
            </p:txBody>
          </p:sp>
        </mc:Choice>
        <mc:Fallback xmlns="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EBC46645-470D-4769-82E1-E944E31CC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953" y="6418807"/>
                <a:ext cx="1417247" cy="233718"/>
              </a:xfrm>
              <a:prstGeom prst="rect">
                <a:avLst/>
              </a:prstGeom>
              <a:blipFill>
                <a:blip r:embed="rId23"/>
                <a:stretch>
                  <a:fillRect l="-1717" t="-5263" b="-15789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errar llave 7">
            <a:extLst>
              <a:ext uri="{FF2B5EF4-FFF2-40B4-BE49-F238E27FC236}">
                <a16:creationId xmlns:a16="http://schemas.microsoft.com/office/drawing/2014/main" id="{A821AE9A-03DC-4732-ACD6-80E386373E97}"/>
              </a:ext>
            </a:extLst>
          </p:cNvPr>
          <p:cNvSpPr/>
          <p:nvPr/>
        </p:nvSpPr>
        <p:spPr>
          <a:xfrm>
            <a:off x="3810000" y="5794685"/>
            <a:ext cx="45719" cy="49455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5" name="Cerrar llave 84">
            <a:extLst>
              <a:ext uri="{FF2B5EF4-FFF2-40B4-BE49-F238E27FC236}">
                <a16:creationId xmlns:a16="http://schemas.microsoft.com/office/drawing/2014/main" id="{4960070A-CF20-4C1F-8F27-952B7ACD36DE}"/>
              </a:ext>
            </a:extLst>
          </p:cNvPr>
          <p:cNvSpPr/>
          <p:nvPr/>
        </p:nvSpPr>
        <p:spPr>
          <a:xfrm>
            <a:off x="3857873" y="6391472"/>
            <a:ext cx="126117" cy="45212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56FDF045-D2F6-4028-B686-C3ABFD18494C}"/>
                  </a:ext>
                </a:extLst>
              </p:cNvPr>
              <p:cNvSpPr txBox="1"/>
              <p:nvPr/>
            </p:nvSpPr>
            <p:spPr>
              <a:xfrm>
                <a:off x="3886200" y="5712879"/>
                <a:ext cx="1317220" cy="138179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s-CO" sz="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es-CO" sz="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6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CO" sz="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CO" sz="600" b="0" i="1" smtClean="0">
                          <a:latin typeface="Cambria Math" panose="02040503050406030204" pitchFamily="18" charset="0"/>
                        </a:rPr>
                        <m:t>=0∗</m:t>
                      </m:r>
                      <m:d>
                        <m:dPr>
                          <m:ctrlPr>
                            <a:rPr lang="es-CO" sz="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s-CO" sz="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sz="6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s-CO" sz="6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</m:e>
                      </m:d>
                      <m:r>
                        <a:rPr lang="es-CO" sz="600" b="0" i="1" smtClean="0">
                          <a:latin typeface="Cambria Math" panose="02040503050406030204" pitchFamily="18" charset="0"/>
                        </a:rPr>
                        <m:t>+0∗</m:t>
                      </m:r>
                      <m:d>
                        <m:dPr>
                          <m:ctrlPr>
                            <a:rPr lang="es-CO" sz="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s-CO" sz="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sz="6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s-CO" sz="60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</m:e>
                      </m:d>
                      <m:r>
                        <a:rPr lang="es-CO" sz="6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s-CO" sz="105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56FDF045-D2F6-4028-B686-C3ABFD1849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5712879"/>
                <a:ext cx="1317220" cy="138179"/>
              </a:xfrm>
              <a:prstGeom prst="rect">
                <a:avLst/>
              </a:prstGeom>
              <a:blipFill>
                <a:blip r:embed="rId24"/>
                <a:stretch>
                  <a:fillRect t="-139130" r="-1389" b="-2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4EB48519-3129-4AF8-B14C-DFB46CA69628}"/>
                  </a:ext>
                </a:extLst>
              </p:cNvPr>
              <p:cNvSpPr txBox="1"/>
              <p:nvPr/>
            </p:nvSpPr>
            <p:spPr>
              <a:xfrm>
                <a:off x="3909281" y="5866080"/>
                <a:ext cx="1352001" cy="24205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7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s-CO" sz="7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es-CO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7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CO" sz="7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CO" sz="7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7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d>
                        <m:dPr>
                          <m:ctrlPr>
                            <a:rPr lang="es-CO" sz="7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skw"/>
                              <m:ctrlPr>
                                <a:rPr lang="es-CO" sz="7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sz="7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s-CO" sz="70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</m:e>
                      </m:d>
                      <m:r>
                        <a:rPr lang="es-CO" sz="7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sz="7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1/3</m:t>
                      </m:r>
                      <m:d>
                        <m:dPr>
                          <m:ctrlPr>
                            <a:rPr lang="es-CO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O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sz="7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s-CO" sz="7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</m:e>
                      </m:d>
                      <m:r>
                        <a:rPr lang="es-CO" sz="7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s-CO" sz="7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7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s-CO" sz="700" b="0" i="1" smtClean="0">
                              <a:latin typeface="Cambria Math" panose="02040503050406030204" pitchFamily="18" charset="0"/>
                            </a:rPr>
                            <m:t>27</m:t>
                          </m:r>
                        </m:den>
                      </m:f>
                    </m:oMath>
                  </m:oMathPara>
                </a14:m>
                <a:endParaRPr lang="es-CO" sz="1100" dirty="0"/>
              </a:p>
            </p:txBody>
          </p:sp>
        </mc:Choice>
        <mc:Fallback xmlns=""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4EB48519-3129-4AF8-B14C-DFB46CA696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9281" y="5866080"/>
                <a:ext cx="1352001" cy="242054"/>
              </a:xfrm>
              <a:prstGeom prst="rect">
                <a:avLst/>
              </a:prstGeom>
              <a:blipFill>
                <a:blip r:embed="rId25"/>
                <a:stretch>
                  <a:fillRect t="-75000" b="-125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CuadroTexto 87">
                <a:extLst>
                  <a:ext uri="{FF2B5EF4-FFF2-40B4-BE49-F238E27FC236}">
                    <a16:creationId xmlns:a16="http://schemas.microsoft.com/office/drawing/2014/main" id="{2FE17FC6-D5F5-400E-B8CF-299CEA154570}"/>
                  </a:ext>
                </a:extLst>
              </p:cNvPr>
              <p:cNvSpPr txBox="1"/>
              <p:nvPr/>
            </p:nvSpPr>
            <p:spPr>
              <a:xfrm>
                <a:off x="3886200" y="6082843"/>
                <a:ext cx="1173815" cy="247916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7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s-CO" sz="7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  <m:d>
                        <m:dPr>
                          <m:ctrlPr>
                            <a:rPr lang="es-CO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7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CO" sz="7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s-CO" sz="7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O" sz="70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O" sz="7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sz="7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s-CO" sz="700" i="1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</m:e>
                      </m:d>
                      <m:r>
                        <a:rPr lang="es-CO" sz="7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sz="7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O" sz="700" b="0" i="1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O" sz="7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sz="7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s-CO" sz="700" b="0" i="1" smtClean="0">
                                  <a:solidFill>
                                    <a:schemeClr val="accent6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</m:e>
                      </m:d>
                      <m:r>
                        <a:rPr lang="es-CO" sz="7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s-CO" sz="7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s-CO" sz="1100" dirty="0"/>
              </a:p>
            </p:txBody>
          </p:sp>
        </mc:Choice>
        <mc:Fallback xmlns="">
          <p:sp>
            <p:nvSpPr>
              <p:cNvPr id="88" name="CuadroTexto 87">
                <a:extLst>
                  <a:ext uri="{FF2B5EF4-FFF2-40B4-BE49-F238E27FC236}">
                    <a16:creationId xmlns:a16="http://schemas.microsoft.com/office/drawing/2014/main" id="{2FE17FC6-D5F5-400E-B8CF-299CEA154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6082843"/>
                <a:ext cx="1173815" cy="247916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CuadroTexto 89">
                <a:extLst>
                  <a:ext uri="{FF2B5EF4-FFF2-40B4-BE49-F238E27FC236}">
                    <a16:creationId xmlns:a16="http://schemas.microsoft.com/office/drawing/2014/main" id="{EE23CC74-434C-4E90-89D8-3D63AEE05A73}"/>
                  </a:ext>
                </a:extLst>
              </p:cNvPr>
              <p:cNvSpPr txBox="1"/>
              <p:nvPr/>
            </p:nvSpPr>
            <p:spPr>
              <a:xfrm>
                <a:off x="3998156" y="6334846"/>
                <a:ext cx="568296" cy="123111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s-CO" sz="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8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s-CO" sz="800" b="0" i="1" smtClean="0">
                              <a:latin typeface="Cambria Math" panose="02040503050406030204" pitchFamily="18" charset="0"/>
                            </a:rPr>
                            <m:t>𝐶𝑜</m:t>
                          </m:r>
                        </m:sub>
                      </m:sSub>
                      <m:d>
                        <m:dPr>
                          <m:ctrlPr>
                            <a:rPr lang="es-CO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8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CO" sz="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s-CO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8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s-CO" sz="1200" dirty="0"/>
              </a:p>
            </p:txBody>
          </p:sp>
        </mc:Choice>
        <mc:Fallback xmlns="">
          <p:sp>
            <p:nvSpPr>
              <p:cNvPr id="90" name="CuadroTexto 89">
                <a:extLst>
                  <a:ext uri="{FF2B5EF4-FFF2-40B4-BE49-F238E27FC236}">
                    <a16:creationId xmlns:a16="http://schemas.microsoft.com/office/drawing/2014/main" id="{EE23CC74-434C-4E90-89D8-3D63AEE05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8156" y="6334846"/>
                <a:ext cx="568296" cy="123111"/>
              </a:xfrm>
              <a:prstGeom prst="rect">
                <a:avLst/>
              </a:prstGeom>
              <a:blipFill>
                <a:blip r:embed="rId27"/>
                <a:stretch>
                  <a:fillRect l="-4301" r="-4301" b="-25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CuadroTexto 90">
                <a:extLst>
                  <a:ext uri="{FF2B5EF4-FFF2-40B4-BE49-F238E27FC236}">
                    <a16:creationId xmlns:a16="http://schemas.microsoft.com/office/drawing/2014/main" id="{DF9FB6AE-7758-409C-AC9A-92303D672953}"/>
                  </a:ext>
                </a:extLst>
              </p:cNvPr>
              <p:cNvSpPr txBox="1"/>
              <p:nvPr/>
            </p:nvSpPr>
            <p:spPr>
              <a:xfrm>
                <a:off x="3994845" y="6457957"/>
                <a:ext cx="666171" cy="107722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s-CO" sz="7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CO" sz="7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s-CO" sz="700" b="0" i="1" smtClean="0">
                              <a:latin typeface="Cambria Math" panose="02040503050406030204" pitchFamily="18" charset="0"/>
                            </a:rPr>
                            <m:t>𝐶𝑜</m:t>
                          </m:r>
                        </m:sub>
                      </m:sSub>
                      <m:d>
                        <m:dPr>
                          <m:ctrlPr>
                            <a:rPr lang="es-CO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7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CO" sz="7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s-CO" sz="7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7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s-CO" sz="1100" dirty="0"/>
              </a:p>
            </p:txBody>
          </p:sp>
        </mc:Choice>
        <mc:Fallback xmlns="">
          <p:sp>
            <p:nvSpPr>
              <p:cNvPr id="91" name="CuadroTexto 90">
                <a:extLst>
                  <a:ext uri="{FF2B5EF4-FFF2-40B4-BE49-F238E27FC236}">
                    <a16:creationId xmlns:a16="http://schemas.microsoft.com/office/drawing/2014/main" id="{DF9FB6AE-7758-409C-AC9A-92303D6729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4845" y="6457957"/>
                <a:ext cx="666171" cy="107722"/>
              </a:xfrm>
              <a:prstGeom prst="rect">
                <a:avLst/>
              </a:prstGeom>
              <a:blipFill>
                <a:blip r:embed="rId28"/>
                <a:stretch>
                  <a:fillRect l="-4545" b="-1666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CuadroTexto 92">
                <a:extLst>
                  <a:ext uri="{FF2B5EF4-FFF2-40B4-BE49-F238E27FC236}">
                    <a16:creationId xmlns:a16="http://schemas.microsoft.com/office/drawing/2014/main" id="{450B105C-B42C-41ED-B509-5F2E47FE2EF4}"/>
                  </a:ext>
                </a:extLst>
              </p:cNvPr>
              <p:cNvSpPr txBox="1"/>
              <p:nvPr/>
            </p:nvSpPr>
            <p:spPr>
              <a:xfrm>
                <a:off x="3991364" y="6568133"/>
                <a:ext cx="1190775" cy="242054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s-CO" sz="700" b="0" i="1" smtClean="0">
                          <a:latin typeface="Cambria Math" panose="02040503050406030204" pitchFamily="18" charset="0"/>
                        </a:rPr>
                        <m:t>𝐶𝑜</m:t>
                      </m:r>
                      <m:d>
                        <m:dPr>
                          <m:ctrlPr>
                            <a:rPr lang="es-CO" sz="7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s-CO" sz="7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CO" sz="7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s-CO" sz="7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s-CO" sz="7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s-CO" sz="70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O" sz="7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sz="7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s-CO" sz="7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d>
                      <m:r>
                        <a:rPr lang="es-CO" sz="7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es-CO" sz="7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7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CO" sz="7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s-CO" sz="7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s-CO" sz="7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s-CO" sz="7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s-CO" sz="7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s-CO" sz="700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den>
                          </m:f>
                        </m:e>
                      </m:d>
                      <m:r>
                        <a:rPr lang="es-CO" sz="700" b="0" i="1" smtClean="0">
                          <a:latin typeface="Cambria Math" panose="02040503050406030204" pitchFamily="18" charset="0"/>
                        </a:rPr>
                        <m:t>1=</m:t>
                      </m:r>
                      <m:f>
                        <m:fPr>
                          <m:ctrlPr>
                            <a:rPr lang="es-CO" sz="7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sz="7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s-CO" sz="7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s-CO" sz="1100" dirty="0"/>
              </a:p>
            </p:txBody>
          </p:sp>
        </mc:Choice>
        <mc:Fallback xmlns="">
          <p:sp>
            <p:nvSpPr>
              <p:cNvPr id="93" name="CuadroTexto 92">
                <a:extLst>
                  <a:ext uri="{FF2B5EF4-FFF2-40B4-BE49-F238E27FC236}">
                    <a16:creationId xmlns:a16="http://schemas.microsoft.com/office/drawing/2014/main" id="{450B105C-B42C-41ED-B509-5F2E47FE2E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364" y="6568133"/>
                <a:ext cx="1190775" cy="242054"/>
              </a:xfrm>
              <a:prstGeom prst="rect">
                <a:avLst/>
              </a:prstGeom>
              <a:blipFill>
                <a:blip r:embed="rId29"/>
                <a:stretch>
                  <a:fillRect l="-1538" r="-2051" b="-25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CuadroTexto 93">
                <a:extLst>
                  <a:ext uri="{FF2B5EF4-FFF2-40B4-BE49-F238E27FC236}">
                    <a16:creationId xmlns:a16="http://schemas.microsoft.com/office/drawing/2014/main" id="{397B9B1A-CBF1-4BA6-8A06-5B8A05E1FEE1}"/>
                  </a:ext>
                </a:extLst>
              </p:cNvPr>
              <p:cNvSpPr txBox="1"/>
              <p:nvPr/>
            </p:nvSpPr>
            <p:spPr>
              <a:xfrm>
                <a:off x="5997240" y="5871534"/>
                <a:ext cx="2382064" cy="217624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s-CO" sz="1000" b="0" dirty="0"/>
                  <a:t>U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O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O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CO" sz="1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s-CO" sz="1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O" sz="1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sz="1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CO" sz="10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sSub>
                      <m:sSubPr>
                        <m:ctrlPr>
                          <a:rPr lang="es-CO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1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s-CO" sz="1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sub>
                    </m:sSub>
                    <m:d>
                      <m:dPr>
                        <m:ctrlPr>
                          <a:rPr lang="es-CO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O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CO" sz="1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s-CO" sz="1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s-CO" sz="1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sz="1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s-CO" sz="10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sSub>
                      <m:sSubPr>
                        <m:ctrlPr>
                          <a:rPr lang="es-CO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1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s-CO" sz="1000" b="0" i="1" smtClean="0">
                            <a:latin typeface="Cambria Math" panose="02040503050406030204" pitchFamily="18" charset="0"/>
                          </a:rPr>
                          <m:t>𝐶𝑜</m:t>
                        </m:r>
                      </m:sub>
                    </m:sSub>
                    <m:d>
                      <m:dPr>
                        <m:ctrlPr>
                          <a:rPr lang="es-CO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O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CO" sz="1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s-CO" sz="1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s-CO" sz="1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sz="10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s-CO" sz="10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sSub>
                      <m:sSubPr>
                        <m:ctrlPr>
                          <a:rPr lang="es-CO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CO" sz="1000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s-CO" sz="1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d>
                      <m:dPr>
                        <m:ctrlPr>
                          <a:rPr lang="es-CO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O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1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CO" sz="1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s-CO" sz="1600" dirty="0"/>
              </a:p>
            </p:txBody>
          </p:sp>
        </mc:Choice>
        <mc:Fallback xmlns="">
          <p:sp>
            <p:nvSpPr>
              <p:cNvPr id="94" name="CuadroTexto 93">
                <a:extLst>
                  <a:ext uri="{FF2B5EF4-FFF2-40B4-BE49-F238E27FC236}">
                    <a16:creationId xmlns:a16="http://schemas.microsoft.com/office/drawing/2014/main" id="{397B9B1A-CBF1-4BA6-8A06-5B8A05E1F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7240" y="5871534"/>
                <a:ext cx="2382064" cy="217624"/>
              </a:xfrm>
              <a:prstGeom prst="rect">
                <a:avLst/>
              </a:prstGeom>
              <a:blipFill>
                <a:blip r:embed="rId30"/>
                <a:stretch>
                  <a:fillRect l="-3325" t="-2778" b="-22222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CuadroTexto 105">
                <a:extLst>
                  <a:ext uri="{FF2B5EF4-FFF2-40B4-BE49-F238E27FC236}">
                    <a16:creationId xmlns:a16="http://schemas.microsoft.com/office/drawing/2014/main" id="{23B7406C-4768-41E8-A287-F27588D45D29}"/>
                  </a:ext>
                </a:extLst>
              </p:cNvPr>
              <p:cNvSpPr txBox="1"/>
              <p:nvPr/>
            </p:nvSpPr>
            <p:spPr>
              <a:xfrm>
                <a:off x="5289372" y="6105405"/>
                <a:ext cx="2382064" cy="195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s-CO" sz="900" b="0" dirty="0"/>
                  <a:t>U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O" sz="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O" sz="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9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CO" sz="9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s-CO" sz="9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O" sz="9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sz="9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CO" sz="9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a:rPr lang="es-CO" sz="9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s-CO" sz="9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s-CO" sz="9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sz="9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s-CO" sz="9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a:rPr lang="es-CO" sz="900" b="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s-CO" sz="9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s-CO" sz="9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sz="9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s-CO" sz="9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a:rPr lang="es-CO" sz="9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s-CO" sz="900" b="0" i="1" smtClean="0">
                        <a:latin typeface="Cambria Math" panose="02040503050406030204" pitchFamily="18" charset="0"/>
                      </a:rPr>
                      <m:t>=0.4</m:t>
                    </m:r>
                  </m:oMath>
                </a14:m>
                <a:endParaRPr lang="es-CO" sz="1400" dirty="0"/>
              </a:p>
            </p:txBody>
          </p:sp>
        </mc:Choice>
        <mc:Fallback xmlns="">
          <p:sp>
            <p:nvSpPr>
              <p:cNvPr id="106" name="CuadroTexto 105">
                <a:extLst>
                  <a:ext uri="{FF2B5EF4-FFF2-40B4-BE49-F238E27FC236}">
                    <a16:creationId xmlns:a16="http://schemas.microsoft.com/office/drawing/2014/main" id="{23B7406C-4768-41E8-A287-F27588D45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372" y="6105405"/>
                <a:ext cx="2382064" cy="195887"/>
              </a:xfrm>
              <a:prstGeom prst="rect">
                <a:avLst/>
              </a:prstGeom>
              <a:blipFill>
                <a:blip r:embed="rId31"/>
                <a:stretch>
                  <a:fillRect l="-3077" t="-9375" b="-2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CuadroTexto 106">
                <a:extLst>
                  <a:ext uri="{FF2B5EF4-FFF2-40B4-BE49-F238E27FC236}">
                    <a16:creationId xmlns:a16="http://schemas.microsoft.com/office/drawing/2014/main" id="{171CC4B2-1F9E-48BB-8C7B-51171649A4CB}"/>
                  </a:ext>
                </a:extLst>
              </p:cNvPr>
              <p:cNvSpPr txBox="1"/>
              <p:nvPr/>
            </p:nvSpPr>
            <p:spPr>
              <a:xfrm>
                <a:off x="5289372" y="6341678"/>
                <a:ext cx="2382064" cy="19806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s-CO" sz="900" b="0" dirty="0"/>
                  <a:t>U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O" sz="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O" sz="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9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CO" sz="9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s-CO" sz="9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O" sz="9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sz="9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CO" sz="9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a:rPr lang="es-CO" sz="900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s-CO" sz="9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sz="9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s-CO" sz="9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a:rPr lang="es-CO" sz="9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s-CO" sz="9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sz="9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s-CO" sz="9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a:rPr lang="es-CO" sz="900" b="0" i="1" smtClean="0">
                        <a:solidFill>
                          <a:srgbClr val="92D05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s-CO" sz="9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s-CO" sz="9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sz="9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s-CO" sz="9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a:rPr lang="es-CO" sz="9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s-CO" sz="900" b="0" i="1" smtClean="0">
                        <a:latin typeface="Cambria Math" panose="02040503050406030204" pitchFamily="18" charset="0"/>
                      </a:rPr>
                      <m:t>=0.48</m:t>
                    </m:r>
                  </m:oMath>
                </a14:m>
                <a:endParaRPr lang="es-CO" sz="1400" dirty="0"/>
              </a:p>
            </p:txBody>
          </p:sp>
        </mc:Choice>
        <mc:Fallback xmlns="">
          <p:sp>
            <p:nvSpPr>
              <p:cNvPr id="107" name="CuadroTexto 106">
                <a:extLst>
                  <a:ext uri="{FF2B5EF4-FFF2-40B4-BE49-F238E27FC236}">
                    <a16:creationId xmlns:a16="http://schemas.microsoft.com/office/drawing/2014/main" id="{171CC4B2-1F9E-48BB-8C7B-51171649A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372" y="6341678"/>
                <a:ext cx="2382064" cy="198068"/>
              </a:xfrm>
              <a:prstGeom prst="rect">
                <a:avLst/>
              </a:prstGeom>
              <a:blipFill>
                <a:blip r:embed="rId32"/>
                <a:stretch>
                  <a:fillRect l="-3077" t="-3030"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CuadroTexto 107">
                <a:extLst>
                  <a:ext uri="{FF2B5EF4-FFF2-40B4-BE49-F238E27FC236}">
                    <a16:creationId xmlns:a16="http://schemas.microsoft.com/office/drawing/2014/main" id="{8C518D75-4746-4F62-8B43-E2522C33CF3F}"/>
                  </a:ext>
                </a:extLst>
              </p:cNvPr>
              <p:cNvSpPr txBox="1"/>
              <p:nvPr/>
            </p:nvSpPr>
            <p:spPr>
              <a:xfrm>
                <a:off x="5289372" y="6569891"/>
                <a:ext cx="2382064" cy="2073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s-CO" sz="900" b="0" dirty="0"/>
                  <a:t>U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CO" sz="9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CO" sz="9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CO" sz="9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s-CO" sz="9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s-CO" sz="9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CO" sz="9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sz="9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s-CO" sz="9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a:rPr lang="es-CO" sz="900" b="0" i="1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s-CO" sz="9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s-CO" sz="9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sz="9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s-CO" sz="9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a:rPr lang="es-CO" sz="900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s-CO" sz="900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sz="900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s-CO" sz="900" b="0" i="1" smtClean="0">
                            <a:solidFill>
                              <a:srgbClr val="92D05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s-CO" sz="9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s-CO" sz="9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CO" sz="900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s-CO" sz="9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a:rPr lang="es-CO" sz="900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s-CO" sz="900" b="1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CO" sz="9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CO" sz="9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num>
                          <m:den>
                            <m:r>
                              <a:rPr lang="es-CO" sz="900" b="1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𝟕</m:t>
                            </m:r>
                          </m:den>
                        </m:f>
                      </m:e>
                    </m:d>
                    <m:r>
                      <a:rPr lang="es-CO" sz="9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CO" sz="9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s-CO" sz="9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s-CO" sz="900" b="1" i="1" smtClean="0">
                        <a:latin typeface="Cambria Math" panose="02040503050406030204" pitchFamily="18" charset="0"/>
                      </a:rPr>
                      <m:t>𝟓𝟒</m:t>
                    </m:r>
                  </m:oMath>
                </a14:m>
                <a:endParaRPr lang="es-CO" sz="1400" b="1" dirty="0"/>
              </a:p>
            </p:txBody>
          </p:sp>
        </mc:Choice>
        <mc:Fallback xmlns="">
          <p:sp>
            <p:nvSpPr>
              <p:cNvPr id="108" name="CuadroTexto 107">
                <a:extLst>
                  <a:ext uri="{FF2B5EF4-FFF2-40B4-BE49-F238E27FC236}">
                    <a16:creationId xmlns:a16="http://schemas.microsoft.com/office/drawing/2014/main" id="{8C518D75-4746-4F62-8B43-E2522C33C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9372" y="6569891"/>
                <a:ext cx="2382064" cy="207301"/>
              </a:xfrm>
              <a:prstGeom prst="rect">
                <a:avLst/>
              </a:prstGeom>
              <a:blipFill>
                <a:blip r:embed="rId33"/>
                <a:stretch>
                  <a:fillRect l="-3077" t="-2941" b="-20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CuadroTexto 27">
            <a:extLst>
              <a:ext uri="{FF2B5EF4-FFF2-40B4-BE49-F238E27FC236}">
                <a16:creationId xmlns:a16="http://schemas.microsoft.com/office/drawing/2014/main" id="{6317AD3E-55BD-415F-A52E-264D243646BE}"/>
              </a:ext>
            </a:extLst>
          </p:cNvPr>
          <p:cNvSpPr txBox="1"/>
          <p:nvPr/>
        </p:nvSpPr>
        <p:spPr>
          <a:xfrm>
            <a:off x="262718" y="1371600"/>
            <a:ext cx="8881282" cy="26829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s-CO" sz="1100" b="1" dirty="0">
                <a:solidFill>
                  <a:schemeClr val="bg1"/>
                </a:solidFill>
              </a:rPr>
              <a:t>Estrategia de diseño funciones utilidad y cálculo.</a:t>
            </a:r>
          </a:p>
        </p:txBody>
      </p:sp>
      <p:sp>
        <p:nvSpPr>
          <p:cNvPr id="19" name="Flecha: curvada hacia la izquierda 18">
            <a:extLst>
              <a:ext uri="{FF2B5EF4-FFF2-40B4-BE49-F238E27FC236}">
                <a16:creationId xmlns:a16="http://schemas.microsoft.com/office/drawing/2014/main" id="{9DAAF0F4-6C71-42FA-97B3-F6874E8E49C0}"/>
              </a:ext>
            </a:extLst>
          </p:cNvPr>
          <p:cNvSpPr/>
          <p:nvPr/>
        </p:nvSpPr>
        <p:spPr>
          <a:xfrm>
            <a:off x="8450894" y="5166559"/>
            <a:ext cx="235906" cy="80536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chemeClr val="tx1"/>
              </a:solidFill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23605F7-564B-4791-9784-8C19A333B8EE}"/>
              </a:ext>
            </a:extLst>
          </p:cNvPr>
          <p:cNvSpPr txBox="1"/>
          <p:nvPr/>
        </p:nvSpPr>
        <p:spPr>
          <a:xfrm>
            <a:off x="7501233" y="6172200"/>
            <a:ext cx="1480131" cy="63094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CO" sz="700" b="1" dirty="0"/>
              <a:t>Acorde los resultados, la alternativa A3 es la mejor.: Usar sistema actual, eliminando algunas estaciones, además de usar el nuevo poliducto.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A06D240-D45E-48BD-A9DF-8242765822EB}"/>
              </a:ext>
            </a:extLst>
          </p:cNvPr>
          <p:cNvSpPr txBox="1"/>
          <p:nvPr/>
        </p:nvSpPr>
        <p:spPr>
          <a:xfrm>
            <a:off x="7883375" y="267672"/>
            <a:ext cx="80342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800" b="1" dirty="0"/>
              <a:t>Ej. 9.1. Castillo</a:t>
            </a:r>
          </a:p>
        </p:txBody>
      </p: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2C07FE66-DBD2-49F3-8AE6-4EE57A6659C8}"/>
              </a:ext>
            </a:extLst>
          </p:cNvPr>
          <p:cNvSpPr txBox="1"/>
          <p:nvPr/>
        </p:nvSpPr>
        <p:spPr>
          <a:xfrm rot="16200000">
            <a:off x="-895224" y="5699423"/>
            <a:ext cx="1905371" cy="10772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s-CO" sz="700" b="1" dirty="0"/>
              <a:t>Puntajes Proporcionales: Confiabilidad, Co</a:t>
            </a:r>
          </a:p>
        </p:txBody>
      </p:sp>
      <p:cxnSp>
        <p:nvCxnSpPr>
          <p:cNvPr id="12" name="Conector: curvado 11">
            <a:extLst>
              <a:ext uri="{FF2B5EF4-FFF2-40B4-BE49-F238E27FC236}">
                <a16:creationId xmlns:a16="http://schemas.microsoft.com/office/drawing/2014/main" id="{B1E0B4F0-7EAF-1616-FE73-21D60C82FFF7}"/>
              </a:ext>
            </a:extLst>
          </p:cNvPr>
          <p:cNvCxnSpPr>
            <a:cxnSpLocks/>
            <a:stCxn id="39" idx="3"/>
          </p:cNvCxnSpPr>
          <p:nvPr/>
        </p:nvCxnSpPr>
        <p:spPr>
          <a:xfrm>
            <a:off x="1857920" y="3188295"/>
            <a:ext cx="2439760" cy="253740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: curvado 15">
            <a:extLst>
              <a:ext uri="{FF2B5EF4-FFF2-40B4-BE49-F238E27FC236}">
                <a16:creationId xmlns:a16="http://schemas.microsoft.com/office/drawing/2014/main" id="{490210B6-5EFF-640B-107B-EE9735DE5A18}"/>
              </a:ext>
            </a:extLst>
          </p:cNvPr>
          <p:cNvCxnSpPr>
            <a:cxnSpLocks/>
          </p:cNvCxnSpPr>
          <p:nvPr/>
        </p:nvCxnSpPr>
        <p:spPr>
          <a:xfrm>
            <a:off x="1857737" y="4267200"/>
            <a:ext cx="2866662" cy="1503053"/>
          </a:xfrm>
          <a:prstGeom prst="curvedConnector3">
            <a:avLst>
              <a:gd name="adj1" fmla="val 99508"/>
            </a:avLst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6" grpId="0" animBg="1"/>
      <p:bldP spid="27" grpId="0" animBg="1"/>
      <p:bldP spid="29" grpId="0" animBg="1"/>
      <p:bldP spid="31" grpId="0" animBg="1"/>
      <p:bldP spid="32" grpId="0" animBg="1"/>
      <p:bldP spid="33" grpId="0" animBg="1"/>
      <p:bldP spid="34" grpId="0"/>
      <p:bldP spid="36" grpId="0"/>
      <p:bldP spid="37" grpId="0" animBg="1"/>
      <p:bldP spid="38" grpId="0" animBg="1"/>
      <p:bldP spid="39" grpId="0" animBg="1"/>
      <p:bldP spid="40" grpId="0"/>
      <p:bldP spid="42" grpId="0"/>
      <p:bldP spid="43" grpId="0" animBg="1"/>
      <p:bldP spid="44" grpId="0" animBg="1"/>
      <p:bldP spid="46" grpId="0" animBg="1"/>
      <p:bldP spid="47" grpId="0" animBg="1"/>
      <p:bldP spid="55" grpId="0" animBg="1"/>
      <p:bldP spid="56" grpId="0" animBg="1"/>
      <p:bldP spid="59" grpId="0" animBg="1"/>
      <p:bldP spid="60" grpId="0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/>
      <p:bldP spid="70" grpId="0" animBg="1"/>
      <p:bldP spid="71" grpId="0" animBg="1"/>
      <p:bldP spid="72" grpId="0" animBg="1"/>
      <p:bldP spid="74" grpId="0"/>
      <p:bldP spid="76" grpId="0" animBg="1"/>
      <p:bldP spid="77" grpId="0"/>
      <p:bldP spid="78" grpId="0"/>
      <p:bldP spid="80" grpId="0" animBg="1"/>
      <p:bldP spid="81" grpId="0" animBg="1"/>
      <p:bldP spid="82" grpId="0" animBg="1"/>
      <p:bldP spid="83" grpId="0" animBg="1"/>
      <p:bldP spid="95" grpId="0"/>
      <p:bldP spid="97" grpId="0"/>
      <p:bldP spid="99" grpId="0"/>
      <p:bldP spid="100" grpId="0" animBg="1"/>
      <p:bldP spid="101" grpId="0" animBg="1"/>
      <p:bldP spid="103" grpId="0"/>
      <p:bldP spid="104" grpId="0"/>
      <p:bldP spid="105" grpId="0"/>
      <p:bldP spid="7" grpId="0" animBg="1"/>
      <p:bldP spid="79" grpId="0" animBg="1"/>
      <p:bldP spid="8" grpId="0" animBg="1"/>
      <p:bldP spid="85" grpId="0" animBg="1"/>
      <p:bldP spid="9" grpId="0" animBg="1"/>
      <p:bldP spid="87" grpId="0" animBg="1"/>
      <p:bldP spid="88" grpId="0" animBg="1"/>
      <p:bldP spid="90" grpId="0" animBg="1"/>
      <p:bldP spid="91" grpId="0" animBg="1"/>
      <p:bldP spid="93" grpId="0" animBg="1"/>
      <p:bldP spid="94" grpId="0" animBg="1"/>
      <p:bldP spid="106" grpId="0"/>
      <p:bldP spid="107" grpId="0"/>
      <p:bldP spid="108" grpId="0"/>
      <p:bldP spid="28" grpId="0" animBg="1"/>
      <p:bldP spid="19" grpId="0" animBg="1"/>
      <p:bldP spid="20" grpId="0" animBg="1"/>
      <p:bldP spid="10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3045</TotalTime>
  <Words>853</Words>
  <Application>Microsoft Macintosh PowerPoint</Application>
  <PresentationFormat>On-screen Show (4:3)</PresentationFormat>
  <Paragraphs>200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Arial</vt:lpstr>
      <vt:lpstr>Calibri</vt:lpstr>
      <vt:lpstr>Cambria Math</vt:lpstr>
      <vt:lpstr>Trebuchet MS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Decisiones bajo Incertidumbre  y Cuantificación del Riesgo  en el sector petrolero</dc:title>
  <dc:creator>Astrid Johanna Bernal Rueda</dc:creator>
  <cp:lastModifiedBy>Brigitte Castañeda</cp:lastModifiedBy>
  <cp:revision>45</cp:revision>
  <dcterms:created xsi:type="dcterms:W3CDTF">2023-08-31T16:43:48Z</dcterms:created>
  <dcterms:modified xsi:type="dcterms:W3CDTF">2026-09-02T17:23:46Z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2022-09-07T00:00:00Z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2023-08-31T00:00:00Z</vt:filetime>
  </property>
</Properties>
</file>